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1" autoAdjust="0"/>
    <p:restoredTop sz="94660"/>
  </p:normalViewPr>
  <p:slideViewPr>
    <p:cSldViewPr snapToGrid="0">
      <p:cViewPr>
        <p:scale>
          <a:sx n="100" d="100"/>
          <a:sy n="100" d="100"/>
        </p:scale>
        <p:origin x="-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47C0-89F6-B66B-C9B2-E6F14302E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5FD72-CC6D-2142-6C90-4671D1B26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5EBD7-023B-CE67-E108-0F9281ABE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C647-404C-43CE-60D4-DC6BE449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DD42B-2894-0432-A86C-6B908F73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121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0D79B-9603-0788-7837-AE6D8675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D1710-F333-0255-3135-DCC9BCBB2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BEE50-7F11-0458-36AF-49BC6D11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1A39D-621F-F28F-FE1D-8FB7E345D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B6A85-1404-EA5A-CCE0-CB560D9F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6401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46426-813B-0E8E-A930-DF897E13C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95990-56CA-1284-2C39-D08C43E10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CB513-4038-8098-0D57-94A6AEB4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E0B2-9E81-3F10-6A37-F429745B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EF362-74C2-078D-0972-52A5F44A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391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24A7-FB8D-E161-EA5F-8B231B37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B4F61-CE3A-D912-F4CE-2302896F9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25D20-E972-8735-BB7E-4FF606420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0C695-EF6D-B532-A6F3-FEAC2632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155E5-8CB7-E7C9-2BCA-793C8193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7F8F8-962B-4E48-A4FF-8E29ED1C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421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200C-DB30-17C2-468C-3EFC5F2AB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6FBBE-DB8A-1338-3EDA-216C47C40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9362C-97A0-65F7-5CB6-2581A4FCD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6FE0E-37C5-F1E0-7E02-6924CFACD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26117E-4C56-1A5A-196E-CD8B2887A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8C186-7F3C-23E5-CE9D-1CF0CF09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BC02D-87B0-F908-0DCA-AC0C9A37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25232-CECC-9544-0F9A-D03A56B9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926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78BB6-EC09-356C-7500-6B3E4E9C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7661A-0F77-E7F5-C868-C797B1383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855E6-A7D8-849A-99D8-DA6070B1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8D793-1BC5-4146-6A2E-F799BCA1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131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00557-5853-DFC0-A5DC-6970C7164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7679A-7C17-ECF8-8B88-72DDF8492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B69BB-03D4-47F8-A6C8-ECC08EE7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11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28B7-D579-426A-949E-0C0B743CE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C3EB5-D0F8-059C-493A-AC9F5BD16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03EBC-7599-F5A8-8D5B-DD09E834F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D9896-E628-9705-C9C9-21B8FDD0A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F564C-0AF3-ACB5-528C-70F7CF0D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5007A-A7F9-B5BF-2BDA-96980AE7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430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CA4A-55EA-4F7F-562F-A2F0A5A0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C83A6-77AA-F8A0-3EDB-6880DF825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6BA38-3C5B-8DB0-0E60-64ED60649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80A60-95D2-1DA1-3058-98DE5D29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CFFED-D6F4-29E3-9049-798EE0A8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F6E0E-BB49-8832-054C-C4C8826F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057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3057-FEF3-0554-EA8A-266A0080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D5767-5A76-99B2-8B57-E38F5BCF0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8F420-3BEE-639E-7B5B-B86466F0E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C35E6-788D-DFE2-AC5C-8BEB7AA7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2FFF5-2E40-6478-4840-3F8E5027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359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57824-A94D-378F-296F-CD9B476EF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4278F-4B0D-C220-CF87-52754EADE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B2FFF-7CB7-8FCB-5A0E-5DA8D3CB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E2F97-1E5E-17C9-2172-93CC364C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4011C-DF2B-7F65-4760-1915E8AB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716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5D723B-37A1-4EF5-80F7-853072B93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74D73-D6A4-FD4E-0D91-5D092C8BD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5837B-A5B3-30E2-609E-99AADE174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1F9A1-258B-4A7D-961A-4FAA350018E7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3C7C4-A48F-FDFB-E07F-E05CB6E72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68CC8-2E71-1D78-01A7-664E4187B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58289-93CA-42A3-8D7F-94162AE032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674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0CA88-3968-7161-43B6-CC2EC621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7CFC-DF1B-64C9-0320-F8C2B28DD4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DA06C-B36F-D06E-60BD-E75EB23D10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26" name="Picture 2" descr="Chat screen">
            <a:extLst>
              <a:ext uri="{FF2B5EF4-FFF2-40B4-BE49-F238E27FC236}">
                <a16:creationId xmlns:a16="http://schemas.microsoft.com/office/drawing/2014/main" id="{9226620D-DF00-EC49-35EF-58C7F1220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247650"/>
            <a:ext cx="11896725" cy="636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5DE72E-2E4D-A5A3-711A-EBFECF1B2454}"/>
              </a:ext>
            </a:extLst>
          </p:cNvPr>
          <p:cNvSpPr/>
          <p:nvPr/>
        </p:nvSpPr>
        <p:spPr>
          <a:xfrm>
            <a:off x="147638" y="247650"/>
            <a:ext cx="11896724" cy="7826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2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8C0B6-BABF-DF14-C0D8-31E7358FA22A}"/>
              </a:ext>
            </a:extLst>
          </p:cNvPr>
          <p:cNvSpPr txBox="1"/>
          <p:nvPr/>
        </p:nvSpPr>
        <p:spPr>
          <a:xfrm>
            <a:off x="221603" y="722511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EVA DA 2.0 demo – project-aware, bilingual, accessible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E6A9C0-BDFD-DA14-58A5-1E649C8EB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85" y="603867"/>
            <a:ext cx="1295581" cy="323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C7CA5C-1057-9404-1583-6AF6132FE453}"/>
              </a:ext>
            </a:extLst>
          </p:cNvPr>
          <p:cNvSpPr txBox="1"/>
          <p:nvPr/>
        </p:nvSpPr>
        <p:spPr>
          <a:xfrm>
            <a:off x="1852169" y="2678838"/>
            <a:ext cx="8244565" cy="5847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 with your Jurisprudence Research Assistant</a:t>
            </a: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B9C8F9-1539-DB76-36CF-C7E82F339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9" y="1205069"/>
            <a:ext cx="3400900" cy="6001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5384CC-86C5-FFB3-B37F-04358A82A1DE}"/>
              </a:ext>
            </a:extLst>
          </p:cNvPr>
          <p:cNvSpPr txBox="1"/>
          <p:nvPr/>
        </p:nvSpPr>
        <p:spPr>
          <a:xfrm>
            <a:off x="184851" y="3041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EVA Domain Assistant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513A4B-2727-12FE-B7D2-86F3F3831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490319"/>
            <a:ext cx="2205439" cy="87488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66A6B4C-A4C6-33CC-A0D0-1B21E614E2D9}"/>
              </a:ext>
            </a:extLst>
          </p:cNvPr>
          <p:cNvSpPr/>
          <p:nvPr/>
        </p:nvSpPr>
        <p:spPr>
          <a:xfrm>
            <a:off x="1438275" y="3752850"/>
            <a:ext cx="3019425" cy="1067238"/>
          </a:xfrm>
          <a:prstGeom prst="roundRect">
            <a:avLst/>
          </a:prstGeom>
          <a:solidFill>
            <a:schemeClr val="tx2">
              <a:lumMod val="10000"/>
              <a:lumOff val="9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5109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7F09B-9427-2E9A-6C99-E585FCB6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FE0F-5168-401E-105F-EE1D91CAA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42C9D-806E-9DA1-7B64-5268B65048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26" name="Picture 2" descr="Chat screen">
            <a:extLst>
              <a:ext uri="{FF2B5EF4-FFF2-40B4-BE49-F238E27FC236}">
                <a16:creationId xmlns:a16="http://schemas.microsoft.com/office/drawing/2014/main" id="{6FFCDF95-E5D7-6625-21DF-8A73A48FC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247650"/>
            <a:ext cx="11896725" cy="636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B5F059-911F-6C46-3CBF-FDE22E9A1421}"/>
              </a:ext>
            </a:extLst>
          </p:cNvPr>
          <p:cNvSpPr/>
          <p:nvPr/>
        </p:nvSpPr>
        <p:spPr>
          <a:xfrm>
            <a:off x="147638" y="247650"/>
            <a:ext cx="11896724" cy="7826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2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9F480-1E7F-8E2B-A495-B985108D4122}"/>
              </a:ext>
            </a:extLst>
          </p:cNvPr>
          <p:cNvSpPr txBox="1"/>
          <p:nvPr/>
        </p:nvSpPr>
        <p:spPr>
          <a:xfrm>
            <a:off x="221603" y="722511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EVA DA 2.0 demo – project-aware, bilingual, accessible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D2D914-AFA0-C2D4-639A-86DC08896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85" y="603867"/>
            <a:ext cx="1295581" cy="323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B6A0DE-6463-394A-ACA0-F457B52EF729}"/>
              </a:ext>
            </a:extLst>
          </p:cNvPr>
          <p:cNvSpPr txBox="1"/>
          <p:nvPr/>
        </p:nvSpPr>
        <p:spPr>
          <a:xfrm>
            <a:off x="1852169" y="2678838"/>
            <a:ext cx="7687810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 with your Canada Life Benefits Assistant</a:t>
            </a: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3E250B-5D85-500B-4C20-A0C386AB9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9" y="1205069"/>
            <a:ext cx="3400900" cy="6001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64CF7F-FA2F-FDAA-433E-E01FC87A15B4}"/>
              </a:ext>
            </a:extLst>
          </p:cNvPr>
          <p:cNvSpPr txBox="1"/>
          <p:nvPr/>
        </p:nvSpPr>
        <p:spPr>
          <a:xfrm>
            <a:off x="184851" y="3041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EVA Domain Assistant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E72FC53-E165-8BF4-6976-AEE1AB906EE6}"/>
              </a:ext>
            </a:extLst>
          </p:cNvPr>
          <p:cNvSpPr/>
          <p:nvPr/>
        </p:nvSpPr>
        <p:spPr>
          <a:xfrm>
            <a:off x="1438275" y="3752850"/>
            <a:ext cx="3019425" cy="106723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63D50A-34E8-665F-DAA8-D6EC9602C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187" y="534981"/>
            <a:ext cx="1724266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0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8FD00-0C2F-E3E1-1E40-B1EF65FF2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1E9A-EEEE-B7E4-ABBA-66BEB23617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469FA-1005-1BD0-C194-33F38A7D4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26" name="Picture 2" descr="Chat screen">
            <a:extLst>
              <a:ext uri="{FF2B5EF4-FFF2-40B4-BE49-F238E27FC236}">
                <a16:creationId xmlns:a16="http://schemas.microsoft.com/office/drawing/2014/main" id="{F788B139-2123-3B01-404A-B4FE9A406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247650"/>
            <a:ext cx="11896725" cy="636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FDE8E8-60D1-A845-D0E0-206328C4F268}"/>
              </a:ext>
            </a:extLst>
          </p:cNvPr>
          <p:cNvSpPr/>
          <p:nvPr/>
        </p:nvSpPr>
        <p:spPr>
          <a:xfrm>
            <a:off x="147638" y="247650"/>
            <a:ext cx="11896724" cy="7826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2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11502-8AE9-8E1E-471E-5FD3D11AA23C}"/>
              </a:ext>
            </a:extLst>
          </p:cNvPr>
          <p:cNvSpPr txBox="1"/>
          <p:nvPr/>
        </p:nvSpPr>
        <p:spPr>
          <a:xfrm>
            <a:off x="221603" y="722511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solidFill>
                  <a:schemeClr val="bg1"/>
                </a:solidFill>
              </a:rPr>
              <a:t>EVA DA 2.0 demo – project-aware, bilingual, accessible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0E96C3-2537-BCCC-1CB7-D0B1A02BE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85" y="603867"/>
            <a:ext cx="1295581" cy="323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488328-E740-E78D-B104-F21E49973AF0}"/>
              </a:ext>
            </a:extLst>
          </p:cNvPr>
          <p:cNvSpPr txBox="1"/>
          <p:nvPr/>
        </p:nvSpPr>
        <p:spPr>
          <a:xfrm>
            <a:off x="1852169" y="2678838"/>
            <a:ext cx="7687810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 with your Canada Life Benefits Assistant</a:t>
            </a: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1F44E9-D127-D243-E072-E83C46F19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9" y="1205069"/>
            <a:ext cx="3400900" cy="6001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05927F-B8B3-6FE7-0972-BE33F9295FDC}"/>
              </a:ext>
            </a:extLst>
          </p:cNvPr>
          <p:cNvSpPr txBox="1"/>
          <p:nvPr/>
        </p:nvSpPr>
        <p:spPr>
          <a:xfrm>
            <a:off x="184850" y="304149"/>
            <a:ext cx="7282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EVA Domain Assistant Project Register Administration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498170-7333-C6D0-782D-67157B1049AF}"/>
              </a:ext>
            </a:extLst>
          </p:cNvPr>
          <p:cNvSpPr/>
          <p:nvPr/>
        </p:nvSpPr>
        <p:spPr>
          <a:xfrm>
            <a:off x="1438275" y="3752850"/>
            <a:ext cx="3019425" cy="106723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978D34-7E9B-5554-433D-FAF39A9F02F9}"/>
              </a:ext>
            </a:extLst>
          </p:cNvPr>
          <p:cNvSpPr/>
          <p:nvPr/>
        </p:nvSpPr>
        <p:spPr>
          <a:xfrm>
            <a:off x="342900" y="1589538"/>
            <a:ext cx="11115675" cy="48253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643AF5-EAC0-0D9B-EC89-37F9500B0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372" y="1205069"/>
            <a:ext cx="1924319" cy="8478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6CB024-DF8E-B025-708D-D9450E98AA63}"/>
              </a:ext>
            </a:extLst>
          </p:cNvPr>
          <p:cNvSpPr txBox="1"/>
          <p:nvPr/>
        </p:nvSpPr>
        <p:spPr>
          <a:xfrm>
            <a:off x="232614" y="1248849"/>
            <a:ext cx="1001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Project: </a:t>
            </a:r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35C5AA8-6BDB-0E31-553F-CA9E744BE088}"/>
              </a:ext>
            </a:extLst>
          </p:cNvPr>
          <p:cNvSpPr/>
          <p:nvPr/>
        </p:nvSpPr>
        <p:spPr>
          <a:xfrm>
            <a:off x="10492167" y="6012214"/>
            <a:ext cx="826835" cy="2381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0F71FF3-0D4F-185A-F72F-A0CE4602043C}"/>
              </a:ext>
            </a:extLst>
          </p:cNvPr>
          <p:cNvSpPr/>
          <p:nvPr/>
        </p:nvSpPr>
        <p:spPr>
          <a:xfrm>
            <a:off x="9363075" y="6016007"/>
            <a:ext cx="989518" cy="2381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Cancel</a:t>
            </a:r>
            <a:endParaRPr lang="en-CA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536BDBE-B8C9-645F-DDF0-0DEA5CE2E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695949"/>
              </p:ext>
            </p:extLst>
          </p:nvPr>
        </p:nvGraphicFramePr>
        <p:xfrm>
          <a:off x="475806" y="2161324"/>
          <a:ext cx="8005668" cy="5317528"/>
        </p:xfrm>
        <a:graphic>
          <a:graphicData uri="http://schemas.openxmlformats.org/drawingml/2006/table">
            <a:tbl>
              <a:tblPr/>
              <a:tblGrid>
                <a:gridCol w="2668556">
                  <a:extLst>
                    <a:ext uri="{9D8B030D-6E8A-4147-A177-3AD203B41FA5}">
                      <a16:colId xmlns:a16="http://schemas.microsoft.com/office/drawing/2014/main" val="353035510"/>
                    </a:ext>
                  </a:extLst>
                </a:gridCol>
                <a:gridCol w="2668556">
                  <a:extLst>
                    <a:ext uri="{9D8B030D-6E8A-4147-A177-3AD203B41FA5}">
                      <a16:colId xmlns:a16="http://schemas.microsoft.com/office/drawing/2014/main" val="3567059141"/>
                    </a:ext>
                  </a:extLst>
                </a:gridCol>
                <a:gridCol w="2668556">
                  <a:extLst>
                    <a:ext uri="{9D8B030D-6E8A-4147-A177-3AD203B41FA5}">
                      <a16:colId xmlns:a16="http://schemas.microsoft.com/office/drawing/2014/main" val="1127686874"/>
                    </a:ext>
                  </a:extLst>
                </a:gridCol>
              </a:tblGrid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Field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Type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Purpose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551250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id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 (UUID)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Internal ID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915971"/>
                  </a:ext>
                </a:extLst>
              </a:tr>
              <a:tr h="279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slug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Short code (e.g.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canada-life</a:t>
                      </a:r>
                      <a:r>
                        <a:rPr lang="en-US" sz="1050"/>
                        <a:t>,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jurisprudence</a:t>
                      </a:r>
                      <a:r>
                        <a:rPr lang="en-US" sz="1050"/>
                        <a:t>)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790442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>
                          <a:latin typeface="Courier New" panose="02070309020205020404" pitchFamily="49" charset="0"/>
                        </a:rPr>
                        <a:t>name</a:t>
                      </a:r>
                      <a:endParaRPr lang="en-CA" sz="1050" dirty="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Friendly name shown in UI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57164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description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What this project does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143681"/>
                  </a:ext>
                </a:extLst>
              </a:tr>
              <a:tr h="279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status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enum: </a:t>
                      </a:r>
                      <a:r>
                        <a:rPr lang="en-CA" sz="1050">
                          <a:latin typeface="Courier New" panose="02070309020205020404" pitchFamily="49" charset="0"/>
                        </a:rPr>
                        <a:t>draft</a:t>
                      </a:r>
                      <a:r>
                        <a:rPr lang="en-CA" sz="1050"/>
                        <a:t> | </a:t>
                      </a:r>
                      <a:r>
                        <a:rPr lang="en-CA" sz="1050">
                          <a:latin typeface="Courier New" panose="02070309020205020404" pitchFamily="49" charset="0"/>
                        </a:rPr>
                        <a:t>active</a:t>
                      </a:r>
                      <a:r>
                        <a:rPr lang="en-CA" sz="1050"/>
                        <a:t> | </a:t>
                      </a:r>
                      <a:r>
                        <a:rPr lang="en-CA" sz="1050">
                          <a:latin typeface="Courier New" panose="02070309020205020404" pitchFamily="49" charset="0"/>
                        </a:rPr>
                        <a:t>archived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Lifecycle state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307234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ownerName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Business owner / team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026096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ownerEmail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Contact for issues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257125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costCenter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For chargeback / reporting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558972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securityClassification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enum: </a:t>
                      </a:r>
                      <a:r>
                        <a:rPr lang="en-CA" sz="1050">
                          <a:latin typeface="Courier New" panose="02070309020205020404" pitchFamily="49" charset="0"/>
                        </a:rPr>
                        <a:t>UNCLASS</a:t>
                      </a:r>
                      <a:r>
                        <a:rPr lang="en-CA" sz="1050"/>
                        <a:t> | </a:t>
                      </a:r>
                      <a:r>
                        <a:rPr lang="en-CA" sz="1050">
                          <a:latin typeface="Courier New" panose="02070309020205020404" pitchFamily="49" charset="0"/>
                        </a:rPr>
                        <a:t>PB</a:t>
                      </a:r>
                      <a:r>
                        <a:rPr lang="en-CA" sz="1050"/>
                        <a:t> / etc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For EVA: likely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UNCLASS</a:t>
                      </a:r>
                      <a:r>
                        <a:rPr lang="en-US" sz="1050"/>
                        <a:t> or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PB</a:t>
                      </a:r>
                      <a:endParaRPr lang="en-US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868476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allowedUserGroups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string[]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RBAC groups / roles allowed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530697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defaultLanguage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enum: </a:t>
                      </a:r>
                      <a:r>
                        <a:rPr lang="en-CA" sz="1050">
                          <a:latin typeface="Courier New" panose="02070309020205020404" pitchFamily="49" charset="0"/>
                        </a:rPr>
                        <a:t>en</a:t>
                      </a:r>
                      <a:r>
                        <a:rPr lang="en-CA" sz="1050"/>
                        <a:t> | </a:t>
                      </a:r>
                      <a:r>
                        <a:rPr lang="en-CA" sz="1050">
                          <a:latin typeface="Courier New" panose="02070309020205020404" pitchFamily="49" charset="0"/>
                        </a:rPr>
                        <a:t>fr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Primary language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804441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supportedLanguages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string[]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e.g. </a:t>
                      </a:r>
                      <a:r>
                        <a:rPr lang="en-CA" sz="1050">
                          <a:latin typeface="Courier New" panose="02070309020205020404" pitchFamily="49" charset="0"/>
                        </a:rPr>
                        <a:t>["en", "fr"]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715006"/>
                  </a:ext>
                </a:extLst>
              </a:tr>
              <a:tr h="279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uiTheme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object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Colors / branding for the React app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63958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ragIndexConfig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RagIndexConfig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How we chunk/index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150977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ragRetrievalConfig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RagRetrievalConfig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How we rank/retrieve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601520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ragPromptConfig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RagPromptConfig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Persona, system prompts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600676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ragGuardrailConfig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RagGuardrailConfig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Safety / redaction config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759087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dataSources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DataSource[]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Where content comes from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286565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goldenQuestionSet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GoldenQuestion[]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Golden questions &amp; expectations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00351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analyticsConfig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AnalyticsConfig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KPI &amp; logging knobs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247810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createdAt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datetime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Audit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894528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createdBy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Audit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029877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updatedAt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datetime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Audit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31088"/>
                  </a:ext>
                </a:extLst>
              </a:tr>
              <a:tr h="159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>
                          <a:latin typeface="Courier New" panose="02070309020205020404" pitchFamily="49" charset="0"/>
                        </a:rPr>
                        <a:t>updatedBy</a:t>
                      </a:r>
                      <a:endParaRPr lang="en-CA" sz="1050"/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/>
                        <a:t>string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50" dirty="0"/>
                        <a:t>Audit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204688"/>
                  </a:ext>
                </a:extLst>
              </a:tr>
            </a:tbl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14F129-828C-9924-A15E-E6F8955015E4}"/>
              </a:ext>
            </a:extLst>
          </p:cNvPr>
          <p:cNvSpPr/>
          <p:nvPr/>
        </p:nvSpPr>
        <p:spPr>
          <a:xfrm>
            <a:off x="9353551" y="6325932"/>
            <a:ext cx="1955926" cy="2381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Exit Project Register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937299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88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Presta</dc:creator>
  <cp:lastModifiedBy>Marco Presta</cp:lastModifiedBy>
  <cp:revision>1</cp:revision>
  <dcterms:created xsi:type="dcterms:W3CDTF">2025-11-09T17:59:23Z</dcterms:created>
  <dcterms:modified xsi:type="dcterms:W3CDTF">2025-11-09T18:40:31Z</dcterms:modified>
</cp:coreProperties>
</file>