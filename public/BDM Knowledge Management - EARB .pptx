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8" r:id="rId5"/>
    <p:sldMasterId id="2147483675" r:id="rId6"/>
    <p:sldMasterId id="2147483693" r:id="rId7"/>
    <p:sldMasterId id="2147483710" r:id="rId8"/>
  </p:sldMasterIdLst>
  <p:notesMasterIdLst>
    <p:notesMasterId r:id="rId44"/>
  </p:notesMasterIdLst>
  <p:handoutMasterIdLst>
    <p:handoutMasterId r:id="rId45"/>
  </p:handoutMasterIdLst>
  <p:sldIdLst>
    <p:sldId id="381" r:id="rId9"/>
    <p:sldId id="380" r:id="rId10"/>
    <p:sldId id="379" r:id="rId11"/>
    <p:sldId id="378" r:id="rId12"/>
    <p:sldId id="2147483632" r:id="rId13"/>
    <p:sldId id="388" r:id="rId14"/>
    <p:sldId id="438" r:id="rId15"/>
    <p:sldId id="2147483638" r:id="rId16"/>
    <p:sldId id="2147483642" r:id="rId17"/>
    <p:sldId id="2147483643" r:id="rId18"/>
    <p:sldId id="2147478098" r:id="rId19"/>
    <p:sldId id="431" r:id="rId20"/>
    <p:sldId id="436" r:id="rId21"/>
    <p:sldId id="2147483631" r:id="rId22"/>
    <p:sldId id="437" r:id="rId23"/>
    <p:sldId id="349" r:id="rId24"/>
    <p:sldId id="386" r:id="rId25"/>
    <p:sldId id="354" r:id="rId26"/>
    <p:sldId id="408" r:id="rId27"/>
    <p:sldId id="407" r:id="rId28"/>
    <p:sldId id="412" r:id="rId29"/>
    <p:sldId id="2147483637" r:id="rId30"/>
    <p:sldId id="2147483633" r:id="rId31"/>
    <p:sldId id="2147483616" r:id="rId32"/>
    <p:sldId id="434" r:id="rId33"/>
    <p:sldId id="2147483619" r:id="rId34"/>
    <p:sldId id="2147483629" r:id="rId35"/>
    <p:sldId id="2147483627" r:id="rId36"/>
    <p:sldId id="2147483623" r:id="rId37"/>
    <p:sldId id="2147483624" r:id="rId38"/>
    <p:sldId id="435" r:id="rId39"/>
    <p:sldId id="2147483625" r:id="rId40"/>
    <p:sldId id="439" r:id="rId41"/>
    <p:sldId id="2147483620" r:id="rId42"/>
    <p:sldId id="2147483621" r:id="rId43"/>
  </p:sldIdLst>
  <p:sldSz cx="12192000" cy="6858000"/>
  <p:notesSz cx="6858000" cy="9144000"/>
  <p:custDataLst>
    <p:tags r:id="rId4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d="{D9F6DDFE-DA05-1340-9E4C-B223BEAD9A1A}">
          <p14:sldIdLst>
            <p14:sldId id="381"/>
            <p14:sldId id="380"/>
            <p14:sldId id="379"/>
            <p14:sldId id="378"/>
            <p14:sldId id="2147483632"/>
            <p14:sldId id="388"/>
            <p14:sldId id="438"/>
            <p14:sldId id="2147483638"/>
            <p14:sldId id="2147483642"/>
            <p14:sldId id="2147483643"/>
            <p14:sldId id="2147478098"/>
            <p14:sldId id="431"/>
            <p14:sldId id="436"/>
            <p14:sldId id="2147483631"/>
            <p14:sldId id="437"/>
            <p14:sldId id="349"/>
            <p14:sldId id="386"/>
            <p14:sldId id="354"/>
            <p14:sldId id="408"/>
            <p14:sldId id="407"/>
            <p14:sldId id="412"/>
            <p14:sldId id="2147483637"/>
            <p14:sldId id="2147483633"/>
            <p14:sldId id="2147483616"/>
            <p14:sldId id="434"/>
            <p14:sldId id="2147483619"/>
            <p14:sldId id="2147483629"/>
            <p14:sldId id="2147483627"/>
            <p14:sldId id="2147483623"/>
            <p14:sldId id="2147483624"/>
            <p14:sldId id="435"/>
            <p14:sldId id="2147483625"/>
            <p14:sldId id="439"/>
            <p14:sldId id="2147483620"/>
            <p14:sldId id="2147483621"/>
          </p14:sldIdLst>
        </p14:section>
        <p14:section name="Untitled Section" id="{800F4493-7574-4581-8D0A-86C94E9018DD}">
          <p14:sldIdLst/>
        </p14:section>
        <p14:section name="Bibliothèque visuelle" id="{C800310A-849F-0243-8981-337ADD2554A7}">
          <p14:sldIdLst/>
        </p14:section>
      </p14:sectionLst>
    </p:ext>
    <p:ext uri="{EFAFB233-063F-42B5-8137-9DF3F51BA10A}">
      <p15:sldGuideLst xmlns:p15="http://schemas.microsoft.com/office/powerpoint/2012/main">
        <p15:guide id="1" orient="horz" pos="2156" userDrawn="1">
          <p15:clr>
            <a:srgbClr val="A4A3A4"/>
          </p15:clr>
        </p15:guide>
        <p15:guide id="2" pos="7287" userDrawn="1">
          <p15:clr>
            <a:srgbClr val="A4A3A4"/>
          </p15:clr>
        </p15:guide>
        <p15:guide id="3" pos="384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CAEA905-8D2D-BD52-AEB9-9BC51BEEDFDA}" name="D'Alfonso, Cal C [NC]" initials="D[" userId="S::cal.dalfonso@hrsdc-rhdcc.gc.ca::eff965bf-2d1e-4d0a-9a78-188a08b152d8" providerId="AD"/>
  <p188:author id="{520B4509-8E01-CFAD-7BC6-30FA9C633D5A}" name="Ho, Randall [NC]" initials="HR" userId="S::randall.ho@hrsdc-rhdcc.gc.ca::6ed53952-99d8-4217-9983-4787f54dec8a" providerId="AD"/>
  <p188:author id="{8FFD1C1D-61AA-073B-69CE-95FDC321F5F0}" name="Ingenito, André AI [NC]" initials="I[" userId="S::andre.ingenito@hrsdc-rhdcc.gc.ca::cefaac85-a264-4922-9994-ed26db66ad20" providerId="AD"/>
  <p188:author id="{32BA5427-FFDB-B88A-3D80-B6D270B2FBDD}" name="Kothary, Neil [NC]" initials="NK" userId="S::neil.kothary@servicecanada.gc.ca::5201eabf-5985-4fc2-8775-7ee96176c225" providerId="AD"/>
  <p188:author id="{93AD4830-FCC2-0A33-56E2-238A5A785B80}" name="Ieropoli, Sergio SOI [NC]" initials="I[" userId="S::sergio.ieropoli@hrsdc-rhdcc.gc.ca::cd58f298-bcfa-44bd-a5a0-db76d7dca15b" providerId="AD"/>
  <p188:author id="{DC8C2C39-3D32-7A94-D2E5-1BA6FA2F50B6}" name="Andrews, Jonathan J [NC]" initials="A[" userId="S::jonathan.andrews@servicecanada.gc.ca::64bb75e4-056a-4972-844e-16fbfdf7de5e" providerId="AD"/>
  <p188:author id="{C1E18043-84F5-A0EE-B7C7-83CEFE09DD26}" name="McAllister, Andrew AM [NC]" initials="" userId="S::andrew.mcallister@hrsdc-rhdcc.gc.ca::9d58f93b-193a-445c-bab3-acfe96a8ab43" providerId="AD"/>
  <p188:author id="{AE7EFD55-3366-05E6-A60C-759A0ECFEC76}" name="Petrovic, Vesna V [NC]" initials="P[" userId="S::vesna.petrovic@hrsdc-rhdcc.gc.ca::36ddd803-c64f-4885-9f77-ac9eae987286" providerId="AD"/>
  <p188:author id="{680C6E6B-3212-8CED-AA7B-0BE4EC8290B0}" name="Albert, Sheela S [NC]" initials="A[" userId="S::sheela.albert@hrsdc-rhdcc.gc.ca::c951a73d-e530-4c24-b5de-fe7d55f66b80" providerId="AD"/>
  <p188:author id="{780F926E-A6B2-3523-EF7D-644AC57F46CB}" name="Garg, Dipti D [NC]" initials="GDD[" userId="S::dipti.garg@hrsdc-rhdcc.gc.ca::ba3092f0-2215-42d0-982e-8414b88d5790" providerId="AD"/>
  <p188:author id="{B4A5F870-1943-C7BF-3C38-D0750A19E6C9}" name="Balakrishnan, Sanjeev S [NC]" initials="B[" userId="S::sanjeev.balakrishnan@hrsdc-rhdcc.gc.ca::975dd8a0-5af8-4d6d-8ceb-1a3b06beb538" providerId="AD"/>
  <p188:author id="{0408D77E-B6F3-B5CA-7A37-69F66C59B1AF}" name="Rafuse, Amy L [NC]" initials="AR" userId="S::amy.rafuse@hrsdc-rhdcc.gc.ca::76f4b270-dd06-46ea-857f-1079feae26ce" providerId="AD"/>
  <p188:author id="{9ECEE484-A998-A637-A7D0-EFC16FC75EB4}" name="Au, Jeffery JC [NC]" initials="A[" userId="S::jeffery.au@hrsdc-rhdcc.gc.ca::b0a2d5fa-a33c-497d-9ff3-d5d93dc9afb2" providerId="AD"/>
  <p188:author id="{D5B8F19E-0F61-D135-AF33-01A14AD6E446}" name="Beauregard, Remy Marc RM [NC]" initials="" userId="S::remy.beauregard@hrsdc-rhdcc.gc.ca::eed1b5c0-7ef5-4199-a6b7-2179715673a9" providerId="AD"/>
  <p188:author id="{0C4207B9-42FD-61CC-B3CA-9AE754C9A232}" name="Shen, Daniel Shih-Ho D [NC]" initials="DS" userId="S::daniel.shen@hrsdc-rhdcc.gc.ca::593236aa-d0ad-4b17-a0b5-aeb5cdf99243" providerId="AD"/>
  <p188:author id="{C90C0DBE-9BD7-7BCE-C93E-F7A2666AA109}" name="Godin, Alexandre A [NC]" initials="G[" userId="S::alexandre.godin@hrsdc-rhdcc.gc.ca::e15f36a8-1d51-4796-92e4-616de21ae8ca" providerId="AD"/>
  <p188:author id="{213634BE-5053-5173-7216-6671AAA5B569}" name="Carnegie, Kenneth K [NC]" initials="C[" userId="S::ken.carnegie@hrsdc-rhdcc.gc.ca::2227589e-1043-417f-a190-c595f062e1fb" providerId="AD"/>
  <p188:author id="{2BBA0AC4-B72F-EE5F-835B-91240AC6C103}" name="Despatie, Tyler T [NC]" initials="D[" userId="S::tyler.despatie@hrsdc-rhdcc.gc.ca::d914de07-b829-4d05-966b-0216d20fbabd" providerId="AD"/>
  <p188:author id="{C8133FC9-5DF5-9790-BDAC-34A0BF23DCE6}" name="Charbonneau, Christian C [NC]" initials="C[" userId="S::christian.charbonneau@hrsdc-rhdcc.gc.ca::592eaccd-c39e-4e53-8a59-8a25e8145515" providerId="AD"/>
  <p188:author id="{6071B7E7-215F-692F-4F21-0522C37A25C6}" name="Davis, Steven SJ [NC]" initials="DSS[" userId="S::steve.davis@hrsdc-rhdcc.gc.ca::da8d23a7-42a0-4a8f-a7a1-16d059676cec" providerId="AD"/>
  <p188:author id="{E855ADED-D819-BF73-672D-7DAFAC8C7EBD}" name="Albert, Sheela S [NC]" initials="" userId="S::Sheela.Albert@hrsdc-rhdcc.gc.ca::c951a73d-e530-4c24-b5de-fe7d55f66b80" providerId="AD"/>
  <p188:author id="{C87E4DF0-ECEC-6688-550C-60749EC5F0A6}" name="Rohde, Bernard BA [NC]" initials="R[" userId="S::bernard.rohde@servicecanada.gc.ca::93495786-e53c-45dc-8f95-c2f4a2b27d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souhlaris, Michael" initials="TM" lastIdx="47" clrIdx="0">
    <p:extLst>
      <p:ext uri="{19B8F6BF-5375-455C-9EA6-DF929625EA0E}">
        <p15:presenceInfo xmlns:p15="http://schemas.microsoft.com/office/powerpoint/2012/main" userId="Tsouhlaris, Michael" providerId="None"/>
      </p:ext>
    </p:extLst>
  </p:cmAuthor>
  <p:cmAuthor id="2" name="Hamilton, Gregg M [NC]" initials="HGM[" lastIdx="1" clrIdx="1">
    <p:extLst>
      <p:ext uri="{19B8F6BF-5375-455C-9EA6-DF929625EA0E}">
        <p15:presenceInfo xmlns:p15="http://schemas.microsoft.com/office/powerpoint/2012/main" userId="S-1-5-21-2836628367-1582996139-4062659285-50302" providerId="AD"/>
      </p:ext>
    </p:extLst>
  </p:cmAuthor>
  <p:cmAuthor id="3" name="Li, Chi (Jimmy) C [NC]" initials="LC(C[" lastIdx="4" clrIdx="2">
    <p:extLst>
      <p:ext uri="{19B8F6BF-5375-455C-9EA6-DF929625EA0E}">
        <p15:presenceInfo xmlns:p15="http://schemas.microsoft.com/office/powerpoint/2012/main" userId="S-1-5-21-2836628367-1582996139-4062659285-548692" providerId="AD"/>
      </p:ext>
    </p:extLst>
  </p:cmAuthor>
  <p:cmAuthor id="4" name="Middleton, Paul [NC]" initials="MP[" lastIdx="4" clrIdx="3">
    <p:extLst>
      <p:ext uri="{19B8F6BF-5375-455C-9EA6-DF929625EA0E}">
        <p15:presenceInfo xmlns:p15="http://schemas.microsoft.com/office/powerpoint/2012/main" userId="S-1-5-21-2836628367-1582996139-4062659285-51678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66"/>
    <a:srgbClr val="4BACC6"/>
    <a:srgbClr val="B7DEE8"/>
    <a:srgbClr val="DBEEF4"/>
    <a:srgbClr val="93CDDD"/>
    <a:srgbClr val="A6A6A6"/>
    <a:srgbClr val="6895BE"/>
    <a:srgbClr val="7DA661"/>
    <a:srgbClr val="1F497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8CC885-6DE0-492E-8615-4CABC19B2CBE}" v="5" dt="2025-06-03T17:06:45.714"/>
    <p1510:client id="{C564A222-00AA-916B-ABE5-FDA87A121DE9}" v="4" dt="2025-06-03T20:31:38.6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56"/>
        <p:guide pos="7287"/>
        <p:guide pos="3848"/>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handoutMaster" Target="handoutMasters/handoutMaster1.xml"/><Relationship Id="rId53" Type="http://schemas.microsoft.com/office/2015/10/relationships/revisionInfo" Target="revisionInfo.xml"/><Relationship Id="rId5" Type="http://schemas.openxmlformats.org/officeDocument/2006/relationships/slideMaster" Target="slideMasters/slide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notesMaster" Target="notesMasters/notesMaster1.xml"/><Relationship Id="rId52"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presProps" Target="presProps.xml"/><Relationship Id="rId8" Type="http://schemas.openxmlformats.org/officeDocument/2006/relationships/slideMaster" Target="slideMasters/slideMaster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ags" Target="tags/tag1.xml"/><Relationship Id="rId20" Type="http://schemas.openxmlformats.org/officeDocument/2006/relationships/slide" Target="slides/slide12.xml"/><Relationship Id="rId41" Type="http://schemas.openxmlformats.org/officeDocument/2006/relationships/slide" Target="slides/slide33.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genito, André AI [NC]" userId="S::andre.ingenito@hrsdc-rhdcc.gc.ca::cefaac85-a264-4922-9994-ed26db66ad20" providerId="AD" clId="Web-{D5629028-3769-80CE-8EC5-4BCD51E3DDA9}"/>
    <pc:docChg chg="modSld">
      <pc:chgData name="Ingenito, André AI [NC]" userId="S::andre.ingenito@hrsdc-rhdcc.gc.ca::cefaac85-a264-4922-9994-ed26db66ad20" providerId="AD" clId="Web-{D5629028-3769-80CE-8EC5-4BCD51E3DDA9}" dt="2025-05-28T18:40:29.157" v="11"/>
      <pc:docMkLst>
        <pc:docMk/>
      </pc:docMkLst>
      <pc:sldChg chg="modSp">
        <pc:chgData name="Ingenito, André AI [NC]" userId="S::andre.ingenito@hrsdc-rhdcc.gc.ca::cefaac85-a264-4922-9994-ed26db66ad20" providerId="AD" clId="Web-{D5629028-3769-80CE-8EC5-4BCD51E3DDA9}" dt="2025-05-28T18:40:29.157" v="11"/>
        <pc:sldMkLst>
          <pc:docMk/>
          <pc:sldMk cId="543311854" sldId="349"/>
        </pc:sldMkLst>
        <pc:graphicFrameChg chg="mod modGraphic">
          <ac:chgData name="Ingenito, André AI [NC]" userId="S::andre.ingenito@hrsdc-rhdcc.gc.ca::cefaac85-a264-4922-9994-ed26db66ad20" providerId="AD" clId="Web-{D5629028-3769-80CE-8EC5-4BCD51E3DDA9}" dt="2025-05-28T18:40:29.157" v="11"/>
          <ac:graphicFrameMkLst>
            <pc:docMk/>
            <pc:sldMk cId="543311854" sldId="349"/>
            <ac:graphicFrameMk id="34" creationId="{00000000-0000-0000-0000-000000000000}"/>
          </ac:graphicFrameMkLst>
        </pc:graphicFrameChg>
      </pc:sldChg>
    </pc:docChg>
  </pc:docChgLst>
  <pc:docChgLst>
    <pc:chgData name="Shen, Daniel Shih-Ho D [NC]" userId="593236aa-d0ad-4b17-a0b5-aeb5cdf99243" providerId="ADAL" clId="{B58CC885-6DE0-492E-8615-4CABC19B2CBE}"/>
    <pc:docChg chg="undo custSel modSld">
      <pc:chgData name="Shen, Daniel Shih-Ho D [NC]" userId="593236aa-d0ad-4b17-a0b5-aeb5cdf99243" providerId="ADAL" clId="{B58CC885-6DE0-492E-8615-4CABC19B2CBE}" dt="2025-06-03T17:06:45.714" v="3" actId="1076"/>
      <pc:docMkLst>
        <pc:docMk/>
      </pc:docMkLst>
      <pc:sldChg chg="modSp">
        <pc:chgData name="Shen, Daniel Shih-Ho D [NC]" userId="593236aa-d0ad-4b17-a0b5-aeb5cdf99243" providerId="ADAL" clId="{B58CC885-6DE0-492E-8615-4CABC19B2CBE}" dt="2025-06-02T18:10:24.047" v="2" actId="20578"/>
        <pc:sldMkLst>
          <pc:docMk/>
          <pc:sldMk cId="3639891306" sldId="379"/>
        </pc:sldMkLst>
        <pc:graphicFrameChg chg="mod">
          <ac:chgData name="Shen, Daniel Shih-Ho D [NC]" userId="593236aa-d0ad-4b17-a0b5-aeb5cdf99243" providerId="ADAL" clId="{B58CC885-6DE0-492E-8615-4CABC19B2CBE}" dt="2025-06-02T18:10:24.047" v="2" actId="20578"/>
          <ac:graphicFrameMkLst>
            <pc:docMk/>
            <pc:sldMk cId="3639891306" sldId="379"/>
            <ac:graphicFrameMk id="2" creationId="{00000000-0000-0000-0000-000000000000}"/>
          </ac:graphicFrameMkLst>
        </pc:graphicFrameChg>
      </pc:sldChg>
      <pc:sldChg chg="modSp mod">
        <pc:chgData name="Shen, Daniel Shih-Ho D [NC]" userId="593236aa-d0ad-4b17-a0b5-aeb5cdf99243" providerId="ADAL" clId="{B58CC885-6DE0-492E-8615-4CABC19B2CBE}" dt="2025-06-03T17:06:45.714" v="3" actId="1076"/>
        <pc:sldMkLst>
          <pc:docMk/>
          <pc:sldMk cId="3919658918" sldId="438"/>
        </pc:sldMkLst>
        <pc:cxnChg chg="mod">
          <ac:chgData name="Shen, Daniel Shih-Ho D [NC]" userId="593236aa-d0ad-4b17-a0b5-aeb5cdf99243" providerId="ADAL" clId="{B58CC885-6DE0-492E-8615-4CABC19B2CBE}" dt="2025-06-03T17:06:45.714" v="3" actId="1076"/>
          <ac:cxnSpMkLst>
            <pc:docMk/>
            <pc:sldMk cId="3919658918" sldId="438"/>
            <ac:cxnSpMk id="132" creationId="{00000000-0000-0000-0000-000000000000}"/>
          </ac:cxnSpMkLst>
        </pc:cxnChg>
      </pc:sldChg>
      <pc:sldChg chg="modSp mod">
        <pc:chgData name="Shen, Daniel Shih-Ho D [NC]" userId="593236aa-d0ad-4b17-a0b5-aeb5cdf99243" providerId="ADAL" clId="{B58CC885-6DE0-492E-8615-4CABC19B2CBE}" dt="2025-05-27T17:45:15.851" v="1" actId="14100"/>
        <pc:sldMkLst>
          <pc:docMk/>
          <pc:sldMk cId="1734360049" sldId="2147483643"/>
        </pc:sldMkLst>
        <pc:cxnChg chg="mod">
          <ac:chgData name="Shen, Daniel Shih-Ho D [NC]" userId="593236aa-d0ad-4b17-a0b5-aeb5cdf99243" providerId="ADAL" clId="{B58CC885-6DE0-492E-8615-4CABC19B2CBE}" dt="2025-05-27T17:45:15.851" v="1" actId="14100"/>
          <ac:cxnSpMkLst>
            <pc:docMk/>
            <pc:sldMk cId="1734360049" sldId="2147483643"/>
            <ac:cxnSpMk id="32" creationId="{72E3EBA5-B105-909B-2798-3712AA34B0DC}"/>
          </ac:cxnSpMkLst>
        </pc:cxnChg>
      </pc:sldChg>
    </pc:docChg>
  </pc:docChgLst>
  <pc:docChgLst>
    <pc:chgData name="Shen, Daniel Shih-Ho D [NC]" userId="S::daniel.shen@hrsdc-rhdcc.gc.ca::593236aa-d0ad-4b17-a0b5-aeb5cdf99243" providerId="AD" clId="Web-{C564A222-00AA-916B-ABE5-FDA87A121DE9}"/>
    <pc:docChg chg="modSld">
      <pc:chgData name="Shen, Daniel Shih-Ho D [NC]" userId="S::daniel.shen@hrsdc-rhdcc.gc.ca::593236aa-d0ad-4b17-a0b5-aeb5cdf99243" providerId="AD" clId="Web-{C564A222-00AA-916B-ABE5-FDA87A121DE9}" dt="2025-06-03T20:31:38.660" v="3" actId="20577"/>
      <pc:docMkLst>
        <pc:docMk/>
      </pc:docMkLst>
      <pc:sldChg chg="modSp">
        <pc:chgData name="Shen, Daniel Shih-Ho D [NC]" userId="S::daniel.shen@hrsdc-rhdcc.gc.ca::593236aa-d0ad-4b17-a0b5-aeb5cdf99243" providerId="AD" clId="Web-{C564A222-00AA-916B-ABE5-FDA87A121DE9}" dt="2025-06-03T20:30:12.769" v="1" actId="20577"/>
        <pc:sldMkLst>
          <pc:docMk/>
          <pc:sldMk cId="991780833" sldId="380"/>
        </pc:sldMkLst>
        <pc:spChg chg="mod">
          <ac:chgData name="Shen, Daniel Shih-Ho D [NC]" userId="S::daniel.shen@hrsdc-rhdcc.gc.ca::593236aa-d0ad-4b17-a0b5-aeb5cdf99243" providerId="AD" clId="Web-{C564A222-00AA-916B-ABE5-FDA87A121DE9}" dt="2025-06-03T20:30:12.769" v="1" actId="20577"/>
          <ac:spMkLst>
            <pc:docMk/>
            <pc:sldMk cId="991780833" sldId="380"/>
            <ac:spMk id="7" creationId="{00000000-0000-0000-0000-000000000000}"/>
          </ac:spMkLst>
        </pc:spChg>
      </pc:sldChg>
      <pc:sldChg chg="modSp">
        <pc:chgData name="Shen, Daniel Shih-Ho D [NC]" userId="S::daniel.shen@hrsdc-rhdcc.gc.ca::593236aa-d0ad-4b17-a0b5-aeb5cdf99243" providerId="AD" clId="Web-{C564A222-00AA-916B-ABE5-FDA87A121DE9}" dt="2025-06-03T20:31:38.660" v="3" actId="20577"/>
        <pc:sldMkLst>
          <pc:docMk/>
          <pc:sldMk cId="2590767001" sldId="386"/>
        </pc:sldMkLst>
        <pc:spChg chg="mod">
          <ac:chgData name="Shen, Daniel Shih-Ho D [NC]" userId="S::daniel.shen@hrsdc-rhdcc.gc.ca::593236aa-d0ad-4b17-a0b5-aeb5cdf99243" providerId="AD" clId="Web-{C564A222-00AA-916B-ABE5-FDA87A121DE9}" dt="2025-06-03T20:31:38.660" v="3" actId="20577"/>
          <ac:spMkLst>
            <pc:docMk/>
            <pc:sldMk cId="2590767001" sldId="386"/>
            <ac:spMk id="9" creationId="{00000000-0000-0000-0000-000000000000}"/>
          </ac:spMkLst>
        </pc:spChg>
      </pc:sldChg>
    </pc:docChg>
  </pc:docChgLst>
  <pc:docChgLst>
    <pc:chgData name="Shen, Daniel Shih-Ho D [NC]" userId="593236aa-d0ad-4b17-a0b5-aeb5cdf99243" providerId="ADAL" clId="{FF806A10-0987-4A66-9F31-8D6EABDFC844}"/>
    <pc:docChg chg="custSel addSld delSld modSld delMainMaster modSection">
      <pc:chgData name="Shen, Daniel Shih-Ho D [NC]" userId="593236aa-d0ad-4b17-a0b5-aeb5cdf99243" providerId="ADAL" clId="{FF806A10-0987-4A66-9F31-8D6EABDFC844}" dt="2025-06-02T12:59:36.316" v="13" actId="1076"/>
      <pc:docMkLst>
        <pc:docMk/>
      </pc:docMkLst>
      <pc:sldChg chg="del">
        <pc:chgData name="Shen, Daniel Shih-Ho D [NC]" userId="593236aa-d0ad-4b17-a0b5-aeb5cdf99243" providerId="ADAL" clId="{FF806A10-0987-4A66-9F31-8D6EABDFC844}" dt="2025-05-27T14:02:49.088" v="7" actId="47"/>
        <pc:sldMkLst>
          <pc:docMk/>
          <pc:sldMk cId="1517634463" sldId="256"/>
        </pc:sldMkLst>
      </pc:sldChg>
      <pc:sldChg chg="del">
        <pc:chgData name="Shen, Daniel Shih-Ho D [NC]" userId="593236aa-d0ad-4b17-a0b5-aeb5cdf99243" providerId="ADAL" clId="{FF806A10-0987-4A66-9F31-8D6EABDFC844}" dt="2025-05-27T14:02:49.088" v="7" actId="47"/>
        <pc:sldMkLst>
          <pc:docMk/>
          <pc:sldMk cId="2056047211" sldId="280"/>
        </pc:sldMkLst>
      </pc:sldChg>
      <pc:sldChg chg="del">
        <pc:chgData name="Shen, Daniel Shih-Ho D [NC]" userId="593236aa-d0ad-4b17-a0b5-aeb5cdf99243" providerId="ADAL" clId="{FF806A10-0987-4A66-9F31-8D6EABDFC844}" dt="2025-05-27T14:02:49.088" v="7" actId="47"/>
        <pc:sldMkLst>
          <pc:docMk/>
          <pc:sldMk cId="333128654" sldId="315"/>
        </pc:sldMkLst>
      </pc:sldChg>
      <pc:sldChg chg="del">
        <pc:chgData name="Shen, Daniel Shih-Ho D [NC]" userId="593236aa-d0ad-4b17-a0b5-aeb5cdf99243" providerId="ADAL" clId="{FF806A10-0987-4A66-9F31-8D6EABDFC844}" dt="2025-05-27T14:02:49.088" v="7" actId="47"/>
        <pc:sldMkLst>
          <pc:docMk/>
          <pc:sldMk cId="2771411038" sldId="320"/>
        </pc:sldMkLst>
      </pc:sldChg>
      <pc:sldChg chg="del">
        <pc:chgData name="Shen, Daniel Shih-Ho D [NC]" userId="593236aa-d0ad-4b17-a0b5-aeb5cdf99243" providerId="ADAL" clId="{FF806A10-0987-4A66-9F31-8D6EABDFC844}" dt="2025-05-27T14:02:49.088" v="7" actId="47"/>
        <pc:sldMkLst>
          <pc:docMk/>
          <pc:sldMk cId="4269162871" sldId="321"/>
        </pc:sldMkLst>
      </pc:sldChg>
      <pc:sldChg chg="del">
        <pc:chgData name="Shen, Daniel Shih-Ho D [NC]" userId="593236aa-d0ad-4b17-a0b5-aeb5cdf99243" providerId="ADAL" clId="{FF806A10-0987-4A66-9F31-8D6EABDFC844}" dt="2025-05-27T14:02:49.088" v="7" actId="47"/>
        <pc:sldMkLst>
          <pc:docMk/>
          <pc:sldMk cId="1522340155" sldId="324"/>
        </pc:sldMkLst>
      </pc:sldChg>
      <pc:sldChg chg="del">
        <pc:chgData name="Shen, Daniel Shih-Ho D [NC]" userId="593236aa-d0ad-4b17-a0b5-aeb5cdf99243" providerId="ADAL" clId="{FF806A10-0987-4A66-9F31-8D6EABDFC844}" dt="2025-05-27T14:02:49.088" v="7" actId="47"/>
        <pc:sldMkLst>
          <pc:docMk/>
          <pc:sldMk cId="2934007750" sldId="325"/>
        </pc:sldMkLst>
      </pc:sldChg>
      <pc:sldChg chg="del">
        <pc:chgData name="Shen, Daniel Shih-Ho D [NC]" userId="593236aa-d0ad-4b17-a0b5-aeb5cdf99243" providerId="ADAL" clId="{FF806A10-0987-4A66-9F31-8D6EABDFC844}" dt="2025-05-27T14:02:49.088" v="7" actId="47"/>
        <pc:sldMkLst>
          <pc:docMk/>
          <pc:sldMk cId="1239071205" sldId="326"/>
        </pc:sldMkLst>
      </pc:sldChg>
      <pc:sldChg chg="del">
        <pc:chgData name="Shen, Daniel Shih-Ho D [NC]" userId="593236aa-d0ad-4b17-a0b5-aeb5cdf99243" providerId="ADAL" clId="{FF806A10-0987-4A66-9F31-8D6EABDFC844}" dt="2025-05-27T14:02:49.088" v="7" actId="47"/>
        <pc:sldMkLst>
          <pc:docMk/>
          <pc:sldMk cId="1969967379" sldId="327"/>
        </pc:sldMkLst>
      </pc:sldChg>
      <pc:sldChg chg="del">
        <pc:chgData name="Shen, Daniel Shih-Ho D [NC]" userId="593236aa-d0ad-4b17-a0b5-aeb5cdf99243" providerId="ADAL" clId="{FF806A10-0987-4A66-9F31-8D6EABDFC844}" dt="2025-05-27T14:02:49.088" v="7" actId="47"/>
        <pc:sldMkLst>
          <pc:docMk/>
          <pc:sldMk cId="1807833716" sldId="328"/>
        </pc:sldMkLst>
      </pc:sldChg>
      <pc:sldChg chg="del">
        <pc:chgData name="Shen, Daniel Shih-Ho D [NC]" userId="593236aa-d0ad-4b17-a0b5-aeb5cdf99243" providerId="ADAL" clId="{FF806A10-0987-4A66-9F31-8D6EABDFC844}" dt="2025-05-27T14:02:49.088" v="7" actId="47"/>
        <pc:sldMkLst>
          <pc:docMk/>
          <pc:sldMk cId="3307572909" sldId="332"/>
        </pc:sldMkLst>
      </pc:sldChg>
      <pc:sldChg chg="del">
        <pc:chgData name="Shen, Daniel Shih-Ho D [NC]" userId="593236aa-d0ad-4b17-a0b5-aeb5cdf99243" providerId="ADAL" clId="{FF806A10-0987-4A66-9F31-8D6EABDFC844}" dt="2025-05-27T14:02:49.088" v="7" actId="47"/>
        <pc:sldMkLst>
          <pc:docMk/>
          <pc:sldMk cId="3718412775" sldId="335"/>
        </pc:sldMkLst>
      </pc:sldChg>
      <pc:sldChg chg="del">
        <pc:chgData name="Shen, Daniel Shih-Ho D [NC]" userId="593236aa-d0ad-4b17-a0b5-aeb5cdf99243" providerId="ADAL" clId="{FF806A10-0987-4A66-9F31-8D6EABDFC844}" dt="2025-05-27T14:02:49.088" v="7" actId="47"/>
        <pc:sldMkLst>
          <pc:docMk/>
          <pc:sldMk cId="341581984" sldId="336"/>
        </pc:sldMkLst>
      </pc:sldChg>
      <pc:sldChg chg="del">
        <pc:chgData name="Shen, Daniel Shih-Ho D [NC]" userId="593236aa-d0ad-4b17-a0b5-aeb5cdf99243" providerId="ADAL" clId="{FF806A10-0987-4A66-9F31-8D6EABDFC844}" dt="2025-05-27T14:02:49.088" v="7" actId="47"/>
        <pc:sldMkLst>
          <pc:docMk/>
          <pc:sldMk cId="145347465" sldId="337"/>
        </pc:sldMkLst>
      </pc:sldChg>
      <pc:sldChg chg="del">
        <pc:chgData name="Shen, Daniel Shih-Ho D [NC]" userId="593236aa-d0ad-4b17-a0b5-aeb5cdf99243" providerId="ADAL" clId="{FF806A10-0987-4A66-9F31-8D6EABDFC844}" dt="2025-05-27T14:02:49.088" v="7" actId="47"/>
        <pc:sldMkLst>
          <pc:docMk/>
          <pc:sldMk cId="590546689" sldId="338"/>
        </pc:sldMkLst>
      </pc:sldChg>
      <pc:sldChg chg="del">
        <pc:chgData name="Shen, Daniel Shih-Ho D [NC]" userId="593236aa-d0ad-4b17-a0b5-aeb5cdf99243" providerId="ADAL" clId="{FF806A10-0987-4A66-9F31-8D6EABDFC844}" dt="2025-05-27T14:02:49.088" v="7" actId="47"/>
        <pc:sldMkLst>
          <pc:docMk/>
          <pc:sldMk cId="2288389796" sldId="339"/>
        </pc:sldMkLst>
      </pc:sldChg>
      <pc:sldChg chg="modSp mod">
        <pc:chgData name="Shen, Daniel Shih-Ho D [NC]" userId="593236aa-d0ad-4b17-a0b5-aeb5cdf99243" providerId="ADAL" clId="{FF806A10-0987-4A66-9F31-8D6EABDFC844}" dt="2025-05-27T14:14:19.330" v="10"/>
        <pc:sldMkLst>
          <pc:docMk/>
          <pc:sldMk cId="543311854" sldId="349"/>
        </pc:sldMkLst>
        <pc:graphicFrameChg chg="mod modGraphic">
          <ac:chgData name="Shen, Daniel Shih-Ho D [NC]" userId="593236aa-d0ad-4b17-a0b5-aeb5cdf99243" providerId="ADAL" clId="{FF806A10-0987-4A66-9F31-8D6EABDFC844}" dt="2025-05-27T14:14:19.330" v="10"/>
          <ac:graphicFrameMkLst>
            <pc:docMk/>
            <pc:sldMk cId="543311854" sldId="349"/>
            <ac:graphicFrameMk id="34" creationId="{00000000-0000-0000-0000-000000000000}"/>
          </ac:graphicFrameMkLst>
        </pc:graphicFrameChg>
      </pc:sldChg>
      <pc:sldChg chg="del">
        <pc:chgData name="Shen, Daniel Shih-Ho D [NC]" userId="593236aa-d0ad-4b17-a0b5-aeb5cdf99243" providerId="ADAL" clId="{FF806A10-0987-4A66-9F31-8D6EABDFC844}" dt="2025-05-27T14:02:49.088" v="7" actId="47"/>
        <pc:sldMkLst>
          <pc:docMk/>
          <pc:sldMk cId="804934915" sldId="350"/>
        </pc:sldMkLst>
      </pc:sldChg>
      <pc:sldChg chg="del">
        <pc:chgData name="Shen, Daniel Shih-Ho D [NC]" userId="593236aa-d0ad-4b17-a0b5-aeb5cdf99243" providerId="ADAL" clId="{FF806A10-0987-4A66-9F31-8D6EABDFC844}" dt="2025-05-27T14:02:49.088" v="7" actId="47"/>
        <pc:sldMkLst>
          <pc:docMk/>
          <pc:sldMk cId="874045607" sldId="352"/>
        </pc:sldMkLst>
      </pc:sldChg>
      <pc:sldChg chg="del">
        <pc:chgData name="Shen, Daniel Shih-Ho D [NC]" userId="593236aa-d0ad-4b17-a0b5-aeb5cdf99243" providerId="ADAL" clId="{FF806A10-0987-4A66-9F31-8D6EABDFC844}" dt="2025-05-27T14:02:49.088" v="7" actId="47"/>
        <pc:sldMkLst>
          <pc:docMk/>
          <pc:sldMk cId="3956715180" sldId="353"/>
        </pc:sldMkLst>
      </pc:sldChg>
      <pc:sldChg chg="del">
        <pc:chgData name="Shen, Daniel Shih-Ho D [NC]" userId="593236aa-d0ad-4b17-a0b5-aeb5cdf99243" providerId="ADAL" clId="{FF806A10-0987-4A66-9F31-8D6EABDFC844}" dt="2025-05-27T14:02:49.088" v="7" actId="47"/>
        <pc:sldMkLst>
          <pc:docMk/>
          <pc:sldMk cId="2638054342" sldId="355"/>
        </pc:sldMkLst>
      </pc:sldChg>
      <pc:sldChg chg="del">
        <pc:chgData name="Shen, Daniel Shih-Ho D [NC]" userId="593236aa-d0ad-4b17-a0b5-aeb5cdf99243" providerId="ADAL" clId="{FF806A10-0987-4A66-9F31-8D6EABDFC844}" dt="2025-05-27T14:02:49.088" v="7" actId="47"/>
        <pc:sldMkLst>
          <pc:docMk/>
          <pc:sldMk cId="1639086097" sldId="356"/>
        </pc:sldMkLst>
      </pc:sldChg>
      <pc:sldChg chg="del">
        <pc:chgData name="Shen, Daniel Shih-Ho D [NC]" userId="593236aa-d0ad-4b17-a0b5-aeb5cdf99243" providerId="ADAL" clId="{FF806A10-0987-4A66-9F31-8D6EABDFC844}" dt="2025-05-27T14:02:49.088" v="7" actId="47"/>
        <pc:sldMkLst>
          <pc:docMk/>
          <pc:sldMk cId="766670935" sldId="357"/>
        </pc:sldMkLst>
      </pc:sldChg>
      <pc:sldChg chg="del">
        <pc:chgData name="Shen, Daniel Shih-Ho D [NC]" userId="593236aa-d0ad-4b17-a0b5-aeb5cdf99243" providerId="ADAL" clId="{FF806A10-0987-4A66-9F31-8D6EABDFC844}" dt="2025-05-27T14:02:49.088" v="7" actId="47"/>
        <pc:sldMkLst>
          <pc:docMk/>
          <pc:sldMk cId="3405371546" sldId="358"/>
        </pc:sldMkLst>
      </pc:sldChg>
      <pc:sldChg chg="del">
        <pc:chgData name="Shen, Daniel Shih-Ho D [NC]" userId="593236aa-d0ad-4b17-a0b5-aeb5cdf99243" providerId="ADAL" clId="{FF806A10-0987-4A66-9F31-8D6EABDFC844}" dt="2025-05-27T14:02:49.088" v="7" actId="47"/>
        <pc:sldMkLst>
          <pc:docMk/>
          <pc:sldMk cId="4162943672" sldId="359"/>
        </pc:sldMkLst>
      </pc:sldChg>
      <pc:sldChg chg="del">
        <pc:chgData name="Shen, Daniel Shih-Ho D [NC]" userId="593236aa-d0ad-4b17-a0b5-aeb5cdf99243" providerId="ADAL" clId="{FF806A10-0987-4A66-9F31-8D6EABDFC844}" dt="2025-05-27T14:02:49.088" v="7" actId="47"/>
        <pc:sldMkLst>
          <pc:docMk/>
          <pc:sldMk cId="2861909529" sldId="360"/>
        </pc:sldMkLst>
      </pc:sldChg>
      <pc:sldChg chg="del">
        <pc:chgData name="Shen, Daniel Shih-Ho D [NC]" userId="593236aa-d0ad-4b17-a0b5-aeb5cdf99243" providerId="ADAL" clId="{FF806A10-0987-4A66-9F31-8D6EABDFC844}" dt="2025-05-27T14:02:49.088" v="7" actId="47"/>
        <pc:sldMkLst>
          <pc:docMk/>
          <pc:sldMk cId="400133084" sldId="361"/>
        </pc:sldMkLst>
      </pc:sldChg>
      <pc:sldChg chg="del">
        <pc:chgData name="Shen, Daniel Shih-Ho D [NC]" userId="593236aa-d0ad-4b17-a0b5-aeb5cdf99243" providerId="ADAL" clId="{FF806A10-0987-4A66-9F31-8D6EABDFC844}" dt="2025-05-27T14:02:49.088" v="7" actId="47"/>
        <pc:sldMkLst>
          <pc:docMk/>
          <pc:sldMk cId="3205657248" sldId="362"/>
        </pc:sldMkLst>
      </pc:sldChg>
      <pc:sldChg chg="del">
        <pc:chgData name="Shen, Daniel Shih-Ho D [NC]" userId="593236aa-d0ad-4b17-a0b5-aeb5cdf99243" providerId="ADAL" clId="{FF806A10-0987-4A66-9F31-8D6EABDFC844}" dt="2025-05-27T14:02:49.088" v="7" actId="47"/>
        <pc:sldMkLst>
          <pc:docMk/>
          <pc:sldMk cId="3516974526" sldId="363"/>
        </pc:sldMkLst>
      </pc:sldChg>
      <pc:sldChg chg="del">
        <pc:chgData name="Shen, Daniel Shih-Ho D [NC]" userId="593236aa-d0ad-4b17-a0b5-aeb5cdf99243" providerId="ADAL" clId="{FF806A10-0987-4A66-9F31-8D6EABDFC844}" dt="2025-05-27T14:02:49.088" v="7" actId="47"/>
        <pc:sldMkLst>
          <pc:docMk/>
          <pc:sldMk cId="617736900" sldId="364"/>
        </pc:sldMkLst>
      </pc:sldChg>
      <pc:sldChg chg="del">
        <pc:chgData name="Shen, Daniel Shih-Ho D [NC]" userId="593236aa-d0ad-4b17-a0b5-aeb5cdf99243" providerId="ADAL" clId="{FF806A10-0987-4A66-9F31-8D6EABDFC844}" dt="2025-05-27T14:02:49.088" v="7" actId="47"/>
        <pc:sldMkLst>
          <pc:docMk/>
          <pc:sldMk cId="2120388521" sldId="365"/>
        </pc:sldMkLst>
      </pc:sldChg>
      <pc:sldChg chg="del">
        <pc:chgData name="Shen, Daniel Shih-Ho D [NC]" userId="593236aa-d0ad-4b17-a0b5-aeb5cdf99243" providerId="ADAL" clId="{FF806A10-0987-4A66-9F31-8D6EABDFC844}" dt="2025-05-27T14:02:49.088" v="7" actId="47"/>
        <pc:sldMkLst>
          <pc:docMk/>
          <pc:sldMk cId="2573439660" sldId="366"/>
        </pc:sldMkLst>
      </pc:sldChg>
      <pc:sldChg chg="del">
        <pc:chgData name="Shen, Daniel Shih-Ho D [NC]" userId="593236aa-d0ad-4b17-a0b5-aeb5cdf99243" providerId="ADAL" clId="{FF806A10-0987-4A66-9F31-8D6EABDFC844}" dt="2025-05-27T14:02:49.088" v="7" actId="47"/>
        <pc:sldMkLst>
          <pc:docMk/>
          <pc:sldMk cId="1486265540" sldId="367"/>
        </pc:sldMkLst>
      </pc:sldChg>
      <pc:sldChg chg="del">
        <pc:chgData name="Shen, Daniel Shih-Ho D [NC]" userId="593236aa-d0ad-4b17-a0b5-aeb5cdf99243" providerId="ADAL" clId="{FF806A10-0987-4A66-9F31-8D6EABDFC844}" dt="2025-05-27T14:02:49.088" v="7" actId="47"/>
        <pc:sldMkLst>
          <pc:docMk/>
          <pc:sldMk cId="1453436960" sldId="368"/>
        </pc:sldMkLst>
      </pc:sldChg>
      <pc:sldChg chg="del">
        <pc:chgData name="Shen, Daniel Shih-Ho D [NC]" userId="593236aa-d0ad-4b17-a0b5-aeb5cdf99243" providerId="ADAL" clId="{FF806A10-0987-4A66-9F31-8D6EABDFC844}" dt="2025-05-27T14:02:49.088" v="7" actId="47"/>
        <pc:sldMkLst>
          <pc:docMk/>
          <pc:sldMk cId="1982927188" sldId="371"/>
        </pc:sldMkLst>
      </pc:sldChg>
      <pc:sldChg chg="del">
        <pc:chgData name="Shen, Daniel Shih-Ho D [NC]" userId="593236aa-d0ad-4b17-a0b5-aeb5cdf99243" providerId="ADAL" clId="{FF806A10-0987-4A66-9F31-8D6EABDFC844}" dt="2025-05-27T14:02:49.088" v="7" actId="47"/>
        <pc:sldMkLst>
          <pc:docMk/>
          <pc:sldMk cId="4153584726" sldId="373"/>
        </pc:sldMkLst>
      </pc:sldChg>
      <pc:sldChg chg="del">
        <pc:chgData name="Shen, Daniel Shih-Ho D [NC]" userId="593236aa-d0ad-4b17-a0b5-aeb5cdf99243" providerId="ADAL" clId="{FF806A10-0987-4A66-9F31-8D6EABDFC844}" dt="2025-05-27T14:02:49.088" v="7" actId="47"/>
        <pc:sldMkLst>
          <pc:docMk/>
          <pc:sldMk cId="2497844985" sldId="428"/>
        </pc:sldMkLst>
      </pc:sldChg>
      <pc:sldChg chg="del">
        <pc:chgData name="Shen, Daniel Shih-Ho D [NC]" userId="593236aa-d0ad-4b17-a0b5-aeb5cdf99243" providerId="ADAL" clId="{FF806A10-0987-4A66-9F31-8D6EABDFC844}" dt="2025-05-27T14:02:49.088" v="7" actId="47"/>
        <pc:sldMkLst>
          <pc:docMk/>
          <pc:sldMk cId="1931224471" sldId="430"/>
        </pc:sldMkLst>
      </pc:sldChg>
      <pc:sldChg chg="modSp mod">
        <pc:chgData name="Shen, Daniel Shih-Ho D [NC]" userId="593236aa-d0ad-4b17-a0b5-aeb5cdf99243" providerId="ADAL" clId="{FF806A10-0987-4A66-9F31-8D6EABDFC844}" dt="2025-06-02T12:59:36.316" v="13" actId="1076"/>
        <pc:sldMkLst>
          <pc:docMk/>
          <pc:sldMk cId="3919658918" sldId="438"/>
        </pc:sldMkLst>
        <pc:spChg chg="mod">
          <ac:chgData name="Shen, Daniel Shih-Ho D [NC]" userId="593236aa-d0ad-4b17-a0b5-aeb5cdf99243" providerId="ADAL" clId="{FF806A10-0987-4A66-9F31-8D6EABDFC844}" dt="2025-05-27T14:51:03.795" v="12" actId="1076"/>
          <ac:spMkLst>
            <pc:docMk/>
            <pc:sldMk cId="3919658918" sldId="438"/>
            <ac:spMk id="12" creationId="{CD242A7D-FCC9-4C11-BCDD-E8FEFC5B444C}"/>
          </ac:spMkLst>
        </pc:spChg>
        <pc:cxnChg chg="mod">
          <ac:chgData name="Shen, Daniel Shih-Ho D [NC]" userId="593236aa-d0ad-4b17-a0b5-aeb5cdf99243" providerId="ADAL" clId="{FF806A10-0987-4A66-9F31-8D6EABDFC844}" dt="2025-06-02T12:59:36.316" v="13" actId="1076"/>
          <ac:cxnSpMkLst>
            <pc:docMk/>
            <pc:sldMk cId="3919658918" sldId="438"/>
            <ac:cxnSpMk id="132" creationId="{00000000-0000-0000-0000-000000000000}"/>
          </ac:cxnSpMkLst>
        </pc:cxnChg>
      </pc:sldChg>
      <pc:sldChg chg="del">
        <pc:chgData name="Shen, Daniel Shih-Ho D [NC]" userId="593236aa-d0ad-4b17-a0b5-aeb5cdf99243" providerId="ADAL" clId="{FF806A10-0987-4A66-9F31-8D6EABDFC844}" dt="2025-05-27T14:02:49.088" v="7" actId="47"/>
        <pc:sldMkLst>
          <pc:docMk/>
          <pc:sldMk cId="1437233866" sldId="2147477713"/>
        </pc:sldMkLst>
      </pc:sldChg>
      <pc:sldChg chg="del">
        <pc:chgData name="Shen, Daniel Shih-Ho D [NC]" userId="593236aa-d0ad-4b17-a0b5-aeb5cdf99243" providerId="ADAL" clId="{FF806A10-0987-4A66-9F31-8D6EABDFC844}" dt="2025-05-27T14:02:49.088" v="7" actId="47"/>
        <pc:sldMkLst>
          <pc:docMk/>
          <pc:sldMk cId="56103971" sldId="2147478085"/>
        </pc:sldMkLst>
      </pc:sldChg>
      <pc:sldChg chg="del">
        <pc:chgData name="Shen, Daniel Shih-Ho D [NC]" userId="593236aa-d0ad-4b17-a0b5-aeb5cdf99243" providerId="ADAL" clId="{FF806A10-0987-4A66-9F31-8D6EABDFC844}" dt="2025-05-27T14:02:49.088" v="7" actId="47"/>
        <pc:sldMkLst>
          <pc:docMk/>
          <pc:sldMk cId="1308215611" sldId="2147478088"/>
        </pc:sldMkLst>
      </pc:sldChg>
      <pc:sldChg chg="del">
        <pc:chgData name="Shen, Daniel Shih-Ho D [NC]" userId="593236aa-d0ad-4b17-a0b5-aeb5cdf99243" providerId="ADAL" clId="{FF806A10-0987-4A66-9F31-8D6EABDFC844}" dt="2025-05-27T14:02:49.088" v="7" actId="47"/>
        <pc:sldMkLst>
          <pc:docMk/>
          <pc:sldMk cId="900946769" sldId="2147478090"/>
        </pc:sldMkLst>
      </pc:sldChg>
      <pc:sldChg chg="del">
        <pc:chgData name="Shen, Daniel Shih-Ho D [NC]" userId="593236aa-d0ad-4b17-a0b5-aeb5cdf99243" providerId="ADAL" clId="{FF806A10-0987-4A66-9F31-8D6EABDFC844}" dt="2025-05-27T14:03:00.056" v="8" actId="47"/>
        <pc:sldMkLst>
          <pc:docMk/>
          <pc:sldMk cId="3766336580" sldId="2147478095"/>
        </pc:sldMkLst>
      </pc:sldChg>
      <pc:sldChg chg="del">
        <pc:chgData name="Shen, Daniel Shih-Ho D [NC]" userId="593236aa-d0ad-4b17-a0b5-aeb5cdf99243" providerId="ADAL" clId="{FF806A10-0987-4A66-9F31-8D6EABDFC844}" dt="2025-05-27T14:02:49.088" v="7" actId="47"/>
        <pc:sldMkLst>
          <pc:docMk/>
          <pc:sldMk cId="847353518" sldId="2147478096"/>
        </pc:sldMkLst>
      </pc:sldChg>
      <pc:sldChg chg="del">
        <pc:chgData name="Shen, Daniel Shih-Ho D [NC]" userId="593236aa-d0ad-4b17-a0b5-aeb5cdf99243" providerId="ADAL" clId="{FF806A10-0987-4A66-9F31-8D6EABDFC844}" dt="2025-05-27T13:23:58.877" v="1" actId="47"/>
        <pc:sldMkLst>
          <pc:docMk/>
          <pc:sldMk cId="1018066249" sldId="2147478097"/>
        </pc:sldMkLst>
      </pc:sldChg>
      <pc:sldChg chg="delSp mod">
        <pc:chgData name="Shen, Daniel Shih-Ho D [NC]" userId="593236aa-d0ad-4b17-a0b5-aeb5cdf99243" providerId="ADAL" clId="{FF806A10-0987-4A66-9F31-8D6EABDFC844}" dt="2025-05-27T13:24:06.179" v="3" actId="478"/>
        <pc:sldMkLst>
          <pc:docMk/>
          <pc:sldMk cId="2494165758" sldId="2147478098"/>
        </pc:sldMkLst>
      </pc:sldChg>
      <pc:sldChg chg="del">
        <pc:chgData name="Shen, Daniel Shih-Ho D [NC]" userId="593236aa-d0ad-4b17-a0b5-aeb5cdf99243" providerId="ADAL" clId="{FF806A10-0987-4A66-9F31-8D6EABDFC844}" dt="2025-05-27T14:03:00.056" v="8" actId="47"/>
        <pc:sldMkLst>
          <pc:docMk/>
          <pc:sldMk cId="3860257544" sldId="2147478100"/>
        </pc:sldMkLst>
      </pc:sldChg>
      <pc:sldChg chg="del">
        <pc:chgData name="Shen, Daniel Shih-Ho D [NC]" userId="593236aa-d0ad-4b17-a0b5-aeb5cdf99243" providerId="ADAL" clId="{FF806A10-0987-4A66-9F31-8D6EABDFC844}" dt="2025-05-27T14:02:49.088" v="7" actId="47"/>
        <pc:sldMkLst>
          <pc:docMk/>
          <pc:sldMk cId="3884070154" sldId="2147483560"/>
        </pc:sldMkLst>
      </pc:sldChg>
      <pc:sldChg chg="del">
        <pc:chgData name="Shen, Daniel Shih-Ho D [NC]" userId="593236aa-d0ad-4b17-a0b5-aeb5cdf99243" providerId="ADAL" clId="{FF806A10-0987-4A66-9F31-8D6EABDFC844}" dt="2025-05-27T14:02:49.088" v="7" actId="47"/>
        <pc:sldMkLst>
          <pc:docMk/>
          <pc:sldMk cId="1722820380" sldId="2147483574"/>
        </pc:sldMkLst>
      </pc:sldChg>
      <pc:sldChg chg="del">
        <pc:chgData name="Shen, Daniel Shih-Ho D [NC]" userId="593236aa-d0ad-4b17-a0b5-aeb5cdf99243" providerId="ADAL" clId="{FF806A10-0987-4A66-9F31-8D6EABDFC844}" dt="2025-05-27T14:02:49.088" v="7" actId="47"/>
        <pc:sldMkLst>
          <pc:docMk/>
          <pc:sldMk cId="1219098767" sldId="2147483599"/>
        </pc:sldMkLst>
      </pc:sldChg>
      <pc:sldChg chg="del">
        <pc:chgData name="Shen, Daniel Shih-Ho D [NC]" userId="593236aa-d0ad-4b17-a0b5-aeb5cdf99243" providerId="ADAL" clId="{FF806A10-0987-4A66-9F31-8D6EABDFC844}" dt="2025-05-27T14:02:49.088" v="7" actId="47"/>
        <pc:sldMkLst>
          <pc:docMk/>
          <pc:sldMk cId="3960120265" sldId="2147483603"/>
        </pc:sldMkLst>
      </pc:sldChg>
      <pc:sldChg chg="del">
        <pc:chgData name="Shen, Daniel Shih-Ho D [NC]" userId="593236aa-d0ad-4b17-a0b5-aeb5cdf99243" providerId="ADAL" clId="{FF806A10-0987-4A66-9F31-8D6EABDFC844}" dt="2025-05-27T14:02:49.088" v="7" actId="47"/>
        <pc:sldMkLst>
          <pc:docMk/>
          <pc:sldMk cId="3577346610" sldId="2147483606"/>
        </pc:sldMkLst>
      </pc:sldChg>
      <pc:sldChg chg="del">
        <pc:chgData name="Shen, Daniel Shih-Ho D [NC]" userId="593236aa-d0ad-4b17-a0b5-aeb5cdf99243" providerId="ADAL" clId="{FF806A10-0987-4A66-9F31-8D6EABDFC844}" dt="2025-05-27T14:02:49.088" v="7" actId="47"/>
        <pc:sldMkLst>
          <pc:docMk/>
          <pc:sldMk cId="1106414568" sldId="2147483607"/>
        </pc:sldMkLst>
      </pc:sldChg>
      <pc:sldChg chg="del">
        <pc:chgData name="Shen, Daniel Shih-Ho D [NC]" userId="593236aa-d0ad-4b17-a0b5-aeb5cdf99243" providerId="ADAL" clId="{FF806A10-0987-4A66-9F31-8D6EABDFC844}" dt="2025-05-27T14:02:49.088" v="7" actId="47"/>
        <pc:sldMkLst>
          <pc:docMk/>
          <pc:sldMk cId="4137433155" sldId="2147483608"/>
        </pc:sldMkLst>
      </pc:sldChg>
      <pc:sldChg chg="del">
        <pc:chgData name="Shen, Daniel Shih-Ho D [NC]" userId="593236aa-d0ad-4b17-a0b5-aeb5cdf99243" providerId="ADAL" clId="{FF806A10-0987-4A66-9F31-8D6EABDFC844}" dt="2025-05-27T14:02:49.088" v="7" actId="47"/>
        <pc:sldMkLst>
          <pc:docMk/>
          <pc:sldMk cId="3909990998" sldId="2147483610"/>
        </pc:sldMkLst>
      </pc:sldChg>
      <pc:sldChg chg="del">
        <pc:chgData name="Shen, Daniel Shih-Ho D [NC]" userId="593236aa-d0ad-4b17-a0b5-aeb5cdf99243" providerId="ADAL" clId="{FF806A10-0987-4A66-9F31-8D6EABDFC844}" dt="2025-05-27T14:02:49.088" v="7" actId="47"/>
        <pc:sldMkLst>
          <pc:docMk/>
          <pc:sldMk cId="946069075" sldId="2147483612"/>
        </pc:sldMkLst>
      </pc:sldChg>
      <pc:sldChg chg="del">
        <pc:chgData name="Shen, Daniel Shih-Ho D [NC]" userId="593236aa-d0ad-4b17-a0b5-aeb5cdf99243" providerId="ADAL" clId="{FF806A10-0987-4A66-9F31-8D6EABDFC844}" dt="2025-05-27T14:02:49.088" v="7" actId="47"/>
        <pc:sldMkLst>
          <pc:docMk/>
          <pc:sldMk cId="3572469441" sldId="2147483613"/>
        </pc:sldMkLst>
      </pc:sldChg>
      <pc:sldChg chg="del">
        <pc:chgData name="Shen, Daniel Shih-Ho D [NC]" userId="593236aa-d0ad-4b17-a0b5-aeb5cdf99243" providerId="ADAL" clId="{FF806A10-0987-4A66-9F31-8D6EABDFC844}" dt="2025-05-27T14:02:49.088" v="7" actId="47"/>
        <pc:sldMkLst>
          <pc:docMk/>
          <pc:sldMk cId="418226889" sldId="2147483614"/>
        </pc:sldMkLst>
      </pc:sldChg>
      <pc:sldChg chg="del">
        <pc:chgData name="Shen, Daniel Shih-Ho D [NC]" userId="593236aa-d0ad-4b17-a0b5-aeb5cdf99243" providerId="ADAL" clId="{FF806A10-0987-4A66-9F31-8D6EABDFC844}" dt="2025-05-27T14:02:49.088" v="7" actId="47"/>
        <pc:sldMkLst>
          <pc:docMk/>
          <pc:sldMk cId="3180213469" sldId="2147483615"/>
        </pc:sldMkLst>
      </pc:sldChg>
      <pc:sldChg chg="del">
        <pc:chgData name="Shen, Daniel Shih-Ho D [NC]" userId="593236aa-d0ad-4b17-a0b5-aeb5cdf99243" providerId="ADAL" clId="{FF806A10-0987-4A66-9F31-8D6EABDFC844}" dt="2025-05-27T14:02:49.088" v="7" actId="47"/>
        <pc:sldMkLst>
          <pc:docMk/>
          <pc:sldMk cId="2377455636" sldId="2147483617"/>
        </pc:sldMkLst>
      </pc:sldChg>
      <pc:sldChg chg="del">
        <pc:chgData name="Shen, Daniel Shih-Ho D [NC]" userId="593236aa-d0ad-4b17-a0b5-aeb5cdf99243" providerId="ADAL" clId="{FF806A10-0987-4A66-9F31-8D6EABDFC844}" dt="2025-05-27T14:02:49.088" v="7" actId="47"/>
        <pc:sldMkLst>
          <pc:docMk/>
          <pc:sldMk cId="2783916691" sldId="2147483618"/>
        </pc:sldMkLst>
      </pc:sldChg>
      <pc:sldChg chg="del">
        <pc:chgData name="Shen, Daniel Shih-Ho D [NC]" userId="593236aa-d0ad-4b17-a0b5-aeb5cdf99243" providerId="ADAL" clId="{FF806A10-0987-4A66-9F31-8D6EABDFC844}" dt="2025-05-27T14:03:32.823" v="9" actId="47"/>
        <pc:sldMkLst>
          <pc:docMk/>
          <pc:sldMk cId="4240889759" sldId="2147483635"/>
        </pc:sldMkLst>
      </pc:sldChg>
      <pc:sldChg chg="modSp add">
        <pc:chgData name="Shen, Daniel Shih-Ho D [NC]" userId="593236aa-d0ad-4b17-a0b5-aeb5cdf99243" providerId="ADAL" clId="{FF806A10-0987-4A66-9F31-8D6EABDFC844}" dt="2025-05-27T13:34:55.685" v="6"/>
        <pc:sldMkLst>
          <pc:docMk/>
          <pc:sldMk cId="1734360049" sldId="2147483643"/>
        </pc:sldMkLst>
        <pc:cxnChg chg="mod">
          <ac:chgData name="Shen, Daniel Shih-Ho D [NC]" userId="593236aa-d0ad-4b17-a0b5-aeb5cdf99243" providerId="ADAL" clId="{FF806A10-0987-4A66-9F31-8D6EABDFC844}" dt="2025-05-27T13:34:55.685" v="6"/>
          <ac:cxnSpMkLst>
            <pc:docMk/>
            <pc:sldMk cId="1734360049" sldId="2147483643"/>
            <ac:cxnSpMk id="32" creationId="{72E3EBA5-B105-909B-2798-3712AA34B0DC}"/>
          </ac:cxnSpMkLst>
        </pc:cxnChg>
      </pc:sldChg>
      <pc:sldMasterChg chg="del delSldLayout">
        <pc:chgData name="Shen, Daniel Shih-Ho D [NC]" userId="593236aa-d0ad-4b17-a0b5-aeb5cdf99243" providerId="ADAL" clId="{FF806A10-0987-4A66-9F31-8D6EABDFC844}" dt="2025-05-27T14:02:49.088" v="7" actId="47"/>
        <pc:sldMasterMkLst>
          <pc:docMk/>
          <pc:sldMasterMk cId="2501904266" sldId="2147483680"/>
        </pc:sldMasterMkLst>
        <pc:sldLayoutChg chg="del">
          <pc:chgData name="Shen, Daniel Shih-Ho D [NC]" userId="593236aa-d0ad-4b17-a0b5-aeb5cdf99243" providerId="ADAL" clId="{FF806A10-0987-4A66-9F31-8D6EABDFC844}" dt="2025-05-27T14:02:49.088" v="7" actId="47"/>
          <pc:sldLayoutMkLst>
            <pc:docMk/>
            <pc:sldMasterMk cId="2501904266" sldId="2147483680"/>
            <pc:sldLayoutMk cId="828492380" sldId="2147483681"/>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1960200386" sldId="2147483682"/>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3986853591" sldId="2147483683"/>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427011760" sldId="2147483684"/>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2559347525" sldId="2147483685"/>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2480228411" sldId="2147483686"/>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2314280121" sldId="2147483687"/>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1953305809" sldId="2147483688"/>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798747712" sldId="2147483689"/>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3584877619" sldId="2147483690"/>
          </pc:sldLayoutMkLst>
        </pc:sldLayoutChg>
        <pc:sldLayoutChg chg="del">
          <pc:chgData name="Shen, Daniel Shih-Ho D [NC]" userId="593236aa-d0ad-4b17-a0b5-aeb5cdf99243" providerId="ADAL" clId="{FF806A10-0987-4A66-9F31-8D6EABDFC844}" dt="2025-05-27T14:02:49.088" v="7" actId="47"/>
          <pc:sldLayoutMkLst>
            <pc:docMk/>
            <pc:sldMasterMk cId="2501904266" sldId="2147483680"/>
            <pc:sldLayoutMk cId="3121160582" sldId="2147483691"/>
          </pc:sldLayoutMkLst>
        </pc:sldLayoutChg>
      </pc:sldMasterChg>
      <pc:sldMasterChg chg="delSldLayout">
        <pc:chgData name="Shen, Daniel Shih-Ho D [NC]" userId="593236aa-d0ad-4b17-a0b5-aeb5cdf99243" providerId="ADAL" clId="{FF806A10-0987-4A66-9F31-8D6EABDFC844}" dt="2025-05-27T14:02:49.088" v="7" actId="47"/>
        <pc:sldMasterMkLst>
          <pc:docMk/>
          <pc:sldMasterMk cId="3298569888" sldId="2147483710"/>
        </pc:sldMasterMkLst>
        <pc:sldLayoutChg chg="del">
          <pc:chgData name="Shen, Daniel Shih-Ho D [NC]" userId="593236aa-d0ad-4b17-a0b5-aeb5cdf99243" providerId="ADAL" clId="{FF806A10-0987-4A66-9F31-8D6EABDFC844}" dt="2025-05-27T14:02:49.088" v="7" actId="47"/>
          <pc:sldLayoutMkLst>
            <pc:docMk/>
            <pc:sldMasterMk cId="3298569888" sldId="2147483710"/>
            <pc:sldLayoutMk cId="2108574135" sldId="2147483717"/>
          </pc:sldLayoutMkLst>
        </pc:sldLayoutChg>
      </pc:sldMasterChg>
    </pc:docChg>
  </pc:docChgLst>
  <pc:docChgLst>
    <pc:chgData name="Petrovic, Vesna V [NC]" userId="36ddd803-c64f-4885-9f77-ac9eae987286" providerId="ADAL" clId="{18F3D442-D9B5-47F7-ABCE-82D2344E47FB}"/>
    <pc:docChg chg="undo custSel addSld delSld modSld sldOrd modSection">
      <pc:chgData name="Petrovic, Vesna V [NC]" userId="36ddd803-c64f-4885-9f77-ac9eae987286" providerId="ADAL" clId="{18F3D442-D9B5-47F7-ABCE-82D2344E47FB}" dt="2025-05-30T13:51:32.820" v="8" actId="20577"/>
      <pc:docMkLst>
        <pc:docMk/>
      </pc:docMkLst>
      <pc:sldChg chg="add del">
        <pc:chgData name="Petrovic, Vesna V [NC]" userId="36ddd803-c64f-4885-9f77-ac9eae987286" providerId="ADAL" clId="{18F3D442-D9B5-47F7-ABCE-82D2344E47FB}" dt="2025-05-30T13:50:10.733" v="2" actId="2696"/>
        <pc:sldMkLst>
          <pc:docMk/>
          <pc:sldMk cId="4042861922" sldId="432"/>
        </pc:sldMkLst>
      </pc:sldChg>
      <pc:sldChg chg="ord">
        <pc:chgData name="Petrovic, Vesna V [NC]" userId="36ddd803-c64f-4885-9f77-ac9eae987286" providerId="ADAL" clId="{18F3D442-D9B5-47F7-ABCE-82D2344E47FB}" dt="2025-05-30T13:51:14.693" v="4"/>
        <pc:sldMkLst>
          <pc:docMk/>
          <pc:sldMk cId="3888111679" sldId="434"/>
        </pc:sldMkLst>
      </pc:sldChg>
      <pc:sldChg chg="add del">
        <pc:chgData name="Petrovic, Vesna V [NC]" userId="36ddd803-c64f-4885-9f77-ac9eae987286" providerId="ADAL" clId="{18F3D442-D9B5-47F7-ABCE-82D2344E47FB}" dt="2025-05-30T13:50:10.733" v="2" actId="2696"/>
        <pc:sldMkLst>
          <pc:docMk/>
          <pc:sldMk cId="1197130466" sldId="440"/>
        </pc:sldMkLst>
      </pc:sldChg>
      <pc:sldChg chg="ord">
        <pc:chgData name="Petrovic, Vesna V [NC]" userId="36ddd803-c64f-4885-9f77-ac9eae987286" providerId="ADAL" clId="{18F3D442-D9B5-47F7-ABCE-82D2344E47FB}" dt="2025-05-30T13:51:14.693" v="4"/>
        <pc:sldMkLst>
          <pc:docMk/>
          <pc:sldMk cId="1438965816" sldId="2147483616"/>
        </pc:sldMkLst>
      </pc:sldChg>
      <pc:sldChg chg="modSp mod">
        <pc:chgData name="Petrovic, Vesna V [NC]" userId="36ddd803-c64f-4885-9f77-ac9eae987286" providerId="ADAL" clId="{18F3D442-D9B5-47F7-ABCE-82D2344E47FB}" dt="2025-05-30T13:51:32.820" v="8" actId="20577"/>
        <pc:sldMkLst>
          <pc:docMk/>
          <pc:sldMk cId="539580211" sldId="2147483620"/>
        </pc:sldMkLst>
        <pc:spChg chg="mod">
          <ac:chgData name="Petrovic, Vesna V [NC]" userId="36ddd803-c64f-4885-9f77-ac9eae987286" providerId="ADAL" clId="{18F3D442-D9B5-47F7-ABCE-82D2344E47FB}" dt="2025-05-30T13:51:32.820" v="8" actId="20577"/>
          <ac:spMkLst>
            <pc:docMk/>
            <pc:sldMk cId="539580211" sldId="2147483620"/>
            <ac:spMk id="3" creationId="{00000000-0000-0000-0000-000000000000}"/>
          </ac:spMkLst>
        </pc:spChg>
      </pc:sldChg>
      <pc:sldChg chg="add del">
        <pc:chgData name="Petrovic, Vesna V [NC]" userId="36ddd803-c64f-4885-9f77-ac9eae987286" providerId="ADAL" clId="{18F3D442-D9B5-47F7-ABCE-82D2344E47FB}" dt="2025-05-30T13:50:10.733" v="2" actId="2696"/>
        <pc:sldMkLst>
          <pc:docMk/>
          <pc:sldMk cId="3968626302" sldId="2147483622"/>
        </pc:sldMkLst>
      </pc:sldChg>
      <pc:sldChg chg="add del">
        <pc:chgData name="Petrovic, Vesna V [NC]" userId="36ddd803-c64f-4885-9f77-ac9eae987286" providerId="ADAL" clId="{18F3D442-D9B5-47F7-ABCE-82D2344E47FB}" dt="2025-05-30T13:50:10.733" v="2" actId="2696"/>
        <pc:sldMkLst>
          <pc:docMk/>
          <pc:sldMk cId="2560111672" sldId="2147483626"/>
        </pc:sldMkLst>
      </pc:sldChg>
      <pc:sldChg chg="add del">
        <pc:chgData name="Petrovic, Vesna V [NC]" userId="36ddd803-c64f-4885-9f77-ac9eae987286" providerId="ADAL" clId="{18F3D442-D9B5-47F7-ABCE-82D2344E47FB}" dt="2025-05-30T13:50:10.733" v="2" actId="2696"/>
        <pc:sldMkLst>
          <pc:docMk/>
          <pc:sldMk cId="375716604" sldId="2147483630"/>
        </pc:sldMkLst>
      </pc:sldChg>
      <pc:sldChg chg="ord">
        <pc:chgData name="Petrovic, Vesna V [NC]" userId="36ddd803-c64f-4885-9f77-ac9eae987286" providerId="ADAL" clId="{18F3D442-D9B5-47F7-ABCE-82D2344E47FB}" dt="2025-05-30T13:51:23.630" v="6"/>
        <pc:sldMkLst>
          <pc:docMk/>
          <pc:sldMk cId="957630551" sldId="2147483633"/>
        </pc:sldMkLst>
      </pc:sldChg>
    </pc:docChg>
  </pc:docChgLst>
  <pc:docChgLst>
    <pc:chgData name="Shen, Daniel Shih-Ho D [NC]" userId="S::daniel.shen@hrsdc-rhdcc.gc.ca::593236aa-d0ad-4b17-a0b5-aeb5cdf99243" providerId="AD" clId="Web-{357B104C-2AE6-BBB0-C268-321D6A72F188}"/>
    <pc:docChg chg="modSld">
      <pc:chgData name="Shen, Daniel Shih-Ho D [NC]" userId="S::daniel.shen@hrsdc-rhdcc.gc.ca::593236aa-d0ad-4b17-a0b5-aeb5cdf99243" providerId="AD" clId="Web-{357B104C-2AE6-BBB0-C268-321D6A72F188}" dt="2025-05-27T13:32:15.720" v="0" actId="14100"/>
      <pc:docMkLst>
        <pc:docMk/>
      </pc:docMkLst>
      <pc:sldChg chg="modSp">
        <pc:chgData name="Shen, Daniel Shih-Ho D [NC]" userId="S::daniel.shen@hrsdc-rhdcc.gc.ca::593236aa-d0ad-4b17-a0b5-aeb5cdf99243" providerId="AD" clId="Web-{357B104C-2AE6-BBB0-C268-321D6A72F188}" dt="2025-05-27T13:32:15.720" v="0" actId="14100"/>
        <pc:sldMkLst>
          <pc:docMk/>
          <pc:sldMk cId="3919658918" sldId="438"/>
        </pc:sldMkLst>
        <pc:spChg chg="mod">
          <ac:chgData name="Shen, Daniel Shih-Ho D [NC]" userId="S::daniel.shen@hrsdc-rhdcc.gc.ca::593236aa-d0ad-4b17-a0b5-aeb5cdf99243" providerId="AD" clId="Web-{357B104C-2AE6-BBB0-C268-321D6A72F188}" dt="2025-05-27T13:32:15.720" v="0" actId="14100"/>
          <ac:spMkLst>
            <pc:docMk/>
            <pc:sldMk cId="3919658918" sldId="438"/>
            <ac:spMk id="19" creationId="{C81B167F-2AA0-E1A0-7CFF-C0FC7F4DA2B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A956CDF-086B-474F-BEF9-4CABEECB2E26}" type="datetimeFigureOut">
              <a:rPr lang="en-US" smtClean="0"/>
              <a:t>6/3/2025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6597AD-DFDC-3846-A792-2604544DDE1B}" type="slidenum">
              <a:rPr lang="en-US" smtClean="0"/>
              <a:t>‹#›</a:t>
            </a:fld>
            <a:endParaRPr lang="en-US"/>
          </a:p>
        </p:txBody>
      </p:sp>
    </p:spTree>
    <p:extLst>
      <p:ext uri="{BB962C8B-B14F-4D97-AF65-F5344CB8AC3E}">
        <p14:creationId xmlns:p14="http://schemas.microsoft.com/office/powerpoint/2010/main" val="4378932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AB3AF9-4EAF-7F4D-AC56-7732E0FF244F}" type="datetimeFigureOut">
              <a:rPr lang="en-US" smtClean="0"/>
              <a:t>6/3/2025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9DD9FA-9A84-E143-86E3-47119075FC69}" type="slidenum">
              <a:rPr lang="en-US" smtClean="0"/>
              <a:t>‹#›</a:t>
            </a:fld>
            <a:endParaRPr lang="en-US"/>
          </a:p>
        </p:txBody>
      </p:sp>
    </p:spTree>
    <p:extLst>
      <p:ext uri="{BB962C8B-B14F-4D97-AF65-F5344CB8AC3E}">
        <p14:creationId xmlns:p14="http://schemas.microsoft.com/office/powerpoint/2010/main" val="288106725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014gc.sharepoint.com/sites/Root/_layouts/15/search.aspx?q=Common%20Reference%20Tool&amp;intent=None"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014gc.sharepoint.com/:p:/r/sites/ISB-Training-DGSI-Formation/Shared%20Documents/1-IRT-Interactives%20References%20Tools/3.0%20INTERACTIVE%20REFERENCE%20TOOL_IRT%20.pptx" TargetMode="External"/><Relationship Id="rId4" Type="http://schemas.openxmlformats.org/officeDocument/2006/relationships/hyperlink" Target="https://esdc.prv/en/service-canada/isb/io/reference-materials/index.shtml"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esdc.prv/en/service-canada/service-delivery/iprt/index.shtml" TargetMode="External"/><Relationship Id="rId3" Type="http://schemas.openxmlformats.org/officeDocument/2006/relationships/hyperlink" Target="https://014gc.sharepoint.com/:p:/r/sites/KnowledgeManagementArchitectureWorkingGroup/_layouts/15/Doc.aspx?sourcedoc=%7BE0E7B2F6-B87F-4149-B37C-B4EF7682DA94%7D&amp;file=Final_D35%20Landscape%20Report_19May2022%20(1).pptx&amp;action=edit&amp;mobileredirect=true" TargetMode="External"/><Relationship Id="rId7" Type="http://schemas.openxmlformats.org/officeDocument/2006/relationships/hyperlink" Target="https://www.canada.ca/en/employment-social-development/programs/ei/ei-list/reports/roe-guide/understand.html"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canada.ca/en/employment-social-development/programs/ei/ei-list/reports/digest.html" TargetMode="External"/><Relationship Id="rId5" Type="http://schemas.openxmlformats.org/officeDocument/2006/relationships/hyperlink" Target="https://docs.genesys.com/Documentation/ES/8.1.4/KMUser/KMwelcome" TargetMode="External"/><Relationship Id="rId4" Type="http://schemas.openxmlformats.org/officeDocument/2006/relationships/hyperlink" Target="http://esdc.prv/en/service-canada/cpp-oas/reference/manuals/index.s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014gc.sharepoint.com/:p:/r/sites/PMS-SMP/ITSM%20Tools/BMC%20Remedy%20Implementation/Project%20Plan/Phase%202/Saas%20Business%20Case%20-%202024-03-11/BMC%20Helix%20Migration%20CVR%20for%20ESDC%20from%20COE%202.13.2024.pptx?d=w81b7d28e81aa4edc817fe09b4ff0be11&amp;csf=1&amp;web=1&amp;e=1VV9xP"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marketplace.atlassian.com/apps/1230921/chatgpt-for-confluence?tab=overview&amp;hosting=cloud"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014gc.sharepoint.com/:p:/r/sites/PMS-SMP/ITSM%20Tools/BMC%20Remedy%20Implementation/Project%20Plan/Phase%202/Saas%20Business%20Case%20-%202024-03-11/BMC%20Helix%20Migration%20CVR%20for%20ESDC%20from%20COE%202.13.2024.pptx?d=w81b7d28e81aa4edc817fe09b4ff0be11&amp;csf=1&amp;web=1&amp;e=1VV9xP"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earn.microsoft.com/en-gb/microsoft-365/topics/topics-changes-faq?view=o365-worldwide"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aka.ms/TopicsAdoptionFeb"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CA">
                <a:solidFill>
                  <a:schemeClr val="tx1"/>
                </a:solidFill>
                <a:latin typeface="Arial"/>
                <a:ea typeface="Verdana"/>
                <a:cs typeface="Arial"/>
              </a:rPr>
              <a:t>Leverage existing tool enquiry solutions such as Business Expertise Request Tool (BERT on SP2016, need to be removed) and Business Expertise Support System (BESS) for enquiry request and tracking functionality (no separate technology or procurement is required). </a:t>
            </a:r>
            <a:r>
              <a:rPr lang="en-CA">
                <a:solidFill>
                  <a:schemeClr val="tx1"/>
                </a:solidFill>
                <a:highlight>
                  <a:srgbClr val="00FF00"/>
                </a:highlight>
                <a:latin typeface="Arial"/>
                <a:ea typeface="Verdana"/>
                <a:cs typeface="Arial"/>
              </a:rPr>
              <a:t>A new solution in Azure or Remedy, so this has been descoped? Replacement for BERT is NEXO. (Still out of scope)</a:t>
            </a:r>
          </a:p>
          <a:p>
            <a:pPr marL="0" indent="0">
              <a:buFont typeface="Arial"/>
              <a:buNone/>
            </a:pPr>
            <a:endParaRPr lang="en-CA">
              <a:cs typeface="Calibri"/>
            </a:endParaRPr>
          </a:p>
        </p:txBody>
      </p:sp>
      <p:sp>
        <p:nvSpPr>
          <p:cNvPr id="4" name="Slide Number Placeholder 3"/>
          <p:cNvSpPr>
            <a:spLocks noGrp="1"/>
          </p:cNvSpPr>
          <p:nvPr>
            <p:ph type="sldNum" sz="quarter" idx="10"/>
          </p:nvPr>
        </p:nvSpPr>
        <p:spPr/>
        <p:txBody>
          <a:bodyPr/>
          <a:lstStyle/>
          <a:p>
            <a:fld id="{7E9DD9FA-9A84-E143-86E3-47119075FC69}" type="slidenum">
              <a:rPr lang="en-US" smtClean="0"/>
              <a:t>2</a:t>
            </a:fld>
            <a:endParaRPr lang="en-US"/>
          </a:p>
        </p:txBody>
      </p:sp>
    </p:spTree>
    <p:extLst>
      <p:ext uri="{BB962C8B-B14F-4D97-AF65-F5344CB8AC3E}">
        <p14:creationId xmlns:p14="http://schemas.microsoft.com/office/powerpoint/2010/main" val="2783909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600"/>
              </a:spcAft>
              <a:buFont typeface="+mj-lt"/>
              <a:buNone/>
            </a:pPr>
            <a:r>
              <a:rPr lang="en-CA"/>
              <a:t>Add cost table in the cost section</a:t>
            </a:r>
          </a:p>
          <a:p>
            <a:pPr marL="0" indent="0">
              <a:spcAft>
                <a:spcPts val="600"/>
              </a:spcAft>
              <a:buFont typeface="+mj-lt"/>
              <a:buNone/>
            </a:pPr>
            <a:endParaRPr lang="en-CA"/>
          </a:p>
          <a:p>
            <a:pPr marL="0" indent="0">
              <a:spcAft>
                <a:spcPts val="600"/>
              </a:spcAft>
              <a:buFont typeface="+mj-lt"/>
              <a:buNone/>
            </a:pPr>
            <a:r>
              <a:rPr lang="en-CA"/>
              <a:t>May need to prepare speaking notes for this. Confirm and let the biz team know who will speak. Same as 4-5.</a:t>
            </a:r>
          </a:p>
        </p:txBody>
      </p:sp>
      <p:sp>
        <p:nvSpPr>
          <p:cNvPr id="4" name="Slide Number Placeholder 3"/>
          <p:cNvSpPr>
            <a:spLocks noGrp="1"/>
          </p:cNvSpPr>
          <p:nvPr>
            <p:ph type="sldNum" sz="quarter" idx="10"/>
          </p:nvPr>
        </p:nvSpPr>
        <p:spPr/>
        <p:txBody>
          <a:bodyPr/>
          <a:lstStyle/>
          <a:p>
            <a:fld id="{7E9DD9FA-9A84-E143-86E3-47119075FC69}" type="slidenum">
              <a:rPr lang="en-US" smtClean="0"/>
              <a:t>3</a:t>
            </a:fld>
            <a:endParaRPr lang="en-US"/>
          </a:p>
        </p:txBody>
      </p:sp>
    </p:spTree>
    <p:extLst>
      <p:ext uri="{BB962C8B-B14F-4D97-AF65-F5344CB8AC3E}">
        <p14:creationId xmlns:p14="http://schemas.microsoft.com/office/powerpoint/2010/main" val="1386834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450" lvl="0" indent="-171450" algn="l">
              <a:lnSpc>
                <a:spcPct val="100000"/>
              </a:lnSpc>
              <a:spcBef>
                <a:spcPts val="0"/>
              </a:spcBef>
              <a:spcAft>
                <a:spcPts val="0"/>
              </a:spcAft>
              <a:buFont typeface="Arial" panose="020B0604020202020204" pitchFamily="34" charset="0"/>
              <a:buChar char="•"/>
            </a:pPr>
            <a:r>
              <a:rPr lang="en-CA" sz="1200" b="0" kern="1200" noProof="0">
                <a:solidFill>
                  <a:schemeClr val="tx1"/>
                </a:solidFill>
                <a:latin typeface="Arial"/>
                <a:ea typeface="+mn-ea"/>
                <a:cs typeface="+mn-cs"/>
              </a:rPr>
              <a:t>EI ORT = </a:t>
            </a:r>
            <a:r>
              <a:rPr lang="en-CA"/>
              <a:t>EI Online Reference Tool</a:t>
            </a:r>
          </a:p>
          <a:p>
            <a:pPr marL="63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kern="1200" noProof="0">
                <a:solidFill>
                  <a:schemeClr val="tx1"/>
                </a:solidFill>
                <a:latin typeface="Arial"/>
                <a:ea typeface="+mn-ea"/>
                <a:cs typeface="+mn-cs"/>
              </a:rPr>
              <a:t>CRT = </a:t>
            </a:r>
            <a:r>
              <a:rPr lang="en-CA" b="0" i="0" u="none" strike="noStrike">
                <a:solidFill>
                  <a:srgbClr val="252525"/>
                </a:solidFill>
                <a:effectLst/>
                <a:latin typeface="Segoe UI" panose="020B0502040204020203" pitchFamily="34" charset="0"/>
                <a:hlinkClick r:id="rId3"/>
              </a:rPr>
              <a:t>Common Reference Tool</a:t>
            </a:r>
            <a:endParaRPr lang="en-CA" sz="1200" b="0" kern="1200">
              <a:solidFill>
                <a:schemeClr val="tx1"/>
              </a:solidFill>
              <a:latin typeface="Arial"/>
              <a:ea typeface="+mn-ea"/>
              <a:cs typeface="+mn-cs"/>
            </a:endParaRPr>
          </a:p>
          <a:p>
            <a:pPr marL="63450" lvl="0" indent="-171450" algn="l">
              <a:lnSpc>
                <a:spcPct val="100000"/>
              </a:lnSpc>
              <a:spcBef>
                <a:spcPts val="0"/>
              </a:spcBef>
              <a:spcAft>
                <a:spcPts val="0"/>
              </a:spcAft>
              <a:buFont typeface="Arial" panose="020B0604020202020204" pitchFamily="34" charset="0"/>
              <a:buChar char="•"/>
            </a:pPr>
            <a:r>
              <a:rPr lang="en-CA" sz="1200" b="0" kern="1200" noProof="0">
                <a:solidFill>
                  <a:schemeClr val="tx1"/>
                </a:solidFill>
                <a:latin typeface="Arial"/>
                <a:ea typeface="+mn-ea"/>
                <a:cs typeface="+mn-cs"/>
              </a:rPr>
              <a:t>IMPACT = CPP, OAS, EI and VAC</a:t>
            </a:r>
            <a:endParaRPr lang="en-CA" sz="1200" b="0" kern="1200">
              <a:solidFill>
                <a:schemeClr val="tx1"/>
              </a:solidFill>
              <a:latin typeface="Arial"/>
              <a:ea typeface="+mn-ea"/>
              <a:cs typeface="+mn-cs"/>
            </a:endParaRPr>
          </a:p>
          <a:p>
            <a:pPr marL="63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kern="1200" noProof="0">
                <a:solidFill>
                  <a:schemeClr val="tx1"/>
                </a:solidFill>
                <a:latin typeface="Arial"/>
                <a:ea typeface="+mn-ea"/>
                <a:cs typeface="+mn-cs"/>
              </a:rPr>
              <a:t>IOM IRT = </a:t>
            </a:r>
            <a:r>
              <a:rPr lang="en-CA" b="0" i="0" u="sng">
                <a:solidFill>
                  <a:srgbClr val="284162"/>
                </a:solidFill>
                <a:effectLst/>
                <a:latin typeface="helvetica" panose="020B0604020202020204" pitchFamily="34" charset="0"/>
                <a:hlinkClick r:id="rId4"/>
              </a:rPr>
              <a:t>Integrity Operations Manual</a:t>
            </a:r>
            <a:r>
              <a:rPr lang="en-CA" sz="1200" b="0" kern="1200" noProof="0">
                <a:solidFill>
                  <a:schemeClr val="tx1"/>
                </a:solidFill>
                <a:latin typeface="Arial"/>
                <a:ea typeface="+mn-ea"/>
                <a:cs typeface="+mn-cs"/>
              </a:rPr>
              <a:t> </a:t>
            </a:r>
            <a:r>
              <a:rPr lang="en-CA" b="0" i="0" u="sng">
                <a:solidFill>
                  <a:srgbClr val="284162"/>
                </a:solidFill>
                <a:effectLst/>
                <a:latin typeface="helvetica" panose="020B0604020202020204" pitchFamily="34" charset="0"/>
                <a:hlinkClick r:id="rId5"/>
              </a:rPr>
              <a:t>Interactive Reference Tool</a:t>
            </a:r>
            <a:endParaRPr lang="en-CA" b="0" i="0">
              <a:solidFill>
                <a:srgbClr val="333333"/>
              </a:solidFill>
              <a:effectLst/>
              <a:latin typeface="Helvetica" panose="020B0604020202020204" pitchFamily="34" charset="0"/>
            </a:endParaRPr>
          </a:p>
          <a:p>
            <a:pPr marL="63450" lvl="0" indent="-171450" algn="l">
              <a:lnSpc>
                <a:spcPct val="100000"/>
              </a:lnSpc>
              <a:spcBef>
                <a:spcPts val="0"/>
              </a:spcBef>
              <a:spcAft>
                <a:spcPts val="0"/>
              </a:spcAft>
              <a:buFont typeface="Arial" panose="020B0604020202020204" pitchFamily="34" charset="0"/>
              <a:buChar char="•"/>
            </a:pPr>
            <a:r>
              <a:rPr lang="en-CA" sz="1200" b="0" kern="1200" noProof="0">
                <a:solidFill>
                  <a:schemeClr val="tx1"/>
                </a:solidFill>
                <a:latin typeface="Arial"/>
                <a:ea typeface="+mn-ea"/>
                <a:cs typeface="+mn-cs"/>
              </a:rPr>
              <a:t>KMT for Pension = Knowledge Management Tool for Pension</a:t>
            </a:r>
            <a:endParaRPr lang="en-CA" sz="1200" b="0" kern="1200">
              <a:solidFill>
                <a:schemeClr val="tx1"/>
              </a:solidFill>
              <a:latin typeface="Arial"/>
              <a:ea typeface="+mn-ea"/>
              <a:cs typeface="+mn-cs"/>
            </a:endParaRPr>
          </a:p>
          <a:p>
            <a:pPr marL="63450" lvl="0" indent="-171450" algn="l">
              <a:lnSpc>
                <a:spcPct val="100000"/>
              </a:lnSpc>
              <a:spcBef>
                <a:spcPts val="0"/>
              </a:spcBef>
              <a:spcAft>
                <a:spcPts val="0"/>
              </a:spcAft>
              <a:buFont typeface="Arial" panose="020B0604020202020204" pitchFamily="34" charset="0"/>
              <a:buChar char="•"/>
            </a:pPr>
            <a:r>
              <a:rPr lang="en-CA" sz="1200" b="0" kern="1200" noProof="0">
                <a:solidFill>
                  <a:schemeClr val="tx1"/>
                </a:solidFill>
                <a:latin typeface="Arial"/>
                <a:ea typeface="+mn-ea"/>
                <a:cs typeface="+mn-cs"/>
              </a:rPr>
              <a:t>EI PRP = Employment Insurance </a:t>
            </a:r>
            <a:r>
              <a:rPr lang="en-CA" b="0" i="0">
                <a:solidFill>
                  <a:srgbClr val="333333"/>
                </a:solidFill>
                <a:effectLst/>
                <a:latin typeface="Helvetica" panose="020B0604020202020204" pitchFamily="34" charset="0"/>
              </a:rPr>
              <a:t>Premium Reduction Program</a:t>
            </a:r>
            <a:endParaRPr lang="en-CA"/>
          </a:p>
        </p:txBody>
      </p:sp>
      <p:sp>
        <p:nvSpPr>
          <p:cNvPr id="4" name="Slide Number Placeholder 3"/>
          <p:cNvSpPr>
            <a:spLocks noGrp="1"/>
          </p:cNvSpPr>
          <p:nvPr>
            <p:ph type="sldNum" sz="quarter" idx="5"/>
          </p:nvPr>
        </p:nvSpPr>
        <p:spPr/>
        <p:txBody>
          <a:bodyPr/>
          <a:lstStyle/>
          <a:p>
            <a:fld id="{7E9DD9FA-9A84-E143-86E3-47119075FC69}" type="slidenum">
              <a:rPr lang="en-US" smtClean="0"/>
              <a:t>4</a:t>
            </a:fld>
            <a:endParaRPr lang="en-US"/>
          </a:p>
        </p:txBody>
      </p:sp>
    </p:spTree>
    <p:extLst>
      <p:ext uri="{BB962C8B-B14F-4D97-AF65-F5344CB8AC3E}">
        <p14:creationId xmlns:p14="http://schemas.microsoft.com/office/powerpoint/2010/main" val="72567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CA">
                <a:solidFill>
                  <a:schemeClr val="tx1"/>
                </a:solidFill>
                <a:latin typeface="Arial"/>
                <a:ea typeface="Verdana"/>
                <a:cs typeface="Arial"/>
              </a:rPr>
              <a:t>Leverage existing tool enquiry solutions such as Business Expertise Request Tool (BERT on SP2016, need to be removed) and Business Expertise Support System (BESS) for enquiry request and tracking functionality (no separate technology or procurement is required). </a:t>
            </a:r>
            <a:r>
              <a:rPr lang="en-CA">
                <a:solidFill>
                  <a:schemeClr val="tx1"/>
                </a:solidFill>
                <a:highlight>
                  <a:srgbClr val="00FF00"/>
                </a:highlight>
                <a:latin typeface="Arial"/>
                <a:ea typeface="Verdana"/>
                <a:cs typeface="Arial"/>
              </a:rPr>
              <a:t>A new solution in Azure or Remedy, so this has been descoped? Replacement for BERT is NEXO. (Still out of scope)</a:t>
            </a:r>
          </a:p>
          <a:p>
            <a:pPr marL="0" indent="0">
              <a:buFont typeface="Arial"/>
              <a:buNone/>
            </a:pPr>
            <a:endParaRPr lang="en-CA">
              <a:cs typeface="Calibri"/>
            </a:endParaRPr>
          </a:p>
        </p:txBody>
      </p:sp>
      <p:sp>
        <p:nvSpPr>
          <p:cNvPr id="4" name="Slide Number Placeholder 3"/>
          <p:cNvSpPr>
            <a:spLocks noGrp="1"/>
          </p:cNvSpPr>
          <p:nvPr>
            <p:ph type="sldNum" sz="quarter" idx="10"/>
          </p:nvPr>
        </p:nvSpPr>
        <p:spPr/>
        <p:txBody>
          <a:bodyPr/>
          <a:lstStyle/>
          <a:p>
            <a:fld id="{7E9DD9FA-9A84-E143-86E3-47119075FC69}" type="slidenum">
              <a:rPr lang="en-US" smtClean="0"/>
              <a:t>5</a:t>
            </a:fld>
            <a:endParaRPr lang="en-US"/>
          </a:p>
        </p:txBody>
      </p:sp>
    </p:spTree>
    <p:extLst>
      <p:ext uri="{BB962C8B-B14F-4D97-AF65-F5344CB8AC3E}">
        <p14:creationId xmlns:p14="http://schemas.microsoft.com/office/powerpoint/2010/main" val="3617619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r>
              <a:rPr lang="en-CA" sz="1200" kern="1200">
                <a:solidFill>
                  <a:schemeClr val="tx1"/>
                </a:solidFill>
                <a:effectLst/>
                <a:latin typeface="+mn-lt"/>
                <a:ea typeface="+mn-ea"/>
                <a:cs typeface="+mn-cs"/>
              </a:rPr>
              <a:t>Source: </a:t>
            </a:r>
            <a:r>
              <a:rPr lang="en-CA">
                <a:hlinkClick r:id="rId3"/>
              </a:rPr>
              <a:t>Final_D35 Landscape Report_19May2022 (1).pptx</a:t>
            </a:r>
            <a:endParaRPr lang="en-CA" sz="1200" kern="1200">
              <a:solidFill>
                <a:schemeClr val="tx1"/>
              </a:solidFill>
              <a:effectLst/>
              <a:latin typeface="+mn-lt"/>
              <a:ea typeface="+mn-ea"/>
              <a:cs typeface="+mn-cs"/>
            </a:endParaRPr>
          </a:p>
          <a:p>
            <a:r>
              <a:rPr lang="en-US"/>
              <a:t>KM - More…</a:t>
            </a:r>
          </a:p>
          <a:p>
            <a:pPr marL="171450" indent="-171450">
              <a:buFont typeface="Arial" panose="020B0604020202020204" pitchFamily="34" charset="0"/>
              <a:buChar char="•"/>
            </a:pPr>
            <a:r>
              <a:rPr lang="en-US"/>
              <a:t>Functional Guidance and Procedures (Service Canada Portal)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DSB Operations - Service Canada (</a:t>
            </a:r>
            <a:r>
              <a:rPr lang="en-US" err="1"/>
              <a:t>DocuShare</a:t>
            </a:r>
            <a:r>
              <a:rPr lang="en-US"/>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a:hlinkClick r:id="rId4" tooltip="http://esdc.prv/en/service-canada/cpp-oas/reference/manuals/index.shtml"/>
              </a:rPr>
              <a:t>OAS/CPP manuals and guides </a:t>
            </a:r>
            <a:r>
              <a:rPr lang="en-CA" sz="1200"/>
              <a:t>used by staff  (Electronic Reference Library - SharePoint?)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kern="1200">
                <a:solidFill>
                  <a:schemeClr val="tx1"/>
                </a:solidFill>
                <a:effectLst/>
                <a:latin typeface="+mn-lt"/>
                <a:ea typeface="+mn-ea"/>
                <a:cs typeface="+mn-cs"/>
              </a:rPr>
              <a:t>ESDC currently uses the Canada.ca website to simplify client access to benefits and service information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a:t>IMPACT, used by 1-800-O-Canada call centre agents;</a:t>
            </a:r>
          </a:p>
          <a:p>
            <a:pPr marL="171450" indent="-171450">
              <a:buFont typeface="Arial" panose="020B0604020202020204" pitchFamily="34" charset="0"/>
              <a:buChar char="•"/>
            </a:pPr>
            <a:r>
              <a:rPr lang="en-CA" sz="1200"/>
              <a:t>HCCS: </a:t>
            </a:r>
            <a:r>
              <a:rPr lang="en-CA" sz="1200">
                <a:hlinkClick r:id="rId5" tooltip="https://docs.genesys.com/documentation/es/8.1.4/kmuser/kmwelcome"/>
              </a:rPr>
              <a:t>Genesys KM</a:t>
            </a:r>
            <a:r>
              <a:rPr lang="en-CA" sz="1200"/>
              <a:t> - </a:t>
            </a:r>
            <a:r>
              <a:rPr lang="en-CA" sz="1200" b="1"/>
              <a:t>Not licensed as part of HCCS</a:t>
            </a:r>
            <a:endParaRPr lang="en-CA" sz="1200"/>
          </a:p>
          <a:p>
            <a:pPr marL="171450" indent="-171450">
              <a:buFont typeface="Arial" panose="020B0604020202020204" pitchFamily="34" charset="0"/>
              <a:buChar char="•"/>
            </a:pPr>
            <a:r>
              <a:rPr lang="en-CA" sz="1200">
                <a:hlinkClick r:id="rId6" tooltip="https://www.canada.ca/en/employment-social-development/programs/ei/ei-list/reports/digest.html"/>
              </a:rPr>
              <a:t>EI Digest</a:t>
            </a:r>
            <a:endParaRPr lang="en-CA" sz="1200"/>
          </a:p>
          <a:p>
            <a:pPr marL="171450" indent="-171450">
              <a:buFont typeface="Arial" panose="020B0604020202020204" pitchFamily="34" charset="0"/>
              <a:buChar char="•"/>
            </a:pPr>
            <a:r>
              <a:rPr lang="en-CA" sz="1200">
                <a:hlinkClick r:id="rId7" tooltip="https://www.canada.ca/en/employment-social-development/programs/ei/ei-list/reports/roe-guide/understand.html"/>
              </a:rPr>
              <a:t>ROE Guide</a:t>
            </a:r>
            <a:endParaRPr lang="en-CA" sz="1200"/>
          </a:p>
          <a:p>
            <a:pPr marL="171450" indent="-171450">
              <a:buFont typeface="Arial" panose="020B0604020202020204" pitchFamily="34" charset="0"/>
              <a:buChar char="•"/>
            </a:pPr>
            <a:r>
              <a:rPr lang="en-CA" sz="1200">
                <a:hlinkClick r:id="rId8" tooltip="http://esdc.prv/en/service-canada/service-delivery/iprt/index.shtml"/>
              </a:rPr>
              <a:t>In-Person Reference Tool (IPRT)</a:t>
            </a:r>
            <a:endParaRPr lang="en-CA" sz="1200"/>
          </a:p>
          <a:p>
            <a:pPr marL="171450" indent="-171450">
              <a:buFont typeface="Arial" panose="020B0604020202020204" pitchFamily="34" charset="0"/>
              <a:buChar char="•"/>
            </a:pPr>
            <a:endParaRPr lang="en-CA" sz="1200"/>
          </a:p>
          <a:p>
            <a:pPr marL="171450" indent="-171450">
              <a:buFont typeface="Arial" panose="020B0604020202020204" pitchFamily="34" charset="0"/>
              <a:buChar char="•"/>
            </a:pPr>
            <a:endParaRPr lang="en-CA" sz="1200"/>
          </a:p>
          <a:p>
            <a:r>
              <a:rPr lang="en-US" b="0">
                <a:cs typeface="Calibri"/>
              </a:rPr>
              <a:t>Case</a:t>
            </a:r>
            <a:r>
              <a:rPr lang="en-US" b="0" baseline="0">
                <a:cs typeface="Calibri"/>
              </a:rPr>
              <a:t> Management System – More:</a:t>
            </a:r>
            <a:endParaRPr lang="en-US" b="0">
              <a:cs typeface="Calibri"/>
            </a:endParaRPr>
          </a:p>
          <a:p>
            <a:endParaRPr lang="en-US" b="0">
              <a:cs typeface="Calibri"/>
            </a:endParaRPr>
          </a:p>
          <a:p>
            <a:r>
              <a:rPr lang="en-US" b="0">
                <a:cs typeface="Calibri"/>
              </a:rPr>
              <a:t>PWS – Pension</a:t>
            </a:r>
            <a:r>
              <a:rPr lang="en-US" b="0" baseline="0">
                <a:cs typeface="Calibri"/>
              </a:rPr>
              <a:t> Workload System</a:t>
            </a:r>
          </a:p>
          <a:p>
            <a:r>
              <a:rPr lang="en-US" b="0" baseline="0">
                <a:cs typeface="Calibri"/>
              </a:rPr>
              <a:t>NWS – National Workload System</a:t>
            </a:r>
            <a:endParaRPr lang="en-US" b="1">
              <a:cs typeface="Calibri"/>
            </a:endParaRPr>
          </a:p>
          <a:p>
            <a:r>
              <a:rPr lang="en-US"/>
              <a:t>SSA - Support System for Agents </a:t>
            </a:r>
            <a:endParaRPr lang="en-US">
              <a:cs typeface="Calibri"/>
            </a:endParaRPr>
          </a:p>
          <a:p>
            <a:r>
              <a:rPr lang="en-US"/>
              <a:t>APRS - Automated Purge and Recreate System</a:t>
            </a:r>
            <a:endParaRPr lang="en-US">
              <a:cs typeface="Calibri"/>
            </a:endParaRPr>
          </a:p>
          <a:p>
            <a:r>
              <a:rPr lang="en-US">
                <a:cs typeface="Calibri"/>
              </a:rPr>
              <a:t>FTS – Full Text Screen</a:t>
            </a:r>
          </a:p>
          <a:p>
            <a:r>
              <a:rPr lang="en-US">
                <a:cs typeface="Calibri"/>
              </a:rPr>
              <a:t>TRS – Telephone Reporting System</a:t>
            </a:r>
          </a:p>
          <a:p>
            <a:r>
              <a:rPr lang="en-US">
                <a:cs typeface="Calibri"/>
              </a:rPr>
              <a:t>IRS – Internet Reporting Service</a:t>
            </a:r>
          </a:p>
          <a:p>
            <a:r>
              <a:rPr lang="en-US">
                <a:cs typeface="Calibri"/>
              </a:rPr>
              <a:t>RMS – ROE Management</a:t>
            </a:r>
          </a:p>
          <a:p>
            <a:r>
              <a:rPr lang="en-US">
                <a:cs typeface="Calibri"/>
              </a:rPr>
              <a:t>ITRDS – IT </a:t>
            </a:r>
            <a:r>
              <a:rPr lang="en-US" err="1">
                <a:cs typeface="Calibri"/>
              </a:rPr>
              <a:t>Renewel</a:t>
            </a:r>
            <a:r>
              <a:rPr lang="en-US">
                <a:cs typeface="Calibri"/>
              </a:rPr>
              <a:t> Delivery System</a:t>
            </a:r>
            <a:endParaRPr lang="en-US" b="1">
              <a:cs typeface="Calibri"/>
            </a:endParaRPr>
          </a:p>
          <a:p>
            <a:r>
              <a:rPr lang="en-US">
                <a:cs typeface="Calibri"/>
              </a:rPr>
              <a:t>EI Systems: RCM, UIC,</a:t>
            </a:r>
            <a:r>
              <a:rPr lang="en-US" baseline="0">
                <a:cs typeface="Calibri"/>
              </a:rPr>
              <a:t> </a:t>
            </a:r>
            <a:r>
              <a:rPr lang="en-US" baseline="0" err="1">
                <a:cs typeface="Calibri"/>
              </a:rPr>
              <a:t>Asgard</a:t>
            </a:r>
            <a:endParaRPr lang="en-US" baseline="0">
              <a:cs typeface="Calibri"/>
            </a:endParaRPr>
          </a:p>
        </p:txBody>
      </p:sp>
      <p:sp>
        <p:nvSpPr>
          <p:cNvPr id="4" name="Slide Number Placeholder 3"/>
          <p:cNvSpPr>
            <a:spLocks noGrp="1"/>
          </p:cNvSpPr>
          <p:nvPr>
            <p:ph type="sldNum" sz="quarter" idx="10"/>
          </p:nvPr>
        </p:nvSpPr>
        <p:spPr/>
        <p:txBody>
          <a:bodyPr/>
          <a:lstStyle/>
          <a:p>
            <a:fld id="{7E9DD9FA-9A84-E143-86E3-47119075FC69}" type="slidenum">
              <a:rPr lang="en-US" smtClean="0"/>
              <a:t>7</a:t>
            </a:fld>
            <a:endParaRPr lang="en-US"/>
          </a:p>
        </p:txBody>
      </p:sp>
    </p:spTree>
    <p:extLst>
      <p:ext uri="{BB962C8B-B14F-4D97-AF65-F5344CB8AC3E}">
        <p14:creationId xmlns:p14="http://schemas.microsoft.com/office/powerpoint/2010/main" val="3175745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CA" sz="1200" kern="1200">
              <a:solidFill>
                <a:schemeClr val="tx1"/>
              </a:solidFill>
              <a:effectLst/>
              <a:latin typeface="+mn-lt"/>
              <a:ea typeface="+mn-ea"/>
              <a:cs typeface="+mn-cs"/>
            </a:endParaRPr>
          </a:p>
          <a:p>
            <a:endParaRPr lang="en-US" baseline="0">
              <a:cs typeface="Calibri"/>
            </a:endParaRPr>
          </a:p>
        </p:txBody>
      </p:sp>
      <p:sp>
        <p:nvSpPr>
          <p:cNvPr id="4" name="Slide Number Placeholder 3"/>
          <p:cNvSpPr>
            <a:spLocks noGrp="1"/>
          </p:cNvSpPr>
          <p:nvPr>
            <p:ph type="sldNum" sz="quarter" idx="10"/>
          </p:nvPr>
        </p:nvSpPr>
        <p:spPr/>
        <p:txBody>
          <a:bodyPr/>
          <a:lstStyle/>
          <a:p>
            <a:fld id="{7E9DD9FA-9A84-E143-86E3-47119075FC69}" type="slidenum">
              <a:rPr lang="en-US" smtClean="0"/>
              <a:t>8</a:t>
            </a:fld>
            <a:endParaRPr lang="en-US"/>
          </a:p>
        </p:txBody>
      </p:sp>
    </p:spTree>
    <p:extLst>
      <p:ext uri="{BB962C8B-B14F-4D97-AF65-F5344CB8AC3E}">
        <p14:creationId xmlns:p14="http://schemas.microsoft.com/office/powerpoint/2010/main" val="3427766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CA" sz="1200" kern="1200">
              <a:solidFill>
                <a:schemeClr val="tx1"/>
              </a:solidFill>
              <a:effectLst/>
              <a:latin typeface="+mn-lt"/>
              <a:ea typeface="+mn-ea"/>
              <a:cs typeface="+mn-cs"/>
            </a:endParaRPr>
          </a:p>
          <a:p>
            <a:endParaRPr lang="en-US" baseline="0">
              <a:cs typeface="Calibri"/>
            </a:endParaRPr>
          </a:p>
        </p:txBody>
      </p:sp>
      <p:sp>
        <p:nvSpPr>
          <p:cNvPr id="4" name="Slide Number Placeholder 3"/>
          <p:cNvSpPr>
            <a:spLocks noGrp="1"/>
          </p:cNvSpPr>
          <p:nvPr>
            <p:ph type="sldNum" sz="quarter" idx="10"/>
          </p:nvPr>
        </p:nvSpPr>
        <p:spPr/>
        <p:txBody>
          <a:bodyPr/>
          <a:lstStyle/>
          <a:p>
            <a:fld id="{7E9DD9FA-9A84-E143-86E3-47119075FC69}" type="slidenum">
              <a:rPr lang="en-US" smtClean="0"/>
              <a:t>9</a:t>
            </a:fld>
            <a:endParaRPr lang="en-US"/>
          </a:p>
        </p:txBody>
      </p:sp>
    </p:spTree>
    <p:extLst>
      <p:ext uri="{BB962C8B-B14F-4D97-AF65-F5344CB8AC3E}">
        <p14:creationId xmlns:p14="http://schemas.microsoft.com/office/powerpoint/2010/main" val="3021003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a:latin typeface="Arial"/>
                <a:ea typeface="Verdana"/>
                <a:cs typeface="Arial"/>
              </a:rPr>
              <a:t>Graphic arrows indicate integration at the interface level, i.e., KM components will provide interface elements that create a seamless experience for the Client/User.</a:t>
            </a:r>
          </a:p>
          <a:p>
            <a:r>
              <a:rPr lang="en-CA" sz="1200" b="0">
                <a:latin typeface="Arial"/>
                <a:ea typeface="Verdana"/>
                <a:cs typeface="Arial"/>
              </a:rPr>
              <a:t>Dotted lines indicate a potential connection or a connection that may not necessarily be automated.</a:t>
            </a:r>
          </a:p>
          <a:p>
            <a:r>
              <a:rPr lang="en-CA" sz="1200" b="0">
                <a:latin typeface="Arial"/>
                <a:ea typeface="Verdana"/>
                <a:cs typeface="Arial"/>
              </a:rPr>
              <a:t>Content Consolidation, Conversion, and Load = </a:t>
            </a:r>
            <a:r>
              <a:rPr lang="en-CA"/>
              <a:t>Knowledge Management Content Review and Tagging (Fujitsu)</a:t>
            </a:r>
          </a:p>
          <a:p>
            <a:r>
              <a:rPr lang="en-CA"/>
              <a:t>Digital Adoption Platform is currently </a:t>
            </a:r>
            <a:r>
              <a:rPr lang="en-CA" err="1"/>
              <a:t>WalkMe</a:t>
            </a:r>
            <a:r>
              <a:rPr lang="en-CA"/>
              <a:t>. Procurement may be required to identify a long-term solution.</a:t>
            </a:r>
          </a:p>
          <a:p>
            <a:endParaRPr lang="en-CA"/>
          </a:p>
          <a:p>
            <a:r>
              <a:rPr lang="en-CA"/>
              <a:t>A2: GC user access to cloud-based Dept SaaS Application</a:t>
            </a:r>
          </a:p>
          <a:p>
            <a:r>
              <a:rPr lang="en-CA"/>
              <a:t>B2: GC user direct access to cloud-based GC service (via the internet) to Dept. SaaS Application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4AD045-241D-4E47-8A25-322E31CCC439}"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1522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solidFill>
                  <a:schemeClr val="tx1"/>
                </a:solidFill>
                <a:latin typeface="Arial"/>
                <a:ea typeface="Verdana"/>
                <a:cs typeface="Arial"/>
              </a:rPr>
              <a:t>BESS = Business Expertise Support System</a:t>
            </a:r>
          </a:p>
          <a:p>
            <a:r>
              <a:rPr lang="en-CA"/>
              <a:t>Some other content/document management solution other than SharePoint may be preferred however would require going through the process of introducing new software to ESDC – would add time and effort.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4AD045-241D-4E47-8A25-322E31CCC439}"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435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The quotation marks indicate material taken verbatim from the Fujitsu deck.</a:t>
            </a:r>
          </a:p>
        </p:txBody>
      </p:sp>
      <p:sp>
        <p:nvSpPr>
          <p:cNvPr id="4" name="Slide Number Placeholder 3"/>
          <p:cNvSpPr>
            <a:spLocks noGrp="1"/>
          </p:cNvSpPr>
          <p:nvPr>
            <p:ph type="sldNum" sz="quarter" idx="10"/>
          </p:nvPr>
        </p:nvSpPr>
        <p:spPr/>
        <p:txBody>
          <a:bodyPr/>
          <a:lstStyle/>
          <a:p>
            <a:fld id="{7E9DD9FA-9A84-E143-86E3-47119075FC69}" type="slidenum">
              <a:rPr lang="en-US" smtClean="0"/>
              <a:t>12</a:t>
            </a:fld>
            <a:endParaRPr lang="en-US"/>
          </a:p>
        </p:txBody>
      </p:sp>
    </p:spTree>
    <p:extLst>
      <p:ext uri="{BB962C8B-B14F-4D97-AF65-F5344CB8AC3E}">
        <p14:creationId xmlns:p14="http://schemas.microsoft.com/office/powerpoint/2010/main" val="991298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CA"/>
              <a:t>SP Online has the following limitations:</a:t>
            </a:r>
          </a:p>
          <a:p>
            <a:pPr marL="628650" lvl="1" indent="-171450">
              <a:buFontTx/>
              <a:buChar char="-"/>
            </a:pPr>
            <a:r>
              <a:rPr lang="en-CA"/>
              <a:t>25TB limitation per site</a:t>
            </a:r>
          </a:p>
          <a:p>
            <a:pPr marL="628650" lvl="1" indent="-171450">
              <a:buFontTx/>
              <a:buChar char="-"/>
            </a:pPr>
            <a:r>
              <a:rPr lang="en-CA"/>
              <a:t>Approx 250M pages</a:t>
            </a:r>
          </a:p>
          <a:p>
            <a:pPr marL="171450" lvl="0" indent="-171450">
              <a:buFontTx/>
              <a:buChar char="-"/>
            </a:pPr>
            <a:r>
              <a:rPr lang="en-CA"/>
              <a:t>Copilot currently only supports unclassified documents</a:t>
            </a:r>
          </a:p>
          <a:p>
            <a:pPr marL="171450" lvl="0" indent="-171450">
              <a:buFontTx/>
              <a:buChar char="-"/>
            </a:pPr>
            <a:r>
              <a:rPr lang="en-CA"/>
              <a:t>EVA can support up to PBMM</a:t>
            </a:r>
          </a:p>
          <a:p>
            <a:pPr marL="171450" indent="-171450">
              <a:buFontTx/>
              <a:buChar char="-"/>
            </a:pPr>
            <a:endParaRPr lang="en-CA"/>
          </a:p>
        </p:txBody>
      </p:sp>
      <p:sp>
        <p:nvSpPr>
          <p:cNvPr id="4" name="Slide Number Placeholder 3"/>
          <p:cNvSpPr>
            <a:spLocks noGrp="1"/>
          </p:cNvSpPr>
          <p:nvPr>
            <p:ph type="sldNum" sz="quarter" idx="10"/>
          </p:nvPr>
        </p:nvSpPr>
        <p:spPr/>
        <p:txBody>
          <a:bodyPr/>
          <a:lstStyle/>
          <a:p>
            <a:fld id="{7E9DD9FA-9A84-E143-86E3-47119075FC69}" type="slidenum">
              <a:rPr lang="en-US" smtClean="0"/>
              <a:t>13</a:t>
            </a:fld>
            <a:endParaRPr lang="en-US"/>
          </a:p>
        </p:txBody>
      </p:sp>
    </p:spTree>
    <p:extLst>
      <p:ext uri="{BB962C8B-B14F-4D97-AF65-F5344CB8AC3E}">
        <p14:creationId xmlns:p14="http://schemas.microsoft.com/office/powerpoint/2010/main" val="2696519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Demo was only presented to the PwC for analysis, but not to the Work Group due to Genesys is one of the bidder for the ongoing </a:t>
            </a:r>
            <a:r>
              <a:rPr lang="en-CA" err="1"/>
              <a:t>CCaaS</a:t>
            </a:r>
            <a:r>
              <a:rPr lang="en-CA"/>
              <a:t> procurement.</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200" b="0">
                <a:latin typeface="Arial"/>
              </a:rPr>
              <a:t>One potential benefit could be license share with </a:t>
            </a:r>
            <a:r>
              <a:rPr lang="en-CA" sz="1200" b="0" err="1">
                <a:latin typeface="Arial"/>
              </a:rPr>
              <a:t>CCaaS</a:t>
            </a:r>
            <a:r>
              <a:rPr lang="en-CA" sz="1200" b="0">
                <a:latin typeface="Arial"/>
              </a:rPr>
              <a:t> if chosen.</a:t>
            </a:r>
          </a:p>
          <a:p>
            <a:endParaRPr lang="en-CA"/>
          </a:p>
        </p:txBody>
      </p:sp>
      <p:sp>
        <p:nvSpPr>
          <p:cNvPr id="4" name="Slide Number Placeholder 3"/>
          <p:cNvSpPr>
            <a:spLocks noGrp="1"/>
          </p:cNvSpPr>
          <p:nvPr>
            <p:ph type="sldNum" sz="quarter" idx="10"/>
          </p:nvPr>
        </p:nvSpPr>
        <p:spPr/>
        <p:txBody>
          <a:bodyPr/>
          <a:lstStyle/>
          <a:p>
            <a:fld id="{7E9DD9FA-9A84-E143-86E3-47119075FC69}" type="slidenum">
              <a:rPr lang="en-US" smtClean="0"/>
              <a:t>14</a:t>
            </a:fld>
            <a:endParaRPr lang="en-US"/>
          </a:p>
        </p:txBody>
      </p:sp>
    </p:spTree>
    <p:extLst>
      <p:ext uri="{BB962C8B-B14F-4D97-AF65-F5344CB8AC3E}">
        <p14:creationId xmlns:p14="http://schemas.microsoft.com/office/powerpoint/2010/main" val="1379413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BMC Helix licensing:</a:t>
            </a:r>
          </a:p>
          <a:p>
            <a:r>
              <a:rPr lang="en-CA"/>
              <a:t>Only author/editor requires license, knowledge consumers do not.</a:t>
            </a:r>
          </a:p>
          <a:p>
            <a:r>
              <a:rPr lang="en-CA"/>
              <a:t>Named or concurrent licensing model (3-1 or 5-1 sharing for occasional users).</a:t>
            </a:r>
          </a:p>
          <a:p>
            <a:r>
              <a:rPr lang="en-CA"/>
              <a:t>Full support on SASS or On-prem with the same cost.</a:t>
            </a:r>
          </a:p>
          <a:p>
            <a:r>
              <a:rPr lang="en-CA"/>
              <a:t>Share cost for Helix GPT on the platform. (Mark </a:t>
            </a:r>
            <a:r>
              <a:rPr lang="en-CA" err="1"/>
              <a:t>Marinaro</a:t>
            </a:r>
            <a:r>
              <a:rPr lang="en-CA"/>
              <a:t> can provide licensing model, check with Sheela)</a:t>
            </a:r>
          </a:p>
          <a:p>
            <a:endParaRPr lang="en-CA"/>
          </a:p>
          <a:p>
            <a:r>
              <a:rPr lang="en-CA"/>
              <a:t>BMC contract does include BMC Helix KM (See </a:t>
            </a:r>
            <a:r>
              <a:rPr lang="en-CA">
                <a:hlinkClick r:id="rId3"/>
              </a:rPr>
              <a:t>BMC Helix Migration CVR for ESDC from COE 2.13.2024.pptx</a:t>
            </a:r>
            <a:r>
              <a:rPr lang="en-CA"/>
              <a:t>)</a:t>
            </a:r>
          </a:p>
          <a:p>
            <a:r>
              <a:rPr lang="en-CA">
                <a:hlinkClick r:id="rId4"/>
              </a:rPr>
              <a:t>ChatGPT for Confluence AI Chat | Atlassian Marketplace</a:t>
            </a:r>
            <a:endParaRPr lang="en-CA"/>
          </a:p>
        </p:txBody>
      </p:sp>
      <p:sp>
        <p:nvSpPr>
          <p:cNvPr id="4" name="Slide Number Placeholder 3"/>
          <p:cNvSpPr>
            <a:spLocks noGrp="1"/>
          </p:cNvSpPr>
          <p:nvPr>
            <p:ph type="sldNum" sz="quarter" idx="10"/>
          </p:nvPr>
        </p:nvSpPr>
        <p:spPr/>
        <p:txBody>
          <a:bodyPr/>
          <a:lstStyle/>
          <a:p>
            <a:fld id="{7E9DD9FA-9A84-E143-86E3-47119075FC69}" type="slidenum">
              <a:rPr lang="en-US" smtClean="0"/>
              <a:t>15</a:t>
            </a:fld>
            <a:endParaRPr lang="en-US"/>
          </a:p>
        </p:txBody>
      </p:sp>
    </p:spTree>
    <p:extLst>
      <p:ext uri="{BB962C8B-B14F-4D97-AF65-F5344CB8AC3E}">
        <p14:creationId xmlns:p14="http://schemas.microsoft.com/office/powerpoint/2010/main" val="2631183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9DD9FA-9A84-E143-86E3-47119075FC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48456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7E9DD9FA-9A84-E143-86E3-47119075FC69}" type="slidenum">
              <a:rPr lang="en-US" smtClean="0"/>
              <a:t>17</a:t>
            </a:fld>
            <a:endParaRPr lang="en-US"/>
          </a:p>
        </p:txBody>
      </p:sp>
    </p:spTree>
    <p:extLst>
      <p:ext uri="{BB962C8B-B14F-4D97-AF65-F5344CB8AC3E}">
        <p14:creationId xmlns:p14="http://schemas.microsoft.com/office/powerpoint/2010/main" val="3901270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5"/>
          </p:nvPr>
        </p:nvSpPr>
        <p:spPr/>
        <p:txBody>
          <a:bodyPr/>
          <a:lstStyle/>
          <a:p>
            <a:fld id="{7E9DD9FA-9A84-E143-86E3-47119075FC69}" type="slidenum">
              <a:rPr lang="en-US" smtClean="0"/>
              <a:t>18</a:t>
            </a:fld>
            <a:endParaRPr lang="en-US"/>
          </a:p>
        </p:txBody>
      </p:sp>
    </p:spTree>
    <p:extLst>
      <p:ext uri="{BB962C8B-B14F-4D97-AF65-F5344CB8AC3E}">
        <p14:creationId xmlns:p14="http://schemas.microsoft.com/office/powerpoint/2010/main" val="2663285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7E9DD9FA-9A84-E143-86E3-47119075FC69}" type="slidenum">
              <a:rPr lang="en-US" smtClean="0"/>
              <a:t>21</a:t>
            </a:fld>
            <a:endParaRPr lang="en-US"/>
          </a:p>
        </p:txBody>
      </p:sp>
    </p:spTree>
    <p:extLst>
      <p:ext uri="{BB962C8B-B14F-4D97-AF65-F5344CB8AC3E}">
        <p14:creationId xmlns:p14="http://schemas.microsoft.com/office/powerpoint/2010/main" val="3111773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7E9DD9FA-9A84-E143-86E3-47119075FC69}" type="slidenum">
              <a:rPr lang="en-US" smtClean="0"/>
              <a:t>22</a:t>
            </a:fld>
            <a:endParaRPr lang="en-US"/>
          </a:p>
        </p:txBody>
      </p:sp>
    </p:spTree>
    <p:extLst>
      <p:ext uri="{BB962C8B-B14F-4D97-AF65-F5344CB8AC3E}">
        <p14:creationId xmlns:p14="http://schemas.microsoft.com/office/powerpoint/2010/main" val="3794640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5"/>
          </p:nvPr>
        </p:nvSpPr>
        <p:spPr/>
        <p:txBody>
          <a:bodyPr/>
          <a:lstStyle/>
          <a:p>
            <a:fld id="{7E9DD9FA-9A84-E143-86E3-47119075FC69}" type="slidenum">
              <a:rPr lang="en-US" smtClean="0"/>
              <a:t>24</a:t>
            </a:fld>
            <a:endParaRPr lang="en-US"/>
          </a:p>
        </p:txBody>
      </p:sp>
    </p:spTree>
    <p:extLst>
      <p:ext uri="{BB962C8B-B14F-4D97-AF65-F5344CB8AC3E}">
        <p14:creationId xmlns:p14="http://schemas.microsoft.com/office/powerpoint/2010/main" val="3860501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Quick overview of KM Stages</a:t>
            </a:r>
            <a:endParaRPr lang="en-CA"/>
          </a:p>
        </p:txBody>
      </p:sp>
    </p:spTree>
    <p:extLst>
      <p:ext uri="{BB962C8B-B14F-4D97-AF65-F5344CB8AC3E}">
        <p14:creationId xmlns:p14="http://schemas.microsoft.com/office/powerpoint/2010/main" val="2636163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9DD9FA-9A84-E143-86E3-47119075FC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99802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The quotation marks indicate material taken verbatim from the Fujitsu deck.</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9DD9FA-9A84-E143-86E3-47119075FC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923575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9DD9FA-9A84-E143-86E3-47119075FC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334367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BMC contract does include BMC Helix KM (See </a:t>
            </a:r>
            <a:r>
              <a:rPr lang="en-CA">
                <a:hlinkClick r:id="rId3"/>
              </a:rPr>
              <a:t>BMC Helix Migration CVR for ESDC from COE 2.13.2024.pptx</a:t>
            </a:r>
            <a:r>
              <a:rPr lang="en-CA"/>
              <a: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9DD9FA-9A84-E143-86E3-47119075FC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14137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a:hlinkClick r:id="rId3"/>
              </a:rPr>
              <a:t>Frequently asked questions about changes coming to Topics - Microsoft Topics | Microsoft Learn</a:t>
            </a:r>
            <a:endParaRPr lang="en-CA"/>
          </a:p>
          <a:p>
            <a:pPr algn="l"/>
            <a:r>
              <a:rPr lang="en-CA" b="1" i="0">
                <a:solidFill>
                  <a:srgbClr val="161616"/>
                </a:solidFill>
                <a:effectLst/>
                <a:latin typeface="Segoe UI" panose="020B0502040204020203" pitchFamily="34" charset="0"/>
              </a:rPr>
              <a:t>How should I invest in knowledge management going forward?</a:t>
            </a:r>
          </a:p>
          <a:p>
            <a:pPr algn="l"/>
            <a:r>
              <a:rPr lang="en-CA" b="0" i="0">
                <a:solidFill>
                  <a:srgbClr val="161616"/>
                </a:solidFill>
                <a:effectLst/>
                <a:latin typeface="Segoe UI" panose="020B0502040204020203" pitchFamily="34" charset="0"/>
              </a:rPr>
              <a:t>We recommend you use SharePoint to publish and organize knowledge that can be discovered via Microsoft Search and leveraged via Microsoft Copilot across Microsoft 365. You'll get analytics on these sites and we'll enhance these experiences in the future. </a:t>
            </a:r>
            <a:r>
              <a:rPr lang="en-CA" b="0" i="0" u="none" strike="noStrike">
                <a:solidFill>
                  <a:srgbClr val="161616"/>
                </a:solidFill>
                <a:effectLst/>
                <a:latin typeface="Segoe UI" panose="020B0502040204020203" pitchFamily="34" charset="0"/>
                <a:hlinkClick r:id="rId4"/>
              </a:rPr>
              <a:t>Learn more</a:t>
            </a:r>
            <a:r>
              <a:rPr lang="en-CA" b="0" i="0">
                <a:solidFill>
                  <a:srgbClr val="161616"/>
                </a:solidFill>
                <a:effectLst/>
                <a:latin typeface="Segoe UI" panose="020B0502040204020203" pitchFamily="34" charset="0"/>
              </a:rPr>
              <a:t>.</a:t>
            </a:r>
          </a:p>
          <a:p>
            <a:endParaRPr lang="en-CA"/>
          </a:p>
        </p:txBody>
      </p:sp>
      <p:sp>
        <p:nvSpPr>
          <p:cNvPr id="4" name="Slide Number Placeholder 3"/>
          <p:cNvSpPr>
            <a:spLocks noGrp="1"/>
          </p:cNvSpPr>
          <p:nvPr>
            <p:ph type="sldNum" sz="quarter" idx="5"/>
          </p:nvPr>
        </p:nvSpPr>
        <p:spPr/>
        <p:txBody>
          <a:bodyPr/>
          <a:lstStyle/>
          <a:p>
            <a:fld id="{7E9DD9FA-9A84-E143-86E3-47119075FC69}" type="slidenum">
              <a:rPr lang="en-US" smtClean="0"/>
              <a:t>33</a:t>
            </a:fld>
            <a:endParaRPr lang="en-US"/>
          </a:p>
        </p:txBody>
      </p:sp>
    </p:spTree>
    <p:extLst>
      <p:ext uri="{BB962C8B-B14F-4D97-AF65-F5344CB8AC3E}">
        <p14:creationId xmlns:p14="http://schemas.microsoft.com/office/powerpoint/2010/main" val="1764914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5"/>
          </p:nvPr>
        </p:nvSpPr>
        <p:spPr/>
        <p:txBody>
          <a:bodyPr/>
          <a:lstStyle/>
          <a:p>
            <a:fld id="{7E9DD9FA-9A84-E143-86E3-47119075FC69}" type="slidenum">
              <a:rPr lang="en-US" smtClean="0"/>
              <a:t>34</a:t>
            </a:fld>
            <a:endParaRPr lang="en-US"/>
          </a:p>
        </p:txBody>
      </p:sp>
    </p:spTree>
    <p:extLst>
      <p:ext uri="{BB962C8B-B14F-4D97-AF65-F5344CB8AC3E}">
        <p14:creationId xmlns:p14="http://schemas.microsoft.com/office/powerpoint/2010/main" val="3774317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7E9DD9FA-9A84-E143-86E3-47119075FC69}" type="slidenum">
              <a:rPr lang="en-US" smtClean="0"/>
              <a:t>35</a:t>
            </a:fld>
            <a:endParaRPr lang="en-US"/>
          </a:p>
        </p:txBody>
      </p:sp>
    </p:spTree>
    <p:extLst>
      <p:ext uri="{BB962C8B-B14F-4D97-AF65-F5344CB8AC3E}">
        <p14:creationId xmlns:p14="http://schemas.microsoft.com/office/powerpoint/2010/main" val="35834715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ABCE2B6B-7FFE-FA46-BED3-31567387080B}" type="slidenum">
              <a:rPr lang="en-US" smtClean="0"/>
              <a:t>‹#›</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47871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sz="1100" b="0" i="1">
                <a:latin typeface="Verdana"/>
                <a:cs typeface="Verdana"/>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CE2B6B-7FFE-FA46-BED3-31567387080B}" type="slidenum">
              <a:rPr lang="en-US" smtClean="0"/>
              <a:t>‹#›</a:t>
            </a:fld>
            <a:endParaRPr lang="en-US"/>
          </a:p>
        </p:txBody>
      </p:sp>
    </p:spTree>
    <p:extLst>
      <p:ext uri="{BB962C8B-B14F-4D97-AF65-F5344CB8AC3E}">
        <p14:creationId xmlns:p14="http://schemas.microsoft.com/office/powerpoint/2010/main" val="2680820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42218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asic Page With header B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677645" y="6494330"/>
            <a:ext cx="514355" cy="365125"/>
          </a:xfrm>
        </p:spPr>
        <p:txBody>
          <a:bodyPr/>
          <a:lstStyle>
            <a:lvl1pPr>
              <a:defRPr sz="800"/>
            </a:lvl1pPr>
          </a:lstStyle>
          <a:p>
            <a:fld id="{32D4B517-E49B-41B6-9DBC-23634E0F1CDC}" type="slidenum">
              <a:rPr lang="en-CA" smtClean="0"/>
              <a:pPr/>
              <a:t>‹#›</a:t>
            </a:fld>
            <a:endParaRPr lang="en-CA"/>
          </a:p>
        </p:txBody>
      </p:sp>
      <p:sp>
        <p:nvSpPr>
          <p:cNvPr id="11" name="Content Placeholder 2"/>
          <p:cNvSpPr>
            <a:spLocks noGrp="1"/>
          </p:cNvSpPr>
          <p:nvPr>
            <p:ph idx="10" hasCustomPrompt="1"/>
          </p:nvPr>
        </p:nvSpPr>
        <p:spPr>
          <a:xfrm>
            <a:off x="1048280" y="1124744"/>
            <a:ext cx="10095440" cy="5293146"/>
          </a:xfrm>
          <a:prstGeom prst="rect">
            <a:avLst/>
          </a:prstGeom>
        </p:spPr>
        <p:txBody>
          <a:bodyPr lIns="0" tIns="0" rIns="0" bIns="0"/>
          <a:lstStyle>
            <a:lvl1pPr marL="0" indent="0">
              <a:buNone/>
              <a:defRPr sz="2200">
                <a:solidFill>
                  <a:srgbClr val="004D71"/>
                </a:solidFill>
                <a:latin typeface="Calibri" panose="020F0502020204030204" pitchFamily="34" charset="0"/>
              </a:defRPr>
            </a:lvl1pPr>
            <a:lvl2pPr>
              <a:defRPr sz="2000">
                <a:solidFill>
                  <a:srgbClr val="004D71"/>
                </a:solidFill>
                <a:latin typeface="Calibri" panose="020F0502020204030204" pitchFamily="34" charset="0"/>
              </a:defRPr>
            </a:lvl2pPr>
            <a:lvl3pPr>
              <a:defRPr sz="1800">
                <a:solidFill>
                  <a:srgbClr val="004D71"/>
                </a:solidFill>
                <a:latin typeface="Calibri" panose="020F0502020204030204" pitchFamily="34" charset="0"/>
              </a:defRPr>
            </a:lvl3pPr>
            <a:lvl4pPr>
              <a:defRPr sz="1600">
                <a:solidFill>
                  <a:srgbClr val="004D71"/>
                </a:solidFill>
                <a:latin typeface="Calibri" panose="020F0502020204030204" pitchFamily="34" charset="0"/>
              </a:defRPr>
            </a:lvl4pPr>
            <a:lvl5pPr marL="0" indent="1255713">
              <a:defRPr sz="1400">
                <a:solidFill>
                  <a:srgbClr val="004D71"/>
                </a:solidFill>
                <a:latin typeface="Calibri" panose="020F0502020204030204" pitchFamily="34" charset="0"/>
              </a:defRPr>
            </a:lvl5pPr>
          </a:lstStyle>
          <a:p>
            <a:pPr lvl="0"/>
            <a:r>
              <a:rPr lang="en-CA" altLang="ko-KR"/>
              <a:t>Click to add text</a:t>
            </a:r>
          </a:p>
        </p:txBody>
      </p:sp>
      <p:sp>
        <p:nvSpPr>
          <p:cNvPr id="2" name="Title 1"/>
          <p:cNvSpPr>
            <a:spLocks noGrp="1"/>
          </p:cNvSpPr>
          <p:nvPr>
            <p:ph type="title"/>
          </p:nvPr>
        </p:nvSpPr>
        <p:spPr>
          <a:xfrm>
            <a:off x="1012265" y="138062"/>
            <a:ext cx="7243976" cy="878670"/>
          </a:xfrm>
          <a:prstGeom prst="rect">
            <a:avLst/>
          </a:prstGeom>
        </p:spPr>
        <p:txBody>
          <a:bodyPr wrap="none" lIns="0" tIns="0" rIns="0" bIns="0" anchor="ctr" anchorCtr="0"/>
          <a:lstStyle>
            <a:lvl1pPr marL="457200" indent="-457200" algn="l">
              <a:buFont typeface="Arial" panose="020B0604020202020204" pitchFamily="34" charset="0"/>
              <a:buNone/>
              <a:defRPr lang="en-CA" sz="2800" baseline="0">
                <a:solidFill>
                  <a:schemeClr val="accent1"/>
                </a:solidFill>
                <a:latin typeface="Calibri" panose="020F0502020204030204" pitchFamily="34" charset="0"/>
                <a:ea typeface="+mn-ea"/>
                <a:cs typeface="+mn-cs"/>
              </a:defRPr>
            </a:lvl1pPr>
          </a:lstStyle>
          <a:p>
            <a:pPr marL="0" marR="0" lvl="0" indent="0" algn="l" fontAlgn="auto">
              <a:lnSpc>
                <a:spcPct val="100000"/>
              </a:lnSpc>
              <a:spcBef>
                <a:spcPct val="20000"/>
              </a:spcBef>
              <a:spcAft>
                <a:spcPts val="0"/>
              </a:spcAft>
              <a:buClrTx/>
              <a:buSzTx/>
              <a:buFont typeface="Arial" panose="020B0604020202020204" pitchFamily="34" charset="0"/>
              <a:tabLst/>
            </a:pPr>
            <a:endParaRPr lang="en-CA"/>
          </a:p>
        </p:txBody>
      </p:sp>
    </p:spTree>
    <p:extLst>
      <p:ext uri="{BB962C8B-B14F-4D97-AF65-F5344CB8AC3E}">
        <p14:creationId xmlns:p14="http://schemas.microsoft.com/office/powerpoint/2010/main" val="2186616440"/>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sz="1100" b="0" i="1">
                <a:latin typeface="Verdana"/>
                <a:cs typeface="Verdana"/>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CE2B6B-7FFE-FA46-BED3-31567387080B}" type="slidenum">
              <a:rPr lang="en-US" smtClean="0"/>
              <a:t>‹#›</a:t>
            </a:fld>
            <a:endParaRPr lang="en-US"/>
          </a:p>
        </p:txBody>
      </p:sp>
      <p:sp>
        <p:nvSpPr>
          <p:cNvPr id="7"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lvl1pPr algn="l">
              <a:defRPr/>
            </a:lvl1pPr>
          </a:lstStyle>
          <a:p>
            <a:r>
              <a:rPr lang="en-US"/>
              <a:t>Click to edit Master title style</a:t>
            </a:r>
          </a:p>
        </p:txBody>
      </p:sp>
      <p:sp>
        <p:nvSpPr>
          <p:cNvPr id="8" name="Text Placeholder 2"/>
          <p:cNvSpPr>
            <a:spLocks noGrp="1"/>
          </p:cNvSpPr>
          <p:nvPr>
            <p:ph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0865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25"/>
        <p:cNvGrpSpPr/>
        <p:nvPr/>
      </p:nvGrpSpPr>
      <p:grpSpPr>
        <a:xfrm>
          <a:off x="0" y="0"/>
          <a:ext cx="0" cy="0"/>
          <a:chOff x="0" y="0"/>
          <a:chExt cx="0" cy="0"/>
        </a:xfrm>
      </p:grpSpPr>
      <p:sp>
        <p:nvSpPr>
          <p:cNvPr id="26" name="Google Shape;26;p4"/>
          <p:cNvSpPr txBox="1">
            <a:spLocks noGrp="1"/>
          </p:cNvSpPr>
          <p:nvPr>
            <p:ph type="sldNum" idx="12"/>
          </p:nvPr>
        </p:nvSpPr>
        <p:spPr>
          <a:xfrm>
            <a:off x="8737600" y="6356351"/>
            <a:ext cx="2844900" cy="365100"/>
          </a:xfrm>
          <a:prstGeom prst="rect">
            <a:avLst/>
          </a:prstGeom>
        </p:spPr>
        <p:txBody>
          <a:bodyPr spcFirstLastPara="1" wrap="square" lIns="91425" tIns="45700" rIns="91425" bIns="45700" anchor="ctr" anchorCtr="0">
            <a:noAutofit/>
          </a:bodyPr>
          <a:lstStyle>
            <a:lvl1pPr lvl="0">
              <a:buClr>
                <a:srgbClr val="888888"/>
              </a:buClr>
              <a:buSzPts val="1200"/>
              <a:buFont typeface="Calibri"/>
              <a:buNone/>
              <a:defRPr/>
            </a:lvl1pPr>
            <a:lvl2pPr lvl="1">
              <a:buClr>
                <a:srgbClr val="888888"/>
              </a:buClr>
              <a:buSzPts val="1200"/>
              <a:buFont typeface="Calibri"/>
              <a:buNone/>
              <a:defRPr/>
            </a:lvl2pPr>
            <a:lvl3pPr lvl="2">
              <a:buClr>
                <a:srgbClr val="888888"/>
              </a:buClr>
              <a:buSzPts val="1200"/>
              <a:buFont typeface="Calibri"/>
              <a:buNone/>
              <a:defRPr/>
            </a:lvl3pPr>
            <a:lvl4pPr lvl="3">
              <a:buClr>
                <a:srgbClr val="888888"/>
              </a:buClr>
              <a:buSzPts val="1200"/>
              <a:buFont typeface="Calibri"/>
              <a:buNone/>
              <a:defRPr/>
            </a:lvl4pPr>
            <a:lvl5pPr lvl="4">
              <a:buClr>
                <a:srgbClr val="888888"/>
              </a:buClr>
              <a:buSzPts val="1200"/>
              <a:buFont typeface="Calibri"/>
              <a:buNone/>
              <a:defRPr/>
            </a:lvl5pPr>
            <a:lvl6pPr lvl="5">
              <a:buClr>
                <a:srgbClr val="888888"/>
              </a:buClr>
              <a:buSzPts val="1200"/>
              <a:buFont typeface="Calibri"/>
              <a:buNone/>
              <a:defRPr/>
            </a:lvl6pPr>
            <a:lvl7pPr lvl="6">
              <a:buClr>
                <a:srgbClr val="888888"/>
              </a:buClr>
              <a:buSzPts val="1200"/>
              <a:buFont typeface="Calibri"/>
              <a:buNone/>
              <a:defRPr/>
            </a:lvl7pPr>
            <a:lvl8pPr lvl="7">
              <a:buClr>
                <a:srgbClr val="888888"/>
              </a:buClr>
              <a:buSzPts val="1200"/>
              <a:buFont typeface="Calibri"/>
              <a:buNone/>
              <a:defRPr/>
            </a:lvl8pPr>
            <a:lvl9pPr lvl="8">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CA"/>
              <a:t>‹#›</a:t>
            </a:fld>
            <a:endParaRPr/>
          </a:p>
        </p:txBody>
      </p:sp>
      <p:sp>
        <p:nvSpPr>
          <p:cNvPr id="27" name="Google Shape;27;p4"/>
          <p:cNvSpPr/>
          <p:nvPr/>
        </p:nvSpPr>
        <p:spPr>
          <a:xfrm>
            <a:off x="-2970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822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Click to edit Master title style</a:t>
            </a:r>
            <a:endParaRPr lang="en-US"/>
          </a:p>
        </p:txBody>
      </p:sp>
      <p:sp>
        <p:nvSpPr>
          <p:cNvPr id="3" name="Content Placeholder 2"/>
          <p:cNvSpPr>
            <a:spLocks noGrp="1"/>
          </p:cNvSpPr>
          <p:nvPr>
            <p:ph idx="1"/>
          </p:nvPr>
        </p:nvSpPr>
        <p:spPr/>
        <p:txBody>
          <a:body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205530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Chronicle Display Black" pitchFamily="50"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0" y="466344"/>
            <a:ext cx="6097575" cy="203200"/>
          </a:xfrm>
        </p:spPr>
        <p:txBody>
          <a:bodyPr vert="horz" lIns="0" tIns="0" rIns="0" bIns="0" rtlCol="0">
            <a:noAutofit/>
          </a:bodyPr>
          <a:lstStyle>
            <a:lvl1pPr marL="0" inden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Tree>
    <p:extLst>
      <p:ext uri="{BB962C8B-B14F-4D97-AF65-F5344CB8AC3E}">
        <p14:creationId xmlns:p14="http://schemas.microsoft.com/office/powerpoint/2010/main" val="2477564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140473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221024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3716349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3990094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1261727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960858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2639726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3346434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2088098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861021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CF96661-B30E-4C66-94B0-D2951A8D4120}" type="slidenum">
              <a:rPr lang="en-CA" smtClean="0"/>
              <a:t>‹#›</a:t>
            </a:fld>
            <a:endParaRPr lang="en-CA"/>
          </a:p>
        </p:txBody>
      </p:sp>
    </p:spTree>
    <p:extLst>
      <p:ext uri="{BB962C8B-B14F-4D97-AF65-F5344CB8AC3E}">
        <p14:creationId xmlns:p14="http://schemas.microsoft.com/office/powerpoint/2010/main" val="2618647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sz="1100" b="0" i="1">
                <a:latin typeface="Verdana"/>
                <a:cs typeface="Verdana"/>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CE2B6B-7FFE-FA46-BED3-31567387080B}" type="slidenum">
              <a:rPr lang="en-US" smtClean="0"/>
              <a:t>‹#›</a:t>
            </a:fld>
            <a:endParaRPr lang="en-US"/>
          </a:p>
        </p:txBody>
      </p:sp>
    </p:spTree>
    <p:extLst>
      <p:ext uri="{BB962C8B-B14F-4D97-AF65-F5344CB8AC3E}">
        <p14:creationId xmlns:p14="http://schemas.microsoft.com/office/powerpoint/2010/main" val="245561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BE728-CD54-C5CA-7A1D-D0C812B533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C65B0E7-0FC4-0449-73E5-298CEF2790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5E44A7C-043B-54FB-19C3-EB754DB2FB94}"/>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F3641A9C-8F5B-052B-A088-27AF34EE3C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7D29220-37BA-1554-5D7E-DEF980DB5ADD}"/>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2387590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F954-83A7-1CC9-F83E-E7137F4C29C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1DB340D-6439-A8B1-C5E3-DC64E751FD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8BCF620-F659-2A7C-5D01-0F61B2CFC643}"/>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AD34D6E3-1269-E902-4EC9-D9D731306C7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212A71-8FDF-1F26-B52F-D26151776043}"/>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1285124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D79D9-2469-ABAD-3942-8EFBA945DF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787C44D-CD5C-7B93-853B-7B259660C5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8E03EC-53D4-4CC4-B3A9-71A5D905D53F}"/>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F5E1A9AC-B799-288A-D227-2C64C82CB85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0AF071-1635-2A84-B717-DE6EE9AF7D47}"/>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32214133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0AD1B-D8C1-FC70-B961-4DE01B61257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C00869D-C816-E929-58AC-D6AF4830A4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1861958-354D-2157-0925-78D496944D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812550F-9F13-4E3C-C804-9DC4634595E6}"/>
              </a:ext>
            </a:extLst>
          </p:cNvPr>
          <p:cNvSpPr>
            <a:spLocks noGrp="1"/>
          </p:cNvSpPr>
          <p:nvPr>
            <p:ph type="dt" sz="half" idx="10"/>
          </p:nvPr>
        </p:nvSpPr>
        <p:spPr/>
        <p:txBody>
          <a:bodyPr/>
          <a:lstStyle/>
          <a:p>
            <a:endParaRPr lang="en-CA"/>
          </a:p>
        </p:txBody>
      </p:sp>
      <p:sp>
        <p:nvSpPr>
          <p:cNvPr id="6" name="Footer Placeholder 5">
            <a:extLst>
              <a:ext uri="{FF2B5EF4-FFF2-40B4-BE49-F238E27FC236}">
                <a16:creationId xmlns:a16="http://schemas.microsoft.com/office/drawing/2014/main" id="{9F36957F-322D-B773-F1CF-62C8E08AE90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5B9F263-5E42-6A65-647B-FCFA64BA2CED}"/>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20771112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05DB-853A-2601-42A4-0DC4AF6803E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0D3C97C-A323-105B-1B40-2165F8387A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CDE641-6359-5BC7-C2B4-46C9CE6577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3016FB3-0D41-5CA7-0135-1C36F4E18D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2DA5F2-74F7-8AD2-C98F-01F93602E4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30E3EB4-9C46-3FF9-2D6F-543D905FE2C5}"/>
              </a:ext>
            </a:extLst>
          </p:cNvPr>
          <p:cNvSpPr>
            <a:spLocks noGrp="1"/>
          </p:cNvSpPr>
          <p:nvPr>
            <p:ph type="dt" sz="half" idx="10"/>
          </p:nvPr>
        </p:nvSpPr>
        <p:spPr/>
        <p:txBody>
          <a:bodyPr/>
          <a:lstStyle/>
          <a:p>
            <a:endParaRPr lang="en-CA"/>
          </a:p>
        </p:txBody>
      </p:sp>
      <p:sp>
        <p:nvSpPr>
          <p:cNvPr id="8" name="Footer Placeholder 7">
            <a:extLst>
              <a:ext uri="{FF2B5EF4-FFF2-40B4-BE49-F238E27FC236}">
                <a16:creationId xmlns:a16="http://schemas.microsoft.com/office/drawing/2014/main" id="{54DE3745-359E-4817-B06F-DEBA8BAF85F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1FBAF795-8FCA-C52D-EE92-0E80E8860935}"/>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36212545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41EA1-C979-DE87-C068-380EB5C4375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F9AFC0E-E1BB-95CC-D44C-F51458E954AE}"/>
              </a:ext>
            </a:extLst>
          </p:cNvPr>
          <p:cNvSpPr>
            <a:spLocks noGrp="1"/>
          </p:cNvSpPr>
          <p:nvPr>
            <p:ph type="dt" sz="half" idx="10"/>
          </p:nvPr>
        </p:nvSpPr>
        <p:spPr/>
        <p:txBody>
          <a:bodyPr/>
          <a:lstStyle/>
          <a:p>
            <a:endParaRPr lang="en-CA"/>
          </a:p>
        </p:txBody>
      </p:sp>
      <p:sp>
        <p:nvSpPr>
          <p:cNvPr id="4" name="Footer Placeholder 3">
            <a:extLst>
              <a:ext uri="{FF2B5EF4-FFF2-40B4-BE49-F238E27FC236}">
                <a16:creationId xmlns:a16="http://schemas.microsoft.com/office/drawing/2014/main" id="{F1D07FC2-B776-2FD4-6857-BB6A322EA35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1968F17-4BF9-B88C-0376-A08CB8C2849C}"/>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32591709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94B41F-EDBE-C888-DB35-6055CFC9ECED}"/>
              </a:ext>
            </a:extLst>
          </p:cNvPr>
          <p:cNvSpPr>
            <a:spLocks noGrp="1"/>
          </p:cNvSpPr>
          <p:nvPr>
            <p:ph type="dt" sz="half" idx="10"/>
          </p:nvPr>
        </p:nvSpPr>
        <p:spPr/>
        <p:txBody>
          <a:bodyPr/>
          <a:lstStyle/>
          <a:p>
            <a:endParaRPr lang="en-CA"/>
          </a:p>
        </p:txBody>
      </p:sp>
      <p:sp>
        <p:nvSpPr>
          <p:cNvPr id="3" name="Footer Placeholder 2">
            <a:extLst>
              <a:ext uri="{FF2B5EF4-FFF2-40B4-BE49-F238E27FC236}">
                <a16:creationId xmlns:a16="http://schemas.microsoft.com/office/drawing/2014/main" id="{F0A55834-1D68-3244-E33E-361F86DF2CC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617512F-8689-AB92-6829-72138DFB676A}"/>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5588242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BDD00-491F-C24B-21B0-F39958E01A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13446E8-BA02-BAB3-F424-187257458E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609FBD8-6283-C997-A427-5427BEABF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D76D31-E466-C2F8-8CD7-1A6334344009}"/>
              </a:ext>
            </a:extLst>
          </p:cNvPr>
          <p:cNvSpPr>
            <a:spLocks noGrp="1"/>
          </p:cNvSpPr>
          <p:nvPr>
            <p:ph type="dt" sz="half" idx="10"/>
          </p:nvPr>
        </p:nvSpPr>
        <p:spPr/>
        <p:txBody>
          <a:bodyPr/>
          <a:lstStyle/>
          <a:p>
            <a:endParaRPr lang="en-CA"/>
          </a:p>
        </p:txBody>
      </p:sp>
      <p:sp>
        <p:nvSpPr>
          <p:cNvPr id="6" name="Footer Placeholder 5">
            <a:extLst>
              <a:ext uri="{FF2B5EF4-FFF2-40B4-BE49-F238E27FC236}">
                <a16:creationId xmlns:a16="http://schemas.microsoft.com/office/drawing/2014/main" id="{51F2B99F-65D5-2194-7858-605D8F51040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7956E37-F44A-515E-1C60-9849E3CBACE4}"/>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14082111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B81E-51CA-57F6-545E-CAF9A42030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5AACD10-055E-E3FF-11C4-A40AA5DBEE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593481F-76FB-61DA-A607-A7BF92C9D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2004C-2A09-67B5-7816-EF13F8DEBA13}"/>
              </a:ext>
            </a:extLst>
          </p:cNvPr>
          <p:cNvSpPr>
            <a:spLocks noGrp="1"/>
          </p:cNvSpPr>
          <p:nvPr>
            <p:ph type="dt" sz="half" idx="10"/>
          </p:nvPr>
        </p:nvSpPr>
        <p:spPr/>
        <p:txBody>
          <a:bodyPr/>
          <a:lstStyle/>
          <a:p>
            <a:endParaRPr lang="en-CA"/>
          </a:p>
        </p:txBody>
      </p:sp>
      <p:sp>
        <p:nvSpPr>
          <p:cNvPr id="6" name="Footer Placeholder 5">
            <a:extLst>
              <a:ext uri="{FF2B5EF4-FFF2-40B4-BE49-F238E27FC236}">
                <a16:creationId xmlns:a16="http://schemas.microsoft.com/office/drawing/2014/main" id="{ED56FA49-FB85-A9C7-B9A8-7CEFF1CC4E5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D3DB664-635C-EB43-256B-27C4A8C1E77C}"/>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5860898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AFF20-3629-C54B-7C0F-C25431236DD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D3699CE-861D-1A73-6D10-47A25EAD97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A2091B2-BFB6-7C73-A70B-7EE3DC1AB946}"/>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9BF55160-0232-26D6-36DC-F856EDAB614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E6BA380-FA5B-5CF4-6FC3-758CC7ADD855}"/>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42563860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B04ECF-0738-CD57-97F4-007CA2A92B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A018996-0E90-CB14-FBE7-BABAF8BFAF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78DDC6D-7D05-8F24-2565-178602DE5D6F}"/>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6165BBDE-5FE5-8CFC-F529-C7866714D63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9E1A7FA-E3C8-834F-2EB2-3A9091CA2F56}"/>
              </a:ext>
            </a:extLst>
          </p:cNvPr>
          <p:cNvSpPr>
            <a:spLocks noGrp="1"/>
          </p:cNvSpPr>
          <p:nvPr>
            <p:ph type="sldNum" sz="quarter" idx="12"/>
          </p:nvPr>
        </p:nvSpPr>
        <p:spPr/>
        <p:txBody>
          <a:bodyPr/>
          <a:lstStyle/>
          <a:p>
            <a:fld id="{EB549C10-2C2B-43EB-9B9C-2FB8F32AB0B8}" type="slidenum">
              <a:rPr lang="en-CA" smtClean="0"/>
              <a:t>‹#›</a:t>
            </a:fld>
            <a:endParaRPr lang="en-CA"/>
          </a:p>
        </p:txBody>
      </p:sp>
    </p:spTree>
    <p:extLst>
      <p:ext uri="{BB962C8B-B14F-4D97-AF65-F5344CB8AC3E}">
        <p14:creationId xmlns:p14="http://schemas.microsoft.com/office/powerpoint/2010/main" val="1019889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Chronicle Display Black" pitchFamily="50"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0" y="466344"/>
            <a:ext cx="6097575" cy="203200"/>
          </a:xfrm>
        </p:spPr>
        <p:txBody>
          <a:bodyPr vert="horz" lIns="0" tIns="0" rIns="0" bIns="0" rtlCol="0">
            <a:noAutofit/>
          </a:bodyPr>
          <a:lstStyle>
            <a:lvl1pPr marL="0" inden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Tree>
    <p:extLst>
      <p:ext uri="{BB962C8B-B14F-4D97-AF65-F5344CB8AC3E}">
        <p14:creationId xmlns:p14="http://schemas.microsoft.com/office/powerpoint/2010/main" val="23732140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sz="1100" b="0" i="1">
                <a:latin typeface="Verdana"/>
                <a:cs typeface="Verdana"/>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CE2B6B-7FFE-FA46-BED3-31567387080B}" type="slidenum">
              <a:rPr lang="en-US" smtClean="0"/>
              <a:t>‹#›</a:t>
            </a:fld>
            <a:endParaRPr lang="en-US"/>
          </a:p>
        </p:txBody>
      </p:sp>
    </p:spTree>
    <p:extLst>
      <p:ext uri="{BB962C8B-B14F-4D97-AF65-F5344CB8AC3E}">
        <p14:creationId xmlns:p14="http://schemas.microsoft.com/office/powerpoint/2010/main" val="15945156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ustom Layou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78372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1" preserve="1" userDrawn="1">
  <p:cSld name="Title Slide 1">
    <p:spTree>
      <p:nvGrpSpPr>
        <p:cNvPr id="1" name="Shape 140"/>
        <p:cNvGrpSpPr/>
        <p:nvPr/>
      </p:nvGrpSpPr>
      <p:grpSpPr>
        <a:xfrm>
          <a:off x="0" y="0"/>
          <a:ext cx="0" cy="0"/>
          <a:chOff x="0" y="0"/>
          <a:chExt cx="0" cy="0"/>
        </a:xfrm>
      </p:grpSpPr>
      <p:pic>
        <p:nvPicPr>
          <p:cNvPr id="141" name="Google Shape;141;p32"/>
          <p:cNvPicPr preferRelativeResize="0"/>
          <p:nvPr/>
        </p:nvPicPr>
        <p:blipFill rotWithShape="1">
          <a:blip r:embed="rId2">
            <a:alphaModFix/>
          </a:blip>
          <a:srcRect l="75618" t="15320" r="2108" b="47549"/>
          <a:stretch/>
        </p:blipFill>
        <p:spPr>
          <a:xfrm>
            <a:off x="9911421" y="1190012"/>
            <a:ext cx="2184784" cy="2731981"/>
          </a:xfrm>
          <a:prstGeom prst="rect">
            <a:avLst/>
          </a:prstGeom>
          <a:noFill/>
          <a:ln>
            <a:noFill/>
          </a:ln>
        </p:spPr>
      </p:pic>
      <p:sp>
        <p:nvSpPr>
          <p:cNvPr id="142" name="Google Shape;142;p32"/>
          <p:cNvSpPr/>
          <p:nvPr/>
        </p:nvSpPr>
        <p:spPr>
          <a:xfrm>
            <a:off x="464933" y="6101867"/>
            <a:ext cx="11342000" cy="6196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pic>
        <p:nvPicPr>
          <p:cNvPr id="143" name="Google Shape;143;p32"/>
          <p:cNvPicPr preferRelativeResize="0"/>
          <p:nvPr/>
        </p:nvPicPr>
        <p:blipFill rotWithShape="1">
          <a:blip r:embed="rId2">
            <a:alphaModFix/>
          </a:blip>
          <a:srcRect l="3005" t="15443" r="49874" b="6195"/>
          <a:stretch/>
        </p:blipFill>
        <p:spPr>
          <a:xfrm>
            <a:off x="251067" y="882802"/>
            <a:ext cx="4623000" cy="5765700"/>
          </a:xfrm>
          <a:prstGeom prst="rect">
            <a:avLst/>
          </a:prstGeom>
          <a:noFill/>
          <a:ln>
            <a:noFill/>
          </a:ln>
        </p:spPr>
      </p:pic>
      <p:pic>
        <p:nvPicPr>
          <p:cNvPr id="144" name="Google Shape;144;p32"/>
          <p:cNvPicPr preferRelativeResize="0"/>
          <p:nvPr/>
        </p:nvPicPr>
        <p:blipFill rotWithShape="1">
          <a:blip r:embed="rId2">
            <a:alphaModFix/>
          </a:blip>
          <a:srcRect l="3005" t="12353" r="2113" b="84279"/>
          <a:stretch/>
        </p:blipFill>
        <p:spPr>
          <a:xfrm>
            <a:off x="160133" y="708633"/>
            <a:ext cx="11646800" cy="274131"/>
          </a:xfrm>
          <a:prstGeom prst="rect">
            <a:avLst/>
          </a:prstGeom>
          <a:noFill/>
          <a:ln>
            <a:noFill/>
          </a:ln>
        </p:spPr>
      </p:pic>
      <p:pic>
        <p:nvPicPr>
          <p:cNvPr id="145" name="Google Shape;145;p32"/>
          <p:cNvPicPr preferRelativeResize="0"/>
          <p:nvPr/>
        </p:nvPicPr>
        <p:blipFill rotWithShape="1">
          <a:blip r:embed="rId3">
            <a:alphaModFix/>
          </a:blip>
          <a:srcRect t="37509" b="36777"/>
          <a:stretch/>
        </p:blipFill>
        <p:spPr>
          <a:xfrm>
            <a:off x="352668" y="304800"/>
            <a:ext cx="5118133" cy="444072"/>
          </a:xfrm>
          <a:prstGeom prst="rect">
            <a:avLst/>
          </a:prstGeom>
          <a:noFill/>
          <a:ln>
            <a:noFill/>
          </a:ln>
        </p:spPr>
      </p:pic>
      <p:pic>
        <p:nvPicPr>
          <p:cNvPr id="146" name="Google Shape;146;p32"/>
          <p:cNvPicPr preferRelativeResize="0"/>
          <p:nvPr/>
        </p:nvPicPr>
        <p:blipFill rotWithShape="1">
          <a:blip r:embed="rId4">
            <a:alphaModFix/>
          </a:blip>
          <a:srcRect l="25410" t="39540"/>
          <a:stretch/>
        </p:blipFill>
        <p:spPr>
          <a:xfrm>
            <a:off x="10455972" y="304800"/>
            <a:ext cx="1295397" cy="525000"/>
          </a:xfrm>
          <a:prstGeom prst="rect">
            <a:avLst/>
          </a:prstGeom>
          <a:noFill/>
          <a:ln>
            <a:noFill/>
          </a:ln>
        </p:spPr>
      </p:pic>
      <p:sp>
        <p:nvSpPr>
          <p:cNvPr id="3" name="Text Placeholder 2">
            <a:extLst>
              <a:ext uri="{FF2B5EF4-FFF2-40B4-BE49-F238E27FC236}">
                <a16:creationId xmlns:a16="http://schemas.microsoft.com/office/drawing/2014/main" id="{A79FEF34-6F87-8046-5D72-16566A59C421}"/>
              </a:ext>
            </a:extLst>
          </p:cNvPr>
          <p:cNvSpPr>
            <a:spLocks noGrp="1"/>
          </p:cNvSpPr>
          <p:nvPr>
            <p:ph type="body" sz="quarter" idx="10"/>
          </p:nvPr>
        </p:nvSpPr>
        <p:spPr>
          <a:xfrm>
            <a:off x="5275018" y="3509100"/>
            <a:ext cx="5973660" cy="1219200"/>
          </a:xfrm>
          <a:prstGeom prst="rect">
            <a:avLst/>
          </a:prstGeom>
        </p:spPr>
        <p:txBody>
          <a:bodyPr/>
          <a:lstStyle>
            <a:lvl1pPr>
              <a:defRPr>
                <a:latin typeface="Arial" panose="020B0604020202020204" pitchFamily="34" charset="0"/>
                <a:cs typeface="Arial" panose="020B0604020202020204" pitchFamily="34" charset="0"/>
              </a:defRPr>
            </a:lvl1pPr>
            <a:lvl2pPr marL="55560" indent="0">
              <a:buNone/>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Box 58">
            <a:extLst>
              <a:ext uri="{FF2B5EF4-FFF2-40B4-BE49-F238E27FC236}">
                <a16:creationId xmlns:a16="http://schemas.microsoft.com/office/drawing/2014/main" id="{B7B59EBA-553B-85D5-800E-742FC3CBE265}"/>
              </a:ext>
            </a:extLst>
          </p:cNvPr>
          <p:cNvSpPr txBox="1">
            <a:spLocks noChangeArrowheads="1"/>
          </p:cNvSpPr>
          <p:nvPr userDrawn="1"/>
        </p:nvSpPr>
        <p:spPr bwMode="auto">
          <a:xfrm>
            <a:off x="5363734" y="3245511"/>
            <a:ext cx="4897124" cy="274131"/>
          </a:xfrm>
          <a:prstGeom prst="rect">
            <a:avLst/>
          </a:prstGeom>
          <a:noFill/>
          <a:ln>
            <a:noFill/>
            <a:prstDash val="sysDot"/>
          </a:ln>
        </p:spPr>
        <p:txBody>
          <a:bodyPr wrap="square" anchor="t">
            <a:noAutofit/>
          </a:bodyPr>
          <a:lstStyle>
            <a:lvl1pPr>
              <a:defRPr sz="3600">
                <a:solidFill>
                  <a:schemeClr val="tx1"/>
                </a:solidFill>
                <a:latin typeface="Lato Light" charset="0"/>
              </a:defRPr>
            </a:lvl1pPr>
            <a:lvl2pPr marL="742950" indent="-285750">
              <a:defRPr sz="3600">
                <a:solidFill>
                  <a:schemeClr val="tx1"/>
                </a:solidFill>
                <a:latin typeface="Lato Light" charset="0"/>
              </a:defRPr>
            </a:lvl2pPr>
            <a:lvl3pPr marL="1143000" indent="-228600">
              <a:defRPr sz="3600">
                <a:solidFill>
                  <a:schemeClr val="tx1"/>
                </a:solidFill>
                <a:latin typeface="Lato Light" charset="0"/>
              </a:defRPr>
            </a:lvl3pPr>
            <a:lvl4pPr marL="1600200" indent="-228600">
              <a:defRPr sz="3600">
                <a:solidFill>
                  <a:schemeClr val="tx1"/>
                </a:solidFill>
                <a:latin typeface="Lato Light" charset="0"/>
              </a:defRPr>
            </a:lvl4pPr>
            <a:lvl5pPr marL="2057400" indent="-228600">
              <a:defRPr sz="3600">
                <a:solidFill>
                  <a:schemeClr val="tx1"/>
                </a:solidFill>
                <a:latin typeface="Lato Light" charset="0"/>
              </a:defRPr>
            </a:lvl5pPr>
            <a:lvl6pPr marL="2514600" indent="-228600" defTabSz="1827213" fontAlgn="base">
              <a:spcBef>
                <a:spcPct val="0"/>
              </a:spcBef>
              <a:spcAft>
                <a:spcPct val="0"/>
              </a:spcAft>
              <a:defRPr sz="3600">
                <a:solidFill>
                  <a:schemeClr val="tx1"/>
                </a:solidFill>
                <a:latin typeface="Lato Light" charset="0"/>
              </a:defRPr>
            </a:lvl6pPr>
            <a:lvl7pPr marL="2971800" indent="-228600" defTabSz="1827213" fontAlgn="base">
              <a:spcBef>
                <a:spcPct val="0"/>
              </a:spcBef>
              <a:spcAft>
                <a:spcPct val="0"/>
              </a:spcAft>
              <a:defRPr sz="3600">
                <a:solidFill>
                  <a:schemeClr val="tx1"/>
                </a:solidFill>
                <a:latin typeface="Lato Light" charset="0"/>
              </a:defRPr>
            </a:lvl7pPr>
            <a:lvl8pPr marL="3429000" indent="-228600" defTabSz="1827213" fontAlgn="base">
              <a:spcBef>
                <a:spcPct val="0"/>
              </a:spcBef>
              <a:spcAft>
                <a:spcPct val="0"/>
              </a:spcAft>
              <a:defRPr sz="3600">
                <a:solidFill>
                  <a:schemeClr val="tx1"/>
                </a:solidFill>
                <a:latin typeface="Lato Light" charset="0"/>
              </a:defRPr>
            </a:lvl8pPr>
            <a:lvl9pPr marL="3886200" indent="-228600" defTabSz="1827213" fontAlgn="base">
              <a:spcBef>
                <a:spcPct val="0"/>
              </a:spcBef>
              <a:spcAft>
                <a:spcPct val="0"/>
              </a:spcAft>
              <a:defRPr sz="3600">
                <a:solidFill>
                  <a:schemeClr val="tx1"/>
                </a:solidFill>
                <a:latin typeface="Lato Light" charset="0"/>
              </a:defRPr>
            </a:lvl9pPr>
          </a:lstStyle>
          <a:p>
            <a:pPr marL="0" marR="0" lvl="0" indent="0" algn="l" defTabSz="913584" rtl="0" eaLnBrk="1" fontAlgn="base" latinLnBrk="0" hangingPunct="1">
              <a:lnSpc>
                <a:spcPct val="100000"/>
              </a:lnSpc>
              <a:spcBef>
                <a:spcPct val="0"/>
              </a:spcBef>
              <a:spcAft>
                <a:spcPts val="300"/>
              </a:spcAft>
              <a:buClrTx/>
              <a:buSzTx/>
              <a:buFontTx/>
              <a:buNone/>
              <a:tabLst/>
              <a:defRPr/>
            </a:pPr>
            <a:r>
              <a:rPr kumimoji="0" lang="en-US" altLang="en-US" sz="1000" b="0" i="0" u="none" strike="noStrike" kern="1200" cap="none" spc="300" normalizeH="0" baseline="0" noProof="0">
                <a:ln>
                  <a:noFill/>
                </a:ln>
                <a:solidFill>
                  <a:prstClr val="black"/>
                </a:solidFill>
                <a:effectLst/>
                <a:uLnTx/>
                <a:uFillTx/>
                <a:latin typeface="Arial" panose="020B0604020202020204" pitchFamily="34" charset="0"/>
                <a:ea typeface="Gotham Book" charset="0"/>
                <a:cs typeface="Arial" panose="020B0604020202020204" pitchFamily="34" charset="0"/>
              </a:rPr>
              <a:t>BDM Innovation</a:t>
            </a:r>
          </a:p>
        </p:txBody>
      </p:sp>
    </p:spTree>
    <p:extLst>
      <p:ext uri="{BB962C8B-B14F-4D97-AF65-F5344CB8AC3E}">
        <p14:creationId xmlns:p14="http://schemas.microsoft.com/office/powerpoint/2010/main" val="16235407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preserve="1" userDrawn="1">
  <p:cSld name="Section Header">
    <p:bg>
      <p:bgPr>
        <a:solidFill>
          <a:schemeClr val="accent1"/>
        </a:solidFill>
        <a:effectLst/>
      </p:bgPr>
    </p:bg>
    <p:spTree>
      <p:nvGrpSpPr>
        <p:cNvPr id="1" name="Shape 62"/>
        <p:cNvGrpSpPr/>
        <p:nvPr/>
      </p:nvGrpSpPr>
      <p:grpSpPr>
        <a:xfrm>
          <a:off x="0" y="0"/>
          <a:ext cx="0" cy="0"/>
          <a:chOff x="0" y="0"/>
          <a:chExt cx="0" cy="0"/>
        </a:xfrm>
      </p:grpSpPr>
      <p:sp>
        <p:nvSpPr>
          <p:cNvPr id="63" name="Google Shape;63;p20"/>
          <p:cNvSpPr txBox="1">
            <a:spLocks noGrp="1"/>
          </p:cNvSpPr>
          <p:nvPr>
            <p:ph type="title"/>
          </p:nvPr>
        </p:nvSpPr>
        <p:spPr>
          <a:xfrm>
            <a:off x="914400" y="2748000"/>
            <a:ext cx="10363200" cy="13620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4000"/>
              <a:buFont typeface="Arial"/>
              <a:buNone/>
              <a:defRPr sz="3733" b="1" cap="none">
                <a:solidFill>
                  <a:schemeClr val="bg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grpSp>
        <p:nvGrpSpPr>
          <p:cNvPr id="8" name="Group 7">
            <a:extLst>
              <a:ext uri="{FF2B5EF4-FFF2-40B4-BE49-F238E27FC236}">
                <a16:creationId xmlns:a16="http://schemas.microsoft.com/office/drawing/2014/main" id="{96E838DD-0C2D-9941-23EE-4DCFED47CA38}"/>
              </a:ext>
            </a:extLst>
          </p:cNvPr>
          <p:cNvGrpSpPr/>
          <p:nvPr userDrawn="1"/>
        </p:nvGrpSpPr>
        <p:grpSpPr>
          <a:xfrm>
            <a:off x="4105999" y="1782224"/>
            <a:ext cx="3980005" cy="751385"/>
            <a:chOff x="4379130" y="1165844"/>
            <a:chExt cx="2985004" cy="563539"/>
          </a:xfrm>
        </p:grpSpPr>
        <p:cxnSp>
          <p:nvCxnSpPr>
            <p:cNvPr id="5" name="Straight Connector 4">
              <a:extLst>
                <a:ext uri="{FF2B5EF4-FFF2-40B4-BE49-F238E27FC236}">
                  <a16:creationId xmlns:a16="http://schemas.microsoft.com/office/drawing/2014/main" id="{73EEDB2A-C477-DCAC-01D8-F3DE5D140A68}"/>
                </a:ext>
              </a:extLst>
            </p:cNvPr>
            <p:cNvCxnSpPr>
              <a:cxnSpLocks/>
            </p:cNvCxnSpPr>
            <p:nvPr userDrawn="1"/>
          </p:nvCxnSpPr>
          <p:spPr>
            <a:xfrm>
              <a:off x="4379130" y="1447614"/>
              <a:ext cx="2985004" cy="0"/>
            </a:xfrm>
            <a:prstGeom prst="line">
              <a:avLst/>
            </a:prstGeom>
            <a:noFill/>
            <a:ln w="28575" cap="flat" cmpd="sng" algn="ctr">
              <a:solidFill>
                <a:schemeClr val="bg1"/>
              </a:solidFill>
              <a:prstDash val="solid"/>
              <a:miter lim="800000"/>
            </a:ln>
            <a:effectLst/>
          </p:spPr>
        </p:cxnSp>
        <p:sp>
          <p:nvSpPr>
            <p:cNvPr id="6" name="Oval 5">
              <a:extLst>
                <a:ext uri="{FF2B5EF4-FFF2-40B4-BE49-F238E27FC236}">
                  <a16:creationId xmlns:a16="http://schemas.microsoft.com/office/drawing/2014/main" id="{0AB1D1DC-B5CB-C0EE-F4F3-B265E2FAF3F1}"/>
                </a:ext>
              </a:extLst>
            </p:cNvPr>
            <p:cNvSpPr/>
            <p:nvPr userDrawn="1"/>
          </p:nvSpPr>
          <p:spPr>
            <a:xfrm>
              <a:off x="5589862" y="1165844"/>
              <a:ext cx="563539" cy="563539"/>
            </a:xfrm>
            <a:prstGeom prst="ellipse">
              <a:avLst/>
            </a:prstGeom>
            <a:solidFill>
              <a:schemeClr val="accent1"/>
            </a:solidFill>
            <a:ln w="28575" cap="flat" cmpd="sng" algn="ctr">
              <a:solidFill>
                <a:schemeClr val="bg1"/>
              </a:solidFill>
              <a:prstDash val="solid"/>
              <a:miter lim="800000"/>
            </a:ln>
            <a:effectLst/>
          </p:spPr>
          <p:txBody>
            <a:bodyPr lIns="0" tIns="0" rIns="0" bIns="0"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CA" sz="2667" b="1" i="0" u="none" strike="noStrike" kern="0" cap="none" spc="0" normalizeH="0" baseline="0" noProof="0">
                <a:ln>
                  <a:noFill/>
                </a:ln>
                <a:solidFill>
                  <a:prstClr val="white"/>
                </a:solidFill>
                <a:effectLst/>
                <a:uLnTx/>
                <a:uFillTx/>
                <a:latin typeface="Graphik Semibold"/>
                <a:ea typeface="+mn-ea"/>
                <a:cs typeface="+mn-cs"/>
              </a:endParaRPr>
            </a:p>
          </p:txBody>
        </p:sp>
      </p:grpSp>
      <p:sp>
        <p:nvSpPr>
          <p:cNvPr id="3" name="Text Placeholder 2">
            <a:extLst>
              <a:ext uri="{FF2B5EF4-FFF2-40B4-BE49-F238E27FC236}">
                <a16:creationId xmlns:a16="http://schemas.microsoft.com/office/drawing/2014/main" id="{8B5BD69E-FE5C-CF69-D89F-676C22968EB3}"/>
              </a:ext>
            </a:extLst>
          </p:cNvPr>
          <p:cNvSpPr>
            <a:spLocks noGrp="1"/>
          </p:cNvSpPr>
          <p:nvPr>
            <p:ph type="body" sz="quarter" idx="10" hasCustomPrompt="1"/>
          </p:nvPr>
        </p:nvSpPr>
        <p:spPr>
          <a:xfrm>
            <a:off x="5689165" y="1938253"/>
            <a:ext cx="760284" cy="421204"/>
          </a:xfrm>
          <a:prstGeom prst="rect">
            <a:avLst/>
          </a:prstGeom>
        </p:spPr>
        <p:txBody>
          <a:bodyPr/>
          <a:lstStyle>
            <a:lvl1pPr algn="ctr">
              <a:defRPr>
                <a:solidFill>
                  <a:schemeClr val="bg1"/>
                </a:solidFill>
                <a:latin typeface="Arial" panose="020B0604020202020204" pitchFamily="34" charset="0"/>
                <a:cs typeface="Arial" panose="020B0604020202020204" pitchFamily="34" charset="0"/>
              </a:defRPr>
            </a:lvl1pPr>
          </a:lstStyle>
          <a:p>
            <a:pPr lvl="0"/>
            <a:r>
              <a:rPr lang="en-US"/>
              <a:t>#</a:t>
            </a:r>
            <a:endParaRPr lang="en-CA"/>
          </a:p>
        </p:txBody>
      </p:sp>
    </p:spTree>
    <p:extLst>
      <p:ext uri="{BB962C8B-B14F-4D97-AF65-F5344CB8AC3E}">
        <p14:creationId xmlns:p14="http://schemas.microsoft.com/office/powerpoint/2010/main" val="25500023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bg>
      <p:bgPr>
        <a:solidFill>
          <a:schemeClr val="accent6"/>
        </a:solidFill>
        <a:effectLst/>
      </p:bgPr>
    </p:bg>
    <p:spTree>
      <p:nvGrpSpPr>
        <p:cNvPr id="1" name="Shape 62"/>
        <p:cNvGrpSpPr/>
        <p:nvPr/>
      </p:nvGrpSpPr>
      <p:grpSpPr>
        <a:xfrm>
          <a:off x="0" y="0"/>
          <a:ext cx="0" cy="0"/>
          <a:chOff x="0" y="0"/>
          <a:chExt cx="0" cy="0"/>
        </a:xfrm>
      </p:grpSpPr>
      <p:sp>
        <p:nvSpPr>
          <p:cNvPr id="63" name="Google Shape;63;p20"/>
          <p:cNvSpPr txBox="1">
            <a:spLocks noGrp="1"/>
          </p:cNvSpPr>
          <p:nvPr>
            <p:ph type="title"/>
          </p:nvPr>
        </p:nvSpPr>
        <p:spPr>
          <a:xfrm>
            <a:off x="914400" y="2748000"/>
            <a:ext cx="10363200" cy="13620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4000"/>
              <a:buFont typeface="Arial"/>
              <a:buNone/>
              <a:defRPr sz="3733" b="1" cap="none">
                <a:solidFill>
                  <a:schemeClr val="bg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grpSp>
        <p:nvGrpSpPr>
          <p:cNvPr id="8" name="Group 7">
            <a:extLst>
              <a:ext uri="{FF2B5EF4-FFF2-40B4-BE49-F238E27FC236}">
                <a16:creationId xmlns:a16="http://schemas.microsoft.com/office/drawing/2014/main" id="{96E838DD-0C2D-9941-23EE-4DCFED47CA38}"/>
              </a:ext>
            </a:extLst>
          </p:cNvPr>
          <p:cNvGrpSpPr/>
          <p:nvPr userDrawn="1"/>
        </p:nvGrpSpPr>
        <p:grpSpPr>
          <a:xfrm>
            <a:off x="4105999" y="1782224"/>
            <a:ext cx="3980005" cy="751385"/>
            <a:chOff x="4379130" y="1165844"/>
            <a:chExt cx="2985004" cy="563539"/>
          </a:xfrm>
        </p:grpSpPr>
        <p:cxnSp>
          <p:nvCxnSpPr>
            <p:cNvPr id="5" name="Straight Connector 4">
              <a:extLst>
                <a:ext uri="{FF2B5EF4-FFF2-40B4-BE49-F238E27FC236}">
                  <a16:creationId xmlns:a16="http://schemas.microsoft.com/office/drawing/2014/main" id="{73EEDB2A-C477-DCAC-01D8-F3DE5D140A68}"/>
                </a:ext>
              </a:extLst>
            </p:cNvPr>
            <p:cNvCxnSpPr>
              <a:cxnSpLocks/>
            </p:cNvCxnSpPr>
            <p:nvPr userDrawn="1"/>
          </p:nvCxnSpPr>
          <p:spPr>
            <a:xfrm>
              <a:off x="4379130" y="1447614"/>
              <a:ext cx="2985004" cy="0"/>
            </a:xfrm>
            <a:prstGeom prst="line">
              <a:avLst/>
            </a:prstGeom>
            <a:noFill/>
            <a:ln w="28575" cap="flat" cmpd="sng" algn="ctr">
              <a:solidFill>
                <a:schemeClr val="bg1"/>
              </a:solidFill>
              <a:prstDash val="solid"/>
              <a:miter lim="800000"/>
            </a:ln>
            <a:effectLst/>
          </p:spPr>
        </p:cxnSp>
        <p:sp>
          <p:nvSpPr>
            <p:cNvPr id="6" name="Oval 5">
              <a:extLst>
                <a:ext uri="{FF2B5EF4-FFF2-40B4-BE49-F238E27FC236}">
                  <a16:creationId xmlns:a16="http://schemas.microsoft.com/office/drawing/2014/main" id="{0AB1D1DC-B5CB-C0EE-F4F3-B265E2FAF3F1}"/>
                </a:ext>
              </a:extLst>
            </p:cNvPr>
            <p:cNvSpPr/>
            <p:nvPr userDrawn="1"/>
          </p:nvSpPr>
          <p:spPr>
            <a:xfrm>
              <a:off x="5589862" y="1165844"/>
              <a:ext cx="563539" cy="563539"/>
            </a:xfrm>
            <a:prstGeom prst="ellipse">
              <a:avLst/>
            </a:prstGeom>
            <a:solidFill>
              <a:schemeClr val="accent6"/>
            </a:solidFill>
            <a:ln w="28575" cap="flat" cmpd="sng" algn="ctr">
              <a:solidFill>
                <a:schemeClr val="bg1"/>
              </a:solidFill>
              <a:prstDash val="solid"/>
              <a:miter lim="800000"/>
            </a:ln>
            <a:effectLst/>
          </p:spPr>
          <p:txBody>
            <a:bodyPr lIns="0" tIns="0" rIns="0" bIns="0"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CA" sz="2667" b="1" i="0" u="none" strike="noStrike" kern="0" cap="none" spc="0" normalizeH="0" baseline="0" noProof="0">
                <a:ln>
                  <a:noFill/>
                </a:ln>
                <a:solidFill>
                  <a:prstClr val="white"/>
                </a:solidFill>
                <a:effectLst/>
                <a:uLnTx/>
                <a:uFillTx/>
                <a:latin typeface="Graphik Semibold"/>
                <a:ea typeface="+mn-ea"/>
                <a:cs typeface="+mn-cs"/>
              </a:endParaRPr>
            </a:p>
          </p:txBody>
        </p:sp>
      </p:grpSp>
      <p:sp>
        <p:nvSpPr>
          <p:cNvPr id="3" name="Text Placeholder 2">
            <a:extLst>
              <a:ext uri="{FF2B5EF4-FFF2-40B4-BE49-F238E27FC236}">
                <a16:creationId xmlns:a16="http://schemas.microsoft.com/office/drawing/2014/main" id="{4ABD7F84-4E72-0371-1BCC-5DEDFAAA15F1}"/>
              </a:ext>
            </a:extLst>
          </p:cNvPr>
          <p:cNvSpPr>
            <a:spLocks noGrp="1"/>
          </p:cNvSpPr>
          <p:nvPr>
            <p:ph type="body" sz="quarter" idx="10" hasCustomPrompt="1"/>
          </p:nvPr>
        </p:nvSpPr>
        <p:spPr>
          <a:xfrm>
            <a:off x="5693614" y="1938253"/>
            <a:ext cx="751385" cy="421204"/>
          </a:xfrm>
          <a:prstGeom prst="rect">
            <a:avLst/>
          </a:prstGeom>
        </p:spPr>
        <p:txBody>
          <a:bodyPr/>
          <a:lstStyle>
            <a:lvl1pPr algn="ctr">
              <a:defRPr>
                <a:solidFill>
                  <a:schemeClr val="bg1"/>
                </a:solidFill>
                <a:latin typeface="Arial" panose="020B0604020202020204" pitchFamily="34" charset="0"/>
                <a:cs typeface="Arial" panose="020B0604020202020204" pitchFamily="34" charset="0"/>
              </a:defRPr>
            </a:lvl1pPr>
          </a:lstStyle>
          <a:p>
            <a:pPr lvl="0"/>
            <a:r>
              <a:rPr lang="en-US"/>
              <a:t>#</a:t>
            </a:r>
            <a:endParaRPr lang="en-CA"/>
          </a:p>
        </p:txBody>
      </p:sp>
    </p:spTree>
    <p:extLst>
      <p:ext uri="{BB962C8B-B14F-4D97-AF65-F5344CB8AC3E}">
        <p14:creationId xmlns:p14="http://schemas.microsoft.com/office/powerpoint/2010/main" val="29983545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bg>
      <p:bgPr>
        <a:solidFill>
          <a:schemeClr val="accent3"/>
        </a:solidFill>
        <a:effectLst/>
      </p:bgPr>
    </p:bg>
    <p:spTree>
      <p:nvGrpSpPr>
        <p:cNvPr id="1" name="Shape 62"/>
        <p:cNvGrpSpPr/>
        <p:nvPr/>
      </p:nvGrpSpPr>
      <p:grpSpPr>
        <a:xfrm>
          <a:off x="0" y="0"/>
          <a:ext cx="0" cy="0"/>
          <a:chOff x="0" y="0"/>
          <a:chExt cx="0" cy="0"/>
        </a:xfrm>
      </p:grpSpPr>
      <p:sp>
        <p:nvSpPr>
          <p:cNvPr id="63" name="Google Shape;63;p20"/>
          <p:cNvSpPr txBox="1">
            <a:spLocks noGrp="1"/>
          </p:cNvSpPr>
          <p:nvPr>
            <p:ph type="title"/>
          </p:nvPr>
        </p:nvSpPr>
        <p:spPr>
          <a:xfrm>
            <a:off x="914400" y="2748000"/>
            <a:ext cx="10363200" cy="13620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4000"/>
              <a:buFont typeface="Arial"/>
              <a:buNone/>
              <a:defRPr sz="3733" b="1" cap="none">
                <a:solidFill>
                  <a:schemeClr val="bg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grpSp>
        <p:nvGrpSpPr>
          <p:cNvPr id="8" name="Group 7">
            <a:extLst>
              <a:ext uri="{FF2B5EF4-FFF2-40B4-BE49-F238E27FC236}">
                <a16:creationId xmlns:a16="http://schemas.microsoft.com/office/drawing/2014/main" id="{96E838DD-0C2D-9941-23EE-4DCFED47CA38}"/>
              </a:ext>
            </a:extLst>
          </p:cNvPr>
          <p:cNvGrpSpPr/>
          <p:nvPr userDrawn="1"/>
        </p:nvGrpSpPr>
        <p:grpSpPr>
          <a:xfrm>
            <a:off x="4105999" y="1782224"/>
            <a:ext cx="3980005" cy="751385"/>
            <a:chOff x="4379130" y="1165844"/>
            <a:chExt cx="2985004" cy="563539"/>
          </a:xfrm>
        </p:grpSpPr>
        <p:cxnSp>
          <p:nvCxnSpPr>
            <p:cNvPr id="5" name="Straight Connector 4">
              <a:extLst>
                <a:ext uri="{FF2B5EF4-FFF2-40B4-BE49-F238E27FC236}">
                  <a16:creationId xmlns:a16="http://schemas.microsoft.com/office/drawing/2014/main" id="{73EEDB2A-C477-DCAC-01D8-F3DE5D140A68}"/>
                </a:ext>
              </a:extLst>
            </p:cNvPr>
            <p:cNvCxnSpPr>
              <a:cxnSpLocks/>
            </p:cNvCxnSpPr>
            <p:nvPr userDrawn="1"/>
          </p:nvCxnSpPr>
          <p:spPr>
            <a:xfrm>
              <a:off x="4379130" y="1447614"/>
              <a:ext cx="2985004" cy="0"/>
            </a:xfrm>
            <a:prstGeom prst="line">
              <a:avLst/>
            </a:prstGeom>
            <a:noFill/>
            <a:ln w="28575" cap="flat" cmpd="sng" algn="ctr">
              <a:solidFill>
                <a:schemeClr val="bg1"/>
              </a:solidFill>
              <a:prstDash val="solid"/>
              <a:miter lim="800000"/>
            </a:ln>
            <a:effectLst/>
          </p:spPr>
        </p:cxnSp>
        <p:sp>
          <p:nvSpPr>
            <p:cNvPr id="6" name="Oval 5">
              <a:extLst>
                <a:ext uri="{FF2B5EF4-FFF2-40B4-BE49-F238E27FC236}">
                  <a16:creationId xmlns:a16="http://schemas.microsoft.com/office/drawing/2014/main" id="{0AB1D1DC-B5CB-C0EE-F4F3-B265E2FAF3F1}"/>
                </a:ext>
              </a:extLst>
            </p:cNvPr>
            <p:cNvSpPr/>
            <p:nvPr userDrawn="1"/>
          </p:nvSpPr>
          <p:spPr>
            <a:xfrm>
              <a:off x="5589862" y="1165844"/>
              <a:ext cx="563539" cy="563539"/>
            </a:xfrm>
            <a:prstGeom prst="ellipse">
              <a:avLst/>
            </a:prstGeom>
            <a:solidFill>
              <a:schemeClr val="accent3"/>
            </a:solidFill>
            <a:ln w="28575" cap="flat" cmpd="sng" algn="ctr">
              <a:solidFill>
                <a:schemeClr val="bg1"/>
              </a:solidFill>
              <a:prstDash val="solid"/>
              <a:miter lim="800000"/>
            </a:ln>
            <a:effectLst/>
          </p:spPr>
          <p:txBody>
            <a:bodyPr lIns="0" tIns="0" rIns="0" bIns="0"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CA" sz="2667" b="1" i="0" u="none" strike="noStrike" kern="0" cap="none" spc="0" normalizeH="0" baseline="0" noProof="0">
                <a:ln>
                  <a:noFill/>
                </a:ln>
                <a:solidFill>
                  <a:prstClr val="white"/>
                </a:solidFill>
                <a:effectLst/>
                <a:uLnTx/>
                <a:uFillTx/>
                <a:latin typeface="Graphik Semibold"/>
                <a:ea typeface="+mn-ea"/>
                <a:cs typeface="+mn-cs"/>
              </a:endParaRPr>
            </a:p>
          </p:txBody>
        </p:sp>
      </p:grpSp>
      <p:sp>
        <p:nvSpPr>
          <p:cNvPr id="2" name="Text Placeholder 2">
            <a:extLst>
              <a:ext uri="{FF2B5EF4-FFF2-40B4-BE49-F238E27FC236}">
                <a16:creationId xmlns:a16="http://schemas.microsoft.com/office/drawing/2014/main" id="{50EDA8F1-E2AB-6D72-DE97-FF8FB7B3C213}"/>
              </a:ext>
            </a:extLst>
          </p:cNvPr>
          <p:cNvSpPr>
            <a:spLocks noGrp="1"/>
          </p:cNvSpPr>
          <p:nvPr>
            <p:ph type="body" sz="quarter" idx="10" hasCustomPrompt="1"/>
          </p:nvPr>
        </p:nvSpPr>
        <p:spPr>
          <a:xfrm>
            <a:off x="5693614" y="1938253"/>
            <a:ext cx="751385" cy="421204"/>
          </a:xfrm>
          <a:prstGeom prst="rect">
            <a:avLst/>
          </a:prstGeom>
        </p:spPr>
        <p:txBody>
          <a:bodyPr/>
          <a:lstStyle>
            <a:lvl1pPr algn="ctr">
              <a:defRPr>
                <a:solidFill>
                  <a:schemeClr val="bg1"/>
                </a:solidFill>
                <a:latin typeface="Arial" panose="020B0604020202020204" pitchFamily="34" charset="0"/>
                <a:cs typeface="Arial" panose="020B0604020202020204" pitchFamily="34" charset="0"/>
              </a:defRPr>
            </a:lvl1pPr>
          </a:lstStyle>
          <a:p>
            <a:pPr lvl="0"/>
            <a:r>
              <a:rPr lang="en-US"/>
              <a:t>#</a:t>
            </a:r>
            <a:endParaRPr lang="en-CA"/>
          </a:p>
        </p:txBody>
      </p:sp>
    </p:spTree>
    <p:extLst>
      <p:ext uri="{BB962C8B-B14F-4D97-AF65-F5344CB8AC3E}">
        <p14:creationId xmlns:p14="http://schemas.microsoft.com/office/powerpoint/2010/main" val="16070990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Google Shape;144;p32">
            <a:extLst>
              <a:ext uri="{FF2B5EF4-FFF2-40B4-BE49-F238E27FC236}">
                <a16:creationId xmlns:a16="http://schemas.microsoft.com/office/drawing/2014/main" id="{0B98D3A4-9F7D-7B39-E57A-1C9C9D129E9D}"/>
              </a:ext>
            </a:extLst>
          </p:cNvPr>
          <p:cNvPicPr preferRelativeResize="0"/>
          <p:nvPr userDrawn="1"/>
        </p:nvPicPr>
        <p:blipFill rotWithShape="1">
          <a:blip r:embed="rId2">
            <a:alphaModFix/>
          </a:blip>
          <a:srcRect l="3005" t="12353" r="2113" b="84279"/>
          <a:stretch/>
        </p:blipFill>
        <p:spPr>
          <a:xfrm>
            <a:off x="156771" y="463436"/>
            <a:ext cx="11646800" cy="274131"/>
          </a:xfrm>
          <a:prstGeom prst="rect">
            <a:avLst/>
          </a:prstGeom>
          <a:noFill/>
          <a:ln>
            <a:noFill/>
          </a:ln>
        </p:spPr>
      </p:pic>
      <p:sp>
        <p:nvSpPr>
          <p:cNvPr id="2" name="Title 1">
            <a:extLst>
              <a:ext uri="{FF2B5EF4-FFF2-40B4-BE49-F238E27FC236}">
                <a16:creationId xmlns:a16="http://schemas.microsoft.com/office/drawing/2014/main" id="{DFB8B1CB-0616-4DBC-B489-6008131A40AD}"/>
              </a:ext>
            </a:extLst>
          </p:cNvPr>
          <p:cNvSpPr>
            <a:spLocks noGrp="1"/>
          </p:cNvSpPr>
          <p:nvPr>
            <p:ph type="title" hasCustomPrompt="1"/>
          </p:nvPr>
        </p:nvSpPr>
        <p:spPr>
          <a:xfrm>
            <a:off x="485775" y="812802"/>
            <a:ext cx="11229975" cy="368300"/>
          </a:xfrm>
          <a:prstGeom prst="rect">
            <a:avLst/>
          </a:prstGeom>
        </p:spPr>
        <p:txBody>
          <a:bodyPr lIns="0" tIns="0" rIns="0" bIns="0" anchor="t"/>
          <a:lstStyle>
            <a:lvl1pPr>
              <a:defRPr sz="2400" b="1" cap="none">
                <a:latin typeface="Arial" panose="020B0604020202020204" pitchFamily="34" charset="0"/>
                <a:cs typeface="Arial" panose="020B0604020202020204" pitchFamily="34" charset="0"/>
              </a:defRPr>
            </a:lvl1pPr>
          </a:lstStyle>
          <a:p>
            <a:r>
              <a:rPr lang="en-CA" noProof="0"/>
              <a:t>Click to edit title</a:t>
            </a:r>
          </a:p>
        </p:txBody>
      </p:sp>
      <p:sp>
        <p:nvSpPr>
          <p:cNvPr id="7" name="Text Placeholder 6">
            <a:extLst>
              <a:ext uri="{FF2B5EF4-FFF2-40B4-BE49-F238E27FC236}">
                <a16:creationId xmlns:a16="http://schemas.microsoft.com/office/drawing/2014/main" id="{D3A48815-9A8A-43A1-AA55-5720DBAE2C8F}"/>
              </a:ext>
            </a:extLst>
          </p:cNvPr>
          <p:cNvSpPr>
            <a:spLocks noGrp="1"/>
          </p:cNvSpPr>
          <p:nvPr>
            <p:ph type="body" sz="quarter" idx="10" hasCustomPrompt="1"/>
          </p:nvPr>
        </p:nvSpPr>
        <p:spPr>
          <a:xfrm>
            <a:off x="485774" y="1219201"/>
            <a:ext cx="11229975" cy="368300"/>
          </a:xfrm>
          <a:prstGeom prst="rect">
            <a:avLst/>
          </a:prstGeom>
        </p:spPr>
        <p:txBody>
          <a:bodyPr lIns="0" tIns="0" rIns="0" bIns="0"/>
          <a:lstStyle>
            <a:lvl1pPr marL="0" algn="l" defTabSz="914377" rtl="0" eaLnBrk="1" latinLnBrk="0" hangingPunct="1">
              <a:spcBef>
                <a:spcPts val="300"/>
              </a:spcBef>
              <a:defRPr lang="en-US" sz="1600" kern="1200" smtClean="0">
                <a:solidFill>
                  <a:srgbClr val="000000"/>
                </a:solidFill>
                <a:latin typeface="Arial" panose="020B0604020202020204" pitchFamily="34" charset="0"/>
                <a:ea typeface="+mn-ea"/>
                <a:cs typeface="Arial" panose="020B0604020202020204" pitchFamily="34" charset="0"/>
              </a:defRPr>
            </a:lvl1pPr>
            <a:lvl2pPr marL="0" algn="l" defTabSz="914377" rtl="0" eaLnBrk="1" latinLnBrk="0" hangingPunct="1">
              <a:spcBef>
                <a:spcPts val="300"/>
              </a:spcBef>
              <a:defRPr lang="en-US" sz="1600" kern="1200" smtClean="0">
                <a:solidFill>
                  <a:srgbClr val="000000"/>
                </a:solidFill>
                <a:latin typeface="+mn-lt"/>
                <a:ea typeface="+mn-ea"/>
                <a:cs typeface="+mn-cs"/>
              </a:defRPr>
            </a:lvl2pPr>
            <a:lvl3pPr marL="0" algn="l" defTabSz="914377" rtl="0" eaLnBrk="1" latinLnBrk="0" hangingPunct="1">
              <a:spcBef>
                <a:spcPts val="300"/>
              </a:spcBef>
              <a:defRPr lang="en-US" sz="1600" kern="1200" smtClean="0">
                <a:solidFill>
                  <a:srgbClr val="000000"/>
                </a:solidFill>
                <a:latin typeface="+mn-lt"/>
                <a:ea typeface="+mn-ea"/>
                <a:cs typeface="+mn-cs"/>
              </a:defRPr>
            </a:lvl3pPr>
            <a:lvl4pPr marL="0" algn="l" defTabSz="914377" rtl="0" eaLnBrk="1" latinLnBrk="0" hangingPunct="1">
              <a:spcBef>
                <a:spcPts val="300"/>
              </a:spcBef>
              <a:defRPr lang="en-US" sz="1600" kern="1200" smtClean="0">
                <a:solidFill>
                  <a:srgbClr val="000000"/>
                </a:solidFill>
                <a:latin typeface="+mn-lt"/>
                <a:ea typeface="+mn-ea"/>
                <a:cs typeface="+mn-cs"/>
              </a:defRPr>
            </a:lvl4pPr>
            <a:lvl5pPr marL="0" algn="l" defTabSz="914377" rtl="0" eaLnBrk="1" latinLnBrk="0" hangingPunct="1">
              <a:spcBef>
                <a:spcPts val="300"/>
              </a:spcBef>
              <a:defRPr lang="en-US" sz="1600" kern="1200">
                <a:solidFill>
                  <a:srgbClr val="000000"/>
                </a:solidFill>
                <a:latin typeface="+mn-lt"/>
                <a:ea typeface="+mn-ea"/>
                <a:cs typeface="+mn-cs"/>
              </a:defRPr>
            </a:lvl5pPr>
          </a:lstStyle>
          <a:p>
            <a:pPr lvl="0"/>
            <a:r>
              <a:rPr lang="en-CA" noProof="0"/>
              <a:t>Click to edit sub tagline</a:t>
            </a:r>
          </a:p>
        </p:txBody>
      </p:sp>
      <p:sp>
        <p:nvSpPr>
          <p:cNvPr id="3" name="TextBox 58">
            <a:extLst>
              <a:ext uri="{FF2B5EF4-FFF2-40B4-BE49-F238E27FC236}">
                <a16:creationId xmlns:a16="http://schemas.microsoft.com/office/drawing/2014/main" id="{984BF527-E7A7-AB2C-C534-1C78617500FA}"/>
              </a:ext>
            </a:extLst>
          </p:cNvPr>
          <p:cNvSpPr txBox="1">
            <a:spLocks noChangeArrowheads="1"/>
          </p:cNvSpPr>
          <p:nvPr userDrawn="1"/>
        </p:nvSpPr>
        <p:spPr bwMode="auto">
          <a:xfrm>
            <a:off x="388429" y="301546"/>
            <a:ext cx="11320971" cy="487117"/>
          </a:xfrm>
          <a:prstGeom prst="rect">
            <a:avLst/>
          </a:prstGeom>
          <a:noFill/>
          <a:ln>
            <a:noFill/>
            <a:prstDash val="sysDot"/>
          </a:ln>
        </p:spPr>
        <p:txBody>
          <a:bodyPr wrap="square" anchor="t">
            <a:noAutofit/>
          </a:bodyPr>
          <a:lstStyle>
            <a:lvl1pPr>
              <a:defRPr sz="3600">
                <a:solidFill>
                  <a:schemeClr val="tx1"/>
                </a:solidFill>
                <a:latin typeface="Lato Light" charset="0"/>
              </a:defRPr>
            </a:lvl1pPr>
            <a:lvl2pPr marL="742950" indent="-285750">
              <a:defRPr sz="3600">
                <a:solidFill>
                  <a:schemeClr val="tx1"/>
                </a:solidFill>
                <a:latin typeface="Lato Light" charset="0"/>
              </a:defRPr>
            </a:lvl2pPr>
            <a:lvl3pPr marL="1143000" indent="-228600">
              <a:defRPr sz="3600">
                <a:solidFill>
                  <a:schemeClr val="tx1"/>
                </a:solidFill>
                <a:latin typeface="Lato Light" charset="0"/>
              </a:defRPr>
            </a:lvl3pPr>
            <a:lvl4pPr marL="1600200" indent="-228600">
              <a:defRPr sz="3600">
                <a:solidFill>
                  <a:schemeClr val="tx1"/>
                </a:solidFill>
                <a:latin typeface="Lato Light" charset="0"/>
              </a:defRPr>
            </a:lvl4pPr>
            <a:lvl5pPr marL="2057400" indent="-228600">
              <a:defRPr sz="3600">
                <a:solidFill>
                  <a:schemeClr val="tx1"/>
                </a:solidFill>
                <a:latin typeface="Lato Light" charset="0"/>
              </a:defRPr>
            </a:lvl5pPr>
            <a:lvl6pPr marL="2514600" indent="-228600" defTabSz="1827213" fontAlgn="base">
              <a:spcBef>
                <a:spcPct val="0"/>
              </a:spcBef>
              <a:spcAft>
                <a:spcPct val="0"/>
              </a:spcAft>
              <a:defRPr sz="3600">
                <a:solidFill>
                  <a:schemeClr val="tx1"/>
                </a:solidFill>
                <a:latin typeface="Lato Light" charset="0"/>
              </a:defRPr>
            </a:lvl6pPr>
            <a:lvl7pPr marL="2971800" indent="-228600" defTabSz="1827213" fontAlgn="base">
              <a:spcBef>
                <a:spcPct val="0"/>
              </a:spcBef>
              <a:spcAft>
                <a:spcPct val="0"/>
              </a:spcAft>
              <a:defRPr sz="3600">
                <a:solidFill>
                  <a:schemeClr val="tx1"/>
                </a:solidFill>
                <a:latin typeface="Lato Light" charset="0"/>
              </a:defRPr>
            </a:lvl7pPr>
            <a:lvl8pPr marL="3429000" indent="-228600" defTabSz="1827213" fontAlgn="base">
              <a:spcBef>
                <a:spcPct val="0"/>
              </a:spcBef>
              <a:spcAft>
                <a:spcPct val="0"/>
              </a:spcAft>
              <a:defRPr sz="3600">
                <a:solidFill>
                  <a:schemeClr val="tx1"/>
                </a:solidFill>
                <a:latin typeface="Lato Light" charset="0"/>
              </a:defRPr>
            </a:lvl8pPr>
            <a:lvl9pPr marL="3886200" indent="-228600" defTabSz="1827213" fontAlgn="base">
              <a:spcBef>
                <a:spcPct val="0"/>
              </a:spcBef>
              <a:spcAft>
                <a:spcPct val="0"/>
              </a:spcAft>
              <a:defRPr sz="3600">
                <a:solidFill>
                  <a:schemeClr val="tx1"/>
                </a:solidFill>
                <a:latin typeface="Lato Light" charset="0"/>
              </a:defRPr>
            </a:lvl9pPr>
          </a:lstStyle>
          <a:p>
            <a:pPr marL="0" marR="0" lvl="0" indent="0" algn="l" defTabSz="913584" rtl="0" eaLnBrk="1" fontAlgn="base" latinLnBrk="0" hangingPunct="1">
              <a:lnSpc>
                <a:spcPct val="100000"/>
              </a:lnSpc>
              <a:spcBef>
                <a:spcPct val="0"/>
              </a:spcBef>
              <a:spcAft>
                <a:spcPts val="300"/>
              </a:spcAft>
              <a:buClrTx/>
              <a:buSzTx/>
              <a:buFontTx/>
              <a:buNone/>
              <a:tabLst/>
              <a:defRPr/>
            </a:pPr>
            <a:r>
              <a:rPr kumimoji="0" lang="en-US" altLang="en-US" sz="1000" b="0" i="0" u="none" strike="noStrike" kern="1200" cap="none" spc="300" normalizeH="0" baseline="0" noProof="0">
                <a:ln>
                  <a:noFill/>
                </a:ln>
                <a:solidFill>
                  <a:prstClr val="black"/>
                </a:solidFill>
                <a:effectLst/>
                <a:uLnTx/>
                <a:uFillTx/>
                <a:latin typeface="Arial" panose="020B0604020202020204" pitchFamily="34" charset="0"/>
                <a:ea typeface="Gotham Book" charset="0"/>
                <a:cs typeface="Arial" panose="020B0604020202020204" pitchFamily="34" charset="0"/>
              </a:rPr>
              <a:t>BDM Innovation</a:t>
            </a:r>
          </a:p>
        </p:txBody>
      </p:sp>
      <p:sp>
        <p:nvSpPr>
          <p:cNvPr id="4" name="Inhaltsplatzhalter 13">
            <a:extLst>
              <a:ext uri="{FF2B5EF4-FFF2-40B4-BE49-F238E27FC236}">
                <a16:creationId xmlns:a16="http://schemas.microsoft.com/office/drawing/2014/main" id="{219205C8-A22C-B7D8-0928-3E76C8294428}"/>
              </a:ext>
            </a:extLst>
          </p:cNvPr>
          <p:cNvSpPr txBox="1">
            <a:spLocks/>
          </p:cNvSpPr>
          <p:nvPr userDrawn="1"/>
        </p:nvSpPr>
        <p:spPr>
          <a:xfrm>
            <a:off x="11180552" y="6632029"/>
            <a:ext cx="528848" cy="161175"/>
          </a:xfrm>
          <a:prstGeom prst="rect">
            <a:avLst/>
          </a:prstGeom>
        </p:spPr>
        <p:txBody>
          <a:bodyPr lIns="0" tIns="47992" rIns="0" bIns="0">
            <a:noAutofit/>
          </a:bodyPr>
          <a:lstStyle>
            <a:defPPr>
              <a:defRPr lang="en-US"/>
            </a:defPPr>
            <a:lvl1pPr marR="0" lvl="0" indent="0" defTabSz="121898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65000"/>
                  </a:schemeClr>
                </a:solidFill>
                <a:effectLst/>
                <a:uLnTx/>
                <a:uFillTx/>
                <a:latin typeface="+mj-lt"/>
                <a:cs typeface="Arial" panose="020B0604020202020204" pitchFamily="34" charset="0"/>
              </a:defRPr>
            </a:lvl1pPr>
          </a:lstStyle>
          <a:p>
            <a:pPr lvl="0" algn="r"/>
            <a:fld id="{EB578BD5-E3A8-4354-91BC-79CE4598B8D1}" type="slidenum">
              <a:rPr lang="en-US" sz="800" b="0" i="0" noProof="0" smtClean="0">
                <a:latin typeface="Arial" panose="020B0604020202020204" pitchFamily="34" charset="0"/>
                <a:cs typeface="Arial" panose="020B0604020202020204" pitchFamily="34" charset="0"/>
              </a:rPr>
              <a:pPr lvl="0" algn="r"/>
              <a:t>‹#›</a:t>
            </a:fld>
            <a:endParaRPr lang="en-US" sz="800" b="0" i="0"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6348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Body">
    <p:spTree>
      <p:nvGrpSpPr>
        <p:cNvPr id="1" name=""/>
        <p:cNvGrpSpPr/>
        <p:nvPr/>
      </p:nvGrpSpPr>
      <p:grpSpPr>
        <a:xfrm>
          <a:off x="0" y="0"/>
          <a:ext cx="0" cy="0"/>
          <a:chOff x="0" y="0"/>
          <a:chExt cx="0" cy="0"/>
        </a:xfrm>
      </p:grpSpPr>
      <p:pic>
        <p:nvPicPr>
          <p:cNvPr id="5" name="Google Shape;144;p32">
            <a:extLst>
              <a:ext uri="{FF2B5EF4-FFF2-40B4-BE49-F238E27FC236}">
                <a16:creationId xmlns:a16="http://schemas.microsoft.com/office/drawing/2014/main" id="{D5780158-90DC-4D38-107F-E1FF79433C25}"/>
              </a:ext>
            </a:extLst>
          </p:cNvPr>
          <p:cNvPicPr preferRelativeResize="0"/>
          <p:nvPr userDrawn="1"/>
        </p:nvPicPr>
        <p:blipFill rotWithShape="1">
          <a:blip r:embed="rId2">
            <a:alphaModFix/>
          </a:blip>
          <a:srcRect l="3005" t="12353" r="2113" b="84279"/>
          <a:stretch/>
        </p:blipFill>
        <p:spPr>
          <a:xfrm>
            <a:off x="160133" y="486159"/>
            <a:ext cx="11646800" cy="274131"/>
          </a:xfrm>
          <a:prstGeom prst="rect">
            <a:avLst/>
          </a:prstGeom>
          <a:noFill/>
          <a:ln>
            <a:noFill/>
          </a:ln>
        </p:spPr>
      </p:pic>
      <p:sp>
        <p:nvSpPr>
          <p:cNvPr id="2" name="Title 1">
            <a:extLst>
              <a:ext uri="{FF2B5EF4-FFF2-40B4-BE49-F238E27FC236}">
                <a16:creationId xmlns:a16="http://schemas.microsoft.com/office/drawing/2014/main" id="{DFB8B1CB-0616-4DBC-B489-6008131A40AD}"/>
              </a:ext>
            </a:extLst>
          </p:cNvPr>
          <p:cNvSpPr>
            <a:spLocks noGrp="1"/>
          </p:cNvSpPr>
          <p:nvPr>
            <p:ph type="title" hasCustomPrompt="1"/>
          </p:nvPr>
        </p:nvSpPr>
        <p:spPr>
          <a:xfrm>
            <a:off x="485775" y="812802"/>
            <a:ext cx="11229975" cy="368300"/>
          </a:xfrm>
          <a:prstGeom prst="rect">
            <a:avLst/>
          </a:prstGeom>
        </p:spPr>
        <p:txBody>
          <a:bodyPr lIns="0" tIns="0" rIns="0" bIns="0" anchor="t"/>
          <a:lstStyle>
            <a:lvl1pPr>
              <a:defRPr sz="2400" b="1" cap="none">
                <a:latin typeface="Arial" panose="020B0604020202020204" pitchFamily="34" charset="0"/>
                <a:cs typeface="Arial" panose="020B0604020202020204" pitchFamily="34" charset="0"/>
              </a:defRPr>
            </a:lvl1pPr>
          </a:lstStyle>
          <a:p>
            <a:r>
              <a:rPr lang="en-CA" noProof="0"/>
              <a:t>Click to edit title</a:t>
            </a:r>
          </a:p>
        </p:txBody>
      </p:sp>
      <p:sp>
        <p:nvSpPr>
          <p:cNvPr id="7" name="Text Placeholder 6">
            <a:extLst>
              <a:ext uri="{FF2B5EF4-FFF2-40B4-BE49-F238E27FC236}">
                <a16:creationId xmlns:a16="http://schemas.microsoft.com/office/drawing/2014/main" id="{D3A48815-9A8A-43A1-AA55-5720DBAE2C8F}"/>
              </a:ext>
            </a:extLst>
          </p:cNvPr>
          <p:cNvSpPr>
            <a:spLocks noGrp="1"/>
          </p:cNvSpPr>
          <p:nvPr>
            <p:ph type="body" sz="quarter" idx="10" hasCustomPrompt="1"/>
          </p:nvPr>
        </p:nvSpPr>
        <p:spPr>
          <a:xfrm>
            <a:off x="485774" y="1219201"/>
            <a:ext cx="11229975" cy="368300"/>
          </a:xfrm>
          <a:prstGeom prst="rect">
            <a:avLst/>
          </a:prstGeom>
        </p:spPr>
        <p:txBody>
          <a:bodyPr lIns="0" tIns="0" rIns="0" bIns="0"/>
          <a:lstStyle>
            <a:lvl1pPr marL="0" algn="l" defTabSz="914377" rtl="0" eaLnBrk="1" latinLnBrk="0" hangingPunct="1">
              <a:spcBef>
                <a:spcPts val="300"/>
              </a:spcBef>
              <a:defRPr lang="en-US" sz="1600" kern="1200" smtClean="0">
                <a:solidFill>
                  <a:srgbClr val="000000"/>
                </a:solidFill>
                <a:latin typeface="Arial" panose="020B0604020202020204" pitchFamily="34" charset="0"/>
                <a:ea typeface="+mn-ea"/>
                <a:cs typeface="Arial" panose="020B0604020202020204" pitchFamily="34" charset="0"/>
              </a:defRPr>
            </a:lvl1pPr>
            <a:lvl2pPr marL="0" algn="l" defTabSz="914377" rtl="0" eaLnBrk="1" latinLnBrk="0" hangingPunct="1">
              <a:spcBef>
                <a:spcPts val="300"/>
              </a:spcBef>
              <a:defRPr lang="en-US" sz="1600" kern="1200" smtClean="0">
                <a:solidFill>
                  <a:srgbClr val="000000"/>
                </a:solidFill>
                <a:latin typeface="+mn-lt"/>
                <a:ea typeface="+mn-ea"/>
                <a:cs typeface="+mn-cs"/>
              </a:defRPr>
            </a:lvl2pPr>
            <a:lvl3pPr marL="0" algn="l" defTabSz="914377" rtl="0" eaLnBrk="1" latinLnBrk="0" hangingPunct="1">
              <a:spcBef>
                <a:spcPts val="300"/>
              </a:spcBef>
              <a:defRPr lang="en-US" sz="1600" kern="1200" smtClean="0">
                <a:solidFill>
                  <a:srgbClr val="000000"/>
                </a:solidFill>
                <a:latin typeface="+mn-lt"/>
                <a:ea typeface="+mn-ea"/>
                <a:cs typeface="+mn-cs"/>
              </a:defRPr>
            </a:lvl3pPr>
            <a:lvl4pPr marL="0" algn="l" defTabSz="914377" rtl="0" eaLnBrk="1" latinLnBrk="0" hangingPunct="1">
              <a:spcBef>
                <a:spcPts val="300"/>
              </a:spcBef>
              <a:defRPr lang="en-US" sz="1600" kern="1200" smtClean="0">
                <a:solidFill>
                  <a:srgbClr val="000000"/>
                </a:solidFill>
                <a:latin typeface="+mn-lt"/>
                <a:ea typeface="+mn-ea"/>
                <a:cs typeface="+mn-cs"/>
              </a:defRPr>
            </a:lvl4pPr>
            <a:lvl5pPr marL="0" algn="l" defTabSz="914377" rtl="0" eaLnBrk="1" latinLnBrk="0" hangingPunct="1">
              <a:spcBef>
                <a:spcPts val="300"/>
              </a:spcBef>
              <a:defRPr lang="en-US" sz="1600" kern="1200">
                <a:solidFill>
                  <a:srgbClr val="000000"/>
                </a:solidFill>
                <a:latin typeface="+mn-lt"/>
                <a:ea typeface="+mn-ea"/>
                <a:cs typeface="+mn-cs"/>
              </a:defRPr>
            </a:lvl5pPr>
          </a:lstStyle>
          <a:p>
            <a:pPr lvl="0"/>
            <a:r>
              <a:rPr lang="en-CA" noProof="0"/>
              <a:t>Click to edit sub tagline</a:t>
            </a:r>
          </a:p>
        </p:txBody>
      </p:sp>
      <p:sp>
        <p:nvSpPr>
          <p:cNvPr id="3" name="TextBox 58">
            <a:extLst>
              <a:ext uri="{FF2B5EF4-FFF2-40B4-BE49-F238E27FC236}">
                <a16:creationId xmlns:a16="http://schemas.microsoft.com/office/drawing/2014/main" id="{984BF527-E7A7-AB2C-C534-1C78617500FA}"/>
              </a:ext>
            </a:extLst>
          </p:cNvPr>
          <p:cNvSpPr txBox="1">
            <a:spLocks noChangeArrowheads="1"/>
          </p:cNvSpPr>
          <p:nvPr userDrawn="1"/>
        </p:nvSpPr>
        <p:spPr bwMode="auto">
          <a:xfrm>
            <a:off x="388429" y="301546"/>
            <a:ext cx="11320971" cy="487117"/>
          </a:xfrm>
          <a:prstGeom prst="rect">
            <a:avLst/>
          </a:prstGeom>
          <a:noFill/>
          <a:ln>
            <a:noFill/>
            <a:prstDash val="sysDot"/>
          </a:ln>
        </p:spPr>
        <p:txBody>
          <a:bodyPr wrap="square" anchor="t">
            <a:noAutofit/>
          </a:bodyPr>
          <a:lstStyle>
            <a:lvl1pPr>
              <a:defRPr sz="3600">
                <a:solidFill>
                  <a:schemeClr val="tx1"/>
                </a:solidFill>
                <a:latin typeface="Lato Light" charset="0"/>
              </a:defRPr>
            </a:lvl1pPr>
            <a:lvl2pPr marL="742950" indent="-285750">
              <a:defRPr sz="3600">
                <a:solidFill>
                  <a:schemeClr val="tx1"/>
                </a:solidFill>
                <a:latin typeface="Lato Light" charset="0"/>
              </a:defRPr>
            </a:lvl2pPr>
            <a:lvl3pPr marL="1143000" indent="-228600">
              <a:defRPr sz="3600">
                <a:solidFill>
                  <a:schemeClr val="tx1"/>
                </a:solidFill>
                <a:latin typeface="Lato Light" charset="0"/>
              </a:defRPr>
            </a:lvl3pPr>
            <a:lvl4pPr marL="1600200" indent="-228600">
              <a:defRPr sz="3600">
                <a:solidFill>
                  <a:schemeClr val="tx1"/>
                </a:solidFill>
                <a:latin typeface="Lato Light" charset="0"/>
              </a:defRPr>
            </a:lvl4pPr>
            <a:lvl5pPr marL="2057400" indent="-228600">
              <a:defRPr sz="3600">
                <a:solidFill>
                  <a:schemeClr val="tx1"/>
                </a:solidFill>
                <a:latin typeface="Lato Light" charset="0"/>
              </a:defRPr>
            </a:lvl5pPr>
            <a:lvl6pPr marL="2514600" indent="-228600" defTabSz="1827213" fontAlgn="base">
              <a:spcBef>
                <a:spcPct val="0"/>
              </a:spcBef>
              <a:spcAft>
                <a:spcPct val="0"/>
              </a:spcAft>
              <a:defRPr sz="3600">
                <a:solidFill>
                  <a:schemeClr val="tx1"/>
                </a:solidFill>
                <a:latin typeface="Lato Light" charset="0"/>
              </a:defRPr>
            </a:lvl6pPr>
            <a:lvl7pPr marL="2971800" indent="-228600" defTabSz="1827213" fontAlgn="base">
              <a:spcBef>
                <a:spcPct val="0"/>
              </a:spcBef>
              <a:spcAft>
                <a:spcPct val="0"/>
              </a:spcAft>
              <a:defRPr sz="3600">
                <a:solidFill>
                  <a:schemeClr val="tx1"/>
                </a:solidFill>
                <a:latin typeface="Lato Light" charset="0"/>
              </a:defRPr>
            </a:lvl7pPr>
            <a:lvl8pPr marL="3429000" indent="-228600" defTabSz="1827213" fontAlgn="base">
              <a:spcBef>
                <a:spcPct val="0"/>
              </a:spcBef>
              <a:spcAft>
                <a:spcPct val="0"/>
              </a:spcAft>
              <a:defRPr sz="3600">
                <a:solidFill>
                  <a:schemeClr val="tx1"/>
                </a:solidFill>
                <a:latin typeface="Lato Light" charset="0"/>
              </a:defRPr>
            </a:lvl8pPr>
            <a:lvl9pPr marL="3886200" indent="-228600" defTabSz="1827213" fontAlgn="base">
              <a:spcBef>
                <a:spcPct val="0"/>
              </a:spcBef>
              <a:spcAft>
                <a:spcPct val="0"/>
              </a:spcAft>
              <a:defRPr sz="3600">
                <a:solidFill>
                  <a:schemeClr val="tx1"/>
                </a:solidFill>
                <a:latin typeface="Lato Light" charset="0"/>
              </a:defRPr>
            </a:lvl9pPr>
          </a:lstStyle>
          <a:p>
            <a:pPr marL="0" marR="0" lvl="0" indent="0" algn="l" defTabSz="913584" rtl="0" eaLnBrk="1" fontAlgn="base" latinLnBrk="0" hangingPunct="1">
              <a:lnSpc>
                <a:spcPct val="100000"/>
              </a:lnSpc>
              <a:spcBef>
                <a:spcPct val="0"/>
              </a:spcBef>
              <a:spcAft>
                <a:spcPts val="300"/>
              </a:spcAft>
              <a:buClrTx/>
              <a:buSzTx/>
              <a:buFontTx/>
              <a:buNone/>
              <a:tabLst/>
              <a:defRPr/>
            </a:pPr>
            <a:r>
              <a:rPr kumimoji="0" lang="en-US" altLang="en-US" sz="1000" b="0" i="0" u="none" strike="noStrike" kern="1200" cap="none" spc="300" normalizeH="0" baseline="0" noProof="0">
                <a:ln>
                  <a:noFill/>
                </a:ln>
                <a:solidFill>
                  <a:prstClr val="black"/>
                </a:solidFill>
                <a:effectLst/>
                <a:uLnTx/>
                <a:uFillTx/>
                <a:latin typeface="Arial" panose="020B0604020202020204" pitchFamily="34" charset="0"/>
                <a:ea typeface="Gotham Book" charset="0"/>
                <a:cs typeface="Arial" panose="020B0604020202020204" pitchFamily="34" charset="0"/>
              </a:rPr>
              <a:t>BDM Innovation</a:t>
            </a:r>
          </a:p>
        </p:txBody>
      </p:sp>
      <p:sp>
        <p:nvSpPr>
          <p:cNvPr id="4" name="Inhaltsplatzhalter 13">
            <a:extLst>
              <a:ext uri="{FF2B5EF4-FFF2-40B4-BE49-F238E27FC236}">
                <a16:creationId xmlns:a16="http://schemas.microsoft.com/office/drawing/2014/main" id="{219205C8-A22C-B7D8-0928-3E76C8294428}"/>
              </a:ext>
            </a:extLst>
          </p:cNvPr>
          <p:cNvSpPr txBox="1">
            <a:spLocks/>
          </p:cNvSpPr>
          <p:nvPr userDrawn="1"/>
        </p:nvSpPr>
        <p:spPr>
          <a:xfrm>
            <a:off x="11180552" y="6632029"/>
            <a:ext cx="528848" cy="161175"/>
          </a:xfrm>
          <a:prstGeom prst="rect">
            <a:avLst/>
          </a:prstGeom>
        </p:spPr>
        <p:txBody>
          <a:bodyPr lIns="0" tIns="47992" rIns="0" bIns="0">
            <a:noAutofit/>
          </a:bodyPr>
          <a:lstStyle>
            <a:defPPr>
              <a:defRPr lang="en-US"/>
            </a:defPPr>
            <a:lvl1pPr marR="0" lvl="0" indent="0" defTabSz="121898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65000"/>
                  </a:schemeClr>
                </a:solidFill>
                <a:effectLst/>
                <a:uLnTx/>
                <a:uFillTx/>
                <a:latin typeface="+mj-lt"/>
                <a:cs typeface="Arial" panose="020B0604020202020204" pitchFamily="34" charset="0"/>
              </a:defRPr>
            </a:lvl1pPr>
          </a:lstStyle>
          <a:p>
            <a:pPr lvl="0" algn="r"/>
            <a:fld id="{EB578BD5-E3A8-4354-91BC-79CE4598B8D1}" type="slidenum">
              <a:rPr lang="en-US" sz="800" b="0" i="0" noProof="0" smtClean="0">
                <a:latin typeface="Arial" panose="020B0604020202020204" pitchFamily="34" charset="0"/>
                <a:cs typeface="Arial" panose="020B0604020202020204" pitchFamily="34" charset="0"/>
              </a:rPr>
              <a:pPr lvl="0" algn="r"/>
              <a:t>‹#›</a:t>
            </a:fld>
            <a:endParaRPr lang="en-US" sz="800" b="0" i="0" noProof="0">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CDD756C5-C8F0-2172-23A5-F3A2BF4803B3}"/>
              </a:ext>
            </a:extLst>
          </p:cNvPr>
          <p:cNvSpPr>
            <a:spLocks noGrp="1"/>
          </p:cNvSpPr>
          <p:nvPr>
            <p:ph type="body" sz="quarter" idx="11"/>
          </p:nvPr>
        </p:nvSpPr>
        <p:spPr>
          <a:xfrm>
            <a:off x="485774" y="1690239"/>
            <a:ext cx="11154833" cy="4866216"/>
          </a:xfrm>
          <a:prstGeom prst="rect">
            <a:avLst/>
          </a:prstGeom>
        </p:spPr>
        <p:txBody>
          <a:bodyPr/>
          <a:lstStyle>
            <a:lvl1pPr marL="0" indent="0">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695859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3_Title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81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theme" Target="../theme/theme3.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image" Target="../media/image4.emf"/><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oleObject" Target="../embeddings/oleObject1.bin"/><Relationship Id="rId5" Type="http://schemas.openxmlformats.org/officeDocument/2006/relationships/slideLayout" Target="../slideLayouts/slideLayout39.xml"/><Relationship Id="rId10" Type="http://schemas.openxmlformats.org/officeDocument/2006/relationships/tags" Target="../tags/tag3.xml"/><Relationship Id="rId4" Type="http://schemas.openxmlformats.org/officeDocument/2006/relationships/slideLayout" Target="../slideLayouts/slideLayout38.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CE2B6B-7FFE-FA46-BED3-31567387080B}" type="slidenum">
              <a:rPr lang="en-US" smtClean="0"/>
              <a:t>‹#›</a:t>
            </a:fld>
            <a:endParaRPr lang="en-US"/>
          </a:p>
        </p:txBody>
      </p:sp>
    </p:spTree>
    <p:extLst>
      <p:ext uri="{BB962C8B-B14F-4D97-AF65-F5344CB8AC3E}">
        <p14:creationId xmlns:p14="http://schemas.microsoft.com/office/powerpoint/2010/main" val="301224369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708" r:id="rId7"/>
    <p:sldLayoutId id="2147483709" r:id="rId8"/>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F96661-B30E-4C66-94B0-D2951A8D4120}" type="slidenum">
              <a:rPr lang="en-CA" smtClean="0"/>
              <a:t>‹#›</a:t>
            </a:fld>
            <a:endParaRPr lang="en-CA"/>
          </a:p>
        </p:txBody>
      </p:sp>
    </p:spTree>
    <p:extLst>
      <p:ext uri="{BB962C8B-B14F-4D97-AF65-F5344CB8AC3E}">
        <p14:creationId xmlns:p14="http://schemas.microsoft.com/office/powerpoint/2010/main" val="188561215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00BB6D-2C4A-9E51-3385-B94B1B3BDA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993DBBD-8986-9393-C1D3-03F0C8AD45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BAD542-39EE-9E30-FCC6-AD6A04FDBF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CA"/>
          </a:p>
        </p:txBody>
      </p:sp>
      <p:sp>
        <p:nvSpPr>
          <p:cNvPr id="5" name="Footer Placeholder 4">
            <a:extLst>
              <a:ext uri="{FF2B5EF4-FFF2-40B4-BE49-F238E27FC236}">
                <a16:creationId xmlns:a16="http://schemas.microsoft.com/office/drawing/2014/main" id="{5D0B0A6D-0E51-B7C8-2F9D-D3191489E4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9CFE359C-3E25-F721-89F7-EAA0B461C9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49C10-2C2B-43EB-9B9C-2FB8F32AB0B8}" type="slidenum">
              <a:rPr lang="en-CA" smtClean="0"/>
              <a:t>‹#›</a:t>
            </a:fld>
            <a:endParaRPr lang="en-CA"/>
          </a:p>
        </p:txBody>
      </p:sp>
    </p:spTree>
    <p:extLst>
      <p:ext uri="{BB962C8B-B14F-4D97-AF65-F5344CB8AC3E}">
        <p14:creationId xmlns:p14="http://schemas.microsoft.com/office/powerpoint/2010/main" val="77789469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16F7A95-22FE-4348-AC3B-8E4C907A6991}"/>
              </a:ext>
            </a:extLst>
          </p:cNvPr>
          <p:cNvGraphicFramePr>
            <a:graphicFrameLocks noChangeAspect="1"/>
          </p:cNvGraphicFramePr>
          <p:nvPr userDrawn="1">
            <p:custDataLst>
              <p:tags r:id="rId9"/>
            </p:custDataLst>
            <p:extLst>
              <p:ext uri="{D42A27DB-BD31-4B8C-83A1-F6EECF244321}">
                <p14:modId xmlns:p14="http://schemas.microsoft.com/office/powerpoint/2010/main" val="291386341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6" progId="TCLayout.ActiveDocument.1">
                  <p:embed/>
                </p:oleObj>
              </mc:Choice>
              <mc:Fallback>
                <p:oleObj name="think-cell Slide" r:id="rId11" imgW="395" imgH="396" progId="TCLayout.ActiveDocument.1">
                  <p:embed/>
                  <p:pic>
                    <p:nvPicPr>
                      <p:cNvPr id="5" name="Object 4" hidden="1">
                        <a:extLst>
                          <a:ext uri="{FF2B5EF4-FFF2-40B4-BE49-F238E27FC236}">
                            <a16:creationId xmlns:a16="http://schemas.microsoft.com/office/drawing/2014/main" id="{516F7A95-22FE-4348-AC3B-8E4C907A6991}"/>
                          </a:ext>
                        </a:extLst>
                      </p:cNvPr>
                      <p:cNvPicPr/>
                      <p:nvPr/>
                    </p:nvPicPr>
                    <p:blipFill>
                      <a:blip r:embed="rId12"/>
                      <a:stretch>
                        <a:fillRect/>
                      </a:stretch>
                    </p:blipFill>
                    <p:spPr>
                      <a:xfrm>
                        <a:off x="1589" y="1589"/>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A2B4A81-6571-44D4-8FCC-023D76AA6C05}"/>
              </a:ext>
            </a:extLst>
          </p:cNvPr>
          <p:cNvSpPr/>
          <p:nvPr userDrawn="1">
            <p:custDataLst>
              <p:tags r:id="rId10"/>
            </p:custDataLst>
          </p:nvPr>
        </p:nvSpPr>
        <p:spPr>
          <a:xfrm>
            <a:off x="1" y="1"/>
            <a:ext cx="158751" cy="1587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200" b="0" i="0" baseline="0">
              <a:latin typeface="Arial Black" panose="020B0A04020102020204" pitchFamily="34" charset="0"/>
              <a:ea typeface="+mj-ea"/>
              <a:cs typeface="+mj-cs"/>
              <a:sym typeface="Arial Black" panose="020B0A04020102020204" pitchFamily="34" charset="0"/>
            </a:endParaRPr>
          </a:p>
        </p:txBody>
      </p:sp>
      <p:sp>
        <p:nvSpPr>
          <p:cNvPr id="8" name="Rectangle 7">
            <a:extLst>
              <a:ext uri="{FF2B5EF4-FFF2-40B4-BE49-F238E27FC236}">
                <a16:creationId xmlns:a16="http://schemas.microsoft.com/office/drawing/2014/main" id="{80BBECB6-68CF-49F1-8632-2FA9B937D2F1}"/>
              </a:ext>
            </a:extLst>
          </p:cNvPr>
          <p:cNvSpPr/>
          <p:nvPr userDrawn="1"/>
        </p:nvSpPr>
        <p:spPr>
          <a:xfrm>
            <a:off x="-584200" y="0"/>
            <a:ext cx="457200" cy="457200"/>
          </a:xfrm>
          <a:prstGeom prst="rect">
            <a:avLst/>
          </a:prstGeom>
          <a:solidFill>
            <a:srgbClr val="00A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Rectangle 10">
            <a:extLst>
              <a:ext uri="{FF2B5EF4-FFF2-40B4-BE49-F238E27FC236}">
                <a16:creationId xmlns:a16="http://schemas.microsoft.com/office/drawing/2014/main" id="{A7955C8B-8679-42D1-996F-818870A3CD27}"/>
              </a:ext>
            </a:extLst>
          </p:cNvPr>
          <p:cNvSpPr/>
          <p:nvPr userDrawn="1"/>
        </p:nvSpPr>
        <p:spPr>
          <a:xfrm>
            <a:off x="-584200" y="571500"/>
            <a:ext cx="457200" cy="457200"/>
          </a:xfrm>
          <a:prstGeom prst="rect">
            <a:avLst/>
          </a:prstGeom>
          <a:solidFill>
            <a:srgbClr val="73CE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Rectangle 13">
            <a:extLst>
              <a:ext uri="{FF2B5EF4-FFF2-40B4-BE49-F238E27FC236}">
                <a16:creationId xmlns:a16="http://schemas.microsoft.com/office/drawing/2014/main" id="{F1A3C9C4-9E8A-8825-9567-3C5F62982A4C}"/>
              </a:ext>
            </a:extLst>
          </p:cNvPr>
          <p:cNvSpPr/>
          <p:nvPr userDrawn="1"/>
        </p:nvSpPr>
        <p:spPr>
          <a:xfrm>
            <a:off x="-585695" y="1126751"/>
            <a:ext cx="457200" cy="457200"/>
          </a:xfrm>
          <a:prstGeom prst="rect">
            <a:avLst/>
          </a:prstGeom>
          <a:solidFill>
            <a:srgbClr val="A3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Rectangle 14">
            <a:extLst>
              <a:ext uri="{FF2B5EF4-FFF2-40B4-BE49-F238E27FC236}">
                <a16:creationId xmlns:a16="http://schemas.microsoft.com/office/drawing/2014/main" id="{87ADE90D-7C5A-BA1D-6A9F-C1C51DDBE8B6}"/>
              </a:ext>
            </a:extLst>
          </p:cNvPr>
          <p:cNvSpPr/>
          <p:nvPr userDrawn="1"/>
        </p:nvSpPr>
        <p:spPr>
          <a:xfrm>
            <a:off x="-585695" y="1698251"/>
            <a:ext cx="457200" cy="457200"/>
          </a:xfrm>
          <a:prstGeom prst="rect">
            <a:avLst/>
          </a:prstGeom>
          <a:solidFill>
            <a:srgbClr val="E63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Rectangle 16">
            <a:extLst>
              <a:ext uri="{FF2B5EF4-FFF2-40B4-BE49-F238E27FC236}">
                <a16:creationId xmlns:a16="http://schemas.microsoft.com/office/drawing/2014/main" id="{3AC5E01F-3838-8CF1-91E5-A3B18A15827D}"/>
              </a:ext>
            </a:extLst>
          </p:cNvPr>
          <p:cNvSpPr/>
          <p:nvPr userDrawn="1"/>
        </p:nvSpPr>
        <p:spPr>
          <a:xfrm>
            <a:off x="-585695" y="2269749"/>
            <a:ext cx="457200" cy="457200"/>
          </a:xfrm>
          <a:prstGeom prst="rect">
            <a:avLst/>
          </a:prstGeom>
          <a:solidFill>
            <a:srgbClr val="F18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 name="Rectangle 17">
            <a:extLst>
              <a:ext uri="{FF2B5EF4-FFF2-40B4-BE49-F238E27FC236}">
                <a16:creationId xmlns:a16="http://schemas.microsoft.com/office/drawing/2014/main" id="{CC1012E8-6216-8597-95AA-455B2406A67A}"/>
              </a:ext>
            </a:extLst>
          </p:cNvPr>
          <p:cNvSpPr/>
          <p:nvPr userDrawn="1"/>
        </p:nvSpPr>
        <p:spPr>
          <a:xfrm>
            <a:off x="-585695" y="2844612"/>
            <a:ext cx="457200" cy="457200"/>
          </a:xfrm>
          <a:prstGeom prst="rect">
            <a:avLst/>
          </a:prstGeom>
          <a:solidFill>
            <a:srgbClr val="F387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298569888"/>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8" r:id="rId7"/>
  </p:sldLayoutIdLst>
  <p:hf hdr="0" ftr="0" dt="0"/>
  <p:txStyles>
    <p:titleStyle>
      <a:lvl1pPr marL="0" indent="0" algn="l" defTabSz="914354" rtl="0" eaLnBrk="1" latinLnBrk="0" hangingPunct="1">
        <a:lnSpc>
          <a:spcPct val="70000"/>
        </a:lnSpc>
        <a:spcBef>
          <a:spcPct val="0"/>
        </a:spcBef>
        <a:buNone/>
        <a:defRPr sz="3200" b="0" kern="1200" cap="all" baseline="0">
          <a:solidFill>
            <a:schemeClr val="tx1"/>
          </a:solidFill>
          <a:latin typeface="Graphik Black "/>
          <a:ea typeface="+mj-ea"/>
          <a:cs typeface="+mj-cs"/>
        </a:defRPr>
      </a:lvl1pPr>
    </p:titleStyle>
    <p:bodyStyle>
      <a:lvl1pPr marL="55560" indent="0" algn="l" defTabSz="914354"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285737" indent="-230177" algn="l" defTabSz="914354"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j-lt"/>
          <a:ea typeface="+mn-ea"/>
          <a:cs typeface="Arial" panose="020B0604020202020204" pitchFamily="34" charset="0"/>
        </a:defRPr>
      </a:lvl2pPr>
      <a:lvl3pPr marL="514326" indent="-230177" algn="l" defTabSz="914354"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j-lt"/>
          <a:ea typeface="+mn-ea"/>
          <a:cs typeface="Arial" panose="020B0604020202020204" pitchFamily="34" charset="0"/>
        </a:defRPr>
      </a:lvl3pPr>
      <a:lvl4pPr marL="685766" indent="-171442" algn="l" defTabSz="914354"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08" indent="-177792" algn="l" defTabSz="914354"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49" indent="-173030"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0" indent="0" algn="l" defTabSz="914354"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0" indent="0" algn="l" defTabSz="914354"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0" indent="0" algn="l" defTabSz="914354"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2" pos="3727">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3953">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014gc.sharepoint.com/sites/66251/Shared%20Documents/BDM%20Architecture%20Governance%20and%20Decisions/BDM%20@%20Enterprise%20Architecture%20Review%20Board/(AS%20PRESENTED%20AT%20EARB)%20Tab_6%20BDM%20Knowledge%20Management.pdf"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014gc.sharepoint.com/:b:/r/sites/BDMArchitectureTouchpoint-StaffandConsultants/Shared%20Documents/General/02%20-%20Architecture%20Road-Mapping/Knowledge%20Management/Outputs/Tab_6%20BDM%20Knowledge%20Management.pdf?csf=1&amp;web=1&amp;e=hGNbA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jpeg"/><Relationship Id="rId10" Type="http://schemas.openxmlformats.org/officeDocument/2006/relationships/image" Target="../media/image19.png"/><Relationship Id="rId4" Type="http://schemas.openxmlformats.org/officeDocument/2006/relationships/image" Target="../media/image12.png"/><Relationship Id="rId9" Type="http://schemas.openxmlformats.org/officeDocument/2006/relationships/image" Target="../media/image18.svg"/></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microsoft-copilot-studio/knowledge-copilot-studio"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014gc.sharepoint.com/:p:/r/sites/KnowledgeManagementArchitectureWorkingGroup/Shared%20Documents/KM%20Working%20Group/Knowledge%20Management%20and%20AI%20Options%20Analysis%20Arch%20Review.pptx?d=w6c8a91414121478aa854a581315caab9&amp;csf=1&amp;web=1&amp;e=dtaOLa"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cs.bmc.com/docs/km233/home-1236605987.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2.tiff"/><Relationship Id="rId13" Type="http://schemas.openxmlformats.org/officeDocument/2006/relationships/image" Target="../media/image27.png"/><Relationship Id="rId3" Type="http://schemas.openxmlformats.org/officeDocument/2006/relationships/hyperlink" Target="https://www.figma.com/proto/2ygllVGEUvSBxNyZV6wYB3/BDM?node-id=3-2&amp;t=hyXXwzkdpSEHG0te-1&amp;starting-point-node-id=944%3A1460" TargetMode="External"/><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projects-projets/forms-formulaires/pmisformsformulaires/propbuscase/201800003.xml" TargetMode="External"/><Relationship Id="rId11" Type="http://schemas.openxmlformats.org/officeDocument/2006/relationships/image" Target="../media/image25.png"/><Relationship Id="rId5" Type="http://schemas.openxmlformats.org/officeDocument/2006/relationships/hyperlink" Target="https://014gc.sharepoint.com/:p:/r/sites/74017/_layouts/15/Doc.aspx?sourcedoc=%7Bfa077d33-decf-49f3-93fc-6e3ef33a5850%7D&amp;action=edit&amp;mobileredirect=true" TargetMode="External"/><Relationship Id="rId10" Type="http://schemas.openxmlformats.org/officeDocument/2006/relationships/image" Target="../media/image24.tiff"/><Relationship Id="rId4" Type="http://schemas.openxmlformats.org/officeDocument/2006/relationships/hyperlink" Target="https://014gc.sharepoint.com/sites/bdmstrategygovernance-mvpstratgiegouverance/DecisionArtefacts/600%20-%20BDM%20Projects%20Dossier%20for%20Tranche%201B%20(Deployment)/Projects%20Dossier_V2.0_Jan23-24-for%20SRO%20approval_signed.pdf#page=117&amp;zoom=100,99,327" TargetMode="External"/><Relationship Id="rId9" Type="http://schemas.openxmlformats.org/officeDocument/2006/relationships/image" Target="../media/image23.tif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014gc.sharepoint.com/:x:/s/EACollab/EYA-3Kgx5JJAp6WSa94EL5AB_syHYauJNvNioQnYB-9NBQ?email=stephane.parent%40hrsdc-rhdcc.gc.ca&amp;e=JBeDmV" TargetMode="External"/><Relationship Id="rId2" Type="http://schemas.openxmlformats.org/officeDocument/2006/relationships/hyperlink" Target="https://014gc.sharepoint.com/sites/EACollab/Shared%20Documents/Forms/AllItems.aspx?id=%2Fsites%2FEACollab%2FShared%20Documents%2FGeneral%2FEARB%20OA%20Eval%20Scoring%20%2D%20%C3%89val%20Score%20de%20AdO%20CEAI%2FESDC%2DEA%2DSAS%20%2D%20EA%20Score%20%2D%20GUIDE%2Epdf&amp;parent=%2Fsites%2FEACollab%2FShared%20Documents%2FGeneral%2FEARB%20OA%20Eval%20Scoring%20%2D%20%C3%89val%20Score%20de%20AdO%20CEAI"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014gc.sharepoint.com/sites/EACollab/Shared%20Documents/Forms/AllItems.aspx?id=%2Fsites%2FEACollab%2FShared%20Documents%2FGeneral%2FEARB%20OA%20Eval%20Scoring%20%2D%20%C3%89val%20Score%20de%20AdO%20CEAI%2FESDC%2DEA%2DSAS%20%2D%20EA%20Score%20%2D%20GUIDE%2Epdf&amp;parent=%2Fsites%2FEACollab%2FShared%20Documents%2FGeneral%2FEARB%20OA%20Eval%20Scoring%20%2D%20%C3%89val%20Score%20de%20AdO%20CEAI" TargetMode="External"/><Relationship Id="rId2" Type="http://schemas.openxmlformats.org/officeDocument/2006/relationships/hyperlink" Target="https://014gc.sharepoint.com/:x:/s/EACollab/EYA-3Kgx5JJAp6WSa94EL5AB_syHYauJNvNioQnYB-9NBQ?email=stephane.parent%40hrsdc-rhdcc.gc.ca&amp;e=JBeDmV"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014gc.sharepoint.com/:x:/r/sites/EA-AE/Enterprise%20Security%20Architecture%20ESA/Governance%20Artefacts/EARB/EARB%20-%20Security%20Ranking(template%20%26%20past%20records)/Backup%20(Master%20Template)/_Security%20Ranking_template%20(v02.27.24).xlsx?d=w530c19cc2b96467da21ef00891bc6d65&amp;csf=1&amp;web=1&amp;e=49ws03"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hyperlink" Target="https://014gc.sharepoint.com/:x:/r/sites/EA-AE/_layouts/15/Doc.aspx?sourcedoc=%7BD765C109-02BC-41D6-A5FC-1C27B0CC328F%7D&amp;file=FSIR-Security%20Ranking%20v1.3%20latest.xlsx&amp;action=default&amp;mobileredirect=true" TargetMode="External"/><Relationship Id="rId4" Type="http://schemas.openxmlformats.org/officeDocument/2006/relationships/hyperlink" Target="https://014gc.sharepoint.com/sites/EA-AE/Enterprise%20Security%20Architecture%20ESA/Governance%20%26%20Architectural%20Consultation/Governance-Committees-WG%20Artefacts/EARB/EARB%20-%20Security%20Ranking(template%20%26%20past%20records)/AI-enabled%20Knowledge%20Management-Security%20Ranking.xlsx?web=1"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014gc.sharepoint.com/sites/EACollab/Shared%20Documents/Forms/AllItems.aspx?id=%2Fsites%2FEACollab%2FShared%20Documents%2FGeneral%2FEARB%20OA%20Eval%20Scoring%20%2D%20%C3%89val%20Score%20de%20AdO%20CEAI%2FESDC%2DEA%2DSAS%20%2D%20EA%20Score%20%2D%20GUIDE%2Epdf&amp;parent=%2Fsites%2FEACollab%2FShared%20Documents%2FGeneral%2FEARB%20OA%20Eval%20Scoring%20%2D%20%C3%89val%20Score%20de%20AdO%20CEAI"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014gc.sharepoint.com/:x:/r/sites/EACollab/Shared%20Documents/BDM%20AI-enabled%20Knowledge%20Management/Documentation/ESDC-CDOB%20-%20EARB%20Data%20Score%20-%20BDM%20AI-enabled%20Knowledge%20Management.xlsx?d=w08255ac6b72e41eea055ff4d78684eef&amp;csf=1&amp;web=1&amp;e=MExXcv"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014gc.sharepoint.com/sites/66251/Shared%20Documents/BDM%20Architecture%20Governance%20and%20Decisions/BDM%20@%20Enterprise%20Architecture%20Review%20Board/(AS%20PRESENTED%20AT%20EARB)%20Tab_6%20BDM%20Knowledge%20Management.pdf" TargetMode="External"/><Relationship Id="rId2" Type="http://schemas.openxmlformats.org/officeDocument/2006/relationships/hyperlink" Target="https://014gc.sharepoint.com/:w:/r/sites/66251/_layouts/15/Doc.aspx?sourcedoc=%7B1877DE5F-C4AC-4ED4-AAD4-18F9DC7DEDE3%7D&amp;file=D2.1.2.b-Sol%20Arch%20Component%20Gap%20%26%20Options%20Analysis%20Knowledge%20Mgmt%20v1.0.docx&amp;action=default&amp;mobileredirect=true" TargetMode="External"/><Relationship Id="rId1" Type="http://schemas.openxmlformats.org/officeDocument/2006/relationships/slideLayout" Target="../slideLayouts/slideLayout2.xml"/><Relationship Id="rId6" Type="http://schemas.openxmlformats.org/officeDocument/2006/relationships/hyperlink" Target="https://014gc.sharepoint.com/:p:/r/sites/KnowledgeManagementArchitectureWorkingGroup/_layouts/15/Doc.aspx?sourcedoc=%7B6C8A9141-4121-478A-A854-A581315CAAB9%7D&amp;file=Knowledge%20Management%20and%20AI%20Options%20Analysis%20Arch%20Review.pptx&amp;action=edit&amp;mobileredirect=true" TargetMode="External"/><Relationship Id="rId5" Type="http://schemas.openxmlformats.org/officeDocument/2006/relationships/hyperlink" Target="https://014gc.sharepoint.com/:p:/r/sites/66251/_layouts/15/Doc.aspx?sourcedoc=%7B917123F8-DBCF-43EC-A5F2-F82F64D5CEC3%7D&amp;file=Briefing%20Deck%20for%20SDH%20-%20KM.pptx&amp;action=edit&amp;mobileredirect=true" TargetMode="External"/><Relationship Id="rId4" Type="http://schemas.openxmlformats.org/officeDocument/2006/relationships/hyperlink" Target="https://014gc.sharepoint.com/sites/KnowledgeManagementArchitectureWorkingGroup/Shared%20Documents/KM%20Working%20Group/Final_D36-B%20Fit%20Gap%20Analysis%20Report%20for%20KM%20Strategic%20Solution_9Jun2022.pptx?web=1"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014gc.sharepoint.com/:p:/r/sites/KnowledgeManagementArchitectureWorkingGroup/Shared%20Documents/KM%20Working%20Group/Knowledge%20Management%20and%20AI%20Options%20Analysis%20Arch%20Review.pptx?d=w6c8a91414121478aa854a581315caab9&amp;csf=1&amp;web=1&amp;e=dtaOLa"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014gc.sharepoint.com/:p:/r/sites/KnowledgeManagementArchitectureWorkingGroup/Shared%20Documents/KM%20Working%20Group/Knowledge%20Management%20and%20AI%20Options%20Analysis%20Arch%20Review.pptx?d=w6c8a91414121478aa854a581315caab9&amp;csf=1&amp;web=1&amp;e=dtaOLa"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EFB2ADB5-51A7-4631-B2B9-2EE00EB9D175}"/>
              </a:ext>
            </a:extLst>
          </p:cNvPr>
          <p:cNvSpPr txBox="1"/>
          <p:nvPr/>
        </p:nvSpPr>
        <p:spPr>
          <a:xfrm>
            <a:off x="9779104" y="6677105"/>
            <a:ext cx="2412896" cy="184666"/>
          </a:xfrm>
          <a:prstGeom prst="rect">
            <a:avLst/>
          </a:prstGeom>
          <a:noFill/>
        </p:spPr>
        <p:txBody>
          <a:bodyPr wrap="square" lIns="91440" tIns="45720" rIns="91440" bIns="4572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CA" sz="600">
                <a:solidFill>
                  <a:srgbClr val="7F7F7F"/>
                </a:solidFill>
                <a:latin typeface="Arial"/>
                <a:ea typeface="Verdana"/>
                <a:cs typeface="Arial"/>
              </a:rPr>
              <a:t>Revised Template – May 2024</a:t>
            </a:r>
          </a:p>
        </p:txBody>
      </p:sp>
      <p:sp>
        <p:nvSpPr>
          <p:cNvPr id="6" name="Rectangle 5">
            <a:extLst>
              <a:ext uri="{FF2B5EF4-FFF2-40B4-BE49-F238E27FC236}">
                <a16:creationId xmlns:a16="http://schemas.microsoft.com/office/drawing/2014/main" id="{EE7B86CA-0E7A-44F2-B792-E86E252DE57C}"/>
              </a:ext>
            </a:extLst>
          </p:cNvPr>
          <p:cNvSpPr/>
          <p:nvPr/>
        </p:nvSpPr>
        <p:spPr>
          <a:xfrm>
            <a:off x="6170660" y="2014875"/>
            <a:ext cx="3806536" cy="282805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400" b="1">
                <a:solidFill>
                  <a:schemeClr val="tx1"/>
                </a:solidFill>
                <a:latin typeface="Arial"/>
                <a:ea typeface="Verdana"/>
                <a:cs typeface="Calibri"/>
              </a:rPr>
              <a:t>BDM AI-enabled Knowledge Management </a:t>
            </a:r>
            <a:r>
              <a:rPr lang="en-US" sz="2000" i="1">
                <a:solidFill>
                  <a:schemeClr val="tx1">
                    <a:lumMod val="50000"/>
                    <a:lumOff val="50000"/>
                  </a:schemeClr>
                </a:solidFill>
                <a:latin typeface="Arial"/>
                <a:ea typeface="Verdana"/>
                <a:cs typeface="Calibri"/>
              </a:rPr>
              <a:t>Architecture </a:t>
            </a:r>
            <a:r>
              <a:rPr lang="en-US" sz="2000" i="1">
                <a:solidFill>
                  <a:schemeClr val="bg1">
                    <a:lumMod val="50000"/>
                  </a:schemeClr>
                </a:solidFill>
                <a:latin typeface="Arial"/>
                <a:ea typeface="Verdana"/>
                <a:cs typeface="Calibri"/>
              </a:rPr>
              <a:t>Review</a:t>
            </a:r>
          </a:p>
        </p:txBody>
      </p:sp>
      <p:graphicFrame>
        <p:nvGraphicFramePr>
          <p:cNvPr id="16" name="Table 15">
            <a:extLst>
              <a:ext uri="{FF2B5EF4-FFF2-40B4-BE49-F238E27FC236}">
                <a16:creationId xmlns:a16="http://schemas.microsoft.com/office/drawing/2014/main" id="{88C2B56C-C5CE-4CE2-A9B0-0EFCF60532A4}"/>
              </a:ext>
            </a:extLst>
          </p:cNvPr>
          <p:cNvGraphicFramePr>
            <a:graphicFrameLocks noGrp="1"/>
          </p:cNvGraphicFramePr>
          <p:nvPr>
            <p:extLst>
              <p:ext uri="{D42A27DB-BD31-4B8C-83A1-F6EECF244321}">
                <p14:modId xmlns:p14="http://schemas.microsoft.com/office/powerpoint/2010/main" val="2720971870"/>
              </p:ext>
            </p:extLst>
          </p:nvPr>
        </p:nvGraphicFramePr>
        <p:xfrm>
          <a:off x="5110595" y="5049028"/>
          <a:ext cx="5486400" cy="1223755"/>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382473560"/>
                    </a:ext>
                  </a:extLst>
                </a:gridCol>
                <a:gridCol w="1371600">
                  <a:extLst>
                    <a:ext uri="{9D8B030D-6E8A-4147-A177-3AD203B41FA5}">
                      <a16:colId xmlns:a16="http://schemas.microsoft.com/office/drawing/2014/main" val="2451642579"/>
                    </a:ext>
                  </a:extLst>
                </a:gridCol>
                <a:gridCol w="1371600">
                  <a:extLst>
                    <a:ext uri="{9D8B030D-6E8A-4147-A177-3AD203B41FA5}">
                      <a16:colId xmlns:a16="http://schemas.microsoft.com/office/drawing/2014/main" val="4103784939"/>
                    </a:ext>
                  </a:extLst>
                </a:gridCol>
                <a:gridCol w="1371600">
                  <a:extLst>
                    <a:ext uri="{9D8B030D-6E8A-4147-A177-3AD203B41FA5}">
                      <a16:colId xmlns:a16="http://schemas.microsoft.com/office/drawing/2014/main" val="853930152"/>
                    </a:ext>
                  </a:extLst>
                </a:gridCol>
              </a:tblGrid>
              <a:tr h="244751">
                <a:tc gridSpan="4">
                  <a:txBody>
                    <a:bodyPr/>
                    <a:lstStyle/>
                    <a:p>
                      <a:pPr algn="ctr" rtl="0" fontAlgn="base">
                        <a:lnSpc>
                          <a:spcPct val="100000"/>
                        </a:lnSpc>
                      </a:pPr>
                      <a:r>
                        <a:rPr lang="en-US" sz="800" b="0">
                          <a:solidFill>
                            <a:schemeClr val="tx1"/>
                          </a:solidFill>
                          <a:effectLst/>
                          <a:latin typeface="Arial"/>
                        </a:rPr>
                        <a:t>Project &lt;project number</a:t>
                      </a:r>
                      <a:r>
                        <a:rPr lang="en-US" sz="800" b="0" baseline="0">
                          <a:solidFill>
                            <a:schemeClr val="tx1"/>
                          </a:solidFill>
                          <a:effectLst/>
                          <a:latin typeface="Arial"/>
                        </a:rPr>
                        <a:t>&gt;</a:t>
                      </a:r>
                      <a:r>
                        <a:rPr lang="en-US" sz="800" b="0">
                          <a:solidFill>
                            <a:schemeClr val="tx1"/>
                          </a:solidFill>
                          <a:effectLst/>
                          <a:latin typeface="Arial"/>
                        </a:rPr>
                        <a:t> is being presented to the Enterprise Architecture Review Board​</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extLst>
                  <a:ext uri="{0D108BD9-81ED-4DB2-BD59-A6C34878D82A}">
                    <a16:rowId xmlns:a16="http://schemas.microsoft.com/office/drawing/2014/main" val="3189043160"/>
                  </a:ext>
                </a:extLst>
              </a:tr>
              <a:tr h="244751">
                <a:tc gridSpan="4">
                  <a:txBody>
                    <a:bodyPr/>
                    <a:lstStyle/>
                    <a:p>
                      <a:pPr algn="ctr" rtl="0" fontAlgn="base">
                        <a:lnSpc>
                          <a:spcPct val="100000"/>
                        </a:lnSpc>
                      </a:pPr>
                      <a:r>
                        <a:rPr lang="en-US" sz="800" b="1">
                          <a:solidFill>
                            <a:schemeClr val="tx1"/>
                          </a:solidFill>
                          <a:effectLst/>
                          <a:latin typeface="Arial"/>
                        </a:rPr>
                        <a:t>June 3,</a:t>
                      </a:r>
                      <a:r>
                        <a:rPr lang="en-US" sz="800" b="1" baseline="0">
                          <a:solidFill>
                            <a:schemeClr val="tx1"/>
                          </a:solidFill>
                          <a:effectLst/>
                          <a:latin typeface="Arial"/>
                        </a:rPr>
                        <a:t> 2025</a:t>
                      </a:r>
                      <a:endParaRPr lang="en-US" sz="800" b="1">
                        <a:solidFill>
                          <a:schemeClr val="tx1"/>
                        </a:solidFill>
                        <a:effectLst/>
                        <a:latin typeface="Aria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extLst>
                  <a:ext uri="{0D108BD9-81ED-4DB2-BD59-A6C34878D82A}">
                    <a16:rowId xmlns:a16="http://schemas.microsoft.com/office/drawing/2014/main" val="3186674309"/>
                  </a:ext>
                </a:extLst>
              </a:tr>
              <a:tr h="244751">
                <a:tc gridSpan="4">
                  <a:txBody>
                    <a:bodyPr/>
                    <a:lstStyle/>
                    <a:p>
                      <a:pPr rtl="0" fontAlgn="auto">
                        <a:lnSpc>
                          <a:spcPct val="100000"/>
                        </a:lnSpc>
                      </a:pPr>
                      <a:r>
                        <a:rPr lang="en-US" sz="800">
                          <a:solidFill>
                            <a:schemeClr val="tx1"/>
                          </a:solidFill>
                          <a:effectLst/>
                          <a:latin typeface="Arial"/>
                        </a:rPr>
                        <a:t>​</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extLst>
                  <a:ext uri="{0D108BD9-81ED-4DB2-BD59-A6C34878D82A}">
                    <a16:rowId xmlns:a16="http://schemas.microsoft.com/office/drawing/2014/main" val="1297994953"/>
                  </a:ext>
                </a:extLst>
              </a:tr>
              <a:tr h="244751">
                <a:tc>
                  <a:txBody>
                    <a:bodyPr/>
                    <a:lstStyle/>
                    <a:p>
                      <a:pPr rtl="0" fontAlgn="base">
                        <a:lnSpc>
                          <a:spcPct val="100000"/>
                        </a:lnSpc>
                      </a:pPr>
                      <a:r>
                        <a:rPr lang="en-US" sz="800">
                          <a:solidFill>
                            <a:schemeClr val="tx1"/>
                          </a:solidFill>
                          <a:effectLst/>
                          <a:latin typeface="Arial"/>
                        </a:rPr>
                        <a:t>Client Presenter: ​</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a:txBody>
                    <a:bodyPr/>
                    <a:lstStyle/>
                    <a:p>
                      <a:pPr rtl="0" fontAlgn="base">
                        <a:lnSpc>
                          <a:spcPct val="100000"/>
                        </a:lnSpc>
                      </a:pPr>
                      <a:r>
                        <a:rPr lang="en-US" sz="800">
                          <a:solidFill>
                            <a:schemeClr val="tx1"/>
                          </a:solidFill>
                          <a:effectLst/>
                          <a:latin typeface="Arial"/>
                        </a:rPr>
                        <a:t>Jonathan Andrews</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a:txBody>
                    <a:bodyPr/>
                    <a:lstStyle/>
                    <a:p>
                      <a:pPr rtl="0" fontAlgn="base">
                        <a:lnSpc>
                          <a:spcPct val="100000"/>
                        </a:lnSpc>
                      </a:pPr>
                      <a:r>
                        <a:rPr lang="en-US" sz="800">
                          <a:solidFill>
                            <a:schemeClr val="tx1"/>
                          </a:solidFill>
                          <a:effectLst/>
                          <a:latin typeface="Arial"/>
                        </a:rPr>
                        <a:t>Branch:​</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a:txBody>
                    <a:bodyPr/>
                    <a:lstStyle/>
                    <a:p>
                      <a:pPr rtl="0" fontAlgn="base">
                        <a:lnSpc>
                          <a:spcPct val="100000"/>
                        </a:lnSpc>
                      </a:pPr>
                      <a:r>
                        <a:rPr lang="en-US" sz="800">
                          <a:solidFill>
                            <a:schemeClr val="tx1"/>
                          </a:solidFill>
                          <a:effectLst/>
                          <a:latin typeface="Arial"/>
                        </a:rPr>
                        <a:t>BDM​ / IITB</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extLst>
                  <a:ext uri="{0D108BD9-81ED-4DB2-BD59-A6C34878D82A}">
                    <a16:rowId xmlns:a16="http://schemas.microsoft.com/office/drawing/2014/main" val="1846011234"/>
                  </a:ext>
                </a:extLst>
              </a:tr>
              <a:tr h="244751">
                <a:tc>
                  <a:txBody>
                    <a:bodyPr/>
                    <a:lstStyle/>
                    <a:p>
                      <a:pPr rtl="0" fontAlgn="base">
                        <a:lnSpc>
                          <a:spcPct val="100000"/>
                        </a:lnSpc>
                      </a:pPr>
                      <a:r>
                        <a:rPr lang="en-US" sz="800">
                          <a:solidFill>
                            <a:schemeClr val="tx1"/>
                          </a:solidFill>
                          <a:effectLst/>
                          <a:latin typeface="Arial"/>
                        </a:rPr>
                        <a:t>Lead Architect:​</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a:txBody>
                    <a:bodyPr/>
                    <a:lstStyle/>
                    <a:p>
                      <a:pPr rtl="0" fontAlgn="base">
                        <a:lnSpc>
                          <a:spcPct val="100000"/>
                        </a:lnSpc>
                      </a:pPr>
                      <a:r>
                        <a:rPr lang="en-US" sz="800">
                          <a:solidFill>
                            <a:schemeClr val="tx1"/>
                          </a:solidFill>
                          <a:effectLst/>
                          <a:latin typeface="Arial"/>
                        </a:rPr>
                        <a:t>Daniel Shen</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a:txBody>
                    <a:bodyPr/>
                    <a:lstStyle/>
                    <a:p>
                      <a:pPr rtl="0" fontAlgn="base">
                        <a:lnSpc>
                          <a:spcPct val="100000"/>
                        </a:lnSpc>
                      </a:pPr>
                      <a:r>
                        <a:rPr lang="en-US" sz="800">
                          <a:solidFill>
                            <a:schemeClr val="tx1"/>
                          </a:solidFill>
                          <a:effectLst/>
                          <a:latin typeface="Arial"/>
                        </a:rPr>
                        <a:t>Responsible Director:​</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tc>
                  <a:txBody>
                    <a:bodyPr/>
                    <a:lstStyle/>
                    <a:p>
                      <a:pPr rtl="0" fontAlgn="base">
                        <a:lnSpc>
                          <a:spcPct val="100000"/>
                        </a:lnSpc>
                      </a:pPr>
                      <a:r>
                        <a:rPr lang="en-US" sz="800">
                          <a:solidFill>
                            <a:schemeClr val="tx1"/>
                          </a:solidFill>
                          <a:effectLst/>
                          <a:latin typeface="Arial"/>
                        </a:rPr>
                        <a:t>Vesna Petrovic​ </a:t>
                      </a:r>
                    </a:p>
                  </a:txBody>
                  <a:tcPr anchor="ctr">
                    <a:lnL w="12700">
                      <a:solidFill>
                        <a:schemeClr val="bg1"/>
                      </a:solidFill>
                    </a:lnL>
                    <a:lnR w="12700">
                      <a:solidFill>
                        <a:schemeClr val="bg1"/>
                      </a:solidFill>
                    </a:lnR>
                    <a:lnT w="12700">
                      <a:solidFill>
                        <a:schemeClr val="bg1"/>
                      </a:solidFill>
                    </a:lnT>
                    <a:lnB w="12700">
                      <a:solidFill>
                        <a:schemeClr val="bg1"/>
                      </a:solidFill>
                    </a:lnB>
                    <a:solidFill>
                      <a:schemeClr val="bg1"/>
                    </a:solidFill>
                  </a:tcPr>
                </a:tc>
                <a:extLst>
                  <a:ext uri="{0D108BD9-81ED-4DB2-BD59-A6C34878D82A}">
                    <a16:rowId xmlns:a16="http://schemas.microsoft.com/office/drawing/2014/main" val="835319309"/>
                  </a:ext>
                </a:extLst>
              </a:tr>
            </a:tbl>
          </a:graphicData>
        </a:graphic>
      </p:graphicFrame>
    </p:spTree>
    <p:extLst>
      <p:ext uri="{BB962C8B-B14F-4D97-AF65-F5344CB8AC3E}">
        <p14:creationId xmlns:p14="http://schemas.microsoft.com/office/powerpoint/2010/main" val="231280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2</a:t>
            </a:fld>
            <a:endParaRPr lang="en-US" sz="800">
              <a:solidFill>
                <a:schemeClr val="bg1">
                  <a:lumMod val="50000"/>
                </a:schemeClr>
              </a:solidFill>
              <a:latin typeface="Arial"/>
              <a:ea typeface="Verdana"/>
              <a:cs typeface="Arial"/>
            </a:endParaRPr>
          </a:p>
        </p:txBody>
      </p:sp>
      <p:sp>
        <p:nvSpPr>
          <p:cNvPr id="7" name="Rectangle 6"/>
          <p:cNvSpPr/>
          <p:nvPr/>
        </p:nvSpPr>
        <p:spPr>
          <a:xfrm>
            <a:off x="607817" y="932253"/>
            <a:ext cx="11323643" cy="5275338"/>
          </a:xfrm>
          <a:prstGeom prst="rect">
            <a:avLst/>
          </a:prstGeom>
          <a:noFill/>
          <a:ln w="19050">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lIns="91440" tIns="45720" rIns="91440" bIns="45720" rtlCol="0" anchor="t"/>
          <a:lstStyle/>
          <a:p>
            <a:endParaRPr lang="en-CA" sz="2000">
              <a:solidFill>
                <a:schemeClr val="tx1"/>
              </a:solidFill>
              <a:latin typeface="Arial"/>
              <a:ea typeface="Verdana"/>
              <a:cs typeface="Arial"/>
            </a:endParaRPr>
          </a:p>
          <a:p>
            <a:endParaRPr lang="en-CA" sz="2000">
              <a:solidFill>
                <a:schemeClr val="tx1"/>
              </a:solidFill>
              <a:latin typeface="Arial"/>
              <a:ea typeface="Verdana"/>
              <a:cs typeface="Arial"/>
            </a:endParaRPr>
          </a:p>
          <a:p>
            <a:r>
              <a:rPr lang="en-US" sz="2000" dirty="0">
                <a:solidFill>
                  <a:schemeClr val="tx1"/>
                </a:solidFill>
                <a:latin typeface="Arial"/>
                <a:ea typeface="Verdana"/>
                <a:cs typeface="Arial"/>
              </a:rPr>
              <a:t>Seeking endorsement of an architectural direction to leverage existing enterprise technologies -  Microsoft SharePoint Online, Power Automate, and ESDC approved AI services - for the implementation of the BDM Knowledge Management solution.</a:t>
            </a:r>
          </a:p>
          <a:p>
            <a:endParaRPr lang="en-US" sz="2000">
              <a:solidFill>
                <a:schemeClr val="tx1"/>
              </a:solidFill>
              <a:latin typeface="Arial"/>
              <a:ea typeface="Verdana"/>
              <a:cs typeface="Arial"/>
            </a:endParaRPr>
          </a:p>
          <a:p>
            <a:r>
              <a:rPr lang="en-US" sz="2000" dirty="0">
                <a:solidFill>
                  <a:schemeClr val="tx1"/>
                </a:solidFill>
                <a:latin typeface="Arial"/>
                <a:ea typeface="Verdana"/>
                <a:cs typeface="Arial"/>
              </a:rPr>
              <a:t>The project is committed to providing an update on the choice of AI service prior to implementation.</a:t>
            </a:r>
            <a:endParaRPr lang="en-US" dirty="0">
              <a:solidFill>
                <a:schemeClr val="tx1"/>
              </a:solidFill>
            </a:endParaRPr>
          </a:p>
          <a:p>
            <a:endParaRPr lang="en-US" sz="2000">
              <a:solidFill>
                <a:schemeClr val="tx1"/>
              </a:solidFill>
              <a:latin typeface="Arial"/>
              <a:ea typeface="Verdana"/>
              <a:cs typeface="Arial"/>
            </a:endParaRPr>
          </a:p>
          <a:p>
            <a:r>
              <a:rPr lang="en-CA" sz="2000">
                <a:solidFill>
                  <a:schemeClr val="tx1"/>
                </a:solidFill>
                <a:latin typeface="Arial"/>
                <a:ea typeface="Verdana"/>
                <a:cs typeface="Arial"/>
              </a:rPr>
              <a:t>It is recommended that this knowledge management solution be positioned as a flexible repository that can be leveraged by future projects to integrate their KM solutions, where applicable.</a:t>
            </a:r>
            <a:endParaRPr lang="en-CA">
              <a:solidFill>
                <a:schemeClr val="tx1"/>
              </a:solidFill>
            </a:endParaRPr>
          </a:p>
          <a:p>
            <a:endParaRPr lang="en-CA" sz="2000">
              <a:solidFill>
                <a:schemeClr val="tx1"/>
              </a:solidFill>
              <a:latin typeface="Arial"/>
              <a:ea typeface="Verdana" panose="020B0604030504040204" pitchFamily="34" charset="0"/>
              <a:cs typeface="Arial"/>
            </a:endParaRPr>
          </a:p>
          <a:p>
            <a:endParaRPr lang="en-CA" sz="2800">
              <a:solidFill>
                <a:schemeClr val="tx1"/>
              </a:solidFill>
              <a:latin typeface="Arial"/>
              <a:ea typeface="Verdana" panose="020B0604030504040204" pitchFamily="34" charset="0"/>
              <a:cs typeface="Arial"/>
            </a:endParaRPr>
          </a:p>
          <a:p>
            <a:endParaRPr lang="en-CA">
              <a:solidFill>
                <a:schemeClr val="tx1"/>
              </a:solidFill>
              <a:latin typeface="Arial"/>
              <a:ea typeface="Verdana" panose="020B0604030504040204" pitchFamily="34" charset="0"/>
              <a:cs typeface="Arial"/>
            </a:endParaRPr>
          </a:p>
          <a:p>
            <a:endParaRPr lang="en-CA">
              <a:solidFill>
                <a:schemeClr val="tx1"/>
              </a:solidFill>
              <a:latin typeface="Arial"/>
              <a:ea typeface="Verdana"/>
              <a:cs typeface="Arial"/>
            </a:endParaRPr>
          </a:p>
          <a:p>
            <a:endParaRPr lang="en-CA">
              <a:solidFill>
                <a:schemeClr val="tx1"/>
              </a:solidFill>
              <a:latin typeface="Arial"/>
              <a:ea typeface="Verdana"/>
              <a:cs typeface="Arial"/>
            </a:endParaRPr>
          </a:p>
          <a:p>
            <a:r>
              <a:rPr lang="en-CA" sz="1600" dirty="0">
                <a:solidFill>
                  <a:schemeClr val="tx1"/>
                </a:solidFill>
                <a:latin typeface="Arial"/>
                <a:ea typeface="Verdana"/>
                <a:cs typeface="Arial"/>
              </a:rPr>
              <a:t>Previous decision as per the </a:t>
            </a:r>
            <a:r>
              <a:rPr lang="en-US" sz="1600" dirty="0">
                <a:solidFill>
                  <a:srgbClr val="FF0000"/>
                </a:solidFill>
                <a:latin typeface="Arial"/>
                <a:ea typeface="Verdana"/>
                <a:cs typeface="Calibri"/>
                <a:hlinkClick r:id="rId3"/>
              </a:rPr>
              <a:t>Previous BDM KM deck </a:t>
            </a:r>
            <a:r>
              <a:rPr lang="en-CA" sz="1600" dirty="0">
                <a:solidFill>
                  <a:srgbClr val="FF0000"/>
                </a:solidFill>
                <a:latin typeface="Arial"/>
                <a:ea typeface="Verdana"/>
                <a:cs typeface="Calibri"/>
                <a:hlinkClick r:id="rId3"/>
              </a:rPr>
              <a:t>was presented to Enterprise Architecture Review Board March 30, 2021</a:t>
            </a:r>
            <a:r>
              <a:rPr lang="en-CA" sz="1600" dirty="0">
                <a:solidFill>
                  <a:schemeClr val="tx1"/>
                </a:solidFill>
                <a:latin typeface="Arial"/>
                <a:ea typeface="Verdana"/>
                <a:cs typeface="Calibri"/>
              </a:rPr>
              <a:t>: </a:t>
            </a:r>
            <a:r>
              <a:rPr lang="en-CA" sz="1600" dirty="0">
                <a:solidFill>
                  <a:schemeClr val="tx1"/>
                </a:solidFill>
                <a:latin typeface="Arial"/>
                <a:cs typeface="Arial"/>
              </a:rPr>
              <a:t>Approved direction to procure and implement an ancillary KM solution for BDM Tranche 1.</a:t>
            </a:r>
          </a:p>
          <a:p>
            <a:endParaRPr lang="en-US" sz="1050">
              <a:solidFill>
                <a:srgbClr val="FF0000"/>
              </a:solidFill>
              <a:latin typeface="Arial"/>
              <a:ea typeface="Verdana"/>
              <a:cs typeface="Calibri"/>
            </a:endParaRPr>
          </a:p>
        </p:txBody>
      </p:sp>
      <p:sp>
        <p:nvSpPr>
          <p:cNvPr id="5" name="TextBox 4"/>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The Ask</a:t>
            </a:r>
          </a:p>
        </p:txBody>
      </p:sp>
    </p:spTree>
    <p:extLst>
      <p:ext uri="{BB962C8B-B14F-4D97-AF65-F5344CB8AC3E}">
        <p14:creationId xmlns:p14="http://schemas.microsoft.com/office/powerpoint/2010/main" val="991780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04076332"/>
              </p:ext>
            </p:extLst>
          </p:nvPr>
        </p:nvGraphicFramePr>
        <p:xfrm>
          <a:off x="599185" y="603636"/>
          <a:ext cx="11133633" cy="6117840"/>
        </p:xfrm>
        <a:graphic>
          <a:graphicData uri="http://schemas.openxmlformats.org/drawingml/2006/table">
            <a:tbl>
              <a:tblPr firstRow="1" bandRow="1">
                <a:tableStyleId>{5C22544A-7EE6-4342-B048-85BDC9FD1C3A}</a:tableStyleId>
              </a:tblPr>
              <a:tblGrid>
                <a:gridCol w="5398865">
                  <a:extLst>
                    <a:ext uri="{9D8B030D-6E8A-4147-A177-3AD203B41FA5}">
                      <a16:colId xmlns:a16="http://schemas.microsoft.com/office/drawing/2014/main" val="230764179"/>
                    </a:ext>
                  </a:extLst>
                </a:gridCol>
                <a:gridCol w="124918">
                  <a:extLst>
                    <a:ext uri="{9D8B030D-6E8A-4147-A177-3AD203B41FA5}">
                      <a16:colId xmlns:a16="http://schemas.microsoft.com/office/drawing/2014/main" val="2029849091"/>
                    </a:ext>
                  </a:extLst>
                </a:gridCol>
                <a:gridCol w="5609850">
                  <a:extLst>
                    <a:ext uri="{9D8B030D-6E8A-4147-A177-3AD203B41FA5}">
                      <a16:colId xmlns:a16="http://schemas.microsoft.com/office/drawing/2014/main" val="2298617029"/>
                    </a:ext>
                  </a:extLst>
                </a:gridCol>
              </a:tblGrid>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solidFill>
                          <a:effectLst/>
                          <a:uLnTx/>
                          <a:uFillTx/>
                          <a:latin typeface="Arial"/>
                          <a:ea typeface="Verdana"/>
                          <a:cs typeface="Verdana" panose="020B0604030504040204" pitchFamily="34" charset="0"/>
                        </a:rPr>
                        <a:t>Initiative Description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3333"/>
                        </a:solidFill>
                        <a:effectLst/>
                        <a:uLnTx/>
                        <a:uFillTx/>
                        <a:latin typeface="Segoe UI"/>
                        <a:ea typeface="+mn-ea"/>
                        <a:cs typeface="+mn-cs"/>
                      </a:endParaRPr>
                    </a:p>
                    <a:p>
                      <a:pPr marL="0" marR="0" lvl="0" indent="0" algn="l">
                        <a:lnSpc>
                          <a:spcPct val="100000"/>
                        </a:lnSpc>
                        <a:spcBef>
                          <a:spcPts val="0"/>
                        </a:spcBef>
                        <a:spcAft>
                          <a:spcPts val="0"/>
                        </a:spcAft>
                        <a:buNone/>
                      </a:pPr>
                      <a:r>
                        <a:rPr kumimoji="0" lang="en-CA" sz="1000" b="0" i="0" u="none" strike="noStrike" kern="1200" cap="none" spc="0" normalizeH="0" baseline="0" noProof="0">
                          <a:ln>
                            <a:noFill/>
                          </a:ln>
                          <a:solidFill>
                            <a:prstClr val="black"/>
                          </a:solidFill>
                          <a:effectLst/>
                          <a:uLnTx/>
                          <a:uFillTx/>
                          <a:latin typeface="Arial"/>
                          <a:ea typeface="+mn-lt"/>
                          <a:cs typeface="Arial"/>
                        </a:rPr>
                        <a:t>BDM requires the capability to manage create, categorize, store, and share relevant and searchable program knowledge</a:t>
                      </a:r>
                      <a:r>
                        <a:rPr lang="en-CA" sz="1000" b="0" i="0" u="none" strike="noStrike" kern="1200" cap="none" spc="0" normalizeH="0" baseline="0" noProof="0">
                          <a:ln>
                            <a:noFill/>
                          </a:ln>
                          <a:solidFill>
                            <a:srgbClr val="000000"/>
                          </a:solidFill>
                          <a:effectLst/>
                          <a:uLnTx/>
                          <a:uFillTx/>
                          <a:latin typeface="Arial"/>
                        </a:rPr>
                        <a:t> (e.g. functional guidance, supporting employees in their daily work as part of the service delivery). </a:t>
                      </a:r>
                      <a:r>
                        <a:rPr lang="en-CA" sz="1000" b="0" i="0" u="none" strike="noStrike" kern="1200" cap="none" spc="0" normalizeH="0" baseline="0" noProof="0">
                          <a:ln>
                            <a:noFill/>
                          </a:ln>
                          <a:solidFill>
                            <a:prstClr val="black"/>
                          </a:solidFill>
                          <a:effectLst/>
                          <a:uLnTx/>
                          <a:uFillTx/>
                          <a:latin typeface="Arial"/>
                          <a:ea typeface="+mn-lt"/>
                          <a:cs typeface="Arial"/>
                        </a:rPr>
                        <a:t>The</a:t>
                      </a:r>
                      <a:r>
                        <a:rPr kumimoji="0" lang="en-CA" sz="1000" b="0" i="0" u="none" strike="noStrike" kern="1200" cap="none" spc="0" normalizeH="0" baseline="0" noProof="0">
                          <a:ln>
                            <a:noFill/>
                          </a:ln>
                          <a:solidFill>
                            <a:prstClr val="black"/>
                          </a:solidFill>
                          <a:effectLst/>
                          <a:uLnTx/>
                          <a:uFillTx/>
                          <a:latin typeface="Arial"/>
                          <a:ea typeface="+mn-lt"/>
                          <a:cs typeface="Arial"/>
                        </a:rPr>
                        <a:t> goal of</a:t>
                      </a:r>
                      <a:r>
                        <a:rPr lang="en-CA" sz="1000" b="0" i="0" u="none" strike="noStrike" kern="1200" cap="none" spc="0" normalizeH="0" baseline="0" noProof="0">
                          <a:ln>
                            <a:noFill/>
                          </a:ln>
                          <a:solidFill>
                            <a:prstClr val="black"/>
                          </a:solidFill>
                          <a:effectLst/>
                          <a:uLnTx/>
                          <a:uFillTx/>
                          <a:latin typeface="Arial"/>
                          <a:ea typeface="+mn-lt"/>
                          <a:cs typeface="Arial"/>
                        </a:rPr>
                        <a:t> </a:t>
                      </a:r>
                      <a:r>
                        <a:rPr kumimoji="0" lang="en-CA" sz="1000" b="0" i="0" u="none" strike="noStrike" kern="1200" cap="none" spc="0" normalizeH="0" baseline="0" noProof="0">
                          <a:ln>
                            <a:noFill/>
                          </a:ln>
                          <a:solidFill>
                            <a:prstClr val="black"/>
                          </a:solidFill>
                          <a:effectLst/>
                          <a:uLnTx/>
                          <a:uFillTx/>
                          <a:latin typeface="Arial"/>
                          <a:ea typeface="+mn-lt"/>
                          <a:cs typeface="Arial"/>
                        </a:rPr>
                        <a:t>Knowledge Management (KM)</a:t>
                      </a:r>
                      <a:r>
                        <a:rPr lang="en-CA" sz="1000" b="0" i="0" u="none" strike="noStrike" kern="1200" cap="none" spc="0" normalizeH="0" baseline="0" noProof="0">
                          <a:ln>
                            <a:noFill/>
                          </a:ln>
                          <a:solidFill>
                            <a:prstClr val="black"/>
                          </a:solidFill>
                          <a:effectLst/>
                          <a:uLnTx/>
                          <a:uFillTx/>
                          <a:latin typeface="Arial"/>
                          <a:ea typeface="+mn-lt"/>
                          <a:cs typeface="Arial"/>
                        </a:rPr>
                        <a:t> </a:t>
                      </a:r>
                      <a:r>
                        <a:rPr lang="en-CA" sz="1000" b="0" i="0" u="none" strike="noStrike" kern="1200" cap="none" spc="0" normalizeH="0" baseline="0" noProof="0">
                          <a:ln>
                            <a:noFill/>
                          </a:ln>
                          <a:solidFill>
                            <a:srgbClr val="000000"/>
                          </a:solidFill>
                          <a:effectLst/>
                          <a:uLnTx/>
                          <a:uFillTx/>
                          <a:latin typeface="Arial"/>
                        </a:rPr>
                        <a:t>capability</a:t>
                      </a:r>
                      <a:r>
                        <a:rPr lang="en-CA" sz="1000" b="0" i="0" u="none" strike="noStrike" kern="1200" cap="none" spc="0" normalizeH="0" baseline="0" noProof="0">
                          <a:ln>
                            <a:noFill/>
                          </a:ln>
                          <a:solidFill>
                            <a:prstClr val="black"/>
                          </a:solidFill>
                          <a:effectLst/>
                          <a:uLnTx/>
                          <a:uFillTx/>
                          <a:latin typeface="Arial"/>
                          <a:ea typeface="+mn-lt"/>
                          <a:cs typeface="Arial"/>
                        </a:rPr>
                        <a:t> </a:t>
                      </a:r>
                      <a:r>
                        <a:rPr kumimoji="0" lang="en-CA" sz="1000" b="0" i="0" u="none" strike="noStrike" kern="1200" cap="none" spc="0" normalizeH="0" baseline="0" noProof="0">
                          <a:ln>
                            <a:noFill/>
                          </a:ln>
                          <a:solidFill>
                            <a:prstClr val="black"/>
                          </a:solidFill>
                          <a:effectLst/>
                          <a:uLnTx/>
                          <a:uFillTx/>
                          <a:latin typeface="Arial"/>
                          <a:ea typeface="+mn-lt"/>
                          <a:cs typeface="Arial"/>
                        </a:rPr>
                        <a:t>is to establish a harmonized, single source of truth for programme information. The KM solution will enable all ESDC </a:t>
                      </a:r>
                      <a:r>
                        <a:rPr lang="en-CA" sz="1000" b="0" i="0" u="none" strike="noStrike" kern="1200" cap="none" spc="0" normalizeH="0" baseline="0" noProof="0">
                          <a:ln>
                            <a:noFill/>
                          </a:ln>
                          <a:solidFill>
                            <a:prstClr val="black"/>
                          </a:solidFill>
                          <a:effectLst/>
                          <a:uLnTx/>
                          <a:uFillTx/>
                          <a:latin typeface="Arial"/>
                          <a:ea typeface="+mn-lt"/>
                          <a:cs typeface="Arial"/>
                        </a:rPr>
                        <a:t>Omnichannel Service</a:t>
                      </a:r>
                      <a:r>
                        <a:rPr kumimoji="0" lang="en-CA" sz="1000" b="0" i="0" u="none" strike="noStrike" kern="1200" cap="none" spc="0" normalizeH="0" baseline="0" noProof="0">
                          <a:ln>
                            <a:noFill/>
                          </a:ln>
                          <a:solidFill>
                            <a:prstClr val="black"/>
                          </a:solidFill>
                          <a:effectLst/>
                          <a:uLnTx/>
                          <a:uFillTx/>
                          <a:latin typeface="Arial"/>
                          <a:ea typeface="+mn-lt"/>
                          <a:cs typeface="Arial"/>
                        </a:rPr>
                        <a:t> Officers to have access to the same information across all channels and benefits so they can provide consistent messaging and advice to clients and put in place the necessary modern tools and processes for KM teams that manage the content. </a:t>
                      </a:r>
                      <a:endParaRPr kumimoji="0" lang="en-CA" sz="1000" b="0" i="0" u="none" strike="noStrike" kern="1200" cap="none" spc="0" normalizeH="0" baseline="0">
                        <a:ln>
                          <a:noFill/>
                        </a:ln>
                        <a:solidFill>
                          <a:prstClr val="black"/>
                        </a:solidFill>
                        <a:effectLst/>
                        <a:uLnTx/>
                        <a:uFillTx/>
                        <a:latin typeface="Arial"/>
                        <a:ea typeface="+mn-lt"/>
                        <a:cs typeface="Arial"/>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Arial"/>
                        <a:ea typeface="Verdana"/>
                        <a:cs typeface="Verdana" panose="020B0604030504040204" pitchFamily="34" charset="0"/>
                      </a:endParaRPr>
                    </a:p>
                  </a:txBody>
                  <a:tcPr marL="45720" marR="45720">
                    <a:lnL w="28575" cap="flat" cmpd="sng" algn="ctr">
                      <a:solidFill>
                        <a:schemeClr val="accent4"/>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Arial" panose="020B0604020202020204" pitchFamily="34" charset="0"/>
                        <a:buNone/>
                      </a:pPr>
                      <a:r>
                        <a:rPr lang="en-CA" sz="800">
                          <a:solidFill>
                            <a:schemeClr val="tx1"/>
                          </a:solidFill>
                          <a:latin typeface="Arial"/>
                        </a:rPr>
                        <a:t>Drivers</a:t>
                      </a:r>
                      <a:endParaRPr lang="en-CA" sz="800" b="0">
                        <a:solidFill>
                          <a:schemeClr val="tx1"/>
                        </a:solidFill>
                        <a:latin typeface="Arial"/>
                      </a:endParaRPr>
                    </a:p>
                    <a:p>
                      <a:pPr marL="171450" marR="0" indent="-171450" algn="l">
                        <a:lnSpc>
                          <a:spcPct val="100000"/>
                        </a:lnSpc>
                        <a:spcBef>
                          <a:spcPts val="0"/>
                        </a:spcBef>
                        <a:spcAft>
                          <a:spcPts val="0"/>
                        </a:spcAft>
                        <a:buClrTx/>
                        <a:buFont typeface="Arial" panose="020B0604020202020204" pitchFamily="34" charset="0"/>
                        <a:buChar char="•"/>
                      </a:pPr>
                      <a:r>
                        <a:rPr lang="en-CA" sz="1000" b="0" i="0" u="none" strike="noStrike" kern="1200" cap="none" spc="0" normalizeH="0" baseline="0" noProof="0">
                          <a:ln>
                            <a:noFill/>
                          </a:ln>
                          <a:solidFill>
                            <a:schemeClr val="tx1"/>
                          </a:solidFill>
                          <a:effectLst/>
                          <a:uLnTx/>
                          <a:uFillTx/>
                          <a:latin typeface="Arial"/>
                          <a:ea typeface="+mn-ea"/>
                          <a:cs typeface="+mn-cs"/>
                        </a:rPr>
                        <a:t>BDM Programme Blueprint Version 3.0</a:t>
                      </a:r>
                    </a:p>
                    <a:p>
                      <a:pPr marL="171450" marR="0" lvl="0" indent="-171450" algn="l">
                        <a:lnSpc>
                          <a:spcPct val="100000"/>
                        </a:lnSpc>
                        <a:spcBef>
                          <a:spcPts val="0"/>
                        </a:spcBef>
                        <a:spcAft>
                          <a:spcPts val="0"/>
                        </a:spcAft>
                        <a:buClrTx/>
                        <a:buFont typeface="Arial" panose="020B0604020202020204" pitchFamily="34" charset="0"/>
                        <a:buChar char="•"/>
                      </a:pPr>
                      <a:r>
                        <a:rPr lang="en-CA" sz="1000" b="0" i="0" u="none" strike="noStrike" kern="1200" cap="none" spc="0" normalizeH="0" baseline="0" noProof="0">
                          <a:ln>
                            <a:noFill/>
                          </a:ln>
                          <a:solidFill>
                            <a:schemeClr val="tx1"/>
                          </a:solidFill>
                          <a:effectLst/>
                          <a:uLnTx/>
                          <a:uFillTx/>
                          <a:latin typeface="Arial"/>
                          <a:ea typeface="+mn-ea"/>
                          <a:cs typeface="+mn-cs"/>
                        </a:rPr>
                        <a:t>BDM Intergrated Roadmap Version 3.0</a:t>
                      </a:r>
                    </a:p>
                    <a:p>
                      <a:pPr marL="171450" marR="0" lvl="0" indent="-171450" algn="l">
                        <a:lnSpc>
                          <a:spcPct val="100000"/>
                        </a:lnSpc>
                        <a:spcBef>
                          <a:spcPts val="0"/>
                        </a:spcBef>
                        <a:spcAft>
                          <a:spcPts val="0"/>
                        </a:spcAft>
                        <a:buClrTx/>
                        <a:buFont typeface="Arial" panose="020B0604020202020204" pitchFamily="34" charset="0"/>
                        <a:buChar char="•"/>
                      </a:pPr>
                      <a:r>
                        <a:rPr lang="en-CA" sz="1000" b="0" i="0" u="none" strike="noStrike" kern="1200" cap="none" spc="0" normalizeH="0" baseline="0" noProof="0">
                          <a:ln>
                            <a:noFill/>
                          </a:ln>
                          <a:solidFill>
                            <a:schemeClr val="tx1"/>
                          </a:solidFill>
                          <a:effectLst/>
                          <a:uLnTx/>
                          <a:uFillTx/>
                          <a:latin typeface="Arial"/>
                          <a:ea typeface="+mn-ea"/>
                          <a:cs typeface="+mn-cs"/>
                        </a:rPr>
                        <a:t>BDM Projects Dossier 2.0</a:t>
                      </a:r>
                    </a:p>
                    <a:p>
                      <a:pPr marL="171450" marR="0" lvl="0" indent="-171450" algn="l">
                        <a:lnSpc>
                          <a:spcPct val="100000"/>
                        </a:lnSpc>
                        <a:spcBef>
                          <a:spcPts val="0"/>
                        </a:spcBef>
                        <a:spcAft>
                          <a:spcPts val="0"/>
                        </a:spcAft>
                        <a:buClrTx/>
                        <a:buFont typeface="Arial" panose="020B0604020202020204" pitchFamily="34" charset="0"/>
                        <a:buChar char="•"/>
                      </a:pPr>
                      <a:r>
                        <a:rPr lang="en-US" sz="1000" b="0" i="0" u="none" strike="noStrike" kern="1200" cap="none" spc="0" normalizeH="0" baseline="0" noProof="0">
                          <a:ln>
                            <a:noFill/>
                          </a:ln>
                          <a:solidFill>
                            <a:schemeClr val="tx1"/>
                          </a:solidFill>
                          <a:effectLst/>
                          <a:uLnTx/>
                          <a:uFillTx/>
                          <a:latin typeface="Arial"/>
                          <a:ea typeface="+mn-ea"/>
                          <a:cs typeface="+mn-cs"/>
                        </a:rPr>
                        <a:t>Cúram SPM or any other KM solution in the Department do not have an adequate capabilities to meet the BDM long term vision; </a:t>
                      </a:r>
                      <a:endParaRPr lang="en-US">
                        <a:solidFill>
                          <a:schemeClr val="tx1"/>
                        </a:solidFill>
                      </a:endParaRPr>
                    </a:p>
                    <a:p>
                      <a:pPr marL="171450" marR="0" lvl="0" indent="-171450" algn="l">
                        <a:lnSpc>
                          <a:spcPct val="100000"/>
                        </a:lnSpc>
                        <a:spcBef>
                          <a:spcPts val="0"/>
                        </a:spcBef>
                        <a:spcAft>
                          <a:spcPts val="0"/>
                        </a:spcAft>
                        <a:buClrTx/>
                        <a:buFont typeface="Arial" panose="020B0604020202020204" pitchFamily="34" charset="0"/>
                        <a:buChar char="•"/>
                      </a:pPr>
                      <a:r>
                        <a:rPr lang="en-CA" sz="1000" b="0" i="0" u="none" strike="noStrike" kern="1200" cap="none" spc="0" normalizeH="0" baseline="0" noProof="0">
                          <a:ln>
                            <a:noFill/>
                          </a:ln>
                          <a:solidFill>
                            <a:schemeClr val="tx1"/>
                          </a:solidFill>
                          <a:effectLst/>
                          <a:uLnTx/>
                          <a:uFillTx/>
                          <a:latin typeface="Arial"/>
                          <a:ea typeface="+mn-ea"/>
                          <a:cs typeface="+mn-cs"/>
                        </a:rPr>
                        <a:t>Overcome current challenges due to variance and overlapping of information in multiple reference tools can lead to differences in interpretation which can lead to our clients receiving different advice;</a:t>
                      </a:r>
                      <a:endParaRPr lang="en-US" sz="1000" b="0" i="0" u="none" strike="noStrike" kern="1200" cap="none" spc="0" normalizeH="0" baseline="0" noProof="0">
                        <a:ln>
                          <a:noFill/>
                        </a:ln>
                        <a:solidFill>
                          <a:schemeClr val="tx1"/>
                        </a:solidFill>
                        <a:effectLst/>
                        <a:uLnTx/>
                        <a:uFillTx/>
                        <a:latin typeface="Arial"/>
                        <a:ea typeface="+mn-ea"/>
                        <a:cs typeface="+mn-cs"/>
                      </a:endParaRPr>
                    </a:p>
                    <a:p>
                      <a:pPr marL="171450" marR="0" lvl="0" indent="-171450" algn="l">
                        <a:lnSpc>
                          <a:spcPct val="100000"/>
                        </a:lnSpc>
                        <a:spcBef>
                          <a:spcPts val="0"/>
                        </a:spcBef>
                        <a:spcAft>
                          <a:spcPts val="0"/>
                        </a:spcAft>
                        <a:buClrTx/>
                        <a:buFont typeface="Arial" panose="020B0604020202020204" pitchFamily="34" charset="0"/>
                        <a:buChar char="•"/>
                      </a:pPr>
                      <a:r>
                        <a:rPr lang="en-CA" sz="1000" b="0" i="0" u="none" strike="noStrike" kern="1200" cap="none" spc="0" normalizeH="0" baseline="0" noProof="0">
                          <a:ln>
                            <a:noFill/>
                          </a:ln>
                          <a:solidFill>
                            <a:schemeClr val="tx1"/>
                          </a:solidFill>
                          <a:effectLst/>
                          <a:uLnTx/>
                          <a:uFillTx/>
                          <a:latin typeface="Arial"/>
                          <a:ea typeface="+mn-ea"/>
                          <a:cs typeface="+mn-cs"/>
                        </a:rPr>
                        <a:t>Lack of central repository for functional guidance articles for BDM Programs;</a:t>
                      </a:r>
                    </a:p>
                    <a:p>
                      <a:pPr marL="171450" marR="0" lvl="0" indent="-171450" algn="l">
                        <a:lnSpc>
                          <a:spcPct val="100000"/>
                        </a:lnSpc>
                        <a:spcBef>
                          <a:spcPts val="0"/>
                        </a:spcBef>
                        <a:spcAft>
                          <a:spcPts val="0"/>
                        </a:spcAft>
                        <a:buClrTx/>
                        <a:buFont typeface="Arial" panose="020B0604020202020204" pitchFamily="34" charset="0"/>
                        <a:buChar char="•"/>
                      </a:pPr>
                      <a:r>
                        <a:rPr lang="en-CA" sz="1000" b="0" i="0" u="none" strike="noStrike" kern="1200" cap="none" spc="0" normalizeH="0" baseline="0" noProof="0">
                          <a:ln>
                            <a:noFill/>
                          </a:ln>
                          <a:solidFill>
                            <a:schemeClr val="tx1"/>
                          </a:solidFill>
                          <a:effectLst/>
                          <a:uLnTx/>
                          <a:uFillTx/>
                          <a:latin typeface="Arial"/>
                          <a:ea typeface="+mn-ea"/>
                          <a:cs typeface="+mn-cs"/>
                        </a:rPr>
                        <a:t>Support a continuous learning organization and provide information to clients;</a:t>
                      </a:r>
                      <a:endParaRPr lang="en-CA" sz="1000" b="0" i="0" u="none" strike="noStrike" kern="1200" cap="none" spc="0" normalizeH="0" baseline="0">
                        <a:ln>
                          <a:noFill/>
                        </a:ln>
                        <a:solidFill>
                          <a:schemeClr val="tx1"/>
                        </a:solidFill>
                        <a:effectLst/>
                        <a:uLnTx/>
                        <a:uFillTx/>
                        <a:latin typeface="Arial"/>
                        <a:ea typeface="+mn-ea"/>
                        <a:cs typeface="+mn-cs"/>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052360833"/>
                  </a:ext>
                </a:extLst>
              </a:tr>
              <a:tr h="3205880">
                <a:tc>
                  <a:txBody>
                    <a:bodyPr/>
                    <a:lstStyle/>
                    <a:p>
                      <a:r>
                        <a:rPr lang="en-CA" sz="800" b="1">
                          <a:solidFill>
                            <a:schemeClr val="tx1"/>
                          </a:solidFill>
                          <a:latin typeface="Arial"/>
                        </a:rPr>
                        <a:t>Key Deliverables and Timelines</a:t>
                      </a:r>
                    </a:p>
                    <a:p>
                      <a:endParaRPr lang="en-CA" sz="800">
                        <a:solidFill>
                          <a:schemeClr val="tx1"/>
                        </a:solidFill>
                        <a:latin typeface="Arial"/>
                      </a:endParaRPr>
                    </a:p>
                    <a:p>
                      <a:pPr marL="171450" marR="0" lvl="0" indent="-171450" algn="l">
                        <a:lnSpc>
                          <a:spcPct val="100000"/>
                        </a:lnSpc>
                        <a:spcBef>
                          <a:spcPct val="0"/>
                        </a:spcBef>
                        <a:spcAft>
                          <a:spcPts val="0"/>
                        </a:spcAft>
                        <a:buFont typeface="Arial"/>
                        <a:buChar char="•"/>
                      </a:pPr>
                      <a:r>
                        <a:rPr lang="en-US" sz="1000" b="0" i="0" u="none" strike="noStrike" kern="1200" cap="none" spc="0" normalizeH="0" baseline="0" noProof="0">
                          <a:ln>
                            <a:noFill/>
                          </a:ln>
                          <a:solidFill>
                            <a:prstClr val="black"/>
                          </a:solidFill>
                          <a:effectLst/>
                          <a:uLnTx/>
                          <a:uFillTx/>
                          <a:latin typeface="Arial"/>
                          <a:ea typeface="+mn-lt"/>
                          <a:cs typeface="Arial"/>
                        </a:rPr>
                        <a:t>EARB KM Presentation - BDM</a:t>
                      </a:r>
                      <a:r>
                        <a:rPr kumimoji="0" lang="en-US" sz="1000" b="0" i="0" u="none" strike="noStrike" kern="1200" cap="none" spc="0" normalizeH="0" baseline="0" noProof="0">
                          <a:ln>
                            <a:noFill/>
                          </a:ln>
                          <a:solidFill>
                            <a:prstClr val="black"/>
                          </a:solidFill>
                          <a:effectLst/>
                          <a:uLnTx/>
                          <a:uFillTx/>
                          <a:latin typeface="Arial"/>
                          <a:ea typeface="+mn-lt"/>
                          <a:cs typeface="Arial"/>
                        </a:rPr>
                        <a:t> </a:t>
                      </a:r>
                      <a:r>
                        <a:rPr lang="en-US" sz="1000" b="0" i="0" u="none" strike="noStrike" kern="1200" cap="none" spc="0" normalizeH="0" baseline="0" noProof="0">
                          <a:ln>
                            <a:noFill/>
                          </a:ln>
                          <a:solidFill>
                            <a:prstClr val="black"/>
                          </a:solidFill>
                          <a:effectLst/>
                          <a:uLnTx/>
                          <a:uFillTx/>
                          <a:latin typeface="Arial"/>
                          <a:ea typeface="+mn-lt"/>
                          <a:cs typeface="Arial"/>
                        </a:rPr>
                        <a:t>Capabilities Architectural</a:t>
                      </a:r>
                      <a:r>
                        <a:rPr kumimoji="0" lang="en-US" sz="1000" b="0" i="0" u="none" strike="noStrike" kern="1200" cap="none" spc="0" normalizeH="0" baseline="0" noProof="0">
                          <a:ln>
                            <a:noFill/>
                          </a:ln>
                          <a:solidFill>
                            <a:prstClr val="black"/>
                          </a:solidFill>
                          <a:effectLst/>
                          <a:uLnTx/>
                          <a:uFillTx/>
                          <a:latin typeface="Arial"/>
                          <a:ea typeface="+mn-lt"/>
                          <a:cs typeface="Arial"/>
                        </a:rPr>
                        <a:t> </a:t>
                      </a:r>
                      <a:r>
                        <a:rPr lang="en-US" sz="1000" b="0" i="0" u="none" strike="noStrike" kern="1200" cap="none" spc="0" normalizeH="0" baseline="0" noProof="0">
                          <a:ln>
                            <a:noFill/>
                          </a:ln>
                          <a:solidFill>
                            <a:prstClr val="black"/>
                          </a:solidFill>
                          <a:effectLst/>
                          <a:uLnTx/>
                          <a:uFillTx/>
                          <a:latin typeface="Arial"/>
                          <a:ea typeface="+mn-lt"/>
                          <a:cs typeface="Arial"/>
                        </a:rPr>
                        <a:t>Review Knowledge</a:t>
                      </a:r>
                      <a:r>
                        <a:rPr kumimoji="0" lang="en-US" sz="1000" b="0" i="0" u="none" strike="noStrike" kern="1200" cap="none" spc="0" normalizeH="0" baseline="0" noProof="0">
                          <a:ln>
                            <a:noFill/>
                          </a:ln>
                          <a:solidFill>
                            <a:prstClr val="black"/>
                          </a:solidFill>
                          <a:effectLst/>
                          <a:uLnTx/>
                          <a:uFillTx/>
                          <a:latin typeface="Arial"/>
                          <a:ea typeface="+mn-lt"/>
                          <a:cs typeface="Arial"/>
                        </a:rPr>
                        <a:t> Management</a:t>
                      </a:r>
                    </a:p>
                    <a:p>
                      <a:pPr marL="171450" marR="0" lvl="0" indent="-171450" algn="l">
                        <a:lnSpc>
                          <a:spcPct val="100000"/>
                        </a:lnSpc>
                        <a:spcBef>
                          <a:spcPct val="0"/>
                        </a:spcBef>
                        <a:spcAft>
                          <a:spcPts val="0"/>
                        </a:spcAft>
                        <a:buFont typeface="Arial"/>
                        <a:buChar char="•"/>
                      </a:pPr>
                      <a:r>
                        <a:rPr lang="en-US" sz="1000" b="0" i="0" u="none" strike="noStrike" kern="1200" cap="none" spc="0" normalizeH="0" baseline="0" noProof="0">
                          <a:ln>
                            <a:noFill/>
                          </a:ln>
                          <a:solidFill>
                            <a:prstClr val="black"/>
                          </a:solidFill>
                          <a:effectLst/>
                          <a:uLnTx/>
                          <a:uFillTx/>
                          <a:latin typeface="Arial"/>
                          <a:ea typeface="+mn-lt"/>
                          <a:cs typeface="Arial"/>
                        </a:rPr>
                        <a:t>D36-B - Fit</a:t>
                      </a:r>
                      <a:r>
                        <a:rPr kumimoji="0" lang="en-US" sz="1000" b="0" i="0" u="none" strike="noStrike" kern="1200" cap="none" spc="0" normalizeH="0" baseline="0" noProof="0">
                          <a:ln>
                            <a:noFill/>
                          </a:ln>
                          <a:solidFill>
                            <a:prstClr val="black"/>
                          </a:solidFill>
                          <a:effectLst/>
                          <a:uLnTx/>
                          <a:uFillTx/>
                          <a:latin typeface="Arial"/>
                          <a:ea typeface="+mn-lt"/>
                          <a:cs typeface="Arial"/>
                        </a:rPr>
                        <a:t> Gap Analysis Report for the KM Strategic </a:t>
                      </a:r>
                      <a:r>
                        <a:rPr lang="en-US" sz="1000" b="0" i="0" u="none" strike="noStrike" kern="1200" cap="none" spc="0" normalizeH="0" baseline="0" noProof="0">
                          <a:ln>
                            <a:noFill/>
                          </a:ln>
                          <a:solidFill>
                            <a:prstClr val="black"/>
                          </a:solidFill>
                          <a:effectLst/>
                          <a:uLnTx/>
                          <a:uFillTx/>
                          <a:latin typeface="Arial"/>
                          <a:ea typeface="+mn-lt"/>
                          <a:cs typeface="Arial"/>
                        </a:rPr>
                        <a:t>Solution</a:t>
                      </a:r>
                      <a:endParaRPr lang="en-US"/>
                    </a:p>
                    <a:p>
                      <a:pPr marL="171450" marR="0" lvl="0" indent="-171450" algn="l">
                        <a:lnSpc>
                          <a:spcPct val="100000"/>
                        </a:lnSpc>
                        <a:spcBef>
                          <a:spcPts val="0"/>
                        </a:spcBef>
                        <a:spcAft>
                          <a:spcPts val="0"/>
                        </a:spcAft>
                        <a:buFont typeface="Arial"/>
                        <a:buChar char="•"/>
                      </a:pPr>
                      <a:r>
                        <a:rPr lang="en-US" sz="1000" b="0" i="0" u="none" strike="noStrike" kern="1200" cap="none" spc="0" normalizeH="0" baseline="0" noProof="0">
                          <a:ln>
                            <a:noFill/>
                          </a:ln>
                          <a:solidFill>
                            <a:schemeClr val="tx1"/>
                          </a:solidFill>
                          <a:effectLst/>
                          <a:uLnTx/>
                          <a:uFillTx/>
                          <a:latin typeface="Arial"/>
                          <a:ea typeface="+mn-lt"/>
                          <a:cs typeface="Arial"/>
                        </a:rPr>
                        <a:t>Build vs. Buy - BDM - Knowledge</a:t>
                      </a:r>
                      <a:r>
                        <a:rPr kumimoji="0" lang="en-US" sz="1000" b="0" i="0" u="none" strike="noStrike" kern="1200" cap="none" spc="0" normalizeH="0" baseline="0" noProof="0">
                          <a:ln>
                            <a:noFill/>
                          </a:ln>
                          <a:solidFill>
                            <a:schemeClr val="tx1"/>
                          </a:solidFill>
                          <a:effectLst/>
                          <a:uLnTx/>
                          <a:uFillTx/>
                          <a:latin typeface="Arial"/>
                          <a:ea typeface="+mn-lt"/>
                          <a:cs typeface="Arial"/>
                        </a:rPr>
                        <a:t> </a:t>
                      </a:r>
                      <a:r>
                        <a:rPr lang="en-US" sz="1000" b="0" i="0" u="none" strike="noStrike" kern="1200" cap="none" spc="0" normalizeH="0" baseline="0" noProof="0">
                          <a:ln>
                            <a:noFill/>
                          </a:ln>
                          <a:solidFill>
                            <a:schemeClr val="tx1"/>
                          </a:solidFill>
                          <a:effectLst/>
                          <a:uLnTx/>
                          <a:uFillTx/>
                          <a:latin typeface="Arial"/>
                          <a:ea typeface="+mn-lt"/>
                          <a:cs typeface="Arial"/>
                        </a:rPr>
                        <a:t>Management Update</a:t>
                      </a:r>
                      <a:endParaRPr kumimoji="0" lang="en-US" sz="1000" b="0" i="0" u="none" strike="noStrike" kern="1200" cap="none" spc="0" normalizeH="0" baseline="0" noProof="0">
                        <a:ln>
                          <a:noFill/>
                        </a:ln>
                        <a:solidFill>
                          <a:schemeClr val="tx1"/>
                        </a:solidFill>
                        <a:effectLst/>
                        <a:uLnTx/>
                        <a:uFillTx/>
                        <a:latin typeface="Arial"/>
                        <a:ea typeface="+mn-lt"/>
                        <a:cs typeface="Arial"/>
                      </a:endParaRPr>
                    </a:p>
                    <a:p>
                      <a:pPr marL="171450" marR="0" lvl="0" indent="-171450" algn="l">
                        <a:lnSpc>
                          <a:spcPct val="100000"/>
                        </a:lnSpc>
                        <a:spcBef>
                          <a:spcPct val="0"/>
                        </a:spcBef>
                        <a:spcAft>
                          <a:spcPts val="0"/>
                        </a:spcAft>
                        <a:buFont typeface="Arial"/>
                        <a:buChar char="•"/>
                      </a:pPr>
                      <a:r>
                        <a:rPr lang="en-US" sz="1000" b="0" i="0" u="none" strike="noStrike" kern="1200" cap="none" spc="0" normalizeH="0" baseline="0" noProof="0">
                          <a:ln>
                            <a:noFill/>
                          </a:ln>
                          <a:solidFill>
                            <a:prstClr val="black"/>
                          </a:solidFill>
                          <a:effectLst/>
                          <a:uLnTx/>
                          <a:uFillTx/>
                          <a:latin typeface="Arial"/>
                          <a:ea typeface="+mn-lt"/>
                          <a:cs typeface="Arial"/>
                        </a:rPr>
                        <a:t>Knowledge</a:t>
                      </a:r>
                      <a:r>
                        <a:rPr kumimoji="0" lang="en-US" sz="1000" b="0" i="0" u="none" strike="noStrike" kern="1200" cap="none" spc="0" normalizeH="0" baseline="0" noProof="0">
                          <a:ln>
                            <a:noFill/>
                          </a:ln>
                          <a:solidFill>
                            <a:prstClr val="black"/>
                          </a:solidFill>
                          <a:effectLst/>
                          <a:uLnTx/>
                          <a:uFillTx/>
                          <a:latin typeface="Arial"/>
                          <a:ea typeface="+mn-lt"/>
                          <a:cs typeface="Arial"/>
                        </a:rPr>
                        <a:t> Management</a:t>
                      </a:r>
                      <a:r>
                        <a:rPr lang="en-US" sz="1000" b="0" i="0" u="none" strike="noStrike" kern="1200" cap="none" spc="0" normalizeH="0" baseline="0" noProof="0">
                          <a:ln>
                            <a:noFill/>
                          </a:ln>
                          <a:solidFill>
                            <a:prstClr val="black"/>
                          </a:solidFill>
                          <a:effectLst/>
                          <a:uLnTx/>
                          <a:uFillTx/>
                          <a:latin typeface="Arial"/>
                          <a:ea typeface="+mn-lt"/>
                          <a:cs typeface="Arial"/>
                        </a:rPr>
                        <a:t>, </a:t>
                      </a:r>
                      <a:r>
                        <a:rPr kumimoji="0" lang="en-CA" sz="1000" b="0" i="0" u="none" strike="noStrike" kern="1200" cap="none" spc="0" normalizeH="0" baseline="0" noProof="0">
                          <a:ln>
                            <a:noFill/>
                          </a:ln>
                          <a:solidFill>
                            <a:prstClr val="black"/>
                          </a:solidFill>
                          <a:effectLst/>
                          <a:uLnTx/>
                          <a:uFillTx/>
                          <a:latin typeface="Arial"/>
                          <a:ea typeface="+mn-lt"/>
                          <a:cs typeface="Arial"/>
                        </a:rPr>
                        <a:t>Options Analysis</a:t>
                      </a:r>
                      <a:r>
                        <a:rPr lang="en-CA" sz="1000" b="0" i="0" u="none" strike="noStrike" kern="1200" cap="none" spc="0" normalizeH="0" baseline="0" noProof="0">
                          <a:ln>
                            <a:noFill/>
                          </a:ln>
                          <a:solidFill>
                            <a:prstClr val="black"/>
                          </a:solidFill>
                          <a:effectLst/>
                          <a:uLnTx/>
                          <a:uFillTx/>
                          <a:latin typeface="Arial"/>
                          <a:ea typeface="+mn-lt"/>
                          <a:cs typeface="Arial"/>
                        </a:rPr>
                        <a:t>, </a:t>
                      </a:r>
                      <a:r>
                        <a:rPr kumimoji="0" lang="en-CA" sz="1000" b="0" i="0" u="none" strike="noStrike" kern="1200" cap="none" spc="0" normalizeH="0" baseline="0" noProof="0">
                          <a:ln>
                            <a:noFill/>
                          </a:ln>
                          <a:solidFill>
                            <a:prstClr val="black"/>
                          </a:solidFill>
                          <a:effectLst/>
                          <a:uLnTx/>
                          <a:uFillTx/>
                          <a:latin typeface="Arial"/>
                          <a:ea typeface="+mn-lt"/>
                          <a:cs typeface="Arial"/>
                        </a:rPr>
                        <a:t>Informed by KM AI </a:t>
                      </a:r>
                      <a:r>
                        <a:rPr kumimoji="0" lang="en-CA" sz="1000" b="0" i="0" u="none" strike="noStrike" kern="1200" cap="none" spc="0" normalizeH="0" baseline="0" noProof="0" err="1">
                          <a:ln>
                            <a:noFill/>
                          </a:ln>
                          <a:solidFill>
                            <a:prstClr val="black"/>
                          </a:solidFill>
                          <a:effectLst/>
                          <a:uLnTx/>
                          <a:uFillTx/>
                          <a:latin typeface="Arial"/>
                          <a:ea typeface="+mn-lt"/>
                          <a:cs typeface="Arial"/>
                        </a:rPr>
                        <a:t>PoCs</a:t>
                      </a:r>
                      <a:r>
                        <a:rPr kumimoji="0" lang="en-CA" sz="1000" b="0" i="0" u="none" strike="noStrike" kern="1200" cap="none" spc="0" normalizeH="0" baseline="0" noProof="0">
                          <a:ln>
                            <a:noFill/>
                          </a:ln>
                          <a:solidFill>
                            <a:prstClr val="black"/>
                          </a:solidFill>
                          <a:effectLst/>
                          <a:uLnTx/>
                          <a:uFillTx/>
                          <a:latin typeface="Arial"/>
                          <a:ea typeface="+mn-lt"/>
                          <a:cs typeface="Arial"/>
                        </a:rPr>
                        <a:t> performed by Fujitsu</a:t>
                      </a:r>
                      <a:endParaRPr kumimoji="0" lang="en-US" sz="1000" b="0" i="0" u="none" strike="noStrike" kern="1200" cap="none" spc="0" normalizeH="0" baseline="0" noProof="0">
                        <a:ln>
                          <a:noFill/>
                        </a:ln>
                        <a:solidFill>
                          <a:prstClr val="black"/>
                        </a:solidFill>
                        <a:effectLst/>
                        <a:uLnTx/>
                        <a:uFillTx/>
                        <a:latin typeface="Arial"/>
                        <a:ea typeface="+mn-lt"/>
                        <a:cs typeface="Arial"/>
                      </a:endParaRPr>
                    </a:p>
                    <a:p>
                      <a:pPr marL="171450" lvl="0" indent="-171450">
                        <a:buFont typeface="Arial"/>
                        <a:buChar char="•"/>
                      </a:pPr>
                      <a:r>
                        <a:rPr lang="en-CA" sz="1000">
                          <a:solidFill>
                            <a:schemeClr val="tx1"/>
                          </a:solidFill>
                          <a:latin typeface="Arial"/>
                        </a:rPr>
                        <a:t>Assessment conducted by PwC on top technology options (Mid-Jan to End of March 2025)</a:t>
                      </a:r>
                    </a:p>
                    <a:p>
                      <a:pPr marL="171450" lvl="0" indent="-171450">
                        <a:buFont typeface="Arial"/>
                        <a:buChar char="•"/>
                      </a:pPr>
                      <a:r>
                        <a:rPr lang="en-CA" sz="1000">
                          <a:solidFill>
                            <a:schemeClr val="tx1"/>
                          </a:solidFill>
                          <a:latin typeface="Arial"/>
                        </a:rPr>
                        <a:t>Complete AI Impact assessment with the System Integrators before end of 2025</a:t>
                      </a: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endParaRPr lang="en-CA" sz="800">
                        <a:solidFill>
                          <a:schemeClr val="tx1"/>
                        </a:solidFill>
                        <a:latin typeface="Arial"/>
                      </a:endParaRPr>
                    </a:p>
                  </a:txBody>
                  <a:tcPr marL="0" marR="0" marT="0" marB="0">
                    <a:lnL w="28575" cap="flat" cmpd="sng" algn="ctr">
                      <a:solidFill>
                        <a:schemeClr val="accent4"/>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800" b="1">
                          <a:solidFill>
                            <a:schemeClr val="tx1"/>
                          </a:solidFill>
                          <a:latin typeface="Arial"/>
                        </a:rPr>
                        <a:t>Expected Outcomes</a:t>
                      </a:r>
                      <a:endParaRPr lang="en-CA" sz="800">
                        <a:solidFill>
                          <a:schemeClr val="tx1"/>
                        </a:solidFill>
                        <a:latin typeface="Arial"/>
                      </a:endParaRPr>
                    </a:p>
                    <a:p>
                      <a:pPr marL="171450" lvl="0" indent="-171450">
                        <a:buFont typeface="Arial" panose="020B0604020202020204" pitchFamily="34" charset="0"/>
                        <a:buChar char="•"/>
                      </a:pPr>
                      <a:r>
                        <a:rPr lang="en-CA" sz="800">
                          <a:solidFill>
                            <a:schemeClr val="tx1"/>
                          </a:solidFill>
                          <a:latin typeface="Arial"/>
                        </a:rPr>
                        <a:t>Client Outcomes</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b="0" i="0" u="none" strike="noStrike" kern="1200" noProof="0">
                          <a:solidFill>
                            <a:srgbClr val="000000"/>
                          </a:solidFill>
                          <a:latin typeface="Arial"/>
                          <a:ea typeface="+mn-ea"/>
                          <a:cs typeface="+mn-cs"/>
                        </a:rPr>
                        <a:t>Enhanced service experience to Canadians and reduced wait times.</a:t>
                      </a:r>
                    </a:p>
                    <a:p>
                      <a:pPr marL="628650" marR="0" lvl="1"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CA" sz="1000" b="0" i="0" u="none" strike="noStrike" kern="1200" noProof="0">
                          <a:solidFill>
                            <a:srgbClr val="000000"/>
                          </a:solidFill>
                          <a:latin typeface="Arial"/>
                          <a:ea typeface="+mn-ea"/>
                          <a:cs typeface="+mn-cs"/>
                        </a:rPr>
                        <a:t> improved consistency of client assistance from coast to coast to coast.</a:t>
                      </a:r>
                    </a:p>
                    <a:p>
                      <a:pPr marL="171450" lvl="0" indent="-171450">
                        <a:buFont typeface="Arial" panose="020B0604020202020204" pitchFamily="34" charset="0"/>
                        <a:buChar char="•"/>
                      </a:pPr>
                      <a:endParaRPr lang="en-CA" sz="800">
                        <a:solidFill>
                          <a:schemeClr val="tx1"/>
                        </a:solidFill>
                        <a:latin typeface="Arial"/>
                      </a:endParaRPr>
                    </a:p>
                    <a:p>
                      <a:pPr marL="171450" lvl="0" indent="-171450">
                        <a:buFont typeface="Arial" panose="020B0604020202020204" pitchFamily="34" charset="0"/>
                        <a:buChar char="•"/>
                      </a:pPr>
                      <a:r>
                        <a:rPr lang="en-CA" sz="800">
                          <a:solidFill>
                            <a:schemeClr val="tx1"/>
                          </a:solidFill>
                          <a:latin typeface="Arial"/>
                        </a:rPr>
                        <a:t>Service Officer Outcomes</a:t>
                      </a:r>
                      <a:endParaRPr lang="en-CA"/>
                    </a:p>
                    <a:p>
                      <a:pPr marL="628650" lvl="1" indent="-171450">
                        <a:buFont typeface="Arial" panose="020B0604020202020204" pitchFamily="34" charset="0"/>
                        <a:buChar char="•"/>
                      </a:pPr>
                      <a:r>
                        <a:rPr lang="en-CA" sz="1000" b="0" i="0" u="none" strike="noStrike" noProof="0">
                          <a:solidFill>
                            <a:srgbClr val="000000"/>
                          </a:solidFill>
                          <a:latin typeface="Arial"/>
                        </a:rPr>
                        <a:t>Enhanced knowledge platform with ease of use, to assist services officers cater to Canadians across all services channels and programs. </a:t>
                      </a:r>
                      <a:endParaRPr lang="en-CA"/>
                    </a:p>
                    <a:p>
                      <a:pPr marL="628650" marR="0" lvl="1" indent="-171450" algn="l">
                        <a:lnSpc>
                          <a:spcPct val="100000"/>
                        </a:lnSpc>
                        <a:spcBef>
                          <a:spcPts val="0"/>
                        </a:spcBef>
                        <a:spcAft>
                          <a:spcPts val="0"/>
                        </a:spcAft>
                        <a:buClr>
                          <a:srgbClr val="000000"/>
                        </a:buClr>
                        <a:buFont typeface="Arial,Sans-Serif" panose="020B0604020202020204" pitchFamily="34" charset="0"/>
                        <a:buChar char="•"/>
                      </a:pPr>
                      <a:r>
                        <a:rPr lang="en-US" sz="1000" b="0" i="0" u="none" strike="noStrike" kern="1200" noProof="0">
                          <a:solidFill>
                            <a:srgbClr val="000000"/>
                          </a:solidFill>
                          <a:latin typeface="Arial"/>
                          <a:ea typeface="+mn-ea"/>
                          <a:cs typeface="+mn-cs"/>
                        </a:rPr>
                        <a:t>Improved accuracy and consistency of program delivery and processing by eliminating redundancy and duplication;</a:t>
                      </a:r>
                    </a:p>
                    <a:p>
                      <a:pPr marL="628650" marR="0" lvl="1" indent="-171450" algn="l" defTabSz="457200"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tabLst/>
                        <a:defRPr/>
                      </a:pPr>
                      <a:r>
                        <a:rPr lang="en-CA" sz="1000" b="0" i="0" u="none" strike="noStrike" kern="1200" noProof="0">
                          <a:solidFill>
                            <a:srgbClr val="000000"/>
                          </a:solidFill>
                          <a:latin typeface="Arial"/>
                          <a:ea typeface="+mn-ea"/>
                          <a:cs typeface="+mn-cs"/>
                        </a:rPr>
                        <a:t>Significant reduction in time spent searching for information. Improved availability of information for data-driven decision making</a:t>
                      </a:r>
                    </a:p>
                    <a:p>
                      <a:pPr marL="628650" marR="0" lvl="1" indent="-171450" algn="l" defTabSz="457200"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tabLst/>
                        <a:defRPr/>
                      </a:pPr>
                      <a:r>
                        <a:rPr lang="en-CA" sz="1000" b="0" i="0" u="none" strike="noStrike" kern="1200" noProof="0">
                          <a:solidFill>
                            <a:srgbClr val="000000"/>
                          </a:solidFill>
                          <a:latin typeface="Arial"/>
                          <a:ea typeface="+mn-ea"/>
                          <a:cs typeface="+mn-cs"/>
                        </a:rPr>
                        <a:t>Change management and training will be sought through BDM project delivery</a:t>
                      </a:r>
                    </a:p>
                    <a:p>
                      <a:pPr marL="457200" marR="0" lvl="1" indent="0" algn="l">
                        <a:lnSpc>
                          <a:spcPct val="100000"/>
                        </a:lnSpc>
                        <a:spcBef>
                          <a:spcPts val="0"/>
                        </a:spcBef>
                        <a:spcAft>
                          <a:spcPts val="0"/>
                        </a:spcAft>
                        <a:buClr>
                          <a:srgbClr val="000000"/>
                        </a:buClr>
                        <a:buFont typeface="Arial,Sans-Serif" panose="020B0604020202020204" pitchFamily="34" charset="0"/>
                        <a:buNone/>
                      </a:pPr>
                      <a:endParaRPr lang="en-CA" sz="1000" b="0" i="0" u="none" strike="noStrike" kern="1200" noProof="0">
                        <a:solidFill>
                          <a:srgbClr val="000000"/>
                        </a:solidFill>
                        <a:latin typeface="Arial"/>
                      </a:endParaRPr>
                    </a:p>
                    <a:p>
                      <a:pPr marL="171450" lvl="0" indent="-171450">
                        <a:buFont typeface="Arial" panose="020B0604020202020204" pitchFamily="34" charset="0"/>
                        <a:buChar char="•"/>
                      </a:pPr>
                      <a:r>
                        <a:rPr lang="en-CA" sz="800">
                          <a:solidFill>
                            <a:schemeClr val="tx1"/>
                          </a:solidFill>
                          <a:latin typeface="Arial"/>
                        </a:rPr>
                        <a:t>Business Outcomes (Content Governance)</a:t>
                      </a:r>
                      <a:endParaRPr lang="en-CA"/>
                    </a:p>
                    <a:p>
                      <a:pPr marL="628650" lvl="1" indent="-171450">
                        <a:buFont typeface="Arial" panose="020B0604020202020204" pitchFamily="34" charset="0"/>
                        <a:buChar char="•"/>
                      </a:pPr>
                      <a:r>
                        <a:rPr lang="en-US" sz="1000" b="0" i="0" u="none" strike="noStrike" kern="1200" noProof="0">
                          <a:solidFill>
                            <a:srgbClr val="000000"/>
                          </a:solidFill>
                          <a:latin typeface="Arial"/>
                          <a:ea typeface="+mn-ea"/>
                          <a:cs typeface="+mn-cs"/>
                        </a:rPr>
                        <a:t>Equip employees with modern streamlined processes, tools and technology and centralized knowledge repository to be used by the Service Delivery Network.</a:t>
                      </a:r>
                      <a:endParaRPr lang="en-CA" sz="1000" b="0" i="0" u="none" strike="noStrike" kern="1200" noProof="0">
                        <a:solidFill>
                          <a:srgbClr val="000000"/>
                        </a:solidFill>
                        <a:latin typeface="Arial"/>
                        <a:ea typeface="+mn-ea"/>
                        <a:cs typeface="+mn-cs"/>
                      </a:endParaRPr>
                    </a:p>
                    <a:p>
                      <a:pPr marL="628650" lvl="1" indent="-171450">
                        <a:buFont typeface="Arial" panose="020B0604020202020204" pitchFamily="34" charset="0"/>
                        <a:buChar char="•"/>
                      </a:pPr>
                      <a:r>
                        <a:rPr lang="en-US" sz="1000" b="0" i="0" u="none" strike="noStrike" kern="1200" noProof="0">
                          <a:solidFill>
                            <a:srgbClr val="000000"/>
                          </a:solidFill>
                          <a:latin typeface="Arial"/>
                          <a:ea typeface="+mn-ea"/>
                          <a:cs typeface="+mn-cs"/>
                        </a:rPr>
                        <a:t>Improved ability to capture, </a:t>
                      </a:r>
                      <a:r>
                        <a:rPr lang="en-CA" sz="1000" b="0" i="0" u="none" strike="noStrike" kern="1200" noProof="0">
                          <a:solidFill>
                            <a:srgbClr val="000000"/>
                          </a:solidFill>
                          <a:latin typeface="Arial"/>
                          <a:ea typeface="+mn-ea"/>
                          <a:cs typeface="+mn-cs"/>
                        </a:rPr>
                        <a:t>manage, create, categorize, store, and share </a:t>
                      </a:r>
                      <a:r>
                        <a:rPr lang="en-US" sz="1000" b="0" i="0" u="none" strike="noStrike" kern="1200" noProof="0">
                          <a:solidFill>
                            <a:srgbClr val="000000"/>
                          </a:solidFill>
                          <a:latin typeface="Arial"/>
                          <a:ea typeface="+mn-ea"/>
                          <a:cs typeface="+mn-cs"/>
                        </a:rPr>
                        <a:t>knowledge within the entire content management life cycle. </a:t>
                      </a:r>
                      <a:endParaRPr lang="en-CA" sz="1000" b="0" i="0" u="none" strike="noStrike" kern="1200" noProof="0">
                        <a:solidFill>
                          <a:srgbClr val="000000"/>
                        </a:solidFill>
                        <a:latin typeface="Arial"/>
                        <a:ea typeface="+mn-ea"/>
                        <a:cs typeface="+mn-cs"/>
                      </a:endParaRPr>
                    </a:p>
                    <a:p>
                      <a:pPr marL="628650" lvl="1" indent="-171450">
                        <a:buFont typeface="Arial" panose="020B0604020202020204" pitchFamily="34" charset="0"/>
                        <a:buChar char="•"/>
                      </a:pPr>
                      <a:r>
                        <a:rPr lang="en-CA" sz="1000" b="0" i="0" u="none" strike="noStrike" kern="1200" noProof="0">
                          <a:solidFill>
                            <a:srgbClr val="000000"/>
                          </a:solidFill>
                          <a:latin typeface="Arial"/>
                          <a:ea typeface="+mn-ea"/>
                          <a:cs typeface="+mn-cs"/>
                        </a:rPr>
                        <a:t>Protect and manage institutional knowledge in the face of changing employee demographics</a:t>
                      </a:r>
                      <a:endParaRPr lang="en-CA" sz="1000" b="0" i="0" u="none" strike="noStrike" kern="1200">
                        <a:solidFill>
                          <a:srgbClr val="000000"/>
                        </a:solidFill>
                        <a:latin typeface="Arial"/>
                        <a:ea typeface="+mn-ea"/>
                        <a:cs typeface="+mn-cs"/>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505945598"/>
                  </a:ext>
                </a:extLst>
              </a:tr>
              <a:tr h="0">
                <a:tc>
                  <a:txBody>
                    <a:bodyPr/>
                    <a:lstStyle/>
                    <a:p>
                      <a:r>
                        <a:rPr lang="en-CA" sz="800" b="1">
                          <a:solidFill>
                            <a:schemeClr val="tx1"/>
                          </a:solidFill>
                          <a:latin typeface="Arial"/>
                        </a:rPr>
                        <a:t>Initiative Costs</a:t>
                      </a:r>
                    </a:p>
                    <a:p>
                      <a:endParaRPr lang="en-CA" sz="800">
                        <a:solidFill>
                          <a:schemeClr val="tx1"/>
                        </a:solidFill>
                        <a:latin typeface="Arial"/>
                      </a:endParaRPr>
                    </a:p>
                    <a:p>
                      <a:r>
                        <a:rPr lang="en-CA" sz="1000">
                          <a:solidFill>
                            <a:schemeClr val="tx1"/>
                          </a:solidFill>
                          <a:latin typeface="Arial"/>
                        </a:rPr>
                        <a:t>ROM Estimate: $64M</a:t>
                      </a:r>
                      <a:endParaRPr lang="en-CA" sz="1000">
                        <a:solidFill>
                          <a:srgbClr val="FF0000"/>
                        </a:solidFill>
                        <a:latin typeface="Arial"/>
                      </a:endParaRPr>
                    </a:p>
                    <a:p>
                      <a:pPr lvl="0">
                        <a:buNone/>
                      </a:pPr>
                      <a:r>
                        <a:rPr lang="en-CA" sz="1000">
                          <a:solidFill>
                            <a:schemeClr val="tx1"/>
                          </a:solidFill>
                          <a:latin typeface="Arial"/>
                        </a:rPr>
                        <a:t>KM costs are included in TBS submission costs for Contact Centre Solution (CCS) and have been approved without any conditions. The costs include professional services but not salary which is included as part of CPD's salary ask.</a:t>
                      </a:r>
                      <a:endParaRPr lang="en-CA" sz="1000">
                        <a:solidFill>
                          <a:srgbClr val="FF0000"/>
                        </a:solidFill>
                        <a:latin typeface="Arial"/>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endParaRPr lang="en-CA" sz="800">
                        <a:solidFill>
                          <a:schemeClr val="tx1"/>
                        </a:solidFill>
                        <a:latin typeface="Arial"/>
                      </a:endParaRPr>
                    </a:p>
                  </a:txBody>
                  <a:tcPr marL="0" marR="0" marT="0" marB="0">
                    <a:lnL w="28575" cap="flat" cmpd="sng" algn="ctr">
                      <a:solidFill>
                        <a:schemeClr val="accent4"/>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800" b="1">
                          <a:solidFill>
                            <a:schemeClr val="tx1"/>
                          </a:solidFill>
                          <a:latin typeface="Arial"/>
                        </a:rPr>
                        <a:t>Risk</a:t>
                      </a:r>
                    </a:p>
                    <a:p>
                      <a:pPr marL="171450" marR="0" lvl="0" indent="-171450" algn="l">
                        <a:lnSpc>
                          <a:spcPct val="100000"/>
                        </a:lnSpc>
                        <a:spcBef>
                          <a:spcPts val="0"/>
                        </a:spcBef>
                        <a:spcAft>
                          <a:spcPts val="0"/>
                        </a:spcAft>
                        <a:buClr>
                          <a:srgbClr val="000000"/>
                        </a:buClr>
                        <a:buFont typeface="Arial,Sans-Serif"/>
                        <a:buChar char="•"/>
                      </a:pPr>
                      <a:r>
                        <a:rPr lang="en-US" sz="1000" b="0" i="0" u="none" strike="noStrike" kern="1200" noProof="0">
                          <a:solidFill>
                            <a:srgbClr val="000000"/>
                          </a:solidFill>
                          <a:latin typeface="Arial"/>
                          <a:ea typeface="+mn-ea"/>
                          <a:cs typeface="+mn-cs"/>
                        </a:rPr>
                        <a:t>Inconsistent service delivery (performance metrics AND accuracy) due to the Service Officers inability to resolve a client’s needs with Knowledge Articles spread across too many locations.</a:t>
                      </a:r>
                    </a:p>
                    <a:p>
                      <a:pPr marL="171450" lvl="0" indent="-171450">
                        <a:buFont typeface="Arial"/>
                        <a:buChar char="•"/>
                      </a:pPr>
                      <a:r>
                        <a:rPr lang="en-CA" sz="1000" b="0" i="0" u="none" strike="noStrike" kern="1200" noProof="0">
                          <a:solidFill>
                            <a:srgbClr val="000000"/>
                          </a:solidFill>
                          <a:latin typeface="Arial"/>
                          <a:ea typeface="+mn-ea"/>
                          <a:cs typeface="+mn-cs"/>
                        </a:rPr>
                        <a:t>Aging technology and risk of system “rust out” or no longer meeting the needs</a:t>
                      </a:r>
                      <a:endParaRPr lang="en-CA" sz="1000" b="0" i="0" u="none" strike="noStrike" kern="1200">
                        <a:solidFill>
                          <a:srgbClr val="000000"/>
                        </a:solidFill>
                        <a:latin typeface="Arial"/>
                        <a:ea typeface="+mn-ea"/>
                        <a:cs typeface="+mn-cs"/>
                      </a:endParaRPr>
                    </a:p>
                    <a:p>
                      <a:pPr marL="171450" lvl="0" indent="-171450">
                        <a:buFont typeface="Arial"/>
                        <a:buChar char="•"/>
                      </a:pPr>
                      <a:r>
                        <a:rPr lang="en-CA" sz="1000" b="0" i="0" u="none" strike="noStrike" kern="1200" noProof="0">
                          <a:solidFill>
                            <a:srgbClr val="000000"/>
                          </a:solidFill>
                          <a:latin typeface="Arial"/>
                          <a:ea typeface="+mn-ea"/>
                          <a:cs typeface="+mn-cs"/>
                        </a:rPr>
                        <a:t>Employees are not equipped with modern processes, tool &amp; technologies and have inconsistent information, which prevents them to meet modern service delivery</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415070"/>
                  </a:ext>
                </a:extLst>
              </a:tr>
            </a:tbl>
          </a:graphicData>
        </a:graphic>
      </p:graphicFrame>
      <p:sp>
        <p:nvSpPr>
          <p:cNvPr id="9" name="Slide Number Placeholder 3">
            <a:extLst>
              <a:ext uri="{FF2B5EF4-FFF2-40B4-BE49-F238E27FC236}">
                <a16:creationId xmlns:a16="http://schemas.microsoft.com/office/drawing/2014/main" id="{869DE515-D031-4963-A043-7C5F7E587AA0}"/>
              </a:ext>
            </a:extLst>
          </p:cNvPr>
          <p:cNvSpPr>
            <a:spLocks noGrp="1"/>
          </p:cNvSpPr>
          <p:nvPr>
            <p:ph type="sldNum" sz="quarter" idx="12"/>
          </p:nvPr>
        </p:nvSpPr>
        <p:spPr>
          <a:xfrm>
            <a:off x="8737600" y="6356351"/>
            <a:ext cx="2844800" cy="365125"/>
          </a:xfrm>
        </p:spPr>
        <p:txBody>
          <a:bodyPr/>
          <a:lstStyle/>
          <a:p>
            <a:fld id="{ABCE2B6B-7FFE-FA46-BED3-31567387080B}" type="slidenum">
              <a:rPr lang="en-US" sz="800" dirty="0" smtClean="0">
                <a:solidFill>
                  <a:srgbClr val="7F7F7F"/>
                </a:solidFill>
                <a:latin typeface="Arial"/>
                <a:ea typeface="Verdana"/>
                <a:cs typeface="Arial"/>
              </a:rPr>
              <a:t>3</a:t>
            </a:fld>
            <a:endParaRPr lang="en-US" sz="800">
              <a:solidFill>
                <a:srgbClr val="7F7F7F"/>
              </a:solidFill>
              <a:latin typeface="Arial"/>
              <a:ea typeface="Verdana"/>
              <a:cs typeface="Arial"/>
            </a:endParaRPr>
          </a:p>
        </p:txBody>
      </p:sp>
      <p:sp>
        <p:nvSpPr>
          <p:cNvPr id="13" name="TextBox 12"/>
          <p:cNvSpPr txBox="1"/>
          <p:nvPr/>
        </p:nvSpPr>
        <p:spPr>
          <a:xfrm>
            <a:off x="498994" y="136524"/>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Initiative Outline</a:t>
            </a:r>
          </a:p>
        </p:txBody>
      </p:sp>
      <p:sp>
        <p:nvSpPr>
          <p:cNvPr id="3" name="TextBox 2">
            <a:extLst>
              <a:ext uri="{FF2B5EF4-FFF2-40B4-BE49-F238E27FC236}">
                <a16:creationId xmlns:a16="http://schemas.microsoft.com/office/drawing/2014/main" id="{19A4662F-D312-2809-8124-32D0B5D0EE0C}"/>
              </a:ext>
            </a:extLst>
          </p:cNvPr>
          <p:cNvSpPr txBox="1"/>
          <p:nvPr/>
        </p:nvSpPr>
        <p:spPr>
          <a:xfrm>
            <a:off x="6926898" y="6614355"/>
            <a:ext cx="5261429" cy="215444"/>
          </a:xfrm>
          <a:prstGeom prst="rect">
            <a:avLst/>
          </a:prstGeom>
          <a:noFill/>
        </p:spPr>
        <p:txBody>
          <a:bodyPr wrap="square" rtlCol="0">
            <a:spAutoFit/>
          </a:bodyPr>
          <a:lstStyle/>
          <a:p>
            <a:pPr algn="r"/>
            <a:r>
              <a:rPr kumimoji="0" lang="en-CA" sz="800" b="0" i="0" u="none" strike="noStrike" kern="1200" cap="none" spc="0" normalizeH="0" baseline="30000" noProof="0">
                <a:ln>
                  <a:noFill/>
                </a:ln>
                <a:solidFill>
                  <a:prstClr val="black"/>
                </a:solidFill>
                <a:effectLst/>
                <a:uLnTx/>
                <a:uFillTx/>
                <a:latin typeface="Arial" panose="020B0604020202020204" pitchFamily="34" charset="0"/>
                <a:ea typeface="+mn-lt"/>
                <a:cs typeface="Arial" panose="020B0604020202020204" pitchFamily="34" charset="0"/>
              </a:rPr>
              <a:t>1</a:t>
            </a:r>
            <a:r>
              <a:rPr kumimoji="0" lang="en-CA" sz="800" b="0" i="0" u="none" strike="noStrike" kern="1200" cap="none" spc="0" normalizeH="0" noProof="0">
                <a:ln>
                  <a:noFill/>
                </a:ln>
                <a:solidFill>
                  <a:prstClr val="black"/>
                </a:solidFill>
                <a:effectLst/>
                <a:uLnTx/>
                <a:uFillTx/>
                <a:latin typeface="Arial" panose="020B0604020202020204" pitchFamily="34" charset="0"/>
                <a:ea typeface="+mn-lt"/>
                <a:cs typeface="Arial" panose="020B0604020202020204" pitchFamily="34" charset="0"/>
                <a:hlinkClick r:id="rId3"/>
              </a:rPr>
              <a:t>Tab_6 BDM Knowledge Management</a:t>
            </a:r>
            <a:r>
              <a:rPr kumimoji="0" lang="en-CA" sz="800" b="0" i="0" u="none" strike="noStrike" kern="1200" cap="none" spc="0" normalizeH="0" noProof="0">
                <a:ln>
                  <a:noFill/>
                </a:ln>
                <a:solidFill>
                  <a:prstClr val="black"/>
                </a:solidFill>
                <a:effectLst/>
                <a:uLnTx/>
                <a:uFillTx/>
                <a:latin typeface="Arial" panose="020B0604020202020204" pitchFamily="34" charset="0"/>
                <a:ea typeface="+mn-lt"/>
                <a:cs typeface="Arial" panose="020B0604020202020204" pitchFamily="34" charset="0"/>
              </a:rPr>
              <a:t>, 30Mar2021</a:t>
            </a:r>
            <a:endParaRPr lang="en-CA" sz="800"/>
          </a:p>
        </p:txBody>
      </p:sp>
    </p:spTree>
    <p:extLst>
      <p:ext uri="{BB962C8B-B14F-4D97-AF65-F5344CB8AC3E}">
        <p14:creationId xmlns:p14="http://schemas.microsoft.com/office/powerpoint/2010/main" val="3639891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619883673"/>
              </p:ext>
            </p:extLst>
          </p:nvPr>
        </p:nvGraphicFramePr>
        <p:xfrm>
          <a:off x="460962" y="1093002"/>
          <a:ext cx="11258970" cy="5624441"/>
        </p:xfrm>
        <a:graphic>
          <a:graphicData uri="http://schemas.openxmlformats.org/drawingml/2006/table">
            <a:tbl>
              <a:tblPr firstRow="1" bandRow="1">
                <a:tableStyleId>{5C22544A-7EE6-4342-B048-85BDC9FD1C3A}</a:tableStyleId>
              </a:tblPr>
              <a:tblGrid>
                <a:gridCol w="2762526">
                  <a:extLst>
                    <a:ext uri="{9D8B030D-6E8A-4147-A177-3AD203B41FA5}">
                      <a16:colId xmlns:a16="http://schemas.microsoft.com/office/drawing/2014/main" val="4159425886"/>
                    </a:ext>
                  </a:extLst>
                </a:gridCol>
                <a:gridCol w="2760871">
                  <a:extLst>
                    <a:ext uri="{9D8B030D-6E8A-4147-A177-3AD203B41FA5}">
                      <a16:colId xmlns:a16="http://schemas.microsoft.com/office/drawing/2014/main" val="2585070284"/>
                    </a:ext>
                  </a:extLst>
                </a:gridCol>
                <a:gridCol w="213831">
                  <a:extLst>
                    <a:ext uri="{9D8B030D-6E8A-4147-A177-3AD203B41FA5}">
                      <a16:colId xmlns:a16="http://schemas.microsoft.com/office/drawing/2014/main" val="3780233206"/>
                    </a:ext>
                  </a:extLst>
                </a:gridCol>
                <a:gridCol w="2760871">
                  <a:extLst>
                    <a:ext uri="{9D8B030D-6E8A-4147-A177-3AD203B41FA5}">
                      <a16:colId xmlns:a16="http://schemas.microsoft.com/office/drawing/2014/main" val="701949837"/>
                    </a:ext>
                  </a:extLst>
                </a:gridCol>
                <a:gridCol w="2760871">
                  <a:extLst>
                    <a:ext uri="{9D8B030D-6E8A-4147-A177-3AD203B41FA5}">
                      <a16:colId xmlns:a16="http://schemas.microsoft.com/office/drawing/2014/main" val="1473921906"/>
                    </a:ext>
                  </a:extLst>
                </a:gridCol>
              </a:tblGrid>
              <a:tr h="210647">
                <a:tc gridSpan="2">
                  <a:txBody>
                    <a:bodyPr/>
                    <a:lstStyle/>
                    <a:p>
                      <a:r>
                        <a:rPr lang="en-CA" sz="800" b="1">
                          <a:solidFill>
                            <a:schemeClr val="tx1"/>
                          </a:solidFill>
                          <a:latin typeface="Arial"/>
                          <a:ea typeface="Verdana"/>
                        </a:rPr>
                        <a:t>Our Organization and People</a:t>
                      </a:r>
                    </a:p>
                  </a:txBody>
                  <a:tcPr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CA"/>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CA" sz="800" b="1">
                        <a:solidFill>
                          <a:schemeClr val="tx1"/>
                        </a:solidFill>
                        <a:latin typeface="Arial"/>
                        <a:ea typeface="Verdana"/>
                      </a:endParaRPr>
                    </a:p>
                  </a:txBody>
                  <a:tcPr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CA" sz="800" b="1">
                          <a:solidFill>
                            <a:schemeClr val="tx1"/>
                          </a:solidFill>
                          <a:latin typeface="Arial"/>
                          <a:ea typeface="Verdana"/>
                        </a:rPr>
                        <a:t>Our Internal Processes</a:t>
                      </a:r>
                    </a:p>
                  </a:txBody>
                  <a:tcPr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CA"/>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7636986"/>
                  </a:ext>
                </a:extLst>
              </a:tr>
              <a:tr h="1380910">
                <a:tc gridSpan="2">
                  <a:txBody>
                    <a:bodyPr/>
                    <a:lstStyle/>
                    <a:p>
                      <a:r>
                        <a:rPr lang="en-CA" sz="800" b="1">
                          <a:solidFill>
                            <a:schemeClr val="tx1"/>
                          </a:solidFill>
                          <a:latin typeface="Arial"/>
                        </a:rPr>
                        <a:t>Impact</a:t>
                      </a:r>
                    </a:p>
                    <a:p>
                      <a:endParaRPr lang="en-CA" sz="800" b="0">
                        <a:solidFill>
                          <a:schemeClr val="tx1"/>
                        </a:solidFill>
                        <a:latin typeface="Arial"/>
                      </a:endParaRPr>
                    </a:p>
                    <a:p>
                      <a:pPr marL="171450" indent="-171450">
                        <a:buFont typeface="Arial" panose="020B0604020202020204" pitchFamily="34" charset="0"/>
                        <a:buChar char="•"/>
                      </a:pPr>
                      <a:r>
                        <a:rPr lang="en-CA" sz="800" b="0">
                          <a:solidFill>
                            <a:schemeClr val="tx1"/>
                          </a:solidFill>
                          <a:latin typeface="Arial"/>
                        </a:rPr>
                        <a:t>Impacts to the workforce with improved support, collaboration, communication, decision-making and overall organizational agility supporting the Omnichannel workforce. </a:t>
                      </a:r>
                    </a:p>
                    <a:p>
                      <a:pPr marL="171450" lvl="0" indent="-171450">
                        <a:buFont typeface="Arial" panose="020B0604020202020204" pitchFamily="34" charset="0"/>
                        <a:buChar char="•"/>
                      </a:pPr>
                      <a:r>
                        <a:rPr lang="en-CA" sz="800" b="0">
                          <a:solidFill>
                            <a:schemeClr val="tx1"/>
                          </a:solidFill>
                          <a:latin typeface="Arial"/>
                        </a:rPr>
                        <a:t>Impacts on the workload effectiveness </a:t>
                      </a:r>
                      <a:r>
                        <a:rPr lang="en-CA" sz="800" b="0" kern="1200" noProof="0">
                          <a:solidFill>
                            <a:schemeClr val="tx1"/>
                          </a:solidFill>
                          <a:latin typeface="Arial"/>
                          <a:ea typeface="+mn-ea"/>
                          <a:cs typeface="+mn-cs"/>
                        </a:rPr>
                        <a:t>enable employees to access and seek timely, relevant and consistent program knowledge and guidance </a:t>
                      </a:r>
                      <a:r>
                        <a:rPr lang="en-CA" sz="800" b="0" i="0" u="none" strike="noStrike" kern="1200" noProof="0">
                          <a:solidFill>
                            <a:schemeClr val="tx1"/>
                          </a:solidFill>
                          <a:latin typeface="Arial"/>
                        </a:rPr>
                        <a:t>enhancing resolution at first point of contact and </a:t>
                      </a:r>
                      <a:r>
                        <a:rPr lang="en-CA" sz="800" b="0" kern="1200" noProof="0">
                          <a:solidFill>
                            <a:schemeClr val="tx1"/>
                          </a:solidFill>
                          <a:latin typeface="Arial"/>
                          <a:ea typeface="+mn-ea"/>
                          <a:cs typeface="+mn-cs"/>
                        </a:rPr>
                        <a:t>supporting service delivery using</a:t>
                      </a:r>
                      <a:r>
                        <a:rPr lang="en-CA" sz="800" b="0">
                          <a:solidFill>
                            <a:schemeClr val="tx1"/>
                          </a:solidFill>
                          <a:latin typeface="Arial"/>
                        </a:rPr>
                        <a:t> an enhanced knowledge management system.</a:t>
                      </a:r>
                      <a:endParaRPr lang="en-CA">
                        <a:solidFill>
                          <a:schemeClr val="tx1"/>
                        </a:solidFill>
                      </a:endParaRPr>
                    </a:p>
                    <a:p>
                      <a:pPr marL="171450" lvl="0" indent="-171450">
                        <a:buFont typeface="Arial" panose="020B0604020202020204" pitchFamily="34" charset="0"/>
                        <a:buChar char="•"/>
                      </a:pPr>
                      <a:r>
                        <a:rPr lang="en-CA" sz="800" b="0">
                          <a:solidFill>
                            <a:schemeClr val="tx1"/>
                          </a:solidFill>
                          <a:latin typeface="Arial"/>
                        </a:rPr>
                        <a:t>Impacts to the workforce with possible change fatigue with multiple changes to various technologies, processes and procedures. Change management, training and upgrading of skills </a:t>
                      </a:r>
                      <a:r>
                        <a:rPr lang="en-CA" sz="800" b="0" kern="1200">
                          <a:solidFill>
                            <a:schemeClr val="tx1"/>
                          </a:solidFill>
                          <a:latin typeface="Arial"/>
                          <a:ea typeface="+mn-ea"/>
                          <a:cs typeface="+mn-cs"/>
                        </a:rPr>
                        <a:t>will</a:t>
                      </a:r>
                      <a:r>
                        <a:rPr lang="en-CA" sz="800" b="0">
                          <a:solidFill>
                            <a:schemeClr val="tx1"/>
                          </a:solidFill>
                          <a:latin typeface="Arial"/>
                        </a:rPr>
                        <a:t> be required. </a:t>
                      </a:r>
                    </a:p>
                    <a:p>
                      <a:pPr marL="171450" lvl="0" indent="-171450">
                        <a:buFont typeface="Arial" panose="020B0604020202020204" pitchFamily="34" charset="0"/>
                        <a:buChar char="•"/>
                      </a:pPr>
                      <a:r>
                        <a:rPr lang="en-CA" sz="800" b="0">
                          <a:solidFill>
                            <a:schemeClr val="tx1"/>
                          </a:solidFill>
                          <a:latin typeface="Arial"/>
                        </a:rPr>
                        <a:t>People motivation will be positively impacted as we provide modern tools, technology and processes to do their work.</a:t>
                      </a:r>
                      <a:endParaRPr lang="en-CA" sz="800" b="0" strike="sngStrike">
                        <a:solidFill>
                          <a:schemeClr val="tx1"/>
                        </a:solidFill>
                        <a:latin typeface="Arial"/>
                      </a:endParaRP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CA"/>
                    </a:p>
                  </a:txBody>
                  <a:tcP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CA" sz="800" b="0">
                        <a:solidFill>
                          <a:schemeClr val="tx1"/>
                        </a:solidFill>
                        <a:latin typeface="Arial"/>
                      </a:endParaRPr>
                    </a:p>
                  </a:txBody>
                  <a:tcPr>
                    <a:lnL w="28575" cap="flat" cmpd="sng" algn="ctr">
                      <a:solidFill>
                        <a:schemeClr val="accent4"/>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CA" sz="800" b="1">
                          <a:solidFill>
                            <a:schemeClr val="tx1"/>
                          </a:solidFill>
                          <a:latin typeface="Arial"/>
                        </a:rPr>
                        <a:t>Impact</a:t>
                      </a:r>
                    </a:p>
                    <a:p>
                      <a:endParaRPr lang="en-CA" sz="800" b="0">
                        <a:solidFill>
                          <a:schemeClr val="tx1"/>
                        </a:solidFill>
                        <a:latin typeface="Arial"/>
                      </a:endParaRPr>
                    </a:p>
                    <a:p>
                      <a:pPr marL="171450" indent="-171450">
                        <a:buFont typeface="Arial" panose="020B0604020202020204" pitchFamily="34" charset="0"/>
                        <a:buChar char="•"/>
                      </a:pPr>
                      <a:r>
                        <a:rPr lang="en-CA" sz="800" b="0">
                          <a:solidFill>
                            <a:schemeClr val="tx1"/>
                          </a:solidFill>
                          <a:latin typeface="Arial"/>
                        </a:rPr>
                        <a:t>Positive impacts to performance (consistent, accurate and easily accessible information) as service officers cater to Canadians. </a:t>
                      </a:r>
                    </a:p>
                    <a:p>
                      <a:pPr marL="171450" lvl="0" indent="-171450">
                        <a:buFont typeface="Arial" panose="020B0604020202020204" pitchFamily="34" charset="0"/>
                        <a:buChar char="•"/>
                      </a:pPr>
                      <a:r>
                        <a:rPr lang="en-CA" sz="800" b="0">
                          <a:solidFill>
                            <a:schemeClr val="tx1"/>
                          </a:solidFill>
                          <a:latin typeface="Arial"/>
                        </a:rPr>
                        <a:t>Positive impacts to internal KM processes that are centralised, consistent and automated. </a:t>
                      </a:r>
                    </a:p>
                    <a:p>
                      <a:pPr marL="171450" lvl="0" indent="-171450">
                        <a:buFont typeface="Arial" panose="020B0604020202020204" pitchFamily="34" charset="0"/>
                        <a:buChar char="•"/>
                      </a:pPr>
                      <a:r>
                        <a:rPr lang="en-CA" sz="800" b="0">
                          <a:solidFill>
                            <a:schemeClr val="tx1"/>
                          </a:solidFill>
                          <a:latin typeface="Arial"/>
                        </a:rPr>
                        <a:t>Positive impacts to the Enquiry and Feedback processes with improved logging, tracking and status updates.  </a:t>
                      </a:r>
                    </a:p>
                    <a:p>
                      <a:pPr marL="171450" lvl="0" indent="-171450">
                        <a:buFont typeface="Arial" panose="020B0604020202020204" pitchFamily="34" charset="0"/>
                        <a:buChar char="•"/>
                      </a:pPr>
                      <a:r>
                        <a:rPr lang="en-CA" sz="800" b="0">
                          <a:solidFill>
                            <a:schemeClr val="tx1"/>
                          </a:solidFill>
                          <a:latin typeface="Arial"/>
                        </a:rPr>
                        <a:t>Positive impacts to the KM system with the adoption of AI capabilities. </a:t>
                      </a:r>
                    </a:p>
                    <a:p>
                      <a:pPr marL="0" lvl="0" indent="0">
                        <a:buNone/>
                      </a:pPr>
                      <a:endParaRPr lang="en-CA" sz="800" b="0">
                        <a:solidFill>
                          <a:schemeClr val="tx1"/>
                        </a:solidFill>
                        <a:latin typeface="Arial"/>
                      </a:endParaRPr>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CA"/>
                    </a:p>
                  </a:txBody>
                  <a:tcP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871586233"/>
                  </a:ext>
                </a:extLst>
              </a:tr>
              <a:tr h="1497937">
                <a:tc>
                  <a:txBody>
                    <a:bodyPr/>
                    <a:lstStyle/>
                    <a:p>
                      <a:r>
                        <a:rPr lang="en-CA" sz="800" b="1">
                          <a:solidFill>
                            <a:schemeClr val="tx1"/>
                          </a:solidFill>
                          <a:latin typeface="Arial"/>
                        </a:rPr>
                        <a:t>Who is impacted? </a:t>
                      </a:r>
                    </a:p>
                    <a:p>
                      <a:pPr marL="171450" indent="-171450">
                        <a:buFont typeface="Arial" panose="020B0604020202020204" pitchFamily="34" charset="0"/>
                        <a:buChar char="•"/>
                      </a:pPr>
                      <a:r>
                        <a:rPr lang="en-CA" sz="800" b="0">
                          <a:solidFill>
                            <a:schemeClr val="tx1"/>
                          </a:solidFill>
                          <a:latin typeface="Arial"/>
                        </a:rPr>
                        <a:t>Internal service officers across various program/business lines and channels. </a:t>
                      </a:r>
                    </a:p>
                    <a:p>
                      <a:pPr marL="171450" lvl="0" indent="-171450">
                        <a:buFont typeface="Arial" panose="020B0604020202020204" pitchFamily="34" charset="0"/>
                        <a:buChar char="•"/>
                      </a:pPr>
                      <a:r>
                        <a:rPr lang="en-CA" sz="800" b="0">
                          <a:solidFill>
                            <a:schemeClr val="tx1"/>
                          </a:solidFill>
                          <a:latin typeface="Arial"/>
                        </a:rPr>
                        <a:t>BE community</a:t>
                      </a:r>
                    </a:p>
                    <a:p>
                      <a:pPr marL="171450" lvl="0" indent="-171450">
                        <a:buFont typeface="Arial" panose="020B0604020202020204" pitchFamily="34" charset="0"/>
                        <a:buChar char="•"/>
                      </a:pPr>
                      <a:r>
                        <a:rPr lang="en-CA" sz="800" b="0">
                          <a:solidFill>
                            <a:schemeClr val="tx1"/>
                          </a:solidFill>
                          <a:latin typeface="Arial"/>
                        </a:rPr>
                        <a:t>Support staff part of the content development lifecycle training development and delivery </a:t>
                      </a:r>
                    </a:p>
                    <a:p>
                      <a:pPr marL="171450" lvl="0" indent="-171450">
                        <a:buFont typeface="Arial" panose="020B0604020202020204" pitchFamily="34" charset="0"/>
                        <a:buChar char="•"/>
                      </a:pPr>
                      <a:r>
                        <a:rPr lang="en-CA" sz="800" b="0">
                          <a:solidFill>
                            <a:schemeClr val="tx1"/>
                          </a:solidFill>
                          <a:latin typeface="Arial"/>
                        </a:rPr>
                        <a:t>Feedback program</a:t>
                      </a:r>
                    </a:p>
                    <a:p>
                      <a:pPr marL="171450" lvl="0" indent="-171450">
                        <a:buFont typeface="Arial" panose="020B0604020202020204" pitchFamily="34" charset="0"/>
                        <a:buChar char="•"/>
                      </a:pPr>
                      <a:r>
                        <a:rPr lang="en-CA" sz="800" b="0">
                          <a:solidFill>
                            <a:schemeClr val="tx1"/>
                          </a:solidFill>
                          <a:latin typeface="Arial"/>
                        </a:rPr>
                        <a:t>IT staff supporting the solutions</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r>
                        <a:rPr lang="en-CA" sz="800" b="1">
                          <a:solidFill>
                            <a:schemeClr val="tx1"/>
                          </a:solidFill>
                          <a:latin typeface="Arial"/>
                        </a:rPr>
                        <a:t>Supporting what capability? </a:t>
                      </a:r>
                    </a:p>
                    <a:p>
                      <a:pPr lvl="0" algn="l">
                        <a:lnSpc>
                          <a:spcPct val="100000"/>
                        </a:lnSpc>
                        <a:spcBef>
                          <a:spcPts val="0"/>
                        </a:spcBef>
                        <a:spcAft>
                          <a:spcPts val="0"/>
                        </a:spcAft>
                        <a:buNone/>
                      </a:pPr>
                      <a:r>
                        <a:rPr lang="en-CA" sz="800" b="0" i="0" u="none" strike="noStrike" noProof="0">
                          <a:solidFill>
                            <a:srgbClr val="000000"/>
                          </a:solidFill>
                          <a:latin typeface="Arial"/>
                        </a:rPr>
                        <a:t>04 Innovation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07 Service </a:t>
                      </a:r>
                      <a:r>
                        <a:rPr lang="en-US" sz="800" b="0" i="0" u="none" strike="noStrike" noProof="0">
                          <a:solidFill>
                            <a:srgbClr val="000000"/>
                          </a:solidFill>
                          <a:latin typeface="Arial"/>
                        </a:rPr>
                        <a:t> </a:t>
                      </a:r>
                      <a:r>
                        <a:rPr lang="en-CA" sz="800" b="0" i="0" u="none" strike="noStrike" noProof="0">
                          <a:solidFill>
                            <a:srgbClr val="000000"/>
                          </a:solidFill>
                          <a:latin typeface="Arial"/>
                        </a:rPr>
                        <a:t>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12 Channel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14 Content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17 Client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23 Decision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38 Information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40 Work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42 Incident Management</a:t>
                      </a:r>
                      <a:endParaRPr lang="en-CA"/>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endParaRPr lang="en-CA" sz="800" b="0">
                        <a:solidFill>
                          <a:schemeClr val="tx1"/>
                        </a:solidFill>
                        <a:latin typeface="Arial"/>
                      </a:endParaRPr>
                    </a:p>
                  </a:txBody>
                  <a:tcPr>
                    <a:lnL w="28575" cap="flat" cmpd="sng" algn="ctr">
                      <a:solidFill>
                        <a:schemeClr val="accent4"/>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800" b="1">
                          <a:solidFill>
                            <a:schemeClr val="tx1"/>
                          </a:solidFill>
                          <a:latin typeface="Arial"/>
                        </a:rPr>
                        <a:t>What processes are impacted? </a:t>
                      </a:r>
                    </a:p>
                    <a:p>
                      <a:pPr marL="171450" indent="-171450">
                        <a:buFont typeface="Arial" panose="020B0604020202020204" pitchFamily="34" charset="0"/>
                        <a:buChar char="•"/>
                      </a:pPr>
                      <a:r>
                        <a:rPr lang="en-CA" sz="800" b="0">
                          <a:solidFill>
                            <a:schemeClr val="tx1"/>
                          </a:solidFill>
                          <a:latin typeface="Arial"/>
                        </a:rPr>
                        <a:t>Content Development Lifecycle </a:t>
                      </a:r>
                    </a:p>
                    <a:p>
                      <a:pPr marL="628650" lvl="1" indent="-107950">
                        <a:buFont typeface="Courier New" panose="020B0604020202020204" pitchFamily="34" charset="0"/>
                        <a:buChar char="o"/>
                      </a:pPr>
                      <a:r>
                        <a:rPr lang="en-CA" sz="800" b="0">
                          <a:solidFill>
                            <a:schemeClr val="tx1"/>
                          </a:solidFill>
                          <a:latin typeface="Arial"/>
                        </a:rPr>
                        <a:t>Content development </a:t>
                      </a:r>
                      <a:r>
                        <a:rPr lang="en-CA" sz="800" b="0" i="0" u="none" strike="noStrike" noProof="0">
                          <a:solidFill>
                            <a:schemeClr val="tx1"/>
                          </a:solidFill>
                          <a:latin typeface="Arial"/>
                        </a:rPr>
                        <a:t>Process</a:t>
                      </a:r>
                      <a:endParaRPr lang="en-CA">
                        <a:solidFill>
                          <a:schemeClr val="tx1"/>
                        </a:solidFill>
                      </a:endParaRPr>
                    </a:p>
                    <a:p>
                      <a:pPr marL="628650" lvl="1" indent="-107950">
                        <a:buFont typeface="Courier New" panose="020B0604020202020204" pitchFamily="34" charset="0"/>
                        <a:buChar char="o"/>
                      </a:pPr>
                      <a:r>
                        <a:rPr lang="en-CA" sz="800" b="0">
                          <a:solidFill>
                            <a:schemeClr val="tx1"/>
                          </a:solidFill>
                          <a:latin typeface="Arial"/>
                        </a:rPr>
                        <a:t>Validation </a:t>
                      </a:r>
                      <a:r>
                        <a:rPr lang="en-CA" sz="800" b="0" i="0" u="none" strike="noStrike" noProof="0">
                          <a:solidFill>
                            <a:schemeClr val="tx1"/>
                          </a:solidFill>
                          <a:latin typeface="Arial"/>
                        </a:rPr>
                        <a:t>Process</a:t>
                      </a:r>
                    </a:p>
                    <a:p>
                      <a:pPr marL="628650" lvl="1" indent="-107950">
                        <a:buFont typeface="Courier New" panose="020B0604020202020204" pitchFamily="34" charset="0"/>
                        <a:buChar char="o"/>
                      </a:pPr>
                      <a:r>
                        <a:rPr lang="en-CA" sz="800" b="0">
                          <a:solidFill>
                            <a:schemeClr val="tx1"/>
                          </a:solidFill>
                          <a:latin typeface="Arial"/>
                        </a:rPr>
                        <a:t>Editing and translation </a:t>
                      </a:r>
                      <a:r>
                        <a:rPr lang="en-CA" sz="800" b="0" i="0" u="none" strike="noStrike" noProof="0">
                          <a:solidFill>
                            <a:schemeClr val="tx1"/>
                          </a:solidFill>
                          <a:latin typeface="Arial"/>
                        </a:rPr>
                        <a:t>Process</a:t>
                      </a:r>
                    </a:p>
                    <a:p>
                      <a:pPr marL="628650" lvl="1" indent="-107950">
                        <a:buFont typeface="Courier New" panose="020B0604020202020204" pitchFamily="34" charset="0"/>
                        <a:buChar char="o"/>
                      </a:pPr>
                      <a:r>
                        <a:rPr lang="en-CA" sz="800" b="0">
                          <a:solidFill>
                            <a:schemeClr val="tx1"/>
                          </a:solidFill>
                          <a:latin typeface="Arial"/>
                        </a:rPr>
                        <a:t>Publishing Process</a:t>
                      </a:r>
                      <a:endParaRPr lang="en-CA">
                        <a:solidFill>
                          <a:schemeClr val="tx1"/>
                        </a:solidFill>
                      </a:endParaRPr>
                    </a:p>
                    <a:p>
                      <a:pPr marL="628650" lvl="1" indent="-107950">
                        <a:buFont typeface="Courier New" panose="020B0604020202020204" pitchFamily="34" charset="0"/>
                        <a:buChar char="o"/>
                      </a:pPr>
                      <a:r>
                        <a:rPr lang="en-CA" sz="800" b="0">
                          <a:solidFill>
                            <a:schemeClr val="tx1"/>
                          </a:solidFill>
                          <a:latin typeface="Arial"/>
                        </a:rPr>
                        <a:t>Approval </a:t>
                      </a:r>
                      <a:r>
                        <a:rPr lang="en-CA" sz="800" b="0" i="0" u="none" strike="noStrike" noProof="0">
                          <a:solidFill>
                            <a:schemeClr val="tx1"/>
                          </a:solidFill>
                          <a:latin typeface="Arial"/>
                        </a:rPr>
                        <a:t>Process</a:t>
                      </a:r>
                      <a:endParaRPr lang="en-CA">
                        <a:solidFill>
                          <a:schemeClr val="tx1"/>
                        </a:solidFill>
                      </a:endParaRPr>
                    </a:p>
                    <a:p>
                      <a:pPr marL="171450" lvl="0" indent="-171450">
                        <a:buFont typeface="Arial" panose="020B0604020202020204" pitchFamily="34" charset="0"/>
                        <a:buChar char="•"/>
                      </a:pPr>
                      <a:r>
                        <a:rPr lang="en-CA" sz="800" b="0">
                          <a:solidFill>
                            <a:schemeClr val="tx1"/>
                          </a:solidFill>
                          <a:latin typeface="Arial"/>
                        </a:rPr>
                        <a:t>Feedback Process</a:t>
                      </a:r>
                    </a:p>
                    <a:p>
                      <a:pPr marL="171450" lvl="0" indent="-171450">
                        <a:buFont typeface="Arial" panose="020B0604020202020204" pitchFamily="34" charset="0"/>
                        <a:buChar char="•"/>
                      </a:pPr>
                      <a:r>
                        <a:rPr lang="en-CA" sz="800" b="0">
                          <a:solidFill>
                            <a:schemeClr val="tx1"/>
                          </a:solidFill>
                          <a:latin typeface="Arial"/>
                        </a:rPr>
                        <a:t>Enquiry Process</a:t>
                      </a:r>
                    </a:p>
                    <a:p>
                      <a:pPr marL="171450" lvl="0" indent="-171450">
                        <a:buFont typeface="Arial" panose="020B0604020202020204" pitchFamily="34" charset="0"/>
                        <a:buChar char="•"/>
                      </a:pPr>
                      <a:r>
                        <a:rPr lang="en-CA" sz="800" b="0">
                          <a:solidFill>
                            <a:schemeClr val="tx1"/>
                          </a:solidFill>
                          <a:latin typeface="Arial"/>
                        </a:rPr>
                        <a:t>Governance Process</a:t>
                      </a:r>
                    </a:p>
                    <a:p>
                      <a:pPr marL="171450" lvl="0" indent="-171450">
                        <a:buFont typeface="Arial" panose="020B0604020202020204" pitchFamily="34" charset="0"/>
                        <a:buChar char="•"/>
                      </a:pPr>
                      <a:r>
                        <a:rPr lang="en-US" sz="800" b="0" kern="1200" noProof="0">
                          <a:solidFill>
                            <a:schemeClr val="tx1"/>
                          </a:solidFill>
                          <a:latin typeface="Arial"/>
                          <a:ea typeface="+mn-ea"/>
                          <a:cs typeface="+mn-cs"/>
                        </a:rPr>
                        <a:t>Retention, Disposition and Archival Process</a:t>
                      </a:r>
                      <a:endParaRPr lang="en-CA" sz="800" b="0" kern="1200">
                        <a:solidFill>
                          <a:schemeClr val="tx1"/>
                        </a:solidFill>
                        <a:latin typeface="Arial"/>
                        <a:ea typeface="+mn-ea"/>
                        <a:cs typeface="+mn-cs"/>
                      </a:endParaRPr>
                    </a:p>
                    <a:p>
                      <a:pPr marL="171450" lvl="0" indent="-171450">
                        <a:buFont typeface="Arial" panose="020B0604020202020204" pitchFamily="34" charset="0"/>
                        <a:buChar char="•"/>
                      </a:pPr>
                      <a:r>
                        <a:rPr lang="en-US" sz="800" b="0" kern="1200" noProof="0">
                          <a:solidFill>
                            <a:schemeClr val="tx1"/>
                          </a:solidFill>
                          <a:latin typeface="Arial"/>
                          <a:ea typeface="+mn-ea"/>
                          <a:cs typeface="+mn-cs"/>
                        </a:rPr>
                        <a:t>Performance measurement  </a:t>
                      </a:r>
                      <a:endParaRPr lang="en-CA" sz="800" b="0" kern="1200">
                        <a:solidFill>
                          <a:schemeClr val="tx1"/>
                        </a:solidFill>
                        <a:latin typeface="Arial"/>
                        <a:ea typeface="+mn-ea"/>
                        <a:cs typeface="+mn-cs"/>
                      </a:endParaRPr>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r>
                        <a:rPr lang="en-CA" sz="800" b="1">
                          <a:solidFill>
                            <a:schemeClr val="tx1"/>
                          </a:solidFill>
                          <a:latin typeface="Arial"/>
                        </a:rPr>
                        <a:t>Supporting what capability? </a:t>
                      </a:r>
                    </a:p>
                    <a:p>
                      <a:pPr lvl="0" algn="l">
                        <a:lnSpc>
                          <a:spcPct val="100000"/>
                        </a:lnSpc>
                        <a:spcBef>
                          <a:spcPts val="0"/>
                        </a:spcBef>
                        <a:spcAft>
                          <a:spcPts val="0"/>
                        </a:spcAft>
                        <a:buNone/>
                      </a:pPr>
                      <a:r>
                        <a:rPr lang="en-CA" sz="800" b="0" i="0" u="none" strike="noStrike" noProof="0">
                          <a:solidFill>
                            <a:srgbClr val="000000"/>
                          </a:solidFill>
                          <a:latin typeface="Arial"/>
                        </a:rPr>
                        <a:t>04 Innovation Management</a:t>
                      </a:r>
                      <a:r>
                        <a:rPr lang="en-CA" sz="800" b="0" i="0" u="none" strike="noStrike" noProof="0">
                          <a:solidFill>
                            <a:schemeClr val="tx1"/>
                          </a:solidFill>
                        </a:rPr>
                        <a: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07 Service </a:t>
                      </a:r>
                      <a:r>
                        <a:rPr lang="en-US" sz="800" b="0" i="0" u="none" strike="noStrike" noProof="0">
                          <a:solidFill>
                            <a:srgbClr val="000000"/>
                          </a:solidFill>
                          <a:latin typeface="Arial"/>
                        </a:rPr>
                        <a:t> </a:t>
                      </a:r>
                      <a:r>
                        <a:rPr lang="en-CA" sz="800" b="0" i="0" u="none" strike="noStrike" noProof="0">
                          <a:solidFill>
                            <a:srgbClr val="000000"/>
                          </a:solidFill>
                          <a:latin typeface="Arial"/>
                        </a:rPr>
                        <a:t>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12 Channel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14 Content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17 Client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23 Decision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38 Information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40 Work Management</a:t>
                      </a:r>
                      <a:endParaRPr lang="en-CA"/>
                    </a:p>
                    <a:p>
                      <a:pPr lvl="0" algn="l">
                        <a:lnSpc>
                          <a:spcPct val="100000"/>
                        </a:lnSpc>
                        <a:spcBef>
                          <a:spcPts val="0"/>
                        </a:spcBef>
                        <a:spcAft>
                          <a:spcPts val="0"/>
                        </a:spcAft>
                        <a:buNone/>
                      </a:pPr>
                      <a:r>
                        <a:rPr lang="en-CA" sz="800" b="0" i="0" u="none" strike="noStrike" noProof="0">
                          <a:solidFill>
                            <a:srgbClr val="000000"/>
                          </a:solidFill>
                          <a:latin typeface="Arial"/>
                        </a:rPr>
                        <a:t>42 Incident Management</a:t>
                      </a:r>
                      <a:endParaRPr lang="en-CA"/>
                    </a:p>
                    <a:p>
                      <a:pPr lvl="0">
                        <a:buNone/>
                      </a:pPr>
                      <a:endParaRPr lang="en-CA" sz="800" b="0">
                        <a:solidFill>
                          <a:schemeClr val="tx1"/>
                        </a:solidFill>
                        <a:latin typeface="Arial"/>
                      </a:endParaRPr>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293321238"/>
                  </a:ext>
                </a:extLst>
              </a:tr>
              <a:tr h="210647">
                <a:tc gridSpan="2">
                  <a:txBody>
                    <a:bodyPr/>
                    <a:lstStyle/>
                    <a:p>
                      <a:r>
                        <a:rPr lang="en-CA" sz="800" b="1">
                          <a:solidFill>
                            <a:schemeClr val="tx1"/>
                          </a:solidFill>
                          <a:latin typeface="Arial"/>
                          <a:ea typeface="Verdana"/>
                        </a:rPr>
                        <a:t>Our Information/Data</a:t>
                      </a:r>
                    </a:p>
                  </a:txBody>
                  <a:tcPr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CA"/>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CA" sz="800" b="1">
                        <a:solidFill>
                          <a:schemeClr val="tx1"/>
                        </a:solidFill>
                        <a:latin typeface="Arial"/>
                        <a:ea typeface="Verdana"/>
                      </a:endParaRPr>
                    </a:p>
                  </a:txBody>
                  <a:tcPr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CA" sz="800" b="1">
                          <a:solidFill>
                            <a:schemeClr val="tx1"/>
                          </a:solidFill>
                          <a:latin typeface="Arial"/>
                          <a:ea typeface="Verdana"/>
                        </a:rPr>
                        <a:t>Our Technologies</a:t>
                      </a:r>
                    </a:p>
                  </a:txBody>
                  <a:tcPr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CA"/>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2104918"/>
                  </a:ext>
                </a:extLst>
              </a:tr>
              <a:tr h="678753">
                <a:tc gridSpan="2">
                  <a:txBody>
                    <a:bodyPr/>
                    <a:lstStyle/>
                    <a:p>
                      <a:r>
                        <a:rPr lang="en-CA" sz="800" b="1">
                          <a:solidFill>
                            <a:schemeClr val="tx1"/>
                          </a:solidFill>
                          <a:latin typeface="Arial"/>
                        </a:rPr>
                        <a:t>Impact</a:t>
                      </a:r>
                    </a:p>
                    <a:p>
                      <a:pPr marL="171450" indent="-171450">
                        <a:buFont typeface="Arial" panose="020B0604020202020204" pitchFamily="34" charset="0"/>
                        <a:buChar char="•"/>
                      </a:pPr>
                      <a:r>
                        <a:rPr lang="en-CA" sz="800" b="0">
                          <a:solidFill>
                            <a:schemeClr val="tx1"/>
                          </a:solidFill>
                          <a:latin typeface="Arial"/>
                        </a:rPr>
                        <a:t>Knowledge Management articles that reside in various knowledge repositories.</a:t>
                      </a:r>
                    </a:p>
                    <a:p>
                      <a:pPr marL="171450" lvl="0" indent="-171450">
                        <a:buFont typeface="Arial" panose="020B0604020202020204" pitchFamily="34" charset="0"/>
                        <a:buChar char="•"/>
                      </a:pPr>
                      <a:r>
                        <a:rPr lang="en-CA" sz="800" b="0">
                          <a:solidFill>
                            <a:schemeClr val="tx1"/>
                          </a:solidFill>
                          <a:latin typeface="Arial"/>
                        </a:rPr>
                        <a:t>Easier access to consistent and pertaining information and avoiding duplication and redundant information, which will enable to better cater to clients.</a:t>
                      </a:r>
                    </a:p>
                    <a:p>
                      <a:pPr marL="171450" lvl="0" indent="-171450">
                        <a:buFont typeface="Arial" panose="020B0604020202020204" pitchFamily="34" charset="0"/>
                        <a:buChar char="•"/>
                      </a:pPr>
                      <a:r>
                        <a:rPr lang="en-CA" sz="800" b="0">
                          <a:solidFill>
                            <a:schemeClr val="tx1"/>
                          </a:solidFill>
                          <a:latin typeface="Arial"/>
                        </a:rPr>
                        <a:t>Easier management of the information/content life cycle.</a:t>
                      </a:r>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CA"/>
                    </a:p>
                  </a:txBody>
                  <a:tcP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CA" sz="800" b="0">
                        <a:solidFill>
                          <a:schemeClr val="tx1"/>
                        </a:solidFill>
                        <a:latin typeface="Arial"/>
                      </a:endParaRPr>
                    </a:p>
                  </a:txBody>
                  <a:tcPr>
                    <a:lnL w="28575" cap="flat" cmpd="sng" algn="ctr">
                      <a:solidFill>
                        <a:schemeClr val="accent5"/>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CA" sz="800" b="1">
                          <a:solidFill>
                            <a:schemeClr val="tx1"/>
                          </a:solidFill>
                          <a:latin typeface="Arial"/>
                        </a:rPr>
                        <a:t>Impact</a:t>
                      </a:r>
                    </a:p>
                    <a:p>
                      <a:pPr marL="171450" lvl="0" indent="-171450">
                        <a:buFont typeface="Arial" panose="020B0604020202020204" pitchFamily="34" charset="0"/>
                        <a:buChar char="•"/>
                      </a:pPr>
                      <a:r>
                        <a:rPr lang="en-CA" sz="800" b="0">
                          <a:solidFill>
                            <a:schemeClr val="tx1"/>
                          </a:solidFill>
                          <a:latin typeface="Arial"/>
                        </a:rPr>
                        <a:t>Various knowledge management tools and repositories that exist in ESDC.</a:t>
                      </a:r>
                      <a:endParaRPr lang="en-CA"/>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CA"/>
                    </a:p>
                  </a:txBody>
                  <a:tcP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88930254"/>
                  </a:ext>
                </a:extLst>
              </a:tr>
              <a:tr h="1509641">
                <a:tc>
                  <a:txBody>
                    <a:bodyPr/>
                    <a:lstStyle/>
                    <a:p>
                      <a:r>
                        <a:rPr lang="en-CA" sz="800" b="1">
                          <a:solidFill>
                            <a:schemeClr val="tx1"/>
                          </a:solidFill>
                          <a:latin typeface="Arial"/>
                        </a:rPr>
                        <a:t>What information is impacted? </a:t>
                      </a:r>
                    </a:p>
                    <a:p>
                      <a:pPr marL="0" lvl="0" indent="0">
                        <a:buFont typeface="Arial"/>
                        <a:buNone/>
                      </a:pPr>
                      <a:endParaRPr lang="en-CA" sz="800" b="0">
                        <a:solidFill>
                          <a:schemeClr val="tx1"/>
                        </a:solidFill>
                        <a:latin typeface="Arial"/>
                      </a:endParaRPr>
                    </a:p>
                    <a:p>
                      <a:pPr marL="171450" lvl="0" indent="-171450">
                        <a:buFont typeface="Arial"/>
                        <a:buChar char="•"/>
                      </a:pPr>
                      <a:r>
                        <a:rPr lang="en-CA" sz="800" b="0">
                          <a:solidFill>
                            <a:schemeClr val="tx1"/>
                          </a:solidFill>
                          <a:latin typeface="Arial"/>
                        </a:rPr>
                        <a:t>Articles from several knowledge repositories related to:</a:t>
                      </a:r>
                    </a:p>
                    <a:p>
                      <a:pPr marL="457200" lvl="1" indent="-285750">
                        <a:buFont typeface="Courier New"/>
                        <a:buChar char="o"/>
                      </a:pPr>
                      <a:r>
                        <a:rPr lang="en-CA" sz="800" b="0">
                          <a:solidFill>
                            <a:schemeClr val="tx1"/>
                          </a:solidFill>
                          <a:latin typeface="Arial"/>
                        </a:rPr>
                        <a:t>Functional guidance and policies for service agents </a:t>
                      </a:r>
                      <a:endParaRPr lang="en-CA"/>
                    </a:p>
                    <a:p>
                      <a:pPr marL="457200" lvl="1" indent="-285750">
                        <a:buFont typeface="Courier New"/>
                        <a:buChar char="o"/>
                      </a:pPr>
                      <a:r>
                        <a:rPr lang="en-CA" sz="800" b="0">
                          <a:solidFill>
                            <a:schemeClr val="tx1"/>
                          </a:solidFill>
                          <a:latin typeface="Arial"/>
                        </a:rPr>
                        <a:t>Program processes (i.e. SOP, work instruction)</a:t>
                      </a:r>
                      <a:endParaRPr lang="en-CA"/>
                    </a:p>
                    <a:p>
                      <a:pPr marL="457200" lvl="1" indent="-285750">
                        <a:buFont typeface="Courier New"/>
                        <a:buChar char="o"/>
                      </a:pPr>
                      <a:r>
                        <a:rPr lang="en-CA" sz="800" b="0">
                          <a:solidFill>
                            <a:schemeClr val="tx1"/>
                          </a:solidFill>
                          <a:latin typeface="Arial"/>
                        </a:rPr>
                        <a:t>Training materials </a:t>
                      </a:r>
                      <a:endParaRPr lang="en-CA"/>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r>
                        <a:rPr lang="en-CA" sz="800" b="1">
                          <a:solidFill>
                            <a:schemeClr val="tx1"/>
                          </a:solidFill>
                          <a:latin typeface="Arial"/>
                        </a:rPr>
                        <a:t>Supporting what capability? </a:t>
                      </a:r>
                    </a:p>
                    <a:p>
                      <a:endParaRPr lang="en-CA" sz="800" b="0">
                        <a:solidFill>
                          <a:schemeClr val="tx1"/>
                        </a:solidFill>
                        <a:latin typeface="Arial"/>
                      </a:endParaRPr>
                    </a:p>
                    <a:p>
                      <a:pPr lvl="0" algn="l">
                        <a:lnSpc>
                          <a:spcPct val="100000"/>
                        </a:lnSpc>
                        <a:spcBef>
                          <a:spcPts val="0"/>
                        </a:spcBef>
                        <a:spcAft>
                          <a:spcPts val="0"/>
                        </a:spcAft>
                        <a:buNone/>
                      </a:pPr>
                      <a:r>
                        <a:rPr lang="en-CA" sz="800" b="0" i="0" u="none" strike="noStrike" noProof="0">
                          <a:solidFill>
                            <a:srgbClr val="000000"/>
                          </a:solidFill>
                          <a:latin typeface="Arial"/>
                        </a:rPr>
                        <a:t>04 Innovation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07 Service </a:t>
                      </a:r>
                      <a:r>
                        <a:rPr lang="en-US" sz="800" b="0" i="0" u="none" strike="noStrike" noProof="0">
                          <a:solidFill>
                            <a:srgbClr val="000000"/>
                          </a:solidFill>
                          <a:latin typeface="Arial"/>
                        </a:rPr>
                        <a:t> </a:t>
                      </a:r>
                      <a:r>
                        <a:rPr lang="en-CA" sz="800" b="0" i="0" u="none" strike="noStrike" noProof="0">
                          <a:solidFill>
                            <a:srgbClr val="000000"/>
                          </a:solidFill>
                          <a:latin typeface="Arial"/>
                        </a:rPr>
                        <a:t>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12 Channel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14 Content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17 Client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23 Decision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38 Information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40 Work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42 Incident Management</a:t>
                      </a:r>
                      <a:endParaRPr lang="en-CA" sz="800"/>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CA" sz="800" b="0">
                        <a:solidFill>
                          <a:schemeClr val="tx1"/>
                        </a:solidFill>
                        <a:latin typeface="Arial"/>
                      </a:endParaRPr>
                    </a:p>
                  </a:txBody>
                  <a:tcPr>
                    <a:lnL w="28575" cap="flat" cmpd="sng" algn="ctr">
                      <a:solidFill>
                        <a:schemeClr val="accent5"/>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800" b="1">
                          <a:solidFill>
                            <a:schemeClr val="tx1"/>
                          </a:solidFill>
                          <a:latin typeface="Arial"/>
                        </a:rPr>
                        <a:t>What IT is impacted? </a:t>
                      </a:r>
                    </a:p>
                    <a:p>
                      <a:pPr marL="171450" lvl="0" indent="-171450">
                        <a:buClr>
                          <a:srgbClr val="000000"/>
                        </a:buClr>
                        <a:buFont typeface="Arial,Sans-Serif"/>
                        <a:buChar char="•"/>
                      </a:pPr>
                      <a:endParaRPr lang="en-CA" sz="800" b="0" i="0" u="none" strike="noStrike" noProof="0">
                        <a:solidFill>
                          <a:schemeClr val="tx1"/>
                        </a:solidFill>
                        <a:latin typeface="Arial"/>
                      </a:endParaRPr>
                    </a:p>
                    <a:p>
                      <a:pPr marL="171450" lvl="0" indent="-171450">
                        <a:buClr>
                          <a:srgbClr val="000000"/>
                        </a:buClr>
                        <a:buFont typeface="Arial,Sans-Serif"/>
                        <a:buChar char="•"/>
                      </a:pPr>
                      <a:r>
                        <a:rPr lang="en-CA" sz="800" b="0" i="0" u="none" strike="noStrike" noProof="0">
                          <a:solidFill>
                            <a:schemeClr val="tx1"/>
                          </a:solidFill>
                          <a:latin typeface="Arial"/>
                        </a:rPr>
                        <a:t>All information repositories associated with the following KM tools.</a:t>
                      </a:r>
                      <a:endParaRPr lang="en-CA" sz="800" b="0" i="0" u="none" strike="noStrike" noProof="0">
                        <a:solidFill>
                          <a:srgbClr val="000000"/>
                        </a:solidFill>
                        <a:latin typeface="Arial"/>
                      </a:endParaRPr>
                    </a:p>
                    <a:p>
                      <a:pPr marL="457200" lvl="1" indent="-107950" algn="l">
                        <a:lnSpc>
                          <a:spcPct val="100000"/>
                        </a:lnSpc>
                        <a:spcBef>
                          <a:spcPts val="0"/>
                        </a:spcBef>
                        <a:spcAft>
                          <a:spcPts val="0"/>
                        </a:spcAft>
                        <a:buClr>
                          <a:srgbClr val="000000"/>
                        </a:buClr>
                        <a:buFont typeface="Courier New,monospace"/>
                        <a:buChar char="o"/>
                      </a:pPr>
                      <a:r>
                        <a:rPr lang="en-CA" sz="800" b="0" i="0" u="none" strike="noStrike" noProof="0">
                          <a:solidFill>
                            <a:schemeClr val="tx1"/>
                          </a:solidFill>
                          <a:latin typeface="Arial"/>
                        </a:rPr>
                        <a:t>EI ORT</a:t>
                      </a:r>
                      <a:endParaRPr lang="en-CA" sz="800" b="0" i="0" u="none" strike="noStrike" noProof="0">
                        <a:solidFill>
                          <a:srgbClr val="000000"/>
                        </a:solidFill>
                        <a:latin typeface="Arial"/>
                      </a:endParaRPr>
                    </a:p>
                    <a:p>
                      <a:pPr marL="457200" lvl="1" indent="-107950" algn="l">
                        <a:lnSpc>
                          <a:spcPct val="100000"/>
                        </a:lnSpc>
                        <a:spcBef>
                          <a:spcPts val="0"/>
                        </a:spcBef>
                        <a:spcAft>
                          <a:spcPts val="0"/>
                        </a:spcAft>
                        <a:buClr>
                          <a:srgbClr val="000000"/>
                        </a:buClr>
                        <a:buFont typeface="Courier New,monospace"/>
                        <a:buChar char="o"/>
                      </a:pPr>
                      <a:r>
                        <a:rPr lang="en-CA" sz="800" b="0" i="0" u="none" strike="noStrike" noProof="0">
                          <a:solidFill>
                            <a:schemeClr val="tx1"/>
                          </a:solidFill>
                          <a:latin typeface="Arial"/>
                        </a:rPr>
                        <a:t>CRT</a:t>
                      </a:r>
                      <a:endParaRPr lang="en-CA" sz="800" b="0" i="0" u="none" strike="noStrike" noProof="0">
                        <a:solidFill>
                          <a:srgbClr val="000000"/>
                        </a:solidFill>
                        <a:latin typeface="Arial"/>
                      </a:endParaRPr>
                    </a:p>
                    <a:p>
                      <a:pPr marL="457200" lvl="1" indent="-107950" algn="l">
                        <a:lnSpc>
                          <a:spcPct val="100000"/>
                        </a:lnSpc>
                        <a:spcBef>
                          <a:spcPts val="0"/>
                        </a:spcBef>
                        <a:spcAft>
                          <a:spcPts val="0"/>
                        </a:spcAft>
                        <a:buClr>
                          <a:srgbClr val="000000"/>
                        </a:buClr>
                        <a:buFont typeface="Courier New,monospace"/>
                        <a:buChar char="o"/>
                      </a:pPr>
                      <a:r>
                        <a:rPr lang="en-CA" sz="800" b="0" i="0" u="none" strike="noStrike" noProof="0">
                          <a:solidFill>
                            <a:schemeClr val="tx1"/>
                          </a:solidFill>
                          <a:latin typeface="Arial"/>
                        </a:rPr>
                        <a:t>IMPACT</a:t>
                      </a:r>
                      <a:endParaRPr lang="en-CA" sz="800" b="0" i="0" u="none" strike="noStrike" noProof="0">
                        <a:solidFill>
                          <a:srgbClr val="000000"/>
                        </a:solidFill>
                        <a:latin typeface="Arial"/>
                      </a:endParaRPr>
                    </a:p>
                    <a:p>
                      <a:pPr marL="457200" lvl="1" indent="-107950" algn="l">
                        <a:lnSpc>
                          <a:spcPct val="100000"/>
                        </a:lnSpc>
                        <a:spcBef>
                          <a:spcPts val="0"/>
                        </a:spcBef>
                        <a:spcAft>
                          <a:spcPts val="0"/>
                        </a:spcAft>
                        <a:buClr>
                          <a:srgbClr val="000000"/>
                        </a:buClr>
                        <a:buFont typeface="Courier New,monospace"/>
                        <a:buChar char="o"/>
                      </a:pPr>
                      <a:r>
                        <a:rPr lang="en-CA" sz="800" b="0" i="0" u="none" strike="noStrike" noProof="0">
                          <a:solidFill>
                            <a:schemeClr val="tx1"/>
                          </a:solidFill>
                          <a:latin typeface="Arial"/>
                        </a:rPr>
                        <a:t>IOM IRT</a:t>
                      </a:r>
                      <a:endParaRPr lang="en-CA" sz="800" b="0" i="0" u="none" strike="noStrike" noProof="0">
                        <a:solidFill>
                          <a:srgbClr val="000000"/>
                        </a:solidFill>
                        <a:latin typeface="Arial"/>
                      </a:endParaRPr>
                    </a:p>
                    <a:p>
                      <a:pPr marL="457200" lvl="1" indent="-107950" algn="l">
                        <a:lnSpc>
                          <a:spcPct val="100000"/>
                        </a:lnSpc>
                        <a:spcBef>
                          <a:spcPts val="0"/>
                        </a:spcBef>
                        <a:spcAft>
                          <a:spcPts val="0"/>
                        </a:spcAft>
                        <a:buClr>
                          <a:srgbClr val="000000"/>
                        </a:buClr>
                        <a:buFont typeface="Courier New,monospace"/>
                        <a:buChar char="o"/>
                      </a:pPr>
                      <a:r>
                        <a:rPr lang="en-CA" sz="800" b="0" i="0" u="none" strike="noStrike" noProof="0">
                          <a:solidFill>
                            <a:schemeClr val="tx1"/>
                          </a:solidFill>
                          <a:latin typeface="Arial"/>
                        </a:rPr>
                        <a:t>KMT for Pension</a:t>
                      </a:r>
                      <a:endParaRPr lang="en-CA" sz="800" b="0" i="0" u="none" strike="noStrike" noProof="0">
                        <a:solidFill>
                          <a:srgbClr val="000000"/>
                        </a:solidFill>
                        <a:latin typeface="Arial"/>
                      </a:endParaRPr>
                    </a:p>
                    <a:p>
                      <a:pPr marL="457200" lvl="1" indent="-107950" algn="l">
                        <a:lnSpc>
                          <a:spcPct val="100000"/>
                        </a:lnSpc>
                        <a:spcBef>
                          <a:spcPts val="0"/>
                        </a:spcBef>
                        <a:spcAft>
                          <a:spcPts val="0"/>
                        </a:spcAft>
                        <a:buClr>
                          <a:srgbClr val="000000"/>
                        </a:buClr>
                        <a:buFont typeface="Courier New,monospace"/>
                        <a:buChar char="o"/>
                      </a:pPr>
                      <a:r>
                        <a:rPr lang="en-CA" sz="800" b="0" i="0" u="none" strike="noStrike" noProof="0">
                          <a:solidFill>
                            <a:schemeClr val="tx1"/>
                          </a:solidFill>
                          <a:latin typeface="Arial"/>
                        </a:rPr>
                        <a:t>EI PRP</a:t>
                      </a:r>
                      <a:endParaRPr lang="en-CA"/>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r>
                        <a:rPr lang="en-CA" sz="800" b="1">
                          <a:solidFill>
                            <a:schemeClr val="tx1"/>
                          </a:solidFill>
                          <a:latin typeface="Arial"/>
                        </a:rPr>
                        <a:t>Supporting what capability? </a:t>
                      </a:r>
                    </a:p>
                    <a:p>
                      <a:endParaRPr lang="en-CA" sz="800" b="0">
                        <a:solidFill>
                          <a:schemeClr val="tx1"/>
                        </a:solidFill>
                        <a:latin typeface="Arial"/>
                      </a:endParaRPr>
                    </a:p>
                    <a:p>
                      <a:pPr lvl="0" algn="l">
                        <a:lnSpc>
                          <a:spcPct val="100000"/>
                        </a:lnSpc>
                        <a:spcBef>
                          <a:spcPts val="0"/>
                        </a:spcBef>
                        <a:spcAft>
                          <a:spcPts val="0"/>
                        </a:spcAft>
                        <a:buNone/>
                      </a:pPr>
                      <a:r>
                        <a:rPr lang="en-CA" sz="800" b="0" i="0" u="none" strike="noStrike" noProof="0">
                          <a:solidFill>
                            <a:srgbClr val="000000"/>
                          </a:solidFill>
                          <a:latin typeface="Arial"/>
                        </a:rPr>
                        <a:t>04 Innovation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07 Service </a:t>
                      </a:r>
                      <a:r>
                        <a:rPr lang="en-US" sz="800" b="0" i="0" u="none" strike="noStrike" noProof="0">
                          <a:solidFill>
                            <a:srgbClr val="000000"/>
                          </a:solidFill>
                          <a:latin typeface="Arial"/>
                        </a:rPr>
                        <a:t> </a:t>
                      </a:r>
                      <a:r>
                        <a:rPr lang="en-CA" sz="800" b="0" i="0" u="none" strike="noStrike" noProof="0">
                          <a:solidFill>
                            <a:srgbClr val="000000"/>
                          </a:solidFill>
                          <a:latin typeface="Arial"/>
                        </a:rPr>
                        <a:t>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12 Channel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14 Content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17 Client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23 Decision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38 Information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40 Work Management.</a:t>
                      </a:r>
                      <a:endParaRPr lang="en-CA" sz="800"/>
                    </a:p>
                    <a:p>
                      <a:pPr lvl="0" algn="l">
                        <a:lnSpc>
                          <a:spcPct val="100000"/>
                        </a:lnSpc>
                        <a:spcBef>
                          <a:spcPts val="0"/>
                        </a:spcBef>
                        <a:spcAft>
                          <a:spcPts val="0"/>
                        </a:spcAft>
                        <a:buNone/>
                      </a:pPr>
                      <a:r>
                        <a:rPr lang="en-CA" sz="800" b="0" i="0" u="none" strike="noStrike" noProof="0">
                          <a:solidFill>
                            <a:srgbClr val="000000"/>
                          </a:solidFill>
                          <a:latin typeface="Arial"/>
                        </a:rPr>
                        <a:t>42 Incident Management</a:t>
                      </a:r>
                      <a:endParaRPr lang="en-CA" sz="80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353209569"/>
                  </a:ext>
                </a:extLst>
              </a:tr>
            </a:tbl>
          </a:graphicData>
        </a:graphic>
      </p:graphicFrame>
      <p:sp>
        <p:nvSpPr>
          <p:cNvPr id="2" name="Slide Number Placeholder 3">
            <a:extLst>
              <a:ext uri="{FF2B5EF4-FFF2-40B4-BE49-F238E27FC236}">
                <a16:creationId xmlns:a16="http://schemas.microsoft.com/office/drawing/2014/main" id="{1BAD9935-BF10-455A-8C3C-E5A55E341D4B}"/>
              </a:ext>
            </a:extLst>
          </p:cNvPr>
          <p:cNvSpPr>
            <a:spLocks noGrp="1"/>
          </p:cNvSpPr>
          <p:nvPr>
            <p:ph type="sldNum" sz="quarter" idx="12"/>
          </p:nvPr>
        </p:nvSpPr>
        <p:spPr>
          <a:xfrm>
            <a:off x="8737600" y="6356351"/>
            <a:ext cx="2844800" cy="365125"/>
          </a:xfrm>
        </p:spPr>
        <p:txBody>
          <a:bodyPr/>
          <a:lstStyle/>
          <a:p>
            <a:fld id="{ABCE2B6B-7FFE-FA46-BED3-31567387080B}" type="slidenum">
              <a:rPr lang="en-US" sz="800" dirty="0" smtClean="0">
                <a:solidFill>
                  <a:srgbClr val="7F7F7F"/>
                </a:solidFill>
                <a:latin typeface="Arial"/>
                <a:ea typeface="Verdana"/>
                <a:cs typeface="Arial"/>
              </a:rPr>
              <a:t>4</a:t>
            </a:fld>
            <a:endParaRPr lang="en-US" sz="800">
              <a:solidFill>
                <a:srgbClr val="7F7F7F"/>
              </a:solidFill>
              <a:latin typeface="Arial"/>
              <a:ea typeface="Verdana"/>
              <a:cs typeface="Arial"/>
            </a:endParaRPr>
          </a:p>
        </p:txBody>
      </p:sp>
      <p:sp>
        <p:nvSpPr>
          <p:cNvPr id="25" name="TextBox 24">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r>
              <a:rPr lang="en-CA" sz="1200" i="1">
                <a:solidFill>
                  <a:schemeClr val="tx1">
                    <a:lumMod val="50000"/>
                    <a:lumOff val="50000"/>
                  </a:schemeClr>
                </a:solidFill>
                <a:latin typeface="Arial"/>
                <a:ea typeface="Verdana"/>
                <a:cs typeface="Arial"/>
              </a:rPr>
              <a:t>This initiative is anticipated to have the following impact on these internal business dimensions: </a:t>
            </a:r>
            <a:endParaRPr lang="en-US" i="1">
              <a:solidFill>
                <a:schemeClr val="tx1">
                  <a:lumMod val="50000"/>
                  <a:lumOff val="50000"/>
                </a:schemeClr>
              </a:solidFill>
            </a:endParaRPr>
          </a:p>
        </p:txBody>
      </p:sp>
      <p:sp>
        <p:nvSpPr>
          <p:cNvPr id="26" name="TextBox 25"/>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What are the impacts of this initiative?</a:t>
            </a:r>
          </a:p>
        </p:txBody>
      </p:sp>
    </p:spTree>
    <p:extLst>
      <p:ext uri="{BB962C8B-B14F-4D97-AF65-F5344CB8AC3E}">
        <p14:creationId xmlns:p14="http://schemas.microsoft.com/office/powerpoint/2010/main" val="200981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5</a:t>
            </a:fld>
            <a:endParaRPr lang="en-US" sz="800">
              <a:solidFill>
                <a:schemeClr val="bg1">
                  <a:lumMod val="50000"/>
                </a:schemeClr>
              </a:solidFill>
              <a:latin typeface="Arial"/>
              <a:ea typeface="Verdana"/>
              <a:cs typeface="Arial"/>
            </a:endParaRPr>
          </a:p>
        </p:txBody>
      </p:sp>
      <p:sp>
        <p:nvSpPr>
          <p:cNvPr id="7" name="Rectangle 6"/>
          <p:cNvSpPr/>
          <p:nvPr/>
        </p:nvSpPr>
        <p:spPr>
          <a:xfrm>
            <a:off x="607817" y="932253"/>
            <a:ext cx="10987176" cy="5275338"/>
          </a:xfrm>
          <a:prstGeom prst="rect">
            <a:avLst/>
          </a:prstGeom>
          <a:noFill/>
          <a:ln w="19050">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lIns="91440" tIns="45720" rIns="91440" bIns="45720" rtlCol="0" anchor="t"/>
          <a:lstStyle/>
          <a:p>
            <a:r>
              <a:rPr lang="en-US" b="1">
                <a:solidFill>
                  <a:schemeClr val="tx1"/>
                </a:solidFill>
                <a:latin typeface="Arial"/>
                <a:ea typeface="Verdana"/>
                <a:cs typeface="Arial"/>
              </a:rPr>
              <a:t>Search: </a:t>
            </a:r>
            <a:r>
              <a:rPr lang="en-US">
                <a:solidFill>
                  <a:schemeClr val="tx1"/>
                </a:solidFill>
                <a:latin typeface="Arial"/>
                <a:ea typeface="Verdana"/>
                <a:cs typeface="Arial"/>
              </a:rPr>
              <a:t>Extend and update the existing "Assist Me" AI search functionality for use within the new content repository. This includes implementing contextualized, role-based search—allowing the system to tailor results based on the user’s role and responsibilities. The solution must meet Protected B requirements.</a:t>
            </a:r>
          </a:p>
          <a:p>
            <a:endParaRPr lang="en-US">
              <a:solidFill>
                <a:schemeClr val="tx1"/>
              </a:solidFill>
              <a:latin typeface="Arial"/>
              <a:ea typeface="Verdana"/>
              <a:cs typeface="Arial"/>
            </a:endParaRPr>
          </a:p>
          <a:p>
            <a:r>
              <a:rPr lang="en-US" b="1">
                <a:solidFill>
                  <a:schemeClr val="tx1"/>
                </a:solidFill>
                <a:latin typeface="Arial"/>
                <a:ea typeface="Verdana"/>
                <a:cs typeface="Arial"/>
              </a:rPr>
              <a:t>Content Assistant: </a:t>
            </a:r>
            <a:r>
              <a:rPr lang="en-US">
                <a:solidFill>
                  <a:schemeClr val="tx1"/>
                </a:solidFill>
                <a:latin typeface="Arial"/>
                <a:ea typeface="Verdana"/>
                <a:cs typeface="Arial"/>
              </a:rPr>
              <a:t>An AI-powered assistant to support content creators in editing, maintaining, and generating new content within the new solution. For example, users could input policy or procedural changes for the AI to suggest edits to existing articles or provide new information for the AI to help draft new content.</a:t>
            </a:r>
          </a:p>
          <a:p>
            <a:endParaRPr lang="en-US">
              <a:solidFill>
                <a:schemeClr val="tx1"/>
              </a:solidFill>
              <a:latin typeface="Arial"/>
              <a:ea typeface="Verdana"/>
              <a:cs typeface="Arial"/>
            </a:endParaRPr>
          </a:p>
          <a:p>
            <a:r>
              <a:rPr lang="en-US" b="1">
                <a:solidFill>
                  <a:schemeClr val="tx1"/>
                </a:solidFill>
                <a:latin typeface="Arial"/>
                <a:ea typeface="Verdana"/>
                <a:cs typeface="Arial"/>
              </a:rPr>
              <a:t>Data Consolidator and Writer: </a:t>
            </a:r>
            <a:r>
              <a:rPr lang="en-US">
                <a:solidFill>
                  <a:schemeClr val="tx1"/>
                </a:solidFill>
                <a:latin typeface="Arial"/>
                <a:ea typeface="Verdana"/>
                <a:cs typeface="Arial"/>
              </a:rPr>
              <a:t>An AI tool to support the migration of content from the existing tools to the new solution. This would involve identifying content overlap, reformatting, and rewriting where necessary, and generating draft articles for business review and approval.</a:t>
            </a:r>
          </a:p>
          <a:p>
            <a:endParaRPr lang="en-US">
              <a:solidFill>
                <a:schemeClr val="tx1"/>
              </a:solidFill>
              <a:latin typeface="Arial"/>
              <a:ea typeface="Verdana"/>
              <a:cs typeface="Arial"/>
            </a:endParaRPr>
          </a:p>
          <a:p>
            <a:r>
              <a:rPr lang="en-US" b="1">
                <a:solidFill>
                  <a:schemeClr val="tx1"/>
                </a:solidFill>
                <a:latin typeface="Arial"/>
                <a:ea typeface="Verdana"/>
                <a:cs typeface="Arial"/>
              </a:rPr>
              <a:t>Reporting / user engagement: </a:t>
            </a:r>
            <a:r>
              <a:rPr lang="en-US">
                <a:solidFill>
                  <a:schemeClr val="tx1"/>
                </a:solidFill>
                <a:latin typeface="Arial"/>
                <a:ea typeface="Verdana"/>
                <a:cs typeface="Arial"/>
              </a:rPr>
              <a:t>An AI tool to report on insights of which content is accessed the most and why. Allowing us to find solutions to the most common problems our clients face.</a:t>
            </a:r>
          </a:p>
          <a:p>
            <a:endParaRPr lang="en-US">
              <a:solidFill>
                <a:schemeClr val="tx1"/>
              </a:solidFill>
              <a:latin typeface="Arial"/>
              <a:ea typeface="Verdana"/>
              <a:cs typeface="Arial"/>
            </a:endParaRPr>
          </a:p>
          <a:p>
            <a:r>
              <a:rPr lang="en-US" b="1">
                <a:solidFill>
                  <a:schemeClr val="tx1"/>
                </a:solidFill>
                <a:latin typeface="Arial"/>
                <a:ea typeface="Verdana"/>
                <a:cs typeface="Arial"/>
              </a:rPr>
              <a:t>Security and Governance:</a:t>
            </a:r>
            <a:r>
              <a:rPr lang="en-US">
                <a:solidFill>
                  <a:schemeClr val="tx1"/>
                </a:solidFill>
                <a:latin typeface="Arial"/>
                <a:ea typeface="Verdana"/>
                <a:cs typeface="Arial"/>
              </a:rPr>
              <a:t> An AI tool to help ensure security compliance and identify risks. Ensuring content is tagged appropriately. The tool must meet Protected B requirements.</a:t>
            </a:r>
            <a:endParaRPr lang="en-US">
              <a:solidFill>
                <a:srgbClr val="FF0000"/>
              </a:solidFill>
              <a:latin typeface="Arial"/>
              <a:ea typeface="Verdana"/>
              <a:cs typeface="Calibri"/>
            </a:endParaRPr>
          </a:p>
        </p:txBody>
      </p:sp>
      <p:sp>
        <p:nvSpPr>
          <p:cNvPr id="5" name="TextBox 4"/>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AI Enablement</a:t>
            </a:r>
          </a:p>
        </p:txBody>
      </p:sp>
    </p:spTree>
    <p:extLst>
      <p:ext uri="{BB962C8B-B14F-4D97-AF65-F5344CB8AC3E}">
        <p14:creationId xmlns:p14="http://schemas.microsoft.com/office/powerpoint/2010/main" val="782764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890949765"/>
              </p:ext>
            </p:extLst>
          </p:nvPr>
        </p:nvGraphicFramePr>
        <p:xfrm>
          <a:off x="0" y="45720"/>
          <a:ext cx="12191996" cy="6756722"/>
        </p:xfrm>
        <a:graphic>
          <a:graphicData uri="http://schemas.openxmlformats.org/drawingml/2006/table">
            <a:tbl>
              <a:tblPr firstRow="1" bandRow="1">
                <a:tableStyleId>{5C22544A-7EE6-4342-B048-85BDC9FD1C3A}</a:tableStyleId>
              </a:tblPr>
              <a:tblGrid>
                <a:gridCol w="70157">
                  <a:extLst>
                    <a:ext uri="{9D8B030D-6E8A-4147-A177-3AD203B41FA5}">
                      <a16:colId xmlns:a16="http://schemas.microsoft.com/office/drawing/2014/main" val="2466662713"/>
                    </a:ext>
                  </a:extLst>
                </a:gridCol>
                <a:gridCol w="799795">
                  <a:extLst>
                    <a:ext uri="{9D8B030D-6E8A-4147-A177-3AD203B41FA5}">
                      <a16:colId xmlns:a16="http://schemas.microsoft.com/office/drawing/2014/main" val="3068199606"/>
                    </a:ext>
                  </a:extLst>
                </a:gridCol>
                <a:gridCol w="280630">
                  <a:extLst>
                    <a:ext uri="{9D8B030D-6E8A-4147-A177-3AD203B41FA5}">
                      <a16:colId xmlns:a16="http://schemas.microsoft.com/office/drawing/2014/main" val="4277872595"/>
                    </a:ext>
                  </a:extLst>
                </a:gridCol>
                <a:gridCol w="80731">
                  <a:extLst>
                    <a:ext uri="{9D8B030D-6E8A-4147-A177-3AD203B41FA5}">
                      <a16:colId xmlns:a16="http://schemas.microsoft.com/office/drawing/2014/main" val="4179647824"/>
                    </a:ext>
                  </a:extLst>
                </a:gridCol>
                <a:gridCol w="199900">
                  <a:extLst>
                    <a:ext uri="{9D8B030D-6E8A-4147-A177-3AD203B41FA5}">
                      <a16:colId xmlns:a16="http://schemas.microsoft.com/office/drawing/2014/main" val="3337065697"/>
                    </a:ext>
                  </a:extLst>
                </a:gridCol>
                <a:gridCol w="384407">
                  <a:extLst>
                    <a:ext uri="{9D8B030D-6E8A-4147-A177-3AD203B41FA5}">
                      <a16:colId xmlns:a16="http://schemas.microsoft.com/office/drawing/2014/main" val="1562193730"/>
                    </a:ext>
                  </a:extLst>
                </a:gridCol>
                <a:gridCol w="178922">
                  <a:extLst>
                    <a:ext uri="{9D8B030D-6E8A-4147-A177-3AD203B41FA5}">
                      <a16:colId xmlns:a16="http://schemas.microsoft.com/office/drawing/2014/main" val="2603663039"/>
                    </a:ext>
                  </a:extLst>
                </a:gridCol>
                <a:gridCol w="181311">
                  <a:extLst>
                    <a:ext uri="{9D8B030D-6E8A-4147-A177-3AD203B41FA5}">
                      <a16:colId xmlns:a16="http://schemas.microsoft.com/office/drawing/2014/main" val="3960793510"/>
                    </a:ext>
                  </a:extLst>
                </a:gridCol>
                <a:gridCol w="99466">
                  <a:extLst>
                    <a:ext uri="{9D8B030D-6E8A-4147-A177-3AD203B41FA5}">
                      <a16:colId xmlns:a16="http://schemas.microsoft.com/office/drawing/2014/main" val="21048026"/>
                    </a:ext>
                  </a:extLst>
                </a:gridCol>
                <a:gridCol w="44992">
                  <a:extLst>
                    <a:ext uri="{9D8B030D-6E8A-4147-A177-3AD203B41FA5}">
                      <a16:colId xmlns:a16="http://schemas.microsoft.com/office/drawing/2014/main" val="1719413699"/>
                    </a:ext>
                  </a:extLst>
                </a:gridCol>
                <a:gridCol w="285523">
                  <a:extLst>
                    <a:ext uri="{9D8B030D-6E8A-4147-A177-3AD203B41FA5}">
                      <a16:colId xmlns:a16="http://schemas.microsoft.com/office/drawing/2014/main" val="84929169"/>
                    </a:ext>
                  </a:extLst>
                </a:gridCol>
                <a:gridCol w="431815">
                  <a:extLst>
                    <a:ext uri="{9D8B030D-6E8A-4147-A177-3AD203B41FA5}">
                      <a16:colId xmlns:a16="http://schemas.microsoft.com/office/drawing/2014/main" val="3391422822"/>
                    </a:ext>
                  </a:extLst>
                </a:gridCol>
                <a:gridCol w="52637">
                  <a:extLst>
                    <a:ext uri="{9D8B030D-6E8A-4147-A177-3AD203B41FA5}">
                      <a16:colId xmlns:a16="http://schemas.microsoft.com/office/drawing/2014/main" val="1128330198"/>
                    </a:ext>
                  </a:extLst>
                </a:gridCol>
                <a:gridCol w="48796">
                  <a:extLst>
                    <a:ext uri="{9D8B030D-6E8A-4147-A177-3AD203B41FA5}">
                      <a16:colId xmlns:a16="http://schemas.microsoft.com/office/drawing/2014/main" val="3046729088"/>
                    </a:ext>
                  </a:extLst>
                </a:gridCol>
                <a:gridCol w="135882">
                  <a:extLst>
                    <a:ext uri="{9D8B030D-6E8A-4147-A177-3AD203B41FA5}">
                      <a16:colId xmlns:a16="http://schemas.microsoft.com/office/drawing/2014/main" val="4181210616"/>
                    </a:ext>
                  </a:extLst>
                </a:gridCol>
                <a:gridCol w="117828">
                  <a:extLst>
                    <a:ext uri="{9D8B030D-6E8A-4147-A177-3AD203B41FA5}">
                      <a16:colId xmlns:a16="http://schemas.microsoft.com/office/drawing/2014/main" val="3157953162"/>
                    </a:ext>
                  </a:extLst>
                </a:gridCol>
                <a:gridCol w="366251">
                  <a:extLst>
                    <a:ext uri="{9D8B030D-6E8A-4147-A177-3AD203B41FA5}">
                      <a16:colId xmlns:a16="http://schemas.microsoft.com/office/drawing/2014/main" val="1432524475"/>
                    </a:ext>
                  </a:extLst>
                </a:gridCol>
                <a:gridCol w="117480">
                  <a:extLst>
                    <a:ext uri="{9D8B030D-6E8A-4147-A177-3AD203B41FA5}">
                      <a16:colId xmlns:a16="http://schemas.microsoft.com/office/drawing/2014/main" val="3662964311"/>
                    </a:ext>
                  </a:extLst>
                </a:gridCol>
                <a:gridCol w="85004">
                  <a:extLst>
                    <a:ext uri="{9D8B030D-6E8A-4147-A177-3AD203B41FA5}">
                      <a16:colId xmlns:a16="http://schemas.microsoft.com/office/drawing/2014/main" val="2531172447"/>
                    </a:ext>
                  </a:extLst>
                </a:gridCol>
                <a:gridCol w="378498">
                  <a:extLst>
                    <a:ext uri="{9D8B030D-6E8A-4147-A177-3AD203B41FA5}">
                      <a16:colId xmlns:a16="http://schemas.microsoft.com/office/drawing/2014/main" val="337661854"/>
                    </a:ext>
                  </a:extLst>
                </a:gridCol>
                <a:gridCol w="120823">
                  <a:extLst>
                    <a:ext uri="{9D8B030D-6E8A-4147-A177-3AD203B41FA5}">
                      <a16:colId xmlns:a16="http://schemas.microsoft.com/office/drawing/2014/main" val="3922749614"/>
                    </a:ext>
                  </a:extLst>
                </a:gridCol>
                <a:gridCol w="271617">
                  <a:extLst>
                    <a:ext uri="{9D8B030D-6E8A-4147-A177-3AD203B41FA5}">
                      <a16:colId xmlns:a16="http://schemas.microsoft.com/office/drawing/2014/main" val="1566033701"/>
                    </a:ext>
                  </a:extLst>
                </a:gridCol>
                <a:gridCol w="46731">
                  <a:extLst>
                    <a:ext uri="{9D8B030D-6E8A-4147-A177-3AD203B41FA5}">
                      <a16:colId xmlns:a16="http://schemas.microsoft.com/office/drawing/2014/main" val="902549675"/>
                    </a:ext>
                  </a:extLst>
                </a:gridCol>
                <a:gridCol w="125572">
                  <a:extLst>
                    <a:ext uri="{9D8B030D-6E8A-4147-A177-3AD203B41FA5}">
                      <a16:colId xmlns:a16="http://schemas.microsoft.com/office/drawing/2014/main" val="3093244593"/>
                    </a:ext>
                  </a:extLst>
                </a:gridCol>
                <a:gridCol w="186726">
                  <a:extLst>
                    <a:ext uri="{9D8B030D-6E8A-4147-A177-3AD203B41FA5}">
                      <a16:colId xmlns:a16="http://schemas.microsoft.com/office/drawing/2014/main" val="2513473133"/>
                    </a:ext>
                  </a:extLst>
                </a:gridCol>
                <a:gridCol w="326254">
                  <a:extLst>
                    <a:ext uri="{9D8B030D-6E8A-4147-A177-3AD203B41FA5}">
                      <a16:colId xmlns:a16="http://schemas.microsoft.com/office/drawing/2014/main" val="3436805215"/>
                    </a:ext>
                  </a:extLst>
                </a:gridCol>
                <a:gridCol w="117247">
                  <a:extLst>
                    <a:ext uri="{9D8B030D-6E8A-4147-A177-3AD203B41FA5}">
                      <a16:colId xmlns:a16="http://schemas.microsoft.com/office/drawing/2014/main" val="369306493"/>
                    </a:ext>
                  </a:extLst>
                </a:gridCol>
                <a:gridCol w="117247">
                  <a:extLst>
                    <a:ext uri="{9D8B030D-6E8A-4147-A177-3AD203B41FA5}">
                      <a16:colId xmlns:a16="http://schemas.microsoft.com/office/drawing/2014/main" val="2644610179"/>
                    </a:ext>
                  </a:extLst>
                </a:gridCol>
                <a:gridCol w="44992">
                  <a:extLst>
                    <a:ext uri="{9D8B030D-6E8A-4147-A177-3AD203B41FA5}">
                      <a16:colId xmlns:a16="http://schemas.microsoft.com/office/drawing/2014/main" val="1705198849"/>
                    </a:ext>
                  </a:extLst>
                </a:gridCol>
                <a:gridCol w="398764">
                  <a:extLst>
                    <a:ext uri="{9D8B030D-6E8A-4147-A177-3AD203B41FA5}">
                      <a16:colId xmlns:a16="http://schemas.microsoft.com/office/drawing/2014/main" val="2955189775"/>
                    </a:ext>
                  </a:extLst>
                </a:gridCol>
                <a:gridCol w="398764">
                  <a:extLst>
                    <a:ext uri="{9D8B030D-6E8A-4147-A177-3AD203B41FA5}">
                      <a16:colId xmlns:a16="http://schemas.microsoft.com/office/drawing/2014/main" val="3864852998"/>
                    </a:ext>
                  </a:extLst>
                </a:gridCol>
                <a:gridCol w="44992">
                  <a:extLst>
                    <a:ext uri="{9D8B030D-6E8A-4147-A177-3AD203B41FA5}">
                      <a16:colId xmlns:a16="http://schemas.microsoft.com/office/drawing/2014/main" val="784464494"/>
                    </a:ext>
                  </a:extLst>
                </a:gridCol>
                <a:gridCol w="117247">
                  <a:extLst>
                    <a:ext uri="{9D8B030D-6E8A-4147-A177-3AD203B41FA5}">
                      <a16:colId xmlns:a16="http://schemas.microsoft.com/office/drawing/2014/main" val="3606931128"/>
                    </a:ext>
                  </a:extLst>
                </a:gridCol>
                <a:gridCol w="117247">
                  <a:extLst>
                    <a:ext uri="{9D8B030D-6E8A-4147-A177-3AD203B41FA5}">
                      <a16:colId xmlns:a16="http://schemas.microsoft.com/office/drawing/2014/main" val="1175968430"/>
                    </a:ext>
                  </a:extLst>
                </a:gridCol>
                <a:gridCol w="326254">
                  <a:extLst>
                    <a:ext uri="{9D8B030D-6E8A-4147-A177-3AD203B41FA5}">
                      <a16:colId xmlns:a16="http://schemas.microsoft.com/office/drawing/2014/main" val="3014051474"/>
                    </a:ext>
                  </a:extLst>
                </a:gridCol>
                <a:gridCol w="186726">
                  <a:extLst>
                    <a:ext uri="{9D8B030D-6E8A-4147-A177-3AD203B41FA5}">
                      <a16:colId xmlns:a16="http://schemas.microsoft.com/office/drawing/2014/main" val="3765884230"/>
                    </a:ext>
                  </a:extLst>
                </a:gridCol>
                <a:gridCol w="125572">
                  <a:extLst>
                    <a:ext uri="{9D8B030D-6E8A-4147-A177-3AD203B41FA5}">
                      <a16:colId xmlns:a16="http://schemas.microsoft.com/office/drawing/2014/main" val="660690196"/>
                    </a:ext>
                  </a:extLst>
                </a:gridCol>
                <a:gridCol w="46731">
                  <a:extLst>
                    <a:ext uri="{9D8B030D-6E8A-4147-A177-3AD203B41FA5}">
                      <a16:colId xmlns:a16="http://schemas.microsoft.com/office/drawing/2014/main" val="4213698326"/>
                    </a:ext>
                  </a:extLst>
                </a:gridCol>
                <a:gridCol w="271617">
                  <a:extLst>
                    <a:ext uri="{9D8B030D-6E8A-4147-A177-3AD203B41FA5}">
                      <a16:colId xmlns:a16="http://schemas.microsoft.com/office/drawing/2014/main" val="109777580"/>
                    </a:ext>
                  </a:extLst>
                </a:gridCol>
                <a:gridCol w="120823">
                  <a:extLst>
                    <a:ext uri="{9D8B030D-6E8A-4147-A177-3AD203B41FA5}">
                      <a16:colId xmlns:a16="http://schemas.microsoft.com/office/drawing/2014/main" val="2429322470"/>
                    </a:ext>
                  </a:extLst>
                </a:gridCol>
                <a:gridCol w="378498">
                  <a:extLst>
                    <a:ext uri="{9D8B030D-6E8A-4147-A177-3AD203B41FA5}">
                      <a16:colId xmlns:a16="http://schemas.microsoft.com/office/drawing/2014/main" val="2059820941"/>
                    </a:ext>
                  </a:extLst>
                </a:gridCol>
                <a:gridCol w="85004">
                  <a:extLst>
                    <a:ext uri="{9D8B030D-6E8A-4147-A177-3AD203B41FA5}">
                      <a16:colId xmlns:a16="http://schemas.microsoft.com/office/drawing/2014/main" val="55982830"/>
                    </a:ext>
                  </a:extLst>
                </a:gridCol>
                <a:gridCol w="117480">
                  <a:extLst>
                    <a:ext uri="{9D8B030D-6E8A-4147-A177-3AD203B41FA5}">
                      <a16:colId xmlns:a16="http://schemas.microsoft.com/office/drawing/2014/main" val="306330835"/>
                    </a:ext>
                  </a:extLst>
                </a:gridCol>
                <a:gridCol w="366251">
                  <a:extLst>
                    <a:ext uri="{9D8B030D-6E8A-4147-A177-3AD203B41FA5}">
                      <a16:colId xmlns:a16="http://schemas.microsoft.com/office/drawing/2014/main" val="3885014091"/>
                    </a:ext>
                  </a:extLst>
                </a:gridCol>
                <a:gridCol w="117828">
                  <a:extLst>
                    <a:ext uri="{9D8B030D-6E8A-4147-A177-3AD203B41FA5}">
                      <a16:colId xmlns:a16="http://schemas.microsoft.com/office/drawing/2014/main" val="3390911243"/>
                    </a:ext>
                  </a:extLst>
                </a:gridCol>
                <a:gridCol w="135882">
                  <a:extLst>
                    <a:ext uri="{9D8B030D-6E8A-4147-A177-3AD203B41FA5}">
                      <a16:colId xmlns:a16="http://schemas.microsoft.com/office/drawing/2014/main" val="1884877518"/>
                    </a:ext>
                  </a:extLst>
                </a:gridCol>
                <a:gridCol w="48796">
                  <a:extLst>
                    <a:ext uri="{9D8B030D-6E8A-4147-A177-3AD203B41FA5}">
                      <a16:colId xmlns:a16="http://schemas.microsoft.com/office/drawing/2014/main" val="1617777476"/>
                    </a:ext>
                  </a:extLst>
                </a:gridCol>
                <a:gridCol w="52637">
                  <a:extLst>
                    <a:ext uri="{9D8B030D-6E8A-4147-A177-3AD203B41FA5}">
                      <a16:colId xmlns:a16="http://schemas.microsoft.com/office/drawing/2014/main" val="1297767665"/>
                    </a:ext>
                  </a:extLst>
                </a:gridCol>
                <a:gridCol w="431815">
                  <a:extLst>
                    <a:ext uri="{9D8B030D-6E8A-4147-A177-3AD203B41FA5}">
                      <a16:colId xmlns:a16="http://schemas.microsoft.com/office/drawing/2014/main" val="4271768835"/>
                    </a:ext>
                  </a:extLst>
                </a:gridCol>
                <a:gridCol w="285523">
                  <a:extLst>
                    <a:ext uri="{9D8B030D-6E8A-4147-A177-3AD203B41FA5}">
                      <a16:colId xmlns:a16="http://schemas.microsoft.com/office/drawing/2014/main" val="2396509563"/>
                    </a:ext>
                  </a:extLst>
                </a:gridCol>
                <a:gridCol w="44992">
                  <a:extLst>
                    <a:ext uri="{9D8B030D-6E8A-4147-A177-3AD203B41FA5}">
                      <a16:colId xmlns:a16="http://schemas.microsoft.com/office/drawing/2014/main" val="1753382205"/>
                    </a:ext>
                  </a:extLst>
                </a:gridCol>
                <a:gridCol w="99466">
                  <a:extLst>
                    <a:ext uri="{9D8B030D-6E8A-4147-A177-3AD203B41FA5}">
                      <a16:colId xmlns:a16="http://schemas.microsoft.com/office/drawing/2014/main" val="3065205124"/>
                    </a:ext>
                  </a:extLst>
                </a:gridCol>
                <a:gridCol w="181311">
                  <a:extLst>
                    <a:ext uri="{9D8B030D-6E8A-4147-A177-3AD203B41FA5}">
                      <a16:colId xmlns:a16="http://schemas.microsoft.com/office/drawing/2014/main" val="173290056"/>
                    </a:ext>
                  </a:extLst>
                </a:gridCol>
                <a:gridCol w="178922">
                  <a:extLst>
                    <a:ext uri="{9D8B030D-6E8A-4147-A177-3AD203B41FA5}">
                      <a16:colId xmlns:a16="http://schemas.microsoft.com/office/drawing/2014/main" val="691879830"/>
                    </a:ext>
                  </a:extLst>
                </a:gridCol>
                <a:gridCol w="384407">
                  <a:extLst>
                    <a:ext uri="{9D8B030D-6E8A-4147-A177-3AD203B41FA5}">
                      <a16:colId xmlns:a16="http://schemas.microsoft.com/office/drawing/2014/main" val="3455564582"/>
                    </a:ext>
                  </a:extLst>
                </a:gridCol>
                <a:gridCol w="199900">
                  <a:extLst>
                    <a:ext uri="{9D8B030D-6E8A-4147-A177-3AD203B41FA5}">
                      <a16:colId xmlns:a16="http://schemas.microsoft.com/office/drawing/2014/main" val="1867272313"/>
                    </a:ext>
                  </a:extLst>
                </a:gridCol>
                <a:gridCol w="80731">
                  <a:extLst>
                    <a:ext uri="{9D8B030D-6E8A-4147-A177-3AD203B41FA5}">
                      <a16:colId xmlns:a16="http://schemas.microsoft.com/office/drawing/2014/main" val="1568383765"/>
                    </a:ext>
                  </a:extLst>
                </a:gridCol>
                <a:gridCol w="280630">
                  <a:extLst>
                    <a:ext uri="{9D8B030D-6E8A-4147-A177-3AD203B41FA5}">
                      <a16:colId xmlns:a16="http://schemas.microsoft.com/office/drawing/2014/main" val="4250493956"/>
                    </a:ext>
                  </a:extLst>
                </a:gridCol>
                <a:gridCol w="799795">
                  <a:extLst>
                    <a:ext uri="{9D8B030D-6E8A-4147-A177-3AD203B41FA5}">
                      <a16:colId xmlns:a16="http://schemas.microsoft.com/office/drawing/2014/main" val="3404299803"/>
                    </a:ext>
                  </a:extLst>
                </a:gridCol>
                <a:gridCol w="70157">
                  <a:extLst>
                    <a:ext uri="{9D8B030D-6E8A-4147-A177-3AD203B41FA5}">
                      <a16:colId xmlns:a16="http://schemas.microsoft.com/office/drawing/2014/main" val="1172708690"/>
                    </a:ext>
                  </a:extLst>
                </a:gridCol>
              </a:tblGrid>
              <a:tr h="67791">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gridSpan="54">
                  <a:txBody>
                    <a:bodyPr/>
                    <a:lstStyle/>
                    <a:p>
                      <a:pPr algn="ctr"/>
                      <a:endParaRPr lang="en-CA" sz="100" b="1">
                        <a:solidFill>
                          <a:schemeClr val="bg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423438833"/>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l"/>
                      <a:r>
                        <a:rPr lang="en-CA" sz="1200" b="1">
                          <a:solidFill>
                            <a:schemeClr val="tx1"/>
                          </a:solidFill>
                          <a:latin typeface="Arial" panose="020B0604020202020204" pitchFamily="34" charset="0"/>
                          <a:cs typeface="Arial" panose="020B0604020202020204" pitchFamily="34" charset="0"/>
                        </a:rPr>
                        <a:t>ESDC’s Reference Architecture Model </a:t>
                      </a:r>
                    </a:p>
                    <a:p>
                      <a:pPr algn="l"/>
                      <a:r>
                        <a:rPr lang="en-CA" sz="1000" b="0" i="1">
                          <a:solidFill>
                            <a:srgbClr val="5F5F5F"/>
                          </a:solidFill>
                          <a:latin typeface="Arial"/>
                          <a:cs typeface="Arial"/>
                        </a:rPr>
                        <a:t>Template</a:t>
                      </a:r>
                    </a:p>
                  </a:txBody>
                  <a:tcPr marL="0" marR="0" marT="0" marB="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h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Clients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476556234"/>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Individuals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Organizations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tx1"/>
                          </a:solidFill>
                          <a:latin typeface="Arial" panose="020B0604020202020204" pitchFamily="34" charset="0"/>
                          <a:cs typeface="Arial" panose="020B0604020202020204" pitchFamily="34" charset="0"/>
                        </a:rPr>
                        <a:t>Legend</a:t>
                      </a:r>
                    </a:p>
                  </a:txBody>
                  <a:tcPr marL="18000" marR="18000" marT="18000" marB="18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12282407"/>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Channels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Impacted</a:t>
                      </a:r>
                    </a:p>
                  </a:txBody>
                  <a:tcPr marL="18000" marR="18000" marT="18000" marB="18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15F5F"/>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437274335"/>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In Person</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rgbClr val="E7E6E6"/>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Phone</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rgbClr val="E7E6E6"/>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Internet</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rgbClr val="E15F5F"/>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Mobile</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rgbClr val="E15F5F"/>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Mail</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Future</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Leveraged</a:t>
                      </a:r>
                    </a:p>
                  </a:txBody>
                  <a:tcPr marL="18000" marR="18000" marT="18000" marB="18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756268151"/>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Services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Improved</a:t>
                      </a:r>
                    </a:p>
                  </a:txBody>
                  <a:tcPr marL="18000" marR="18000" marT="18000" marB="18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586938537"/>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CA" sz="800" b="0">
                        <a:solidFill>
                          <a:schemeClr val="tx1"/>
                        </a:solidFill>
                      </a:endParaRPr>
                    </a:p>
                  </a:txBody>
                  <a:tcPr marL="18000" marR="18000" marT="18000" marB="18000" anchor="ctr">
                    <a:lnL w="12700" cap="flat" cmpd="sng" algn="ctr">
                      <a:noFill/>
                      <a:prstDash val="solid"/>
                      <a:round/>
                      <a:headEnd type="none" w="med" len="med"/>
                      <a:tailEnd type="none" w="med" len="med"/>
                    </a:lnL>
                    <a:lnR w="28575"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1">
                        <a:solidFill>
                          <a:schemeClr val="bg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Provide </a:t>
                      </a:r>
                    </a:p>
                    <a:p>
                      <a:pPr algn="ctr"/>
                      <a:r>
                        <a:rPr lang="en-CA" sz="800" b="0">
                          <a:solidFill>
                            <a:schemeClr val="tx1"/>
                          </a:solidFill>
                          <a:latin typeface="Arial" panose="020B0604020202020204" pitchFamily="34" charset="0"/>
                          <a:cs typeface="Arial" panose="020B0604020202020204" pitchFamily="34" charset="0"/>
                        </a:rPr>
                        <a:t>Benefits &amp; Funds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rgbClr val="92D050"/>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Provide </a:t>
                      </a:r>
                    </a:p>
                    <a:p>
                      <a:pPr algn="ctr"/>
                      <a:r>
                        <a:rPr lang="en-CA" sz="800" b="0">
                          <a:solidFill>
                            <a:schemeClr val="tx1"/>
                          </a:solidFill>
                          <a:latin typeface="Arial" panose="020B0604020202020204" pitchFamily="34" charset="0"/>
                          <a:cs typeface="Arial" panose="020B0604020202020204" pitchFamily="34" charset="0"/>
                        </a:rPr>
                        <a:t>Credentials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Provide </a:t>
                      </a:r>
                    </a:p>
                    <a:p>
                      <a:pPr algn="ctr"/>
                      <a:r>
                        <a:rPr lang="en-CA" sz="800" b="0">
                          <a:solidFill>
                            <a:schemeClr val="tx1"/>
                          </a:solidFill>
                          <a:latin typeface="Arial" panose="020B0604020202020204" pitchFamily="34" charset="0"/>
                          <a:cs typeface="Arial" panose="020B0604020202020204" pitchFamily="34" charset="0"/>
                        </a:rPr>
                        <a:t>Information </a:t>
                      </a:r>
                      <a:r>
                        <a:rPr lang="en-CA" sz="800" b="0" baseline="0">
                          <a:solidFill>
                            <a:schemeClr val="tx1"/>
                          </a:solidFill>
                          <a:latin typeface="Arial" panose="020B0604020202020204" pitchFamily="34" charset="0"/>
                          <a:cs typeface="Arial" panose="020B0604020202020204" pitchFamily="34" charset="0"/>
                        </a:rPr>
                        <a:t>&amp; Referrals</a:t>
                      </a: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Provide </a:t>
                      </a:r>
                    </a:p>
                    <a:p>
                      <a:pPr algn="ctr"/>
                      <a:r>
                        <a:rPr lang="en-CA" sz="800" b="0">
                          <a:solidFill>
                            <a:schemeClr val="tx1"/>
                          </a:solidFill>
                          <a:latin typeface="Arial" panose="020B0604020202020204" pitchFamily="34" charset="0"/>
                          <a:cs typeface="Arial" panose="020B0604020202020204" pitchFamily="34" charset="0"/>
                        </a:rPr>
                        <a:t>New Knowledge</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Mediate </a:t>
                      </a:r>
                    </a:p>
                    <a:p>
                      <a:pPr algn="ctr"/>
                      <a:r>
                        <a:rPr lang="en-CA" sz="800" b="0">
                          <a:solidFill>
                            <a:schemeClr val="tx1"/>
                          </a:solidFill>
                          <a:latin typeface="Arial" panose="020B0604020202020204" pitchFamily="34" charset="0"/>
                          <a:cs typeface="Arial" panose="020B0604020202020204" pitchFamily="34" charset="0"/>
                        </a:rPr>
                        <a:t>Labour Disputes</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Provide </a:t>
                      </a:r>
                    </a:p>
                    <a:p>
                      <a:pPr algn="ctr"/>
                      <a:r>
                        <a:rPr lang="en-CA" sz="800" b="0">
                          <a:solidFill>
                            <a:schemeClr val="tx1"/>
                          </a:solidFill>
                          <a:latin typeface="Arial" panose="020B0604020202020204" pitchFamily="34" charset="0"/>
                          <a:cs typeface="Arial" panose="020B0604020202020204" pitchFamily="34" charset="0"/>
                        </a:rPr>
                        <a:t>Job Matching</a:t>
                      </a: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solidFill>
                      <a:schemeClr val="accent5"/>
                    </a:solid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5"/>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7721138"/>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External Partners &amp; Providers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rowSpan="1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1">
                          <a:solidFill>
                            <a:schemeClr val="tx1"/>
                          </a:solidFill>
                          <a:latin typeface="Arial" panose="020B0604020202020204" pitchFamily="34" charset="0"/>
                          <a:cs typeface="Arial" panose="020B0604020202020204" pitchFamily="34" charset="0"/>
                        </a:rPr>
                        <a:t>Canada’s Digital Interchange (CDI)</a:t>
                      </a:r>
                    </a:p>
                  </a:txBody>
                  <a:tcPr marL="18000" marR="18000" marT="18000" marB="18000" vert="vert270" anchor="ctr">
                    <a:lnL w="28575" cap="flat" cmpd="sng" algn="ctr">
                      <a:solidFill>
                        <a:srgbClr val="002060"/>
                      </a:solidFill>
                      <a:prstDash val="solid"/>
                      <a:round/>
                      <a:headEnd type="none" w="med" len="med"/>
                      <a:tailEnd type="none" w="med" len="med"/>
                    </a:lnL>
                    <a:lnR w="28575" cap="flat" cmpd="sng" algn="ctr">
                      <a:solidFill>
                        <a:srgbClr val="66006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rowSpan="8"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Business Capabilities</a:t>
                      </a:r>
                    </a:p>
                  </a:txBody>
                  <a:tcPr marL="18000" marR="18000" marT="18000" marB="18000" vert="vert270" anchor="ctr">
                    <a:lnL w="28575" cap="flat" cmpd="sng" algn="ctr">
                      <a:solidFill>
                        <a:srgbClr val="660066"/>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660066"/>
                    </a:solidFill>
                  </a:tcPr>
                </a:tc>
                <a:tc rowSpan="8" hMerge="1">
                  <a:txBody>
                    <a:bodyPr/>
                    <a:lstStyle/>
                    <a:p>
                      <a:endParaRPr lang="en-CA"/>
                    </a:p>
                  </a:txBody>
                  <a:tcPr/>
                </a:tc>
                <a:tc gridSpan="5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tx1"/>
                          </a:solidFill>
                          <a:latin typeface="Arial" panose="020B0604020202020204" pitchFamily="34" charset="0"/>
                          <a:cs typeface="Arial" panose="020B0604020202020204" pitchFamily="34" charset="0"/>
                        </a:rPr>
                        <a:t>Direction Setting</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BDD7EE"/>
                    </a:solidFill>
                  </a:tcPr>
                </a:tc>
                <a:tc hMerge="1">
                  <a:txBody>
                    <a:bodyPr/>
                    <a:lstStyle/>
                    <a:p>
                      <a:endParaRPr lang="en-CA"/>
                    </a:p>
                  </a:txBody>
                  <a:tcPr/>
                </a:tc>
                <a:tc rowSpan="1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1">
                          <a:solidFill>
                            <a:schemeClr val="tx1"/>
                          </a:solidFill>
                          <a:latin typeface="Arial" panose="020B0604020202020204" pitchFamily="34" charset="0"/>
                          <a:cs typeface="Arial" panose="020B0604020202020204" pitchFamily="34" charset="0"/>
                        </a:rPr>
                        <a:t>Identity, Credential</a:t>
                      </a:r>
                      <a:r>
                        <a:rPr lang="en-CA" sz="800" b="1" baseline="0">
                          <a:solidFill>
                            <a:schemeClr val="tx1"/>
                          </a:solidFill>
                          <a:latin typeface="Arial" panose="020B0604020202020204" pitchFamily="34" charset="0"/>
                          <a:cs typeface="Arial" panose="020B0604020202020204" pitchFamily="34" charset="0"/>
                        </a:rPr>
                        <a:t> &amp; Access Management</a:t>
                      </a:r>
                      <a:endParaRPr lang="en-CA" sz="800" b="1">
                        <a:solidFill>
                          <a:schemeClr val="tx1"/>
                        </a:solidFill>
                        <a:latin typeface="Arial" panose="020B0604020202020204" pitchFamily="34" charset="0"/>
                        <a:cs typeface="Arial" panose="020B0604020202020204" pitchFamily="34" charset="0"/>
                      </a:endParaRPr>
                    </a:p>
                  </a:txBody>
                  <a:tcPr marL="18000" marR="18000" marT="18000" marB="18000" vert="vert270" anchor="ctr">
                    <a:lnL w="28575" cap="flat" cmpd="sng" algn="ctr">
                      <a:solidFill>
                        <a:schemeClr val="accent1">
                          <a:lumMod val="40000"/>
                          <a:lumOff val="60000"/>
                        </a:schemeClr>
                      </a:solid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Internal Resources (Roles)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4261243"/>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01 Legislation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02 Organization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03 Strategy</a:t>
                      </a:r>
                      <a:r>
                        <a:rPr lang="en-CA" sz="800" b="0" baseline="0">
                          <a:solidFill>
                            <a:schemeClr val="tx1"/>
                          </a:solidFill>
                          <a:latin typeface="Arial" panose="020B0604020202020204" pitchFamily="34" charset="0"/>
                          <a:cs typeface="Arial" panose="020B0604020202020204" pitchFamily="34" charset="0"/>
                        </a:rPr>
                        <a:t>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04 Innovation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05 Market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06 Brand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07 Service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08 Policy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09 Plan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10 Investment</a:t>
                      </a:r>
                      <a:r>
                        <a:rPr lang="en-CA" sz="800" b="0" baseline="0">
                          <a:solidFill>
                            <a:schemeClr val="tx1"/>
                          </a:solidFill>
                          <a:latin typeface="Arial" panose="020B0604020202020204" pitchFamily="34" charset="0"/>
                          <a:cs typeface="Arial" panose="020B0604020202020204" pitchFamily="34" charset="0"/>
                        </a:rPr>
                        <a:t> </a:t>
                      </a: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11 Initiative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7438593"/>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a:t>
                      </a:r>
                      <a:r>
                        <a:rPr lang="en-CA" sz="800" b="0" baseline="30000">
                          <a:solidFill>
                            <a:schemeClr val="tx1"/>
                          </a:solidFill>
                          <a:latin typeface="Arial" panose="020B0604020202020204" pitchFamily="34" charset="0"/>
                          <a:cs typeface="Arial" panose="020B0604020202020204" pitchFamily="34" charset="0"/>
                        </a:rPr>
                        <a:t>rd</a:t>
                      </a:r>
                      <a:r>
                        <a:rPr lang="en-CA" sz="800" b="0">
                          <a:solidFill>
                            <a:schemeClr val="tx1"/>
                          </a:solidFill>
                          <a:latin typeface="Arial" panose="020B0604020202020204" pitchFamily="34" charset="0"/>
                          <a:cs typeface="Arial" panose="020B0604020202020204" pitchFamily="34" charset="0"/>
                        </a:rPr>
                        <a:t> Parties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gridSpan="5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tx1"/>
                          </a:solidFill>
                          <a:latin typeface="Arial" panose="020B0604020202020204" pitchFamily="34" charset="0"/>
                          <a:cs typeface="Arial" panose="020B0604020202020204" pitchFamily="34" charset="0"/>
                        </a:rPr>
                        <a:t>Core Delivery</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Employees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92D05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6471451"/>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gridSpan="3">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12 Channel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13 Campaign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14 Content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FFD966"/>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15 Request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16 Language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17 Client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18 Partner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19 Submission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790" b="0">
                          <a:solidFill>
                            <a:schemeClr val="tx1"/>
                          </a:solidFill>
                          <a:latin typeface="Arial" panose="020B0604020202020204" pitchFamily="34" charset="0"/>
                          <a:cs typeface="Arial" panose="020B0604020202020204" pitchFamily="34" charset="0"/>
                        </a:rPr>
                        <a:t>20</a:t>
                      </a:r>
                      <a:r>
                        <a:rPr lang="en-CA" sz="600" b="0">
                          <a:solidFill>
                            <a:schemeClr val="tx1"/>
                          </a:solidFill>
                          <a:latin typeface="Arial" panose="020B0604020202020204" pitchFamily="34" charset="0"/>
                          <a:cs typeface="Arial" panose="020B0604020202020204" pitchFamily="34" charset="0"/>
                        </a:rPr>
                        <a:t> </a:t>
                      </a:r>
                      <a:r>
                        <a:rPr lang="en-CA" sz="790" b="0">
                          <a:solidFill>
                            <a:schemeClr val="tx1"/>
                          </a:solidFill>
                          <a:latin typeface="Arial" panose="020B0604020202020204" pitchFamily="34" charset="0"/>
                          <a:cs typeface="Arial" panose="020B0604020202020204" pitchFamily="34" charset="0"/>
                        </a:rPr>
                        <a:t>Communication Mgmt.</a:t>
                      </a:r>
                    </a:p>
                  </a:txBody>
                  <a:tcPr marL="0" marR="0" marT="0" marB="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9812293"/>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Employers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gridSpan="3">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21 Agreement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22 Claim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23 Decision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24 Payment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25 Credential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26 Certificate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27 Research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28 Dispute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29 Evidence </a:t>
                      </a:r>
                    </a:p>
                    <a:p>
                      <a:pPr algn="ctr"/>
                      <a:r>
                        <a:rPr lang="en-CA" sz="800" b="0">
                          <a:solidFill>
                            <a:schemeClr val="tx1"/>
                          </a:solidFill>
                          <a:latin typeface="Arial" panose="020B0604020202020204" pitchFamily="34" charset="0"/>
                          <a:cs typeface="Arial" panose="020B0604020202020204" pitchFamily="34" charset="0"/>
                        </a:rPr>
                        <a:t>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Management</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313083"/>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gridSpan="5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tx1"/>
                          </a:solidFill>
                          <a:latin typeface="Arial" panose="020B0604020202020204" pitchFamily="34" charset="0"/>
                          <a:cs typeface="Arial" panose="020B0604020202020204" pitchFamily="34" charset="0"/>
                        </a:rPr>
                        <a:t>Supporting</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1041822"/>
                  </a:ext>
                </a:extLst>
              </a:tr>
              <a:tr h="287285">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Service Providers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30 Finance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31 Asset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32 Order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8">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33</a:t>
                      </a:r>
                      <a:r>
                        <a:rPr lang="en-CA" sz="800" b="0" baseline="0">
                          <a:solidFill>
                            <a:schemeClr val="tx1"/>
                          </a:solidFill>
                          <a:latin typeface="Arial" panose="020B0604020202020204" pitchFamily="34" charset="0"/>
                          <a:cs typeface="Arial" panose="020B0604020202020204" pitchFamily="34" charset="0"/>
                        </a:rPr>
                        <a:t> Human Resource Mgmt.</a:t>
                      </a: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34 Job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35 Competency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790" b="0">
                          <a:solidFill>
                            <a:schemeClr val="tx1"/>
                          </a:solidFill>
                          <a:latin typeface="Arial" panose="020B0604020202020204" pitchFamily="34" charset="0"/>
                          <a:cs typeface="Arial" panose="020B0604020202020204" pitchFamily="34" charset="0"/>
                        </a:rPr>
                        <a:t>36</a:t>
                      </a:r>
                      <a:r>
                        <a:rPr lang="en-CA" sz="600" b="0">
                          <a:solidFill>
                            <a:schemeClr val="tx1"/>
                          </a:solidFill>
                          <a:latin typeface="Arial" panose="020B0604020202020204" pitchFamily="34" charset="0"/>
                          <a:cs typeface="Arial" panose="020B0604020202020204" pitchFamily="34" charset="0"/>
                        </a:rPr>
                        <a:t> </a:t>
                      </a:r>
                      <a:r>
                        <a:rPr lang="en-CA" sz="790" b="0">
                          <a:solidFill>
                            <a:schemeClr val="tx1"/>
                          </a:solidFill>
                          <a:latin typeface="Arial" panose="020B0604020202020204" pitchFamily="34" charset="0"/>
                          <a:cs typeface="Arial" panose="020B0604020202020204" pitchFamily="34" charset="0"/>
                        </a:rPr>
                        <a:t>Training</a:t>
                      </a:r>
                      <a:r>
                        <a:rPr lang="en-CA" sz="600" b="0">
                          <a:solidFill>
                            <a:schemeClr val="tx1"/>
                          </a:solidFill>
                          <a:latin typeface="Arial" panose="020B0604020202020204" pitchFamily="34" charset="0"/>
                          <a:cs typeface="Arial" panose="020B0604020202020204" pitchFamily="34" charset="0"/>
                        </a:rPr>
                        <a:t> </a:t>
                      </a:r>
                      <a:r>
                        <a:rPr lang="en-CA" sz="790" b="0">
                          <a:solidFill>
                            <a:schemeClr val="tx1"/>
                          </a:solidFill>
                          <a:latin typeface="Arial" panose="020B0604020202020204" pitchFamily="34" charset="0"/>
                          <a:cs typeface="Arial" panose="020B0604020202020204" pitchFamily="34" charset="0"/>
                        </a:rPr>
                        <a:t>Course</a:t>
                      </a:r>
                      <a:r>
                        <a:rPr lang="en-CA" sz="600" b="0" baseline="0">
                          <a:solidFill>
                            <a:schemeClr val="tx1"/>
                          </a:solidFill>
                          <a:latin typeface="Arial" panose="020B0604020202020204" pitchFamily="34" charset="0"/>
                          <a:cs typeface="Arial" panose="020B0604020202020204" pitchFamily="34" charset="0"/>
                        </a:rPr>
                        <a:t> </a:t>
                      </a:r>
                      <a:r>
                        <a:rPr lang="en-CA" sz="790" b="0">
                          <a:solidFill>
                            <a:schemeClr val="tx1"/>
                          </a:solidFill>
                          <a:latin typeface="Arial" panose="020B0604020202020204" pitchFamily="34" charset="0"/>
                          <a:cs typeface="Arial" panose="020B0604020202020204" pitchFamily="34" charset="0"/>
                        </a:rPr>
                        <a:t>Mgmt.</a:t>
                      </a:r>
                    </a:p>
                  </a:txBody>
                  <a:tcPr marL="0" marR="0" marT="0" marB="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1"/>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Researchers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8006714"/>
                  </a:ext>
                </a:extLst>
              </a:tr>
              <a:tr h="287285">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37 Location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38 Information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39 Infrastructure</a:t>
                      </a:r>
                      <a:r>
                        <a:rPr lang="en-CA" sz="800" b="0" baseline="0">
                          <a:solidFill>
                            <a:schemeClr val="tx1"/>
                          </a:solidFill>
                          <a:latin typeface="Arial" panose="020B0604020202020204" pitchFamily="34" charset="0"/>
                          <a:cs typeface="Arial" panose="020B0604020202020204" pitchFamily="34" charset="0"/>
                        </a:rPr>
                        <a:t> Mgmt.</a:t>
                      </a: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8">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40 Work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41 Case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42 Incident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rgbClr val="92D050"/>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7">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43 Meeting Mgmt.</a:t>
                      </a: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bg2"/>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1">
                          <a:lumMod val="40000"/>
                          <a:lumOff val="60000"/>
                        </a:schemeClr>
                      </a:solidFill>
                      <a:prstDash val="solid"/>
                      <a:round/>
                      <a:headEnd type="none" w="med" len="med"/>
                      <a:tailEnd type="none" w="med" len="med"/>
                    </a:lnL>
                    <a:lnR w="28575" cap="flat" cmpd="sng" algn="ctr">
                      <a:solidFill>
                        <a:schemeClr val="accent1">
                          <a:lumMod val="40000"/>
                          <a:lumOff val="60000"/>
                        </a:schemeClr>
                      </a:solidFill>
                      <a:prstDash val="solid"/>
                      <a:round/>
                      <a:headEnd type="none" w="med" len="med"/>
                      <a:tailEnd type="none" w="med" len="med"/>
                    </a:lnR>
                    <a:lnT w="28575" cap="flat" cmpd="sng" algn="ctr">
                      <a:solidFill>
                        <a:schemeClr val="accent1">
                          <a:lumMod val="40000"/>
                          <a:lumOff val="60000"/>
                        </a:schemeClr>
                      </a:solidFill>
                      <a:prstDash val="solid"/>
                      <a:round/>
                      <a:headEnd type="none" w="med" len="med"/>
                      <a:tailEnd type="none" w="med" len="med"/>
                    </a:lnT>
                    <a:lnB w="28575" cap="flat" cmpd="sng" algn="ctr">
                      <a:solidFill>
                        <a:schemeClr val="accent1">
                          <a:lumMod val="40000"/>
                          <a:lumOff val="60000"/>
                        </a:schemeClr>
                      </a:solidFill>
                      <a:prstDash val="solid"/>
                      <a:round/>
                      <a:headEnd type="none" w="med" len="med"/>
                      <a:tailEnd type="none" w="med" len="med"/>
                    </a:lnB>
                    <a:solidFill>
                      <a:schemeClr val="accent1">
                        <a:lumMod val="40000"/>
                        <a:lumOff val="6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6734886"/>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Other Government Department or Agency</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5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Information/Data</a:t>
                      </a: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rgbClr val="7C7C7C"/>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1754761"/>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chemeClr val="accent3">
                        <a:lumMod val="75000"/>
                      </a:schemeClr>
                    </a:solid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Structured/Unstructured</a:t>
                      </a: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Meta Data Mgmt.</a:t>
                      </a: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Knowledge Mgmt.</a:t>
                      </a: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rgbClr val="92D050"/>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Master Data Mgmt.</a:t>
                      </a: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Analytics</a:t>
                      </a: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solidFill>
                      <a:schemeClr val="accent3">
                        <a:lumMod val="75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043369"/>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Provinces </a:t>
                      </a:r>
                    </a:p>
                    <a:p>
                      <a:pPr algn="ctr"/>
                      <a:r>
                        <a:rPr lang="en-CA" sz="800" b="0">
                          <a:solidFill>
                            <a:schemeClr val="tx1"/>
                          </a:solidFill>
                          <a:latin typeface="Arial" panose="020B0604020202020204" pitchFamily="34" charset="0"/>
                          <a:cs typeface="Arial" panose="020B0604020202020204" pitchFamily="34" charset="0"/>
                        </a:rPr>
                        <a:t>and/or </a:t>
                      </a:r>
                    </a:p>
                    <a:p>
                      <a:pPr algn="ctr"/>
                      <a:r>
                        <a:rPr lang="en-CA" sz="800" b="0">
                          <a:solidFill>
                            <a:schemeClr val="tx1"/>
                          </a:solidFill>
                          <a:latin typeface="Arial" panose="020B0604020202020204" pitchFamily="34" charset="0"/>
                          <a:cs typeface="Arial" panose="020B0604020202020204" pitchFamily="34" charset="0"/>
                        </a:rPr>
                        <a:t>Territories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1">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solidFill>
                  </a:tcPr>
                </a:tc>
                <a:tc hMerge="1">
                  <a:txBody>
                    <a:bodyPr/>
                    <a:lstStyle/>
                    <a:p>
                      <a:endParaRPr lang="en-CA"/>
                    </a:p>
                  </a:txBody>
                  <a:tcPr/>
                </a:tc>
                <a:tc gridSpan="5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900" b="1">
                          <a:solidFill>
                            <a:schemeClr val="bg1"/>
                          </a:solidFill>
                          <a:latin typeface="Arial" panose="020B0604020202020204" pitchFamily="34" charset="0"/>
                          <a:cs typeface="Arial" panose="020B0604020202020204" pitchFamily="34" charset="0"/>
                        </a:rPr>
                        <a:t>Interoperability</a:t>
                      </a: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800" b="1">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E7E6E6"/>
                    </a:solidFill>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0946120"/>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FFFF00"/>
                    </a:solidFill>
                  </a:tcPr>
                </a:tc>
                <a:tc v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1">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solidFill>
                  </a:tcPr>
                </a:tc>
                <a:tc hMerge="1">
                  <a:txBody>
                    <a:bodyPr/>
                    <a:lstStyle/>
                    <a:p>
                      <a:endParaRPr lang="en-CA"/>
                    </a:p>
                  </a:txBody>
                  <a:tcPr/>
                </a:tc>
                <a:tc gridSpan="5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b="0" err="1">
                          <a:solidFill>
                            <a:schemeClr val="tx1"/>
                          </a:solidFill>
                          <a:latin typeface="Arial" panose="020B0604020202020204" pitchFamily="34" charset="0"/>
                          <a:cs typeface="Arial" panose="020B0604020202020204" pitchFamily="34" charset="0"/>
                        </a:rPr>
                        <a:t>Interoperability</a:t>
                      </a: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DF5E"/>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solidFill>
                  </a:tcPr>
                </a:tc>
                <a:tc hMerge="1">
                  <a:txBody>
                    <a:bodyPr/>
                    <a:lstStyle/>
                    <a:p>
                      <a:endParaRPr lang="en-CA"/>
                    </a:p>
                  </a:txBody>
                  <a:tcPr/>
                </a:tc>
                <a:tc vMerge="1">
                  <a:txBody>
                    <a:bodyPr/>
                    <a:lstStyle/>
                    <a:p>
                      <a:endParaRPr lang="en-CA"/>
                    </a:p>
                  </a:txBody>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5612302"/>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Municipalities</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5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Applications</a:t>
                      </a:r>
                    </a:p>
                  </a:txBody>
                  <a:tcPr marL="45720" marR="4572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rgbClr val="548235"/>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5060498"/>
                  </a:ext>
                </a:extLst>
              </a:tr>
              <a:tr h="287285">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FFFF00"/>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chemeClr val="accent6">
                        <a:lumMod val="75000"/>
                      </a:schemeClr>
                    </a:solid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Back-Office Applications</a:t>
                      </a: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rgbClr val="FFD966"/>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Web Applications</a:t>
                      </a: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rgbClr val="FFD966"/>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Mobile Applications</a:t>
                      </a: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APIs (Digital Services)</a:t>
                      </a: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SaaS</a:t>
                      </a: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rgbClr val="FFDF5E"/>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6">
                          <a:lumMod val="75000"/>
                        </a:schemeClr>
                      </a:solidFill>
                      <a:prstDash val="solid"/>
                      <a:round/>
                      <a:headEnd type="none" w="med" len="med"/>
                      <a:tailEnd type="none" w="med" len="med"/>
                    </a:lnL>
                    <a:lnR w="28575" cap="flat" cmpd="sng" algn="ctr">
                      <a:solidFill>
                        <a:schemeClr val="accent6">
                          <a:lumMod val="75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6">
                          <a:lumMod val="75000"/>
                        </a:schemeClr>
                      </a:solidFill>
                      <a:prstDash val="solid"/>
                      <a:round/>
                      <a:headEnd type="none" w="med" len="med"/>
                      <a:tailEnd type="none" w="med" len="med"/>
                    </a:lnB>
                    <a:solidFill>
                      <a:schemeClr val="accent6">
                        <a:lumMod val="75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4259792"/>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Academia</a:t>
                      </a: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chemeClr val="bg2"/>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54">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900" b="1">
                          <a:solidFill>
                            <a:schemeClr val="bg1"/>
                          </a:solidFill>
                          <a:latin typeface="Arial" panose="020B0604020202020204" pitchFamily="34" charset="0"/>
                          <a:cs typeface="Arial" panose="020B0604020202020204" pitchFamily="34" charset="0"/>
                        </a:rPr>
                        <a:t>Technology/Platforms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6">
                          <a:lumMod val="75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accent2">
                        <a:lumMod val="50000"/>
                      </a:schemeClr>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1077007"/>
                  </a:ext>
                </a:extLst>
              </a:tr>
              <a:tr h="288000">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FFFF00"/>
                    </a:solidFill>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accent2">
                        <a:lumMod val="50000"/>
                      </a:schemeClr>
                    </a:solid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Networks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Server Infrastructure</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Desktop Infrastructure</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Middleware</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10">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PaaS, IaaS &amp; </a:t>
                      </a:r>
                      <a:r>
                        <a:rPr lang="en-CA" sz="800" b="0" err="1">
                          <a:solidFill>
                            <a:schemeClr val="tx1"/>
                          </a:solidFill>
                          <a:latin typeface="Arial" panose="020B0604020202020204" pitchFamily="34" charset="0"/>
                          <a:cs typeface="Arial" panose="020B0604020202020204" pitchFamily="34" charset="0"/>
                        </a:rPr>
                        <a:t>FaaS</a:t>
                      </a: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solidFill>
                      <a:schemeClr val="accent2">
                        <a:lumMod val="50000"/>
                      </a:schemeClr>
                    </a:solidFill>
                  </a:tcPr>
                </a:tc>
                <a:tc hMerge="1">
                  <a:txBody>
                    <a:bodyPr/>
                    <a:lstStyle/>
                    <a:p>
                      <a:endParaRPr lang="en-CA"/>
                    </a:p>
                  </a:txBody>
                  <a:tcPr/>
                </a:tc>
                <a:tc vMerge="1">
                  <a:txBody>
                    <a:bodyPr/>
                    <a:lstStyle/>
                    <a:p>
                      <a:pPr algn="ctr"/>
                      <a:endParaRPr lang="en-CA" sz="800" b="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9848640"/>
                  </a:ext>
                </a:extLst>
              </a:tr>
              <a:tr h="287285">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vMerge="1">
                  <a:txBody>
                    <a:bodyPr/>
                    <a:lstStyle/>
                    <a:p>
                      <a:pPr algn="ctr"/>
                      <a:endParaRPr lang="en-CA" sz="800" b="1">
                        <a:solidFill>
                          <a:schemeClr val="tx1"/>
                        </a:solidFill>
                        <a:latin typeface="Arial" panose="020B0604020202020204" pitchFamily="34" charset="0"/>
                        <a:cs typeface="Arial" panose="020B0604020202020204" pitchFamily="34" charset="0"/>
                      </a:endParaRPr>
                    </a:p>
                  </a:txBody>
                  <a:tcPr marL="18000" marR="18000" marT="18000" marB="18000" vert="vert270" anchor="ctr">
                    <a:lnL w="28575" cap="flat" cmpd="sng" algn="ctr">
                      <a:solidFill>
                        <a:srgbClr val="002060"/>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A1 Corporate </a:t>
                      </a:r>
                    </a:p>
                    <a:p>
                      <a:pPr algn="ctr"/>
                      <a:r>
                        <a:rPr lang="en-CA" sz="800" b="0">
                          <a:solidFill>
                            <a:schemeClr val="tx1"/>
                          </a:solidFill>
                          <a:latin typeface="Arial" panose="020B0604020202020204" pitchFamily="34" charset="0"/>
                          <a:cs typeface="Arial" panose="020B0604020202020204" pitchFamily="34" charset="0"/>
                        </a:rPr>
                        <a:t>Applications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accent2">
                        <a:lumMod val="60000"/>
                        <a:lumOff val="40000"/>
                      </a:schemeClr>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rgbClr val="92D050"/>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A2 Common Line of Business Applications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5">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A3 End-User Computing</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A4 Data &amp; Information Mgmt.</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A5 Identity &amp; Access</a:t>
                      </a:r>
                      <a:r>
                        <a:rPr lang="en-CA" sz="800" b="0" baseline="0">
                          <a:solidFill>
                            <a:schemeClr val="tx1"/>
                          </a:solidFill>
                          <a:latin typeface="Arial" panose="020B0604020202020204" pitchFamily="34" charset="0"/>
                          <a:cs typeface="Arial" panose="020B0604020202020204" pitchFamily="34" charset="0"/>
                        </a:rPr>
                        <a:t> Mgmt. Services</a:t>
                      </a: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A6 Security </a:t>
                      </a:r>
                    </a:p>
                    <a:p>
                      <a:pPr algn="ctr"/>
                      <a:r>
                        <a:rPr lang="en-CA" sz="800" b="0">
                          <a:solidFill>
                            <a:schemeClr val="tx1"/>
                          </a:solidFill>
                          <a:latin typeface="Arial" panose="020B0604020202020204" pitchFamily="34" charset="0"/>
                          <a:cs typeface="Arial" panose="020B0604020202020204" pitchFamily="34" charset="0"/>
                        </a:rPr>
                        <a:t>Services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gridSpan="5">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A7 ICT Components,</a:t>
                      </a:r>
                      <a:r>
                        <a:rPr lang="en-CA" sz="800" b="0" baseline="0">
                          <a:solidFill>
                            <a:schemeClr val="tx1"/>
                          </a:solidFill>
                          <a:latin typeface="Arial" panose="020B0604020202020204" pitchFamily="34" charset="0"/>
                          <a:cs typeface="Arial" panose="020B0604020202020204" pitchFamily="34" charset="0"/>
                        </a:rPr>
                        <a:t> </a:t>
                      </a:r>
                      <a:r>
                        <a:rPr lang="en-CA" sz="800" b="0">
                          <a:solidFill>
                            <a:schemeClr val="tx1"/>
                          </a:solidFill>
                          <a:latin typeface="Arial" panose="020B0604020202020204" pitchFamily="34" charset="0"/>
                          <a:cs typeface="Arial" panose="020B0604020202020204" pitchFamily="34" charset="0"/>
                        </a:rPr>
                        <a:t>Services &amp; Tools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A8 System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latin typeface="Arial" panose="020B0604020202020204" pitchFamily="34" charset="0"/>
                          <a:cs typeface="Arial" panose="020B0604020202020204" pitchFamily="34" charset="0"/>
                        </a:rPr>
                        <a:t>Integration</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bg2"/>
                    </a:solidFill>
                  </a:tcPr>
                </a:tc>
                <a:tc hMerge="1">
                  <a:txBody>
                    <a:bodyPr/>
                    <a:lstStyle/>
                    <a:p>
                      <a:endParaRPr lang="en-CA"/>
                    </a:p>
                  </a:txBody>
                  <a:tcPr/>
                </a:tc>
                <a:tc gridSpan="6">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r>
                        <a:rPr lang="en-CA" sz="800" b="0">
                          <a:solidFill>
                            <a:schemeClr val="tx1"/>
                          </a:solidFill>
                          <a:latin typeface="Arial" panose="020B0604020202020204" pitchFamily="34" charset="0"/>
                          <a:cs typeface="Arial" panose="020B0604020202020204" pitchFamily="34" charset="0"/>
                        </a:rPr>
                        <a:t>A9 Specialist Line of Business Applications</a:t>
                      </a: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chemeClr val="accent2">
                          <a:lumMod val="60000"/>
                          <a:lumOff val="40000"/>
                        </a:schemeClr>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accent2">
                        <a:lumMod val="60000"/>
                        <a:lumOff val="40000"/>
                      </a:schemeClr>
                    </a:solidFill>
                  </a:tcPr>
                </a:tc>
                <a:tc hMerge="1">
                  <a:txBody>
                    <a:bodyPr/>
                    <a:lstStyle/>
                    <a:p>
                      <a:endParaRPr lang="en-CA"/>
                    </a:p>
                  </a:txBody>
                  <a:tcPr/>
                </a:tc>
                <a:tc hMerge="1">
                  <a:txBody>
                    <a:bodyPr/>
                    <a:lstStyle/>
                    <a:p>
                      <a:endParaRPr lang="en-CA"/>
                    </a:p>
                  </a:txBody>
                  <a:tcPr/>
                </a:tc>
                <a:tc hMerge="1">
                  <a:txBody>
                    <a:body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60000"/>
                          <a:lumOff val="40000"/>
                        </a:schemeClr>
                      </a:solidFill>
                      <a:prstDash val="solid"/>
                      <a:round/>
                      <a:headEnd type="none" w="med" len="med"/>
                      <a:tailEnd type="none" w="med" len="med"/>
                    </a:lnL>
                    <a:lnR w="28575" cap="flat" cmpd="sng" algn="ctr">
                      <a:solidFill>
                        <a:srgbClr val="F4B183"/>
                      </a:solidFill>
                      <a:prstDash val="solid"/>
                      <a:round/>
                      <a:headEnd type="none" w="med" len="med"/>
                      <a:tailEnd type="none" w="med" len="med"/>
                    </a:lnR>
                    <a:lnT w="28575" cap="flat" cmpd="sng" algn="ctr">
                      <a:solidFill>
                        <a:schemeClr val="accent2">
                          <a:lumMod val="60000"/>
                          <a:lumOff val="40000"/>
                        </a:schemeClr>
                      </a:solidFill>
                      <a:prstDash val="solid"/>
                      <a:round/>
                      <a:headEnd type="none" w="med" len="med"/>
                      <a:tailEnd type="none" w="med" len="med"/>
                    </a:lnT>
                    <a:lnB w="28575" cap="flat" cmpd="sng" algn="ctr">
                      <a:solidFill>
                        <a:schemeClr val="accent2">
                          <a:lumMod val="60000"/>
                          <a:lumOff val="40000"/>
                        </a:schemeClr>
                      </a:solidFill>
                      <a:prstDash val="solid"/>
                      <a:round/>
                      <a:headEnd type="none" w="med" len="med"/>
                      <a:tailEnd type="none" w="med" len="med"/>
                    </a:lnB>
                    <a:solidFill>
                      <a:schemeClr val="accent2">
                        <a:lumMod val="60000"/>
                        <a:lumOff val="40000"/>
                      </a:schemeClr>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vMerge="1">
                  <a:txBody>
                    <a:bodyPr/>
                    <a:lstStyle/>
                    <a:p>
                      <a:pPr algn="ctr"/>
                      <a:endParaRPr lang="en-CA" sz="800" b="1">
                        <a:solidFill>
                          <a:schemeClr val="tx1"/>
                        </a:solidFill>
                        <a:latin typeface="Arial" panose="020B0604020202020204" pitchFamily="34" charset="0"/>
                        <a:cs typeface="Arial" panose="020B0604020202020204" pitchFamily="34" charset="0"/>
                      </a:endParaRPr>
                    </a:p>
                  </a:txBody>
                  <a:tcPr marL="18000" marR="18000" marT="18000" marB="18000" vert="vert270" anchor="ctr">
                    <a:lnL w="28575" cap="flat" cmpd="sng" algn="ctr">
                      <a:solidFill>
                        <a:schemeClr val="accent2">
                          <a:lumMod val="60000"/>
                          <a:lumOff val="40000"/>
                        </a:schemeClr>
                      </a:solidFill>
                      <a:prstDash val="solid"/>
                      <a:round/>
                      <a:headEnd type="none" w="med" len="med"/>
                      <a:tailEnd type="none" w="med" len="med"/>
                    </a:lnL>
                    <a:lnR w="28575" cap="flat" cmpd="sng" algn="ctr">
                      <a:solidFill>
                        <a:srgbClr val="00206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Calibri" panose="020F0502020204030204"/>
                        </a:defRPr>
                      </a:lvl1pPr>
                      <a:lvl2pPr marL="457200" algn="l" defTabSz="457200" rtl="0" eaLnBrk="1" latinLnBrk="0" hangingPunct="1">
                        <a:defRPr sz="1800" kern="1200">
                          <a:solidFill>
                            <a:schemeClr val="dk1"/>
                          </a:solidFill>
                          <a:latin typeface="Calibri" panose="020F0502020204030204"/>
                        </a:defRPr>
                      </a:lvl2pPr>
                      <a:lvl3pPr marL="914400" algn="l" defTabSz="457200" rtl="0" eaLnBrk="1" latinLnBrk="0" hangingPunct="1">
                        <a:defRPr sz="1800" kern="1200">
                          <a:solidFill>
                            <a:schemeClr val="dk1"/>
                          </a:solidFill>
                          <a:latin typeface="Calibri" panose="020F0502020204030204"/>
                        </a:defRPr>
                      </a:lvl3pPr>
                      <a:lvl4pPr marL="1371600" algn="l" defTabSz="457200" rtl="0" eaLnBrk="1" latinLnBrk="0" hangingPunct="1">
                        <a:defRPr sz="1800" kern="1200">
                          <a:solidFill>
                            <a:schemeClr val="dk1"/>
                          </a:solidFill>
                          <a:latin typeface="Calibri" panose="020F0502020204030204"/>
                        </a:defRPr>
                      </a:lvl4pPr>
                      <a:lvl5pPr marL="1828800" algn="l" defTabSz="457200" rtl="0" eaLnBrk="1" latinLnBrk="0" hangingPunct="1">
                        <a:defRPr sz="1800" kern="1200">
                          <a:solidFill>
                            <a:schemeClr val="dk1"/>
                          </a:solidFill>
                          <a:latin typeface="Calibri" panose="020F0502020204030204"/>
                        </a:defRPr>
                      </a:lvl5pPr>
                      <a:lvl6pPr marL="2286000" algn="l" defTabSz="457200" rtl="0" eaLnBrk="1" latinLnBrk="0" hangingPunct="1">
                        <a:defRPr sz="1800" kern="1200">
                          <a:solidFill>
                            <a:schemeClr val="dk1"/>
                          </a:solidFill>
                          <a:latin typeface="Calibri" panose="020F0502020204030204"/>
                        </a:defRPr>
                      </a:lvl6pPr>
                      <a:lvl7pPr marL="2743200" algn="l" defTabSz="457200" rtl="0" eaLnBrk="1" latinLnBrk="0" hangingPunct="1">
                        <a:defRPr sz="1800" kern="1200">
                          <a:solidFill>
                            <a:schemeClr val="dk1"/>
                          </a:solidFill>
                          <a:latin typeface="Calibri" panose="020F0502020204030204"/>
                        </a:defRPr>
                      </a:lvl7pPr>
                      <a:lvl8pPr marL="3200400" algn="l" defTabSz="457200" rtl="0" eaLnBrk="1" latinLnBrk="0" hangingPunct="1">
                        <a:defRPr sz="1800" kern="1200">
                          <a:solidFill>
                            <a:schemeClr val="dk1"/>
                          </a:solidFill>
                          <a:latin typeface="Calibri" panose="020F0502020204030204"/>
                        </a:defRPr>
                      </a:lvl8pPr>
                      <a:lvl9pPr marL="3657600" algn="l" defTabSz="457200" rtl="0" eaLnBrk="1" latinLnBrk="0" hangingPunct="1">
                        <a:defRPr sz="1800" kern="1200">
                          <a:solidFill>
                            <a:schemeClr val="dk1"/>
                          </a:solidFill>
                          <a:latin typeface="Calibri" panose="020F0502020204030204"/>
                        </a:defRPr>
                      </a:lvl9pPr>
                    </a:lstStyle>
                    <a:p>
                      <a:pPr algn="ctr"/>
                      <a:endParaRPr lang="en-CA" sz="8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solidFill>
                      <a:srgbClr val="002060"/>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18000" marR="18000" marT="18000" marB="18000" anchor="ctr">
                    <a:lnL w="28575" cap="flat" cmpd="sng" algn="ctr">
                      <a:solidFill>
                        <a:srgbClr val="00206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25470"/>
                  </a:ext>
                </a:extLst>
              </a:tr>
              <a:tr h="67791">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206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gridSpan="2">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gridSpan="4">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gridSpan="6">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6">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hMerge="1">
                  <a:txBody>
                    <a:bodyPr/>
                    <a:lstStyle/>
                    <a:p>
                      <a:endParaRPr lang="en-CA"/>
                    </a:p>
                  </a:txBody>
                  <a:tcPr/>
                </a:tc>
                <a:tc hMerge="1">
                  <a:txBody>
                    <a:bodyPr/>
                    <a:lstStyle/>
                    <a:p>
                      <a:endParaRPr lang="en-CA"/>
                    </a:p>
                  </a:txBody>
                  <a:tcPr/>
                </a:tc>
                <a:tc gridSpan="2">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hMerge="1">
                  <a:txBody>
                    <a:bodyPr/>
                    <a:lstStyle/>
                    <a:p>
                      <a:endParaRPr lang="en-CA"/>
                    </a:p>
                  </a:txBody>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endParaRPr lang="en-CA" sz="100" b="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7513435"/>
                  </a:ext>
                </a:extLst>
              </a:tr>
            </a:tbl>
          </a:graphicData>
        </a:graphic>
      </p:graphicFrame>
      <p:sp>
        <p:nvSpPr>
          <p:cNvPr id="3" name="Slide Number Placeholder 3">
            <a:extLst>
              <a:ext uri="{FF2B5EF4-FFF2-40B4-BE49-F238E27FC236}">
                <a16:creationId xmlns:a16="http://schemas.microsoft.com/office/drawing/2014/main" id="{1BAD9935-BF10-455A-8C3C-E5A55E341D4B}"/>
              </a:ext>
            </a:extLst>
          </p:cNvPr>
          <p:cNvSpPr>
            <a:spLocks noGrp="1"/>
          </p:cNvSpPr>
          <p:nvPr>
            <p:ph type="sldNum" sz="quarter" idx="12"/>
          </p:nvPr>
        </p:nvSpPr>
        <p:spPr>
          <a:xfrm>
            <a:off x="11128248" y="6356351"/>
            <a:ext cx="454152" cy="365125"/>
          </a:xfrm>
        </p:spPr>
        <p:txBody>
          <a:bodyPr/>
          <a:lstStyle/>
          <a:p>
            <a:fld id="{ABCE2B6B-7FFE-FA46-BED3-31567387080B}" type="slidenum">
              <a:rPr lang="en-US" sz="800" dirty="0" smtClean="0">
                <a:solidFill>
                  <a:schemeClr val="bg1"/>
                </a:solidFill>
                <a:latin typeface="Arial"/>
                <a:ea typeface="Verdana"/>
                <a:cs typeface="Arial"/>
              </a:rPr>
              <a:t>6</a:t>
            </a:fld>
            <a:endParaRPr lang="en-US" sz="800">
              <a:solidFill>
                <a:schemeClr val="bg1"/>
              </a:solidFill>
              <a:latin typeface="Arial"/>
              <a:ea typeface="Verdana"/>
              <a:cs typeface="Arial"/>
            </a:endParaRPr>
          </a:p>
        </p:txBody>
      </p:sp>
    </p:spTree>
    <p:extLst>
      <p:ext uri="{BB962C8B-B14F-4D97-AF65-F5344CB8AC3E}">
        <p14:creationId xmlns:p14="http://schemas.microsoft.com/office/powerpoint/2010/main" val="2037075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Rounded Rectangle 116">
            <a:extLst>
              <a:ext uri="{FF2B5EF4-FFF2-40B4-BE49-F238E27FC236}">
                <a16:creationId xmlns:a16="http://schemas.microsoft.com/office/drawing/2014/main" id="{F9A47628-6CA4-DA40-B496-6455464DD194}"/>
              </a:ext>
            </a:extLst>
          </p:cNvPr>
          <p:cNvSpPr/>
          <p:nvPr/>
        </p:nvSpPr>
        <p:spPr>
          <a:xfrm>
            <a:off x="4186006" y="1866553"/>
            <a:ext cx="6668820" cy="798872"/>
          </a:xfrm>
          <a:prstGeom prst="roundRect">
            <a:avLst>
              <a:gd name="adj" fmla="val 10973"/>
            </a:avLst>
          </a:prstGeom>
          <a:solidFill>
            <a:srgbClr val="E7EFF9"/>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4" name="Slide Number Placeholder 3"/>
          <p:cNvSpPr>
            <a:spLocks noGrp="1"/>
          </p:cNvSpPr>
          <p:nvPr>
            <p:ph type="sldNum" sz="quarter" idx="4294967295"/>
          </p:nvPr>
        </p:nvSpPr>
        <p:spPr>
          <a:xfrm>
            <a:off x="11217903" y="6312866"/>
            <a:ext cx="295220" cy="365125"/>
          </a:xfrm>
        </p:spPr>
        <p:txBody>
          <a:bodyPr/>
          <a:lstStyle/>
          <a:p>
            <a:fld id="{ABCE2B6B-7FFE-FA46-BED3-31567387080B}" type="slidenum">
              <a:rPr lang="en-US" sz="800" smtClean="0"/>
              <a:t>7</a:t>
            </a:fld>
            <a:endParaRPr lang="en-US" sz="800"/>
          </a:p>
        </p:txBody>
      </p:sp>
      <p:sp>
        <p:nvSpPr>
          <p:cNvPr id="5" name="Title 1"/>
          <p:cNvSpPr>
            <a:spLocks noGrp="1"/>
          </p:cNvSpPr>
          <p:nvPr>
            <p:ph type="title" idx="4294967295"/>
          </p:nvPr>
        </p:nvSpPr>
        <p:spPr>
          <a:xfrm>
            <a:off x="440616" y="211490"/>
            <a:ext cx="9494838" cy="456250"/>
          </a:xfrm>
        </p:spPr>
        <p:txBody>
          <a:bodyPr vert="horz" lIns="91440" tIns="421200" rIns="91440" bIns="45720" rtlCol="0" anchor="ctr" anchorCtr="0">
            <a:normAutofit fontScale="90000"/>
          </a:bodyPr>
          <a:lstStyle/>
          <a:p>
            <a:pPr algn="l"/>
            <a:r>
              <a:rPr lang="en-US" sz="2700" b="1">
                <a:latin typeface="Verdana"/>
                <a:cs typeface="Verdana"/>
              </a:rPr>
              <a:t>BDM KM Capability</a:t>
            </a:r>
            <a:br>
              <a:rPr lang="en-US" sz="2700" b="1">
                <a:latin typeface="Verdana"/>
                <a:cs typeface="Verdana"/>
              </a:rPr>
            </a:br>
            <a:r>
              <a:rPr lang="en-CA" sz="1600" b="1">
                <a:ea typeface="Verdana" panose="020B0604030504040204" pitchFamily="34" charset="0"/>
                <a:cs typeface="Verdana" panose="020B0604030504040204" pitchFamily="34" charset="0"/>
              </a:rPr>
              <a:t>Architecture State: Baseline – Current Operating Environment (Multiple KM Systems)</a:t>
            </a:r>
            <a:endParaRPr lang="en-US" sz="2800">
              <a:latin typeface="Verdana"/>
              <a:cs typeface="Verdana"/>
            </a:endParaRPr>
          </a:p>
        </p:txBody>
      </p:sp>
      <p:sp>
        <p:nvSpPr>
          <p:cNvPr id="46" name="Rounded Rectangle 45">
            <a:extLst>
              <a:ext uri="{FF2B5EF4-FFF2-40B4-BE49-F238E27FC236}">
                <a16:creationId xmlns:a16="http://schemas.microsoft.com/office/drawing/2014/main" id="{F9A47628-6CA4-DA40-B496-6455464DD194}"/>
              </a:ext>
            </a:extLst>
          </p:cNvPr>
          <p:cNvSpPr/>
          <p:nvPr/>
        </p:nvSpPr>
        <p:spPr>
          <a:xfrm>
            <a:off x="2337977" y="2066672"/>
            <a:ext cx="1045653" cy="1072909"/>
          </a:xfrm>
          <a:prstGeom prst="roundRect">
            <a:avLst>
              <a:gd name="adj" fmla="val 10973"/>
            </a:avLst>
          </a:prstGeom>
          <a:solidFill>
            <a:srgbClr val="FFF6DD"/>
          </a:solidFill>
          <a:ln w="1905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47" name="TextBox 46">
            <a:extLst>
              <a:ext uri="{FF2B5EF4-FFF2-40B4-BE49-F238E27FC236}">
                <a16:creationId xmlns:a16="http://schemas.microsoft.com/office/drawing/2014/main" id="{82AAF127-7569-9042-944C-ABB7B321A685}"/>
              </a:ext>
            </a:extLst>
          </p:cNvPr>
          <p:cNvSpPr txBox="1"/>
          <p:nvPr/>
        </p:nvSpPr>
        <p:spPr>
          <a:xfrm>
            <a:off x="2441532" y="1893418"/>
            <a:ext cx="840038" cy="276999"/>
          </a:xfrm>
          <a:prstGeom prst="rect">
            <a:avLst/>
          </a:prstGeom>
          <a:solidFill>
            <a:schemeClr val="bg1"/>
          </a:solidFill>
        </p:spPr>
        <p:txBody>
          <a:bodyPr wrap="none" rtlCol="0">
            <a:spAutoFit/>
          </a:bodyPr>
          <a:lstStyle/>
          <a:p>
            <a:r>
              <a:rPr lang="en-US" sz="1200" err="1">
                <a:solidFill>
                  <a:srgbClr val="D49F00"/>
                </a:solidFill>
              </a:rPr>
              <a:t>EI</a:t>
            </a:r>
            <a:r>
              <a:rPr lang="en-US" sz="1200">
                <a:solidFill>
                  <a:srgbClr val="D49F00"/>
                </a:solidFill>
              </a:rPr>
              <a:t> Systems</a:t>
            </a:r>
          </a:p>
        </p:txBody>
      </p:sp>
      <p:pic>
        <p:nvPicPr>
          <p:cNvPr id="49" name="Picture 48" descr="Icon&#10;&#10;Description automatically generated">
            <a:extLst>
              <a:ext uri="{FF2B5EF4-FFF2-40B4-BE49-F238E27FC236}">
                <a16:creationId xmlns:a16="http://schemas.microsoft.com/office/drawing/2014/main" id="{E9418518-0F43-2F40-8F5E-F98A9681C00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12635" y="2829209"/>
            <a:ext cx="360317" cy="376656"/>
          </a:xfrm>
          <a:prstGeom prst="rect">
            <a:avLst/>
          </a:prstGeom>
        </p:spPr>
      </p:pic>
      <p:sp>
        <p:nvSpPr>
          <p:cNvPr id="50" name="TextBox 49">
            <a:extLst>
              <a:ext uri="{FF2B5EF4-FFF2-40B4-BE49-F238E27FC236}">
                <a16:creationId xmlns:a16="http://schemas.microsoft.com/office/drawing/2014/main" id="{F9951957-B69F-DE48-9D51-0E7FF47CC547}"/>
              </a:ext>
            </a:extLst>
          </p:cNvPr>
          <p:cNvSpPr txBox="1"/>
          <p:nvPr/>
        </p:nvSpPr>
        <p:spPr>
          <a:xfrm>
            <a:off x="638659" y="3416184"/>
            <a:ext cx="833585" cy="276999"/>
          </a:xfrm>
          <a:prstGeom prst="rect">
            <a:avLst/>
          </a:prstGeom>
          <a:noFill/>
        </p:spPr>
        <p:txBody>
          <a:bodyPr wrap="square" lIns="91440" tIns="45720" rIns="91440" bIns="45720" rtlCol="0" anchor="t">
            <a:spAutoFit/>
          </a:bodyPr>
          <a:lstStyle/>
          <a:p>
            <a:r>
              <a:rPr lang="en-US" sz="1200"/>
              <a:t>ESDC User</a:t>
            </a:r>
          </a:p>
        </p:txBody>
      </p:sp>
      <p:pic>
        <p:nvPicPr>
          <p:cNvPr id="119" name="Picture 118" descr="Icon&#10;&#10;Description automatically generated">
            <a:extLst>
              <a:ext uri="{FF2B5EF4-FFF2-40B4-BE49-F238E27FC236}">
                <a16:creationId xmlns:a16="http://schemas.microsoft.com/office/drawing/2014/main" id="{E9418518-0F43-2F40-8F5E-F98A9681C00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30966" y="5324252"/>
            <a:ext cx="360317" cy="376656"/>
          </a:xfrm>
          <a:prstGeom prst="rect">
            <a:avLst/>
          </a:prstGeom>
        </p:spPr>
      </p:pic>
      <p:sp>
        <p:nvSpPr>
          <p:cNvPr id="52" name="Rounded Rectangle 51">
            <a:extLst>
              <a:ext uri="{FF2B5EF4-FFF2-40B4-BE49-F238E27FC236}">
                <a16:creationId xmlns:a16="http://schemas.microsoft.com/office/drawing/2014/main" id="{F9A47628-6CA4-DA40-B496-6455464DD194}"/>
              </a:ext>
            </a:extLst>
          </p:cNvPr>
          <p:cNvSpPr/>
          <p:nvPr/>
        </p:nvSpPr>
        <p:spPr>
          <a:xfrm>
            <a:off x="2345884" y="3396012"/>
            <a:ext cx="1045653" cy="755158"/>
          </a:xfrm>
          <a:prstGeom prst="roundRect">
            <a:avLst>
              <a:gd name="adj" fmla="val 10973"/>
            </a:avLst>
          </a:prstGeom>
          <a:solidFill>
            <a:srgbClr val="FFF6DD"/>
          </a:solidFill>
          <a:ln w="1905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53" name="TextBox 52">
            <a:extLst>
              <a:ext uri="{FF2B5EF4-FFF2-40B4-BE49-F238E27FC236}">
                <a16:creationId xmlns:a16="http://schemas.microsoft.com/office/drawing/2014/main" id="{82AAF127-7569-9042-944C-ABB7B321A685}"/>
              </a:ext>
            </a:extLst>
          </p:cNvPr>
          <p:cNvSpPr txBox="1"/>
          <p:nvPr/>
        </p:nvSpPr>
        <p:spPr>
          <a:xfrm>
            <a:off x="2359337" y="3275222"/>
            <a:ext cx="922233" cy="266404"/>
          </a:xfrm>
          <a:prstGeom prst="rect">
            <a:avLst/>
          </a:prstGeom>
          <a:solidFill>
            <a:schemeClr val="bg1"/>
          </a:solidFill>
        </p:spPr>
        <p:txBody>
          <a:bodyPr wrap="square" lIns="91440" tIns="45720" rIns="91440" bIns="45720" rtlCol="0" anchor="t">
            <a:spAutoFit/>
          </a:bodyPr>
          <a:lstStyle/>
          <a:p>
            <a:r>
              <a:rPr lang="en-US" sz="1100">
                <a:solidFill>
                  <a:srgbClr val="D49F00"/>
                </a:solidFill>
              </a:rPr>
              <a:t>CPP Systems</a:t>
            </a:r>
          </a:p>
        </p:txBody>
      </p:sp>
      <p:sp>
        <p:nvSpPr>
          <p:cNvPr id="61" name="Rounded Rectangle 60">
            <a:extLst>
              <a:ext uri="{FF2B5EF4-FFF2-40B4-BE49-F238E27FC236}">
                <a16:creationId xmlns:a16="http://schemas.microsoft.com/office/drawing/2014/main" id="{61C72295-5149-574F-8E17-CD71EB2180F1}"/>
              </a:ext>
            </a:extLst>
          </p:cNvPr>
          <p:cNvSpPr/>
          <p:nvPr/>
        </p:nvSpPr>
        <p:spPr>
          <a:xfrm>
            <a:off x="4192253" y="4948623"/>
            <a:ext cx="6648507" cy="686822"/>
          </a:xfrm>
          <a:prstGeom prst="roundRect">
            <a:avLst>
              <a:gd name="adj" fmla="val 13945"/>
            </a:avLst>
          </a:prstGeom>
          <a:noFill/>
          <a:ln w="19050">
            <a:solidFill>
              <a:srgbClr val="7DA66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342900"/>
            <a:endParaRPr lang="en-US" sz="825">
              <a:solidFill>
                <a:prstClr val="black"/>
              </a:solidFill>
              <a:latin typeface="Calibri"/>
            </a:endParaRPr>
          </a:p>
        </p:txBody>
      </p:sp>
      <p:sp>
        <p:nvSpPr>
          <p:cNvPr id="62" name="Can 61">
            <a:extLst>
              <a:ext uri="{FF2B5EF4-FFF2-40B4-BE49-F238E27FC236}">
                <a16:creationId xmlns:a16="http://schemas.microsoft.com/office/drawing/2014/main" id="{8041B19D-56E6-7B46-81B6-FE780CE47324}"/>
              </a:ext>
            </a:extLst>
          </p:cNvPr>
          <p:cNvSpPr/>
          <p:nvPr/>
        </p:nvSpPr>
        <p:spPr>
          <a:xfrm>
            <a:off x="4485957" y="5114884"/>
            <a:ext cx="923264" cy="443646"/>
          </a:xfrm>
          <a:prstGeom prst="can">
            <a:avLst/>
          </a:prstGeom>
          <a:solidFill>
            <a:srgbClr val="7DA6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1100">
                <a:solidFill>
                  <a:prstClr val="white"/>
                </a:solidFill>
                <a:latin typeface="Calibri"/>
              </a:rPr>
              <a:t>SharePoint Documents</a:t>
            </a:r>
          </a:p>
        </p:txBody>
      </p:sp>
      <p:cxnSp>
        <p:nvCxnSpPr>
          <p:cNvPr id="64" name="Elbow Connector 63"/>
          <p:cNvCxnSpPr>
            <a:cxnSpLocks/>
          </p:cNvCxnSpPr>
          <p:nvPr/>
        </p:nvCxnSpPr>
        <p:spPr>
          <a:xfrm flipV="1">
            <a:off x="1430108" y="2614550"/>
            <a:ext cx="826936" cy="498951"/>
          </a:xfrm>
          <a:prstGeom prst="bentConnector3">
            <a:avLst>
              <a:gd name="adj1" fmla="val 50000"/>
            </a:avLst>
          </a:prstGeom>
          <a:ln w="9525">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5" name="Elbow Connector 64"/>
          <p:cNvCxnSpPr>
            <a:cxnSpLocks/>
          </p:cNvCxnSpPr>
          <p:nvPr/>
        </p:nvCxnSpPr>
        <p:spPr>
          <a:xfrm rot="16200000" flipV="1">
            <a:off x="9960039" y="3284495"/>
            <a:ext cx="1996033" cy="234589"/>
          </a:xfrm>
          <a:prstGeom prst="bentConnector3">
            <a:avLst>
              <a:gd name="adj1" fmla="val 100347"/>
            </a:avLst>
          </a:prstGeom>
          <a:ln w="9525">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C3BEECE6-5A66-E540-9E24-BABDF8548858}"/>
              </a:ext>
            </a:extLst>
          </p:cNvPr>
          <p:cNvGrpSpPr/>
          <p:nvPr/>
        </p:nvGrpSpPr>
        <p:grpSpPr>
          <a:xfrm>
            <a:off x="9210112" y="5954082"/>
            <a:ext cx="1878520" cy="692428"/>
            <a:chOff x="9962928" y="5797569"/>
            <a:chExt cx="1980000" cy="888146"/>
          </a:xfrm>
        </p:grpSpPr>
        <p:cxnSp>
          <p:nvCxnSpPr>
            <p:cNvPr id="68" name="Straight Connector 67">
              <a:extLst>
                <a:ext uri="{FF2B5EF4-FFF2-40B4-BE49-F238E27FC236}">
                  <a16:creationId xmlns:a16="http://schemas.microsoft.com/office/drawing/2014/main" id="{ED9F3A40-D921-CE45-8679-F379CC1CA963}"/>
                </a:ext>
              </a:extLst>
            </p:cNvPr>
            <p:cNvCxnSpPr>
              <a:cxnSpLocks/>
            </p:cNvCxnSpPr>
            <p:nvPr/>
          </p:nvCxnSpPr>
          <p:spPr>
            <a:xfrm>
              <a:off x="9962928" y="5920679"/>
              <a:ext cx="1980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EF40BF2B-57C0-5A4B-AB56-6B906722323A}"/>
                </a:ext>
              </a:extLst>
            </p:cNvPr>
            <p:cNvSpPr txBox="1"/>
            <p:nvPr/>
          </p:nvSpPr>
          <p:spPr>
            <a:xfrm>
              <a:off x="10463852" y="5797569"/>
              <a:ext cx="978153" cy="246221"/>
            </a:xfrm>
            <a:prstGeom prst="rect">
              <a:avLst/>
            </a:prstGeom>
            <a:solidFill>
              <a:schemeClr val="bg1"/>
            </a:solidFill>
          </p:spPr>
          <p:txBody>
            <a:bodyPr wrap="none" rtlCol="0">
              <a:spAutoFit/>
            </a:bodyPr>
            <a:lstStyle/>
            <a:p>
              <a:r>
                <a:rPr lang="en-US" sz="1000"/>
                <a:t>GC Component</a:t>
              </a:r>
            </a:p>
          </p:txBody>
        </p:sp>
        <p:cxnSp>
          <p:nvCxnSpPr>
            <p:cNvPr id="70" name="Straight Connector 69">
              <a:extLst>
                <a:ext uri="{FF2B5EF4-FFF2-40B4-BE49-F238E27FC236}">
                  <a16:creationId xmlns:a16="http://schemas.microsoft.com/office/drawing/2014/main" id="{6C0F26E1-68DF-6043-9BFD-6710243F540D}"/>
                </a:ext>
              </a:extLst>
            </p:cNvPr>
            <p:cNvCxnSpPr>
              <a:cxnSpLocks/>
            </p:cNvCxnSpPr>
            <p:nvPr/>
          </p:nvCxnSpPr>
          <p:spPr>
            <a:xfrm>
              <a:off x="9962928" y="6134654"/>
              <a:ext cx="1980000" cy="0"/>
            </a:xfrm>
            <a:prstGeom prst="line">
              <a:avLst/>
            </a:prstGeom>
            <a:ln w="15875">
              <a:solidFill>
                <a:srgbClr val="FFC000"/>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C5BFA2D4-DB85-F849-9B39-93943DEE872A}"/>
                </a:ext>
              </a:extLst>
            </p:cNvPr>
            <p:cNvSpPr txBox="1"/>
            <p:nvPr/>
          </p:nvSpPr>
          <p:spPr>
            <a:xfrm>
              <a:off x="10214585" y="6011544"/>
              <a:ext cx="1476686" cy="246221"/>
            </a:xfrm>
            <a:prstGeom prst="rect">
              <a:avLst/>
            </a:prstGeom>
            <a:solidFill>
              <a:schemeClr val="bg1"/>
            </a:solidFill>
          </p:spPr>
          <p:txBody>
            <a:bodyPr wrap="none" rtlCol="0">
              <a:spAutoFit/>
            </a:bodyPr>
            <a:lstStyle/>
            <a:p>
              <a:r>
                <a:rPr lang="en-US" sz="1000"/>
                <a:t>Solution External System</a:t>
              </a:r>
            </a:p>
          </p:txBody>
        </p:sp>
        <p:cxnSp>
          <p:nvCxnSpPr>
            <p:cNvPr id="77" name="Straight Connector 76">
              <a:extLst>
                <a:ext uri="{FF2B5EF4-FFF2-40B4-BE49-F238E27FC236}">
                  <a16:creationId xmlns:a16="http://schemas.microsoft.com/office/drawing/2014/main" id="{DD7BD534-5A3C-0341-BF6C-6DD28882FD27}"/>
                </a:ext>
              </a:extLst>
            </p:cNvPr>
            <p:cNvCxnSpPr>
              <a:cxnSpLocks/>
            </p:cNvCxnSpPr>
            <p:nvPr/>
          </p:nvCxnSpPr>
          <p:spPr>
            <a:xfrm>
              <a:off x="9962928" y="6348629"/>
              <a:ext cx="1980000" cy="0"/>
            </a:xfrm>
            <a:prstGeom prst="line">
              <a:avLst/>
            </a:prstGeom>
            <a:ln w="15875">
              <a:solidFill>
                <a:srgbClr val="7DA66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B5B85E28-38C2-F742-9FBC-B0339CD70013}"/>
                </a:ext>
              </a:extLst>
            </p:cNvPr>
            <p:cNvSpPr txBox="1"/>
            <p:nvPr/>
          </p:nvSpPr>
          <p:spPr>
            <a:xfrm>
              <a:off x="10187334" y="6225519"/>
              <a:ext cx="1531188" cy="246221"/>
            </a:xfrm>
            <a:prstGeom prst="rect">
              <a:avLst/>
            </a:prstGeom>
            <a:solidFill>
              <a:schemeClr val="bg1"/>
            </a:solidFill>
          </p:spPr>
          <p:txBody>
            <a:bodyPr wrap="none" rtlCol="0">
              <a:spAutoFit/>
            </a:bodyPr>
            <a:lstStyle/>
            <a:p>
              <a:r>
                <a:rPr lang="en-US" sz="1000"/>
                <a:t>Solution Data Component</a:t>
              </a:r>
            </a:p>
          </p:txBody>
        </p:sp>
        <p:cxnSp>
          <p:nvCxnSpPr>
            <p:cNvPr id="81" name="Straight Connector 80">
              <a:extLst>
                <a:ext uri="{FF2B5EF4-FFF2-40B4-BE49-F238E27FC236}">
                  <a16:creationId xmlns:a16="http://schemas.microsoft.com/office/drawing/2014/main" id="{2B766BEC-726D-C740-A49A-9E0534CCF412}"/>
                </a:ext>
              </a:extLst>
            </p:cNvPr>
            <p:cNvCxnSpPr>
              <a:cxnSpLocks/>
            </p:cNvCxnSpPr>
            <p:nvPr/>
          </p:nvCxnSpPr>
          <p:spPr>
            <a:xfrm>
              <a:off x="9962928" y="6562604"/>
              <a:ext cx="198000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6049C5E-392E-6644-8AA2-7DA9CBAD3B7E}"/>
                </a:ext>
              </a:extLst>
            </p:cNvPr>
            <p:cNvSpPr txBox="1"/>
            <p:nvPr/>
          </p:nvSpPr>
          <p:spPr>
            <a:xfrm>
              <a:off x="10323589" y="6439494"/>
              <a:ext cx="1258678" cy="246221"/>
            </a:xfrm>
            <a:prstGeom prst="rect">
              <a:avLst/>
            </a:prstGeom>
            <a:solidFill>
              <a:schemeClr val="bg1"/>
            </a:solidFill>
          </p:spPr>
          <p:txBody>
            <a:bodyPr wrap="none" rtlCol="0">
              <a:spAutoFit/>
            </a:bodyPr>
            <a:lstStyle/>
            <a:p>
              <a:r>
                <a:rPr lang="en-US" sz="1000"/>
                <a:t>Solution Component</a:t>
              </a:r>
            </a:p>
          </p:txBody>
        </p:sp>
      </p:grpSp>
      <p:grpSp>
        <p:nvGrpSpPr>
          <p:cNvPr id="8" name="Group 7"/>
          <p:cNvGrpSpPr/>
          <p:nvPr/>
        </p:nvGrpSpPr>
        <p:grpSpPr>
          <a:xfrm>
            <a:off x="5814612" y="5018444"/>
            <a:ext cx="1141489" cy="583755"/>
            <a:chOff x="3804135" y="4730365"/>
            <a:chExt cx="1141489" cy="583755"/>
          </a:xfrm>
        </p:grpSpPr>
        <p:grpSp>
          <p:nvGrpSpPr>
            <p:cNvPr id="3" name="Group 2"/>
            <p:cNvGrpSpPr/>
            <p:nvPr/>
          </p:nvGrpSpPr>
          <p:grpSpPr>
            <a:xfrm>
              <a:off x="3804135" y="4730365"/>
              <a:ext cx="482294" cy="503974"/>
              <a:chOff x="3804135" y="4730365"/>
              <a:chExt cx="482294" cy="503974"/>
            </a:xfrm>
          </p:grpSpPr>
          <p:pic>
            <p:nvPicPr>
              <p:cNvPr id="75" name="Picture 74"/>
              <p:cNvPicPr/>
              <p:nvPr/>
            </p:nvPicPr>
            <p:blipFill>
              <a:blip r:embed="rId4"/>
              <a:stretch>
                <a:fillRect/>
              </a:stretch>
            </p:blipFill>
            <p:spPr>
              <a:xfrm>
                <a:off x="3863856" y="4730365"/>
                <a:ext cx="422573" cy="448099"/>
              </a:xfrm>
              <a:prstGeom prst="rect">
                <a:avLst/>
              </a:prstGeom>
            </p:spPr>
          </p:pic>
          <p:pic>
            <p:nvPicPr>
              <p:cNvPr id="76" name="Picture 75"/>
              <p:cNvPicPr/>
              <p:nvPr/>
            </p:nvPicPr>
            <p:blipFill>
              <a:blip r:embed="rId4"/>
              <a:stretch>
                <a:fillRect/>
              </a:stretch>
            </p:blipFill>
            <p:spPr>
              <a:xfrm>
                <a:off x="3804135" y="4786240"/>
                <a:ext cx="422573" cy="448099"/>
              </a:xfrm>
              <a:prstGeom prst="rect">
                <a:avLst/>
              </a:prstGeom>
            </p:spPr>
          </p:pic>
        </p:grpSp>
        <p:sp>
          <p:nvSpPr>
            <p:cNvPr id="6" name="Rectangle 5"/>
            <p:cNvSpPr/>
            <p:nvPr/>
          </p:nvSpPr>
          <p:spPr>
            <a:xfrm>
              <a:off x="4111608" y="4883233"/>
              <a:ext cx="834016" cy="430887"/>
            </a:xfrm>
            <a:prstGeom prst="rect">
              <a:avLst/>
            </a:prstGeom>
          </p:spPr>
          <p:txBody>
            <a:bodyPr wrap="square">
              <a:spAutoFit/>
            </a:bodyPr>
            <a:lstStyle/>
            <a:p>
              <a:pPr algn="ctr" defTabSz="342900"/>
              <a:r>
                <a:rPr lang="en-US" sz="1100"/>
                <a:t>HTML Pages</a:t>
              </a:r>
            </a:p>
          </p:txBody>
        </p:sp>
      </p:grpSp>
      <p:pic>
        <p:nvPicPr>
          <p:cNvPr id="79" name="Picture 78"/>
          <p:cNvPicPr/>
          <p:nvPr/>
        </p:nvPicPr>
        <p:blipFill>
          <a:blip r:embed="rId5"/>
          <a:stretch>
            <a:fillRect/>
          </a:stretch>
        </p:blipFill>
        <p:spPr>
          <a:xfrm>
            <a:off x="7184817" y="5037092"/>
            <a:ext cx="398857" cy="504061"/>
          </a:xfrm>
          <a:prstGeom prst="rect">
            <a:avLst/>
          </a:prstGeom>
        </p:spPr>
      </p:pic>
      <p:sp>
        <p:nvSpPr>
          <p:cNvPr id="82" name="Rectangle 81"/>
          <p:cNvSpPr/>
          <p:nvPr/>
        </p:nvSpPr>
        <p:spPr>
          <a:xfrm>
            <a:off x="7489776" y="5133274"/>
            <a:ext cx="895824" cy="430887"/>
          </a:xfrm>
          <a:prstGeom prst="rect">
            <a:avLst/>
          </a:prstGeom>
        </p:spPr>
        <p:txBody>
          <a:bodyPr wrap="square">
            <a:spAutoFit/>
          </a:bodyPr>
          <a:lstStyle/>
          <a:p>
            <a:pPr algn="ctr" defTabSz="342900"/>
            <a:r>
              <a:rPr lang="en-US" sz="1100"/>
              <a:t>Paper References </a:t>
            </a:r>
          </a:p>
        </p:txBody>
      </p:sp>
      <p:grpSp>
        <p:nvGrpSpPr>
          <p:cNvPr id="10" name="Group 9"/>
          <p:cNvGrpSpPr/>
          <p:nvPr/>
        </p:nvGrpSpPr>
        <p:grpSpPr>
          <a:xfrm>
            <a:off x="8640042" y="5047009"/>
            <a:ext cx="1154847" cy="512492"/>
            <a:chOff x="6265968" y="4766679"/>
            <a:chExt cx="1154847" cy="512492"/>
          </a:xfrm>
        </p:grpSpPr>
        <p:pic>
          <p:nvPicPr>
            <p:cNvPr id="80" name="Picture 79"/>
            <p:cNvPicPr/>
            <p:nvPr/>
          </p:nvPicPr>
          <p:blipFill>
            <a:blip r:embed="rId6"/>
            <a:stretch>
              <a:fillRect/>
            </a:stretch>
          </p:blipFill>
          <p:spPr>
            <a:xfrm>
              <a:off x="6265968" y="4766679"/>
              <a:ext cx="452177" cy="443531"/>
            </a:xfrm>
            <a:prstGeom prst="rect">
              <a:avLst/>
            </a:prstGeom>
          </p:spPr>
        </p:pic>
        <p:sp>
          <p:nvSpPr>
            <p:cNvPr id="83" name="Rectangle 82"/>
            <p:cNvSpPr/>
            <p:nvPr/>
          </p:nvSpPr>
          <p:spPr>
            <a:xfrm>
              <a:off x="6631757" y="4848284"/>
              <a:ext cx="789058" cy="430887"/>
            </a:xfrm>
            <a:prstGeom prst="rect">
              <a:avLst/>
            </a:prstGeom>
          </p:spPr>
          <p:txBody>
            <a:bodyPr wrap="square">
              <a:spAutoFit/>
            </a:bodyPr>
            <a:lstStyle/>
            <a:p>
              <a:pPr algn="ctr" defTabSz="342900"/>
              <a:r>
                <a:rPr lang="en-US" sz="1100"/>
                <a:t>Shared Drives</a:t>
              </a:r>
            </a:p>
          </p:txBody>
        </p:sp>
      </p:grpSp>
      <p:sp>
        <p:nvSpPr>
          <p:cNvPr id="87" name="Rounded Rectangle 86">
            <a:extLst>
              <a:ext uri="{FF2B5EF4-FFF2-40B4-BE49-F238E27FC236}">
                <a16:creationId xmlns:a16="http://schemas.microsoft.com/office/drawing/2014/main" id="{85D24E8D-46D2-814B-AC82-4D77EF15EDFF}"/>
              </a:ext>
            </a:extLst>
          </p:cNvPr>
          <p:cNvSpPr/>
          <p:nvPr/>
        </p:nvSpPr>
        <p:spPr>
          <a:xfrm>
            <a:off x="2416472" y="3885100"/>
            <a:ext cx="577033" cy="168251"/>
          </a:xfrm>
          <a:prstGeom prst="roundRect">
            <a:avLst/>
          </a:prstGeom>
          <a:solidFill>
            <a:schemeClr val="bg1"/>
          </a:solidFill>
          <a:ln w="1270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a:solidFill>
                  <a:srgbClr val="D49F00"/>
                </a:solidFill>
              </a:rPr>
              <a:t>PWS</a:t>
            </a:r>
          </a:p>
        </p:txBody>
      </p:sp>
      <p:sp>
        <p:nvSpPr>
          <p:cNvPr id="89" name="Rounded Rectangle 88">
            <a:extLst>
              <a:ext uri="{FF2B5EF4-FFF2-40B4-BE49-F238E27FC236}">
                <a16:creationId xmlns:a16="http://schemas.microsoft.com/office/drawing/2014/main" id="{85D24E8D-46D2-814B-AC82-4D77EF15EDFF}"/>
              </a:ext>
            </a:extLst>
          </p:cNvPr>
          <p:cNvSpPr/>
          <p:nvPr/>
        </p:nvSpPr>
        <p:spPr>
          <a:xfrm>
            <a:off x="2429150" y="3618778"/>
            <a:ext cx="577033" cy="177999"/>
          </a:xfrm>
          <a:prstGeom prst="roundRect">
            <a:avLst/>
          </a:prstGeom>
          <a:solidFill>
            <a:schemeClr val="bg1"/>
          </a:solidFill>
          <a:ln w="1270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rgbClr val="D49F00"/>
                </a:solidFill>
              </a:rPr>
              <a:t>ITRDS</a:t>
            </a:r>
          </a:p>
        </p:txBody>
      </p:sp>
      <p:sp>
        <p:nvSpPr>
          <p:cNvPr id="90" name="Rounded Rectangle 89">
            <a:extLst>
              <a:ext uri="{FF2B5EF4-FFF2-40B4-BE49-F238E27FC236}">
                <a16:creationId xmlns:a16="http://schemas.microsoft.com/office/drawing/2014/main" id="{85D24E8D-46D2-814B-AC82-4D77EF15EDFF}"/>
              </a:ext>
            </a:extLst>
          </p:cNvPr>
          <p:cNvSpPr/>
          <p:nvPr/>
        </p:nvSpPr>
        <p:spPr>
          <a:xfrm>
            <a:off x="2423126" y="2241149"/>
            <a:ext cx="496357" cy="255409"/>
          </a:xfrm>
          <a:prstGeom prst="roundRect">
            <a:avLst/>
          </a:prstGeom>
          <a:solidFill>
            <a:schemeClr val="bg1"/>
          </a:solidFill>
          <a:ln w="1270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rgbClr val="D49F00"/>
                </a:solidFill>
              </a:rPr>
              <a:t>NWS</a:t>
            </a:r>
          </a:p>
        </p:txBody>
      </p:sp>
      <p:sp>
        <p:nvSpPr>
          <p:cNvPr id="111" name="Rounded Rectangle 110">
            <a:extLst>
              <a:ext uri="{FF2B5EF4-FFF2-40B4-BE49-F238E27FC236}">
                <a16:creationId xmlns:a16="http://schemas.microsoft.com/office/drawing/2014/main" id="{85D24E8D-46D2-814B-AC82-4D77EF15EDFF}"/>
              </a:ext>
            </a:extLst>
          </p:cNvPr>
          <p:cNvSpPr/>
          <p:nvPr/>
        </p:nvSpPr>
        <p:spPr>
          <a:xfrm>
            <a:off x="2423126" y="2819518"/>
            <a:ext cx="437451" cy="273994"/>
          </a:xfrm>
          <a:prstGeom prst="roundRect">
            <a:avLst/>
          </a:prstGeom>
          <a:solidFill>
            <a:schemeClr val="bg1"/>
          </a:solidFill>
          <a:ln w="1270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a:solidFill>
                  <a:srgbClr val="D49F00"/>
                </a:solidFill>
              </a:rPr>
              <a:t>TRS</a:t>
            </a:r>
          </a:p>
        </p:txBody>
      </p:sp>
      <p:sp>
        <p:nvSpPr>
          <p:cNvPr id="116" name="Rectangle 115">
            <a:extLst>
              <a:ext uri="{FF2B5EF4-FFF2-40B4-BE49-F238E27FC236}">
                <a16:creationId xmlns:a16="http://schemas.microsoft.com/office/drawing/2014/main" id="{85D24E8D-46D2-814B-AC82-4D77EF15EDFF}"/>
              </a:ext>
            </a:extLst>
          </p:cNvPr>
          <p:cNvSpPr/>
          <p:nvPr/>
        </p:nvSpPr>
        <p:spPr>
          <a:xfrm>
            <a:off x="2423126" y="2525671"/>
            <a:ext cx="410496" cy="253825"/>
          </a:xfrm>
          <a:prstGeom prst="roundRect">
            <a:avLst/>
          </a:prstGeom>
          <a:solidFill>
            <a:schemeClr val="bg1"/>
          </a:solidFill>
          <a:ln w="1270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a:solidFill>
                  <a:srgbClr val="D49F00"/>
                </a:solidFill>
              </a:rPr>
              <a:t>FTS</a:t>
            </a:r>
          </a:p>
        </p:txBody>
      </p:sp>
      <p:sp>
        <p:nvSpPr>
          <p:cNvPr id="118" name="TextBox 117">
            <a:extLst>
              <a:ext uri="{FF2B5EF4-FFF2-40B4-BE49-F238E27FC236}">
                <a16:creationId xmlns:a16="http://schemas.microsoft.com/office/drawing/2014/main" id="{F9951957-B69F-DE48-9D51-0E7FF47CC547}"/>
              </a:ext>
            </a:extLst>
          </p:cNvPr>
          <p:cNvSpPr txBox="1"/>
          <p:nvPr/>
        </p:nvSpPr>
        <p:spPr>
          <a:xfrm>
            <a:off x="873545" y="5690758"/>
            <a:ext cx="1230664" cy="977191"/>
          </a:xfrm>
          <a:prstGeom prst="rect">
            <a:avLst/>
          </a:prstGeom>
          <a:noFill/>
        </p:spPr>
        <p:txBody>
          <a:bodyPr wrap="square" lIns="91440" tIns="45720" rIns="91440" bIns="45720" rtlCol="0" anchor="t">
            <a:spAutoFit/>
          </a:bodyPr>
          <a:lstStyle/>
          <a:p>
            <a:r>
              <a:rPr lang="en-US" sz="1200"/>
              <a:t>Curator </a:t>
            </a:r>
          </a:p>
          <a:p>
            <a:r>
              <a:rPr lang="en-US" sz="1050"/>
              <a:t>(</a:t>
            </a:r>
            <a:r>
              <a:rPr lang="en-US" sz="1050" b="1"/>
              <a:t>Author, Contributor, Content Manager</a:t>
            </a:r>
            <a:r>
              <a:rPr lang="en-US" sz="1050"/>
              <a:t>)</a:t>
            </a:r>
            <a:endParaRPr lang="en-US" sz="1050">
              <a:cs typeface="Calibri"/>
            </a:endParaRPr>
          </a:p>
          <a:p>
            <a:endParaRPr lang="en-US" sz="1400">
              <a:cs typeface="Calibri"/>
            </a:endParaRPr>
          </a:p>
        </p:txBody>
      </p:sp>
      <p:sp>
        <p:nvSpPr>
          <p:cNvPr id="127" name="Rounded Rectangle 126">
            <a:extLst>
              <a:ext uri="{FF2B5EF4-FFF2-40B4-BE49-F238E27FC236}">
                <a16:creationId xmlns:a16="http://schemas.microsoft.com/office/drawing/2014/main" id="{F9A47628-6CA4-DA40-B496-6455464DD194}"/>
              </a:ext>
            </a:extLst>
          </p:cNvPr>
          <p:cNvSpPr/>
          <p:nvPr/>
        </p:nvSpPr>
        <p:spPr>
          <a:xfrm>
            <a:off x="4192253" y="2698670"/>
            <a:ext cx="6662573" cy="1221804"/>
          </a:xfrm>
          <a:prstGeom prst="roundRect">
            <a:avLst>
              <a:gd name="adj" fmla="val 10973"/>
            </a:avLst>
          </a:prstGeom>
          <a:solidFill>
            <a:srgbClr val="E7EFF9"/>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129" name="TextBox 128">
            <a:extLst>
              <a:ext uri="{FF2B5EF4-FFF2-40B4-BE49-F238E27FC236}">
                <a16:creationId xmlns:a16="http://schemas.microsoft.com/office/drawing/2014/main" id="{82AAF127-7569-9042-944C-ABB7B321A685}"/>
              </a:ext>
            </a:extLst>
          </p:cNvPr>
          <p:cNvSpPr txBox="1"/>
          <p:nvPr/>
        </p:nvSpPr>
        <p:spPr>
          <a:xfrm>
            <a:off x="4328168" y="1714568"/>
            <a:ext cx="1627048" cy="276999"/>
          </a:xfrm>
          <a:prstGeom prst="rect">
            <a:avLst/>
          </a:prstGeom>
          <a:solidFill>
            <a:schemeClr val="bg1"/>
          </a:solidFill>
        </p:spPr>
        <p:txBody>
          <a:bodyPr wrap="none" rtlCol="0">
            <a:spAutoFit/>
          </a:bodyPr>
          <a:lstStyle/>
          <a:p>
            <a:r>
              <a:rPr lang="en-US" sz="1200" b="1">
                <a:solidFill>
                  <a:schemeClr val="accent1"/>
                </a:solidFill>
              </a:rPr>
              <a:t>EI Specific KM Systems</a:t>
            </a:r>
          </a:p>
        </p:txBody>
      </p:sp>
      <p:sp>
        <p:nvSpPr>
          <p:cNvPr id="128" name="Rounded Rectangle 127">
            <a:extLst>
              <a:ext uri="{FF2B5EF4-FFF2-40B4-BE49-F238E27FC236}">
                <a16:creationId xmlns:a16="http://schemas.microsoft.com/office/drawing/2014/main" id="{F9A47628-6CA4-DA40-B496-6455464DD194}"/>
              </a:ext>
            </a:extLst>
          </p:cNvPr>
          <p:cNvSpPr/>
          <p:nvPr/>
        </p:nvSpPr>
        <p:spPr>
          <a:xfrm>
            <a:off x="4183896" y="3976349"/>
            <a:ext cx="6670930" cy="908875"/>
          </a:xfrm>
          <a:prstGeom prst="roundRect">
            <a:avLst>
              <a:gd name="adj" fmla="val 10973"/>
            </a:avLst>
          </a:prstGeom>
          <a:solidFill>
            <a:srgbClr val="E7EFF9"/>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131" name="TextBox 130">
            <a:extLst>
              <a:ext uri="{FF2B5EF4-FFF2-40B4-BE49-F238E27FC236}">
                <a16:creationId xmlns:a16="http://schemas.microsoft.com/office/drawing/2014/main" id="{82AAF127-7569-9042-944C-ABB7B321A685}"/>
              </a:ext>
            </a:extLst>
          </p:cNvPr>
          <p:cNvSpPr txBox="1"/>
          <p:nvPr/>
        </p:nvSpPr>
        <p:spPr>
          <a:xfrm>
            <a:off x="4328168" y="3839079"/>
            <a:ext cx="2250467" cy="276999"/>
          </a:xfrm>
          <a:prstGeom prst="rect">
            <a:avLst/>
          </a:prstGeom>
          <a:solidFill>
            <a:schemeClr val="bg1"/>
          </a:solidFill>
        </p:spPr>
        <p:txBody>
          <a:bodyPr wrap="square" rtlCol="0">
            <a:spAutoFit/>
          </a:bodyPr>
          <a:lstStyle/>
          <a:p>
            <a:r>
              <a:rPr lang="en-US" sz="1200" b="1">
                <a:solidFill>
                  <a:schemeClr val="accent1"/>
                </a:solidFill>
              </a:rPr>
              <a:t>CPP &amp; OAS Specific KM Systems</a:t>
            </a:r>
          </a:p>
        </p:txBody>
      </p:sp>
      <p:sp>
        <p:nvSpPr>
          <p:cNvPr id="84" name="Rounded Rectangle 83">
            <a:extLst>
              <a:ext uri="{FF2B5EF4-FFF2-40B4-BE49-F238E27FC236}">
                <a16:creationId xmlns:a16="http://schemas.microsoft.com/office/drawing/2014/main" id="{22EB604F-1A51-A44A-8FC9-2003B4571C60}"/>
              </a:ext>
            </a:extLst>
          </p:cNvPr>
          <p:cNvSpPr/>
          <p:nvPr/>
        </p:nvSpPr>
        <p:spPr>
          <a:xfrm>
            <a:off x="4274432" y="2047068"/>
            <a:ext cx="2515628" cy="386456"/>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100">
              <a:solidFill>
                <a:schemeClr val="bg1"/>
              </a:solidFill>
            </a:endParaRPr>
          </a:p>
          <a:p>
            <a:r>
              <a:rPr lang="en-US" sz="1000">
                <a:solidFill>
                  <a:schemeClr val="tx2"/>
                </a:solidFill>
              </a:rPr>
              <a:t>Processing | EI Online Reference Tool (ORT) </a:t>
            </a:r>
            <a:r>
              <a:rPr lang="en-US" sz="900">
                <a:solidFill>
                  <a:srgbClr val="1F497D"/>
                </a:solidFill>
              </a:rPr>
              <a:t>Custom Solution (WCMS)</a:t>
            </a:r>
            <a:endParaRPr lang="en-US" sz="900">
              <a:solidFill>
                <a:srgbClr val="1F497D"/>
              </a:solidFill>
              <a:ea typeface="Calibri"/>
              <a:cs typeface="Calibri"/>
            </a:endParaRPr>
          </a:p>
          <a:p>
            <a:endParaRPr lang="en-US" sz="1100">
              <a:solidFill>
                <a:schemeClr val="bg1"/>
              </a:solidFill>
            </a:endParaRPr>
          </a:p>
        </p:txBody>
      </p:sp>
      <p:sp>
        <p:nvSpPr>
          <p:cNvPr id="126" name="Rounded Rectangle 125">
            <a:extLst>
              <a:ext uri="{FF2B5EF4-FFF2-40B4-BE49-F238E27FC236}">
                <a16:creationId xmlns:a16="http://schemas.microsoft.com/office/drawing/2014/main" id="{22EB604F-1A51-A44A-8FC9-2003B4571C60}"/>
              </a:ext>
            </a:extLst>
          </p:cNvPr>
          <p:cNvSpPr/>
          <p:nvPr/>
        </p:nvSpPr>
        <p:spPr>
          <a:xfrm>
            <a:off x="4262360" y="2944407"/>
            <a:ext cx="2527700" cy="324892"/>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solidFill>
                  <a:schemeClr val="tx2"/>
                </a:solidFill>
              </a:rPr>
              <a:t>Call Centre | Common Reference Tool (CRT)</a:t>
            </a:r>
          </a:p>
          <a:p>
            <a:r>
              <a:rPr lang="en-US" sz="900">
                <a:solidFill>
                  <a:schemeClr val="tx2"/>
                </a:solidFill>
              </a:rPr>
              <a:t>Custom Solution (WCMS)</a:t>
            </a:r>
            <a:endParaRPr lang="en-US"/>
          </a:p>
        </p:txBody>
      </p:sp>
      <p:sp>
        <p:nvSpPr>
          <p:cNvPr id="55" name="Rounded Rectangle 54">
            <a:extLst>
              <a:ext uri="{FF2B5EF4-FFF2-40B4-BE49-F238E27FC236}">
                <a16:creationId xmlns:a16="http://schemas.microsoft.com/office/drawing/2014/main" id="{22EB604F-1A51-A44A-8FC9-2003B4571C60}"/>
              </a:ext>
            </a:extLst>
          </p:cNvPr>
          <p:cNvSpPr/>
          <p:nvPr/>
        </p:nvSpPr>
        <p:spPr>
          <a:xfrm>
            <a:off x="6578893" y="4126608"/>
            <a:ext cx="2305160" cy="297356"/>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solidFill>
                  <a:schemeClr val="tx2"/>
                </a:solidFill>
              </a:rPr>
              <a:t>Pensions Knowledge Management Tool</a:t>
            </a:r>
          </a:p>
          <a:p>
            <a:r>
              <a:rPr lang="en-US" sz="1000">
                <a:solidFill>
                  <a:schemeClr val="tx2"/>
                </a:solidFill>
              </a:rPr>
              <a:t>MS Dynamics CRM 2016</a:t>
            </a:r>
          </a:p>
        </p:txBody>
      </p:sp>
      <p:sp>
        <p:nvSpPr>
          <p:cNvPr id="57" name="Rounded Rectangle 56">
            <a:extLst>
              <a:ext uri="{FF2B5EF4-FFF2-40B4-BE49-F238E27FC236}">
                <a16:creationId xmlns:a16="http://schemas.microsoft.com/office/drawing/2014/main" id="{22EB604F-1A51-A44A-8FC9-2003B4571C60}"/>
              </a:ext>
            </a:extLst>
          </p:cNvPr>
          <p:cNvSpPr/>
          <p:nvPr/>
        </p:nvSpPr>
        <p:spPr>
          <a:xfrm>
            <a:off x="7399274" y="4466619"/>
            <a:ext cx="1386027" cy="345371"/>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2"/>
                </a:solidFill>
              </a:rPr>
              <a:t>CPP Benefits Toolbox</a:t>
            </a:r>
          </a:p>
          <a:p>
            <a:r>
              <a:rPr lang="en-US" sz="1000">
                <a:solidFill>
                  <a:schemeClr val="tx2"/>
                </a:solidFill>
              </a:rPr>
              <a:t>Service Wiki</a:t>
            </a:r>
          </a:p>
        </p:txBody>
      </p:sp>
      <p:sp>
        <p:nvSpPr>
          <p:cNvPr id="58" name="Rounded Rectangle 57">
            <a:extLst>
              <a:ext uri="{FF2B5EF4-FFF2-40B4-BE49-F238E27FC236}">
                <a16:creationId xmlns:a16="http://schemas.microsoft.com/office/drawing/2014/main" id="{22EB604F-1A51-A44A-8FC9-2003B4571C60}"/>
              </a:ext>
            </a:extLst>
          </p:cNvPr>
          <p:cNvSpPr/>
          <p:nvPr/>
        </p:nvSpPr>
        <p:spPr>
          <a:xfrm>
            <a:off x="4258599" y="4133259"/>
            <a:ext cx="2250466" cy="300047"/>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2"/>
                </a:solidFill>
              </a:rPr>
              <a:t>Electronic Reference Library</a:t>
            </a:r>
          </a:p>
          <a:p>
            <a:r>
              <a:rPr lang="en-US" sz="1000">
                <a:solidFill>
                  <a:schemeClr val="tx2"/>
                </a:solidFill>
              </a:rPr>
              <a:t>SharePoint</a:t>
            </a:r>
          </a:p>
        </p:txBody>
      </p:sp>
      <p:sp>
        <p:nvSpPr>
          <p:cNvPr id="59" name="Rounded Rectangle 58">
            <a:extLst>
              <a:ext uri="{FF2B5EF4-FFF2-40B4-BE49-F238E27FC236}">
                <a16:creationId xmlns:a16="http://schemas.microsoft.com/office/drawing/2014/main" id="{22EB604F-1A51-A44A-8FC9-2003B4571C60}"/>
              </a:ext>
            </a:extLst>
          </p:cNvPr>
          <p:cNvSpPr/>
          <p:nvPr/>
        </p:nvSpPr>
        <p:spPr>
          <a:xfrm>
            <a:off x="4258419" y="4471469"/>
            <a:ext cx="1510726" cy="340521"/>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a:solidFill>
                <a:schemeClr val="bg1"/>
              </a:solidFill>
            </a:endParaRPr>
          </a:p>
          <a:p>
            <a:r>
              <a:rPr lang="en-US" sz="1000">
                <a:solidFill>
                  <a:schemeClr val="tx2"/>
                </a:solidFill>
              </a:rPr>
              <a:t>OAS Benefits Toolbox</a:t>
            </a:r>
          </a:p>
          <a:p>
            <a:r>
              <a:rPr lang="en-US" sz="1000">
                <a:solidFill>
                  <a:schemeClr val="tx2"/>
                </a:solidFill>
              </a:rPr>
              <a:t>Service Wiki</a:t>
            </a:r>
          </a:p>
          <a:p>
            <a:endParaRPr lang="en-US" sz="1100">
              <a:solidFill>
                <a:schemeClr val="bg1"/>
              </a:solidFill>
            </a:endParaRPr>
          </a:p>
        </p:txBody>
      </p:sp>
      <p:sp>
        <p:nvSpPr>
          <p:cNvPr id="86" name="Rounded Rectangle 85">
            <a:extLst>
              <a:ext uri="{FF2B5EF4-FFF2-40B4-BE49-F238E27FC236}">
                <a16:creationId xmlns:a16="http://schemas.microsoft.com/office/drawing/2014/main" id="{22EB604F-1A51-A44A-8FC9-2003B4571C60}"/>
              </a:ext>
            </a:extLst>
          </p:cNvPr>
          <p:cNvSpPr/>
          <p:nvPr/>
        </p:nvSpPr>
        <p:spPr>
          <a:xfrm>
            <a:off x="7660078" y="3378123"/>
            <a:ext cx="3077725" cy="319533"/>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solidFill>
                  <a:schemeClr val="tx2"/>
                </a:solidFill>
              </a:rPr>
              <a:t>SC Centre | Impact</a:t>
            </a:r>
          </a:p>
          <a:p>
            <a:r>
              <a:rPr lang="en-US" sz="1000">
                <a:solidFill>
                  <a:schemeClr val="tx2"/>
                </a:solidFill>
              </a:rPr>
              <a:t>Database Solution (Moving to SQL Server 2016/IIS 10)</a:t>
            </a:r>
          </a:p>
        </p:txBody>
      </p:sp>
      <p:sp>
        <p:nvSpPr>
          <p:cNvPr id="88" name="Rounded Rectangle 87">
            <a:extLst>
              <a:ext uri="{FF2B5EF4-FFF2-40B4-BE49-F238E27FC236}">
                <a16:creationId xmlns:a16="http://schemas.microsoft.com/office/drawing/2014/main" id="{22EB604F-1A51-A44A-8FC9-2003B4571C60}"/>
              </a:ext>
            </a:extLst>
          </p:cNvPr>
          <p:cNvSpPr/>
          <p:nvPr/>
        </p:nvSpPr>
        <p:spPr>
          <a:xfrm>
            <a:off x="4262429" y="3340808"/>
            <a:ext cx="3320673" cy="376106"/>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solidFill>
                  <a:schemeClr val="tx2"/>
                </a:solidFill>
              </a:rPr>
              <a:t>Integrity Services Branch | Integrity Operations Manual (IOM) </a:t>
            </a:r>
            <a:r>
              <a:rPr lang="en-US" sz="900">
                <a:solidFill>
                  <a:schemeClr val="tx2"/>
                </a:solidFill>
              </a:rPr>
              <a:t>Custom Solution (WCMS)</a:t>
            </a:r>
            <a:endParaRPr lang="en-US">
              <a:solidFill>
                <a:schemeClr val="tx2"/>
              </a:solidFill>
              <a:ea typeface="Calibri"/>
              <a:cs typeface="Calibri"/>
            </a:endParaRPr>
          </a:p>
        </p:txBody>
      </p:sp>
      <p:cxnSp>
        <p:nvCxnSpPr>
          <p:cNvPr id="132" name="Elbow Connector 131"/>
          <p:cNvCxnSpPr>
            <a:cxnSpLocks/>
          </p:cNvCxnSpPr>
          <p:nvPr/>
        </p:nvCxnSpPr>
        <p:spPr>
          <a:xfrm flipH="1">
            <a:off x="1538071" y="4387040"/>
            <a:ext cx="9311802" cy="1303718"/>
          </a:xfrm>
          <a:prstGeom prst="bentConnector3">
            <a:avLst>
              <a:gd name="adj1" fmla="val -2455"/>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81" name="Elbow Connector 180"/>
          <p:cNvCxnSpPr>
            <a:cxnSpLocks/>
            <a:endCxn id="52" idx="1"/>
          </p:cNvCxnSpPr>
          <p:nvPr/>
        </p:nvCxnSpPr>
        <p:spPr>
          <a:xfrm>
            <a:off x="1430108" y="3341510"/>
            <a:ext cx="915776" cy="432081"/>
          </a:xfrm>
          <a:prstGeom prst="bentConnector3">
            <a:avLst>
              <a:gd name="adj1" fmla="val 45952"/>
            </a:avLst>
          </a:prstGeom>
          <a:ln w="9525">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2876989" y="2875176"/>
            <a:ext cx="558166" cy="246221"/>
          </a:xfrm>
          <a:prstGeom prst="rect">
            <a:avLst/>
          </a:prstGeom>
        </p:spPr>
        <p:txBody>
          <a:bodyPr wrap="none">
            <a:spAutoFit/>
          </a:bodyPr>
          <a:lstStyle/>
          <a:p>
            <a:r>
              <a:rPr lang="en-CA" sz="1000"/>
              <a:t>More…</a:t>
            </a:r>
          </a:p>
        </p:txBody>
      </p:sp>
      <p:grpSp>
        <p:nvGrpSpPr>
          <p:cNvPr id="13" name="Group 12"/>
          <p:cNvGrpSpPr/>
          <p:nvPr/>
        </p:nvGrpSpPr>
        <p:grpSpPr>
          <a:xfrm>
            <a:off x="3555008" y="2032965"/>
            <a:ext cx="553272" cy="2779025"/>
            <a:chOff x="3475480" y="2426722"/>
            <a:chExt cx="612716" cy="1160507"/>
          </a:xfrm>
        </p:grpSpPr>
        <p:grpSp>
          <p:nvGrpSpPr>
            <p:cNvPr id="11" name="Group 10"/>
            <p:cNvGrpSpPr/>
            <p:nvPr/>
          </p:nvGrpSpPr>
          <p:grpSpPr>
            <a:xfrm>
              <a:off x="3534515" y="2426722"/>
              <a:ext cx="553681" cy="1033602"/>
              <a:chOff x="3534515" y="2426722"/>
              <a:chExt cx="553681" cy="1033602"/>
            </a:xfrm>
          </p:grpSpPr>
          <p:sp>
            <p:nvSpPr>
              <p:cNvPr id="95" name="Rounded Rectangle 94">
                <a:extLst>
                  <a:ext uri="{FF2B5EF4-FFF2-40B4-BE49-F238E27FC236}">
                    <a16:creationId xmlns:a16="http://schemas.microsoft.com/office/drawing/2014/main" id="{F9A47628-6CA4-DA40-B496-6455464DD194}"/>
                  </a:ext>
                </a:extLst>
              </p:cNvPr>
              <p:cNvSpPr/>
              <p:nvPr/>
            </p:nvSpPr>
            <p:spPr>
              <a:xfrm>
                <a:off x="3592982" y="2426722"/>
                <a:ext cx="495214" cy="1033602"/>
              </a:xfrm>
              <a:prstGeom prst="roundRect">
                <a:avLst>
                  <a:gd name="adj" fmla="val 10973"/>
                </a:avLst>
              </a:prstGeom>
              <a:solidFill>
                <a:srgbClr val="E7EFF9"/>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9" name="Rectangle 8"/>
              <p:cNvSpPr/>
              <p:nvPr/>
            </p:nvSpPr>
            <p:spPr>
              <a:xfrm rot="16200000">
                <a:off x="3258987" y="2829156"/>
                <a:ext cx="797278" cy="246221"/>
              </a:xfrm>
              <a:prstGeom prst="rect">
                <a:avLst/>
              </a:prstGeom>
              <a:solidFill>
                <a:schemeClr val="bg1"/>
              </a:solidFill>
            </p:spPr>
            <p:txBody>
              <a:bodyPr wrap="square">
                <a:spAutoFit/>
              </a:bodyPr>
              <a:lstStyle/>
              <a:p>
                <a:r>
                  <a:rPr lang="en-US" sz="1000" b="1">
                    <a:solidFill>
                      <a:schemeClr val="tx2"/>
                    </a:solidFill>
                  </a:rPr>
                  <a:t>KM Portal</a:t>
                </a:r>
              </a:p>
            </p:txBody>
          </p:sp>
        </p:grpSp>
        <p:grpSp>
          <p:nvGrpSpPr>
            <p:cNvPr id="96" name="Group 95"/>
            <p:cNvGrpSpPr/>
            <p:nvPr/>
          </p:nvGrpSpPr>
          <p:grpSpPr>
            <a:xfrm>
              <a:off x="3476457" y="2492902"/>
              <a:ext cx="553681" cy="1033602"/>
              <a:chOff x="3534515" y="2426722"/>
              <a:chExt cx="553681" cy="1033602"/>
            </a:xfrm>
          </p:grpSpPr>
          <p:sp>
            <p:nvSpPr>
              <p:cNvPr id="97" name="Rounded Rectangle 96">
                <a:extLst>
                  <a:ext uri="{FF2B5EF4-FFF2-40B4-BE49-F238E27FC236}">
                    <a16:creationId xmlns:a16="http://schemas.microsoft.com/office/drawing/2014/main" id="{F9A47628-6CA4-DA40-B496-6455464DD194}"/>
                  </a:ext>
                </a:extLst>
              </p:cNvPr>
              <p:cNvSpPr/>
              <p:nvPr/>
            </p:nvSpPr>
            <p:spPr>
              <a:xfrm>
                <a:off x="3592982" y="2426722"/>
                <a:ext cx="495214" cy="1033602"/>
              </a:xfrm>
              <a:prstGeom prst="roundRect">
                <a:avLst>
                  <a:gd name="adj" fmla="val 10973"/>
                </a:avLst>
              </a:prstGeom>
              <a:solidFill>
                <a:srgbClr val="E7EFF9"/>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98" name="Rectangle 97"/>
              <p:cNvSpPr/>
              <p:nvPr/>
            </p:nvSpPr>
            <p:spPr>
              <a:xfrm rot="16200000">
                <a:off x="3258987" y="2829156"/>
                <a:ext cx="797278" cy="246221"/>
              </a:xfrm>
              <a:prstGeom prst="rect">
                <a:avLst/>
              </a:prstGeom>
              <a:solidFill>
                <a:schemeClr val="bg1"/>
              </a:solidFill>
            </p:spPr>
            <p:txBody>
              <a:bodyPr wrap="square">
                <a:spAutoFit/>
              </a:bodyPr>
              <a:lstStyle/>
              <a:p>
                <a:r>
                  <a:rPr lang="en-US" sz="1000" b="1">
                    <a:solidFill>
                      <a:schemeClr val="tx2"/>
                    </a:solidFill>
                  </a:rPr>
                  <a:t>KM Portal</a:t>
                </a:r>
              </a:p>
            </p:txBody>
          </p:sp>
        </p:grpSp>
        <p:grpSp>
          <p:nvGrpSpPr>
            <p:cNvPr id="99" name="Group 98"/>
            <p:cNvGrpSpPr/>
            <p:nvPr/>
          </p:nvGrpSpPr>
          <p:grpSpPr>
            <a:xfrm>
              <a:off x="3475480" y="2553627"/>
              <a:ext cx="495214" cy="1033602"/>
              <a:chOff x="3592982" y="2426722"/>
              <a:chExt cx="495214" cy="1033602"/>
            </a:xfrm>
          </p:grpSpPr>
          <p:sp>
            <p:nvSpPr>
              <p:cNvPr id="114" name="Rounded Rectangle 113">
                <a:extLst>
                  <a:ext uri="{FF2B5EF4-FFF2-40B4-BE49-F238E27FC236}">
                    <a16:creationId xmlns:a16="http://schemas.microsoft.com/office/drawing/2014/main" id="{F9A47628-6CA4-DA40-B496-6455464DD194}"/>
                  </a:ext>
                </a:extLst>
              </p:cNvPr>
              <p:cNvSpPr/>
              <p:nvPr/>
            </p:nvSpPr>
            <p:spPr>
              <a:xfrm>
                <a:off x="3592982" y="2426722"/>
                <a:ext cx="495214" cy="1033602"/>
              </a:xfrm>
              <a:prstGeom prst="roundRect">
                <a:avLst>
                  <a:gd name="adj" fmla="val 10973"/>
                </a:avLst>
              </a:prstGeom>
              <a:solidFill>
                <a:srgbClr val="E7EFF9"/>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115" name="Rectangle 114"/>
              <p:cNvSpPr/>
              <p:nvPr/>
            </p:nvSpPr>
            <p:spPr>
              <a:xfrm rot="16200000">
                <a:off x="3345691" y="2836658"/>
                <a:ext cx="797278" cy="246221"/>
              </a:xfrm>
              <a:prstGeom prst="rect">
                <a:avLst/>
              </a:prstGeom>
              <a:solidFill>
                <a:schemeClr val="bg1"/>
              </a:solidFill>
            </p:spPr>
            <p:txBody>
              <a:bodyPr wrap="square">
                <a:spAutoFit/>
              </a:bodyPr>
              <a:lstStyle/>
              <a:p>
                <a:r>
                  <a:rPr lang="en-US" sz="1000" b="1">
                    <a:solidFill>
                      <a:schemeClr val="accent1"/>
                    </a:solidFill>
                  </a:rPr>
                  <a:t>KM Portal</a:t>
                </a:r>
              </a:p>
            </p:txBody>
          </p:sp>
        </p:grpSp>
      </p:grpSp>
      <p:cxnSp>
        <p:nvCxnSpPr>
          <p:cNvPr id="136" name="Straight Arrow Connector 135">
            <a:extLst>
              <a:ext uri="{FF2B5EF4-FFF2-40B4-BE49-F238E27FC236}">
                <a16:creationId xmlns:a16="http://schemas.microsoft.com/office/drawing/2014/main" id="{DFFCB8BA-82D8-1443-AFE8-02AE19056675}"/>
              </a:ext>
            </a:extLst>
          </p:cNvPr>
          <p:cNvCxnSpPr>
            <a:cxnSpLocks/>
          </p:cNvCxnSpPr>
          <p:nvPr/>
        </p:nvCxnSpPr>
        <p:spPr>
          <a:xfrm flipH="1">
            <a:off x="1430108" y="3225297"/>
            <a:ext cx="2098534" cy="4417"/>
          </a:xfrm>
          <a:prstGeom prst="straightConnector1">
            <a:avLst/>
          </a:prstGeom>
          <a:ln w="9525">
            <a:solidFill>
              <a:schemeClr val="tx1"/>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2" name="Rounded Rectangle 111">
            <a:extLst>
              <a:ext uri="{FF2B5EF4-FFF2-40B4-BE49-F238E27FC236}">
                <a16:creationId xmlns:a16="http://schemas.microsoft.com/office/drawing/2014/main" id="{22EB604F-1A51-A44A-8FC9-2003B4571C60}"/>
              </a:ext>
            </a:extLst>
          </p:cNvPr>
          <p:cNvSpPr/>
          <p:nvPr/>
        </p:nvSpPr>
        <p:spPr>
          <a:xfrm>
            <a:off x="6889180" y="2955832"/>
            <a:ext cx="3260192" cy="321238"/>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2"/>
                </a:solidFill>
              </a:rPr>
              <a:t>Integrity Services Branch | Interactive Reference Tool (IRT)</a:t>
            </a:r>
          </a:p>
          <a:p>
            <a:r>
              <a:rPr lang="en-US" sz="1000">
                <a:solidFill>
                  <a:schemeClr val="tx2"/>
                </a:solidFill>
              </a:rPr>
              <a:t>PowerPoint (1 File) hosted in SharePoint</a:t>
            </a:r>
          </a:p>
        </p:txBody>
      </p:sp>
      <p:sp>
        <p:nvSpPr>
          <p:cNvPr id="138" name="TextBox 137">
            <a:extLst>
              <a:ext uri="{FF2B5EF4-FFF2-40B4-BE49-F238E27FC236}">
                <a16:creationId xmlns:a16="http://schemas.microsoft.com/office/drawing/2014/main" id="{82AAF127-7569-9042-944C-ABB7B321A685}"/>
              </a:ext>
            </a:extLst>
          </p:cNvPr>
          <p:cNvSpPr txBox="1"/>
          <p:nvPr/>
        </p:nvSpPr>
        <p:spPr>
          <a:xfrm>
            <a:off x="4304792" y="2578689"/>
            <a:ext cx="1866671" cy="276999"/>
          </a:xfrm>
          <a:prstGeom prst="rect">
            <a:avLst/>
          </a:prstGeom>
          <a:solidFill>
            <a:schemeClr val="bg1"/>
          </a:solidFill>
        </p:spPr>
        <p:txBody>
          <a:bodyPr wrap="square" rtlCol="0">
            <a:spAutoFit/>
          </a:bodyPr>
          <a:lstStyle/>
          <a:p>
            <a:r>
              <a:rPr lang="en-US" sz="1200" b="1">
                <a:solidFill>
                  <a:schemeClr val="accent1"/>
                </a:solidFill>
              </a:rPr>
              <a:t>Common to EI, CPP &amp; OAS</a:t>
            </a:r>
          </a:p>
        </p:txBody>
      </p:sp>
      <p:cxnSp>
        <p:nvCxnSpPr>
          <p:cNvPr id="141" name="Straight Arrow Connector 140">
            <a:extLst>
              <a:ext uri="{FF2B5EF4-FFF2-40B4-BE49-F238E27FC236}">
                <a16:creationId xmlns:a16="http://schemas.microsoft.com/office/drawing/2014/main" id="{DFFCB8BA-82D8-1443-AFE8-02AE19056675}"/>
              </a:ext>
            </a:extLst>
          </p:cNvPr>
          <p:cNvCxnSpPr>
            <a:cxnSpLocks/>
            <a:stCxn id="127" idx="3"/>
          </p:cNvCxnSpPr>
          <p:nvPr/>
        </p:nvCxnSpPr>
        <p:spPr>
          <a:xfrm>
            <a:off x="10854826" y="3309572"/>
            <a:ext cx="220524" cy="0"/>
          </a:xfrm>
          <a:prstGeom prst="straightConnector1">
            <a:avLst/>
          </a:prstGeom>
          <a:ln w="9525">
            <a:solidFill>
              <a:schemeClr val="tx1"/>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4" name="Rounded Rectangle 93">
            <a:extLst>
              <a:ext uri="{FF2B5EF4-FFF2-40B4-BE49-F238E27FC236}">
                <a16:creationId xmlns:a16="http://schemas.microsoft.com/office/drawing/2014/main" id="{22EB604F-1A51-A44A-8FC9-2003B4571C60}"/>
              </a:ext>
            </a:extLst>
          </p:cNvPr>
          <p:cNvSpPr/>
          <p:nvPr/>
        </p:nvSpPr>
        <p:spPr>
          <a:xfrm>
            <a:off x="5844761" y="4475550"/>
            <a:ext cx="1496417" cy="341776"/>
          </a:xfrm>
          <a:prstGeom prst="roundRect">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2"/>
                </a:solidFill>
              </a:rPr>
              <a:t>CPP Disability Toolbox</a:t>
            </a:r>
          </a:p>
          <a:p>
            <a:r>
              <a:rPr lang="en-US" sz="1000">
                <a:solidFill>
                  <a:schemeClr val="tx2"/>
                </a:solidFill>
              </a:rPr>
              <a:t>Service Wiki</a:t>
            </a:r>
          </a:p>
        </p:txBody>
      </p:sp>
      <p:sp>
        <p:nvSpPr>
          <p:cNvPr id="12" name="TextBox 11">
            <a:extLst>
              <a:ext uri="{FF2B5EF4-FFF2-40B4-BE49-F238E27FC236}">
                <a16:creationId xmlns:a16="http://schemas.microsoft.com/office/drawing/2014/main" id="{CD242A7D-FCC9-4C11-BCDD-E8FEFC5B444C}"/>
              </a:ext>
            </a:extLst>
          </p:cNvPr>
          <p:cNvSpPr txBox="1"/>
          <p:nvPr/>
        </p:nvSpPr>
        <p:spPr>
          <a:xfrm>
            <a:off x="8191159" y="1231258"/>
            <a:ext cx="3067636" cy="261610"/>
          </a:xfrm>
          <a:prstGeom prst="rect">
            <a:avLst/>
          </a:prstGeom>
          <a:noFill/>
        </p:spPr>
        <p:txBody>
          <a:bodyPr wrap="square" rtlCol="0">
            <a:spAutoFit/>
          </a:bodyPr>
          <a:lstStyle/>
          <a:p>
            <a:r>
              <a:rPr lang="en-CA" sz="1100" i="1">
                <a:solidFill>
                  <a:srgbClr val="FF0000"/>
                </a:solidFill>
              </a:rPr>
              <a:t>Taken from previous EARB deck on KM - Updated</a:t>
            </a:r>
          </a:p>
        </p:txBody>
      </p:sp>
      <p:sp>
        <p:nvSpPr>
          <p:cNvPr id="14" name="Rounded Rectangle 51">
            <a:extLst>
              <a:ext uri="{FF2B5EF4-FFF2-40B4-BE49-F238E27FC236}">
                <a16:creationId xmlns:a16="http://schemas.microsoft.com/office/drawing/2014/main" id="{6CFE813A-495A-E3B9-E17B-EAE962BF7C35}"/>
              </a:ext>
            </a:extLst>
          </p:cNvPr>
          <p:cNvSpPr/>
          <p:nvPr/>
        </p:nvSpPr>
        <p:spPr>
          <a:xfrm>
            <a:off x="2330984" y="4331305"/>
            <a:ext cx="1045653" cy="532789"/>
          </a:xfrm>
          <a:prstGeom prst="roundRect">
            <a:avLst>
              <a:gd name="adj" fmla="val 10973"/>
            </a:avLst>
          </a:prstGeom>
          <a:solidFill>
            <a:srgbClr val="FFF6DD"/>
          </a:solidFill>
          <a:ln w="1905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solidFill>
            </a:endParaRPr>
          </a:p>
        </p:txBody>
      </p:sp>
      <p:sp>
        <p:nvSpPr>
          <p:cNvPr id="15" name="TextBox 14">
            <a:extLst>
              <a:ext uri="{FF2B5EF4-FFF2-40B4-BE49-F238E27FC236}">
                <a16:creationId xmlns:a16="http://schemas.microsoft.com/office/drawing/2014/main" id="{04ED3914-76F0-E1C9-C5DB-63FC8B077322}"/>
              </a:ext>
            </a:extLst>
          </p:cNvPr>
          <p:cNvSpPr txBox="1"/>
          <p:nvPr/>
        </p:nvSpPr>
        <p:spPr>
          <a:xfrm>
            <a:off x="2359337" y="4241940"/>
            <a:ext cx="922233" cy="261610"/>
          </a:xfrm>
          <a:prstGeom prst="rect">
            <a:avLst/>
          </a:prstGeom>
          <a:solidFill>
            <a:schemeClr val="bg1"/>
          </a:solidFill>
        </p:spPr>
        <p:txBody>
          <a:bodyPr wrap="square" lIns="91440" tIns="45720" rIns="91440" bIns="45720" rtlCol="0" anchor="t">
            <a:spAutoFit/>
          </a:bodyPr>
          <a:lstStyle/>
          <a:p>
            <a:r>
              <a:rPr lang="en-US" sz="1100">
                <a:solidFill>
                  <a:srgbClr val="D49F00"/>
                </a:solidFill>
              </a:rPr>
              <a:t>OAS Systems</a:t>
            </a:r>
          </a:p>
        </p:txBody>
      </p:sp>
      <p:sp>
        <p:nvSpPr>
          <p:cNvPr id="19" name="Rounded Rectangle 88">
            <a:extLst>
              <a:ext uri="{FF2B5EF4-FFF2-40B4-BE49-F238E27FC236}">
                <a16:creationId xmlns:a16="http://schemas.microsoft.com/office/drawing/2014/main" id="{C81B167F-2AA0-E1A0-7CFF-C0FC7F4DA2B8}"/>
              </a:ext>
            </a:extLst>
          </p:cNvPr>
          <p:cNvSpPr/>
          <p:nvPr/>
        </p:nvSpPr>
        <p:spPr>
          <a:xfrm>
            <a:off x="2425416" y="4598633"/>
            <a:ext cx="615614" cy="149063"/>
          </a:xfrm>
          <a:prstGeom prst="roundRect">
            <a:avLst/>
          </a:prstGeom>
          <a:solidFill>
            <a:schemeClr val="bg1"/>
          </a:solidFill>
          <a:ln w="12700">
            <a:solidFill>
              <a:srgbClr val="D49F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rgbClr val="D49F00"/>
                </a:solidFill>
              </a:rPr>
              <a:t>Cúram</a:t>
            </a:r>
          </a:p>
        </p:txBody>
      </p:sp>
      <p:cxnSp>
        <p:nvCxnSpPr>
          <p:cNvPr id="23" name="Elbow Connector 180">
            <a:extLst>
              <a:ext uri="{FF2B5EF4-FFF2-40B4-BE49-F238E27FC236}">
                <a16:creationId xmlns:a16="http://schemas.microsoft.com/office/drawing/2014/main" id="{D8573F94-7A90-1260-6799-196970E81069}"/>
              </a:ext>
            </a:extLst>
          </p:cNvPr>
          <p:cNvCxnSpPr>
            <a:cxnSpLocks/>
            <a:endCxn id="14" idx="1"/>
          </p:cNvCxnSpPr>
          <p:nvPr/>
        </p:nvCxnSpPr>
        <p:spPr>
          <a:xfrm rot="16200000" flipH="1">
            <a:off x="1325259" y="3591975"/>
            <a:ext cx="1128824" cy="882626"/>
          </a:xfrm>
          <a:prstGeom prst="bentConnector2">
            <a:avLst/>
          </a:prstGeom>
          <a:ln w="9525">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9658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E904B116-BAC9-51C5-8086-82C85FD708FD}"/>
              </a:ext>
            </a:extLst>
          </p:cNvPr>
          <p:cNvGrpSpPr/>
          <p:nvPr/>
        </p:nvGrpSpPr>
        <p:grpSpPr>
          <a:xfrm>
            <a:off x="6486933" y="1084959"/>
            <a:ext cx="1116000" cy="1076166"/>
            <a:chOff x="7992000" y="255834"/>
            <a:chExt cx="1116000" cy="1076166"/>
          </a:xfrm>
        </p:grpSpPr>
        <p:sp>
          <p:nvSpPr>
            <p:cNvPr id="46" name="Rectangle 45">
              <a:extLst>
                <a:ext uri="{FF2B5EF4-FFF2-40B4-BE49-F238E27FC236}">
                  <a16:creationId xmlns:a16="http://schemas.microsoft.com/office/drawing/2014/main" id="{7B3FE659-5BA2-A5F2-06F2-1F2FC34C1150}"/>
                </a:ext>
              </a:extLst>
            </p:cNvPr>
            <p:cNvSpPr/>
            <p:nvPr/>
          </p:nvSpPr>
          <p:spPr>
            <a:xfrm>
              <a:off x="8071951" y="642481"/>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Identity Validation</a:t>
              </a:r>
            </a:p>
          </p:txBody>
        </p:sp>
        <p:sp>
          <p:nvSpPr>
            <p:cNvPr id="47" name="Rectangle 46">
              <a:extLst>
                <a:ext uri="{FF2B5EF4-FFF2-40B4-BE49-F238E27FC236}">
                  <a16:creationId xmlns:a16="http://schemas.microsoft.com/office/drawing/2014/main" id="{C9FF2B07-D6D8-B378-231F-67AC8E5CFE3A}"/>
                </a:ext>
              </a:extLst>
            </p:cNvPr>
            <p:cNvSpPr/>
            <p:nvPr/>
          </p:nvSpPr>
          <p:spPr>
            <a:xfrm>
              <a:off x="8071951" y="823239"/>
              <a:ext cx="972000" cy="144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Identity Resolution</a:t>
              </a:r>
            </a:p>
          </p:txBody>
        </p:sp>
        <p:sp>
          <p:nvSpPr>
            <p:cNvPr id="48" name="Rectangle: Rounded Corners 47">
              <a:extLst>
                <a:ext uri="{FF2B5EF4-FFF2-40B4-BE49-F238E27FC236}">
                  <a16:creationId xmlns:a16="http://schemas.microsoft.com/office/drawing/2014/main" id="{08D85AD7-6C75-9F39-E834-A28CE62DC871}"/>
                </a:ext>
              </a:extLst>
            </p:cNvPr>
            <p:cNvSpPr/>
            <p:nvPr/>
          </p:nvSpPr>
          <p:spPr>
            <a:xfrm>
              <a:off x="7992000" y="360000"/>
              <a:ext cx="1116000" cy="972000"/>
            </a:xfrm>
            <a:prstGeom prst="roundRect">
              <a:avLst>
                <a:gd name="adj" fmla="val 5481"/>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49" name="Cylinder 48">
              <a:extLst>
                <a:ext uri="{FF2B5EF4-FFF2-40B4-BE49-F238E27FC236}">
                  <a16:creationId xmlns:a16="http://schemas.microsoft.com/office/drawing/2014/main" id="{EAB47600-6192-A306-FF0C-95C683A4D250}"/>
                </a:ext>
              </a:extLst>
            </p:cNvPr>
            <p:cNvSpPr/>
            <p:nvPr/>
          </p:nvSpPr>
          <p:spPr>
            <a:xfrm>
              <a:off x="8191217" y="1164023"/>
              <a:ext cx="635148" cy="11983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ECAS</a:t>
              </a:r>
            </a:p>
          </p:txBody>
        </p:sp>
        <p:sp>
          <p:nvSpPr>
            <p:cNvPr id="51" name="Rectangle 50">
              <a:extLst>
                <a:ext uri="{FF2B5EF4-FFF2-40B4-BE49-F238E27FC236}">
                  <a16:creationId xmlns:a16="http://schemas.microsoft.com/office/drawing/2014/main" id="{9BE6E1BE-ADAA-28E6-5492-655CAA952D15}"/>
                </a:ext>
              </a:extLst>
            </p:cNvPr>
            <p:cNvSpPr/>
            <p:nvPr/>
          </p:nvSpPr>
          <p:spPr>
            <a:xfrm>
              <a:off x="8071951" y="995853"/>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Authentication</a:t>
              </a:r>
            </a:p>
          </p:txBody>
        </p:sp>
        <p:sp>
          <p:nvSpPr>
            <p:cNvPr id="50" name="Rectangle 15">
              <a:extLst>
                <a:ext uri="{FF2B5EF4-FFF2-40B4-BE49-F238E27FC236}">
                  <a16:creationId xmlns:a16="http://schemas.microsoft.com/office/drawing/2014/main" id="{86B61242-5221-CDD7-AC3D-2D3B5D5379EE}"/>
                </a:ext>
              </a:extLst>
            </p:cNvPr>
            <p:cNvSpPr>
              <a:spLocks noChangeArrowheads="1"/>
            </p:cNvSpPr>
            <p:nvPr/>
          </p:nvSpPr>
          <p:spPr bwMode="auto">
            <a:xfrm>
              <a:off x="8071614" y="255834"/>
              <a:ext cx="360000" cy="197168"/>
            </a:xfrm>
            <a:prstGeom prst="rect">
              <a:avLst/>
            </a:prstGeom>
            <a:solidFill>
              <a:srgbClr val="FFFFFF"/>
            </a:solidFill>
            <a:ln w="9525">
              <a:noFill/>
              <a:miter lim="800000"/>
              <a:headEnd/>
              <a:tailEnd/>
            </a:ln>
          </p:spPr>
          <p:txBody>
            <a:bodyPr vert="horz" wrap="square" lIns="36000" tIns="45720" rIns="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900" b="1" i="0" u="none" strike="noStrike" kern="1200" cap="none" spc="0" normalizeH="0" baseline="0" noProof="0">
                  <a:ln>
                    <a:noFill/>
                  </a:ln>
                  <a:solidFill>
                    <a:srgbClr val="0C0C0C"/>
                  </a:solidFill>
                  <a:effectLst/>
                  <a:uLnTx/>
                  <a:uFillTx/>
                  <a:ea typeface="+mn-ea"/>
                  <a:cs typeface="Arial" panose="020B0604020202020204" pitchFamily="34" charset="0"/>
                </a:rPr>
                <a:t>ECAS</a:t>
              </a:r>
              <a:endParaRPr kumimoji="0" lang="en-US" altLang="en-US" sz="900" b="1"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sp>
        <p:nvSpPr>
          <p:cNvPr id="257" name="Rounded Rectangle 292">
            <a:extLst>
              <a:ext uri="{FF2B5EF4-FFF2-40B4-BE49-F238E27FC236}">
                <a16:creationId xmlns:a16="http://schemas.microsoft.com/office/drawing/2014/main" id="{AA93195A-A95D-D45D-1DC1-78E22A5413EF}"/>
              </a:ext>
            </a:extLst>
          </p:cNvPr>
          <p:cNvSpPr/>
          <p:nvPr/>
        </p:nvSpPr>
        <p:spPr>
          <a:xfrm>
            <a:off x="7322725" y="5845325"/>
            <a:ext cx="3281157" cy="1001303"/>
          </a:xfrm>
          <a:prstGeom prst="roundRect">
            <a:avLst>
              <a:gd name="adj" fmla="val 3494"/>
            </a:avLst>
          </a:prstGeom>
          <a:ln w="12700">
            <a:solidFill>
              <a:srgbClr val="A6A6A6"/>
            </a:solidFill>
          </a:ln>
        </p:spPr>
        <p:style>
          <a:lnRef idx="1">
            <a:schemeClr val="accent1"/>
          </a:lnRef>
          <a:fillRef idx="0">
            <a:schemeClr val="accent1"/>
          </a:fillRef>
          <a:effectRef idx="0">
            <a:schemeClr val="accent1"/>
          </a:effectRef>
          <a:fontRef idx="minor">
            <a:schemeClr val="tx1"/>
          </a:fontRef>
        </p:style>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i="0" u="none" strike="noStrike" kern="1200" cap="none" spc="0" normalizeH="0" baseline="0" noProof="0">
              <a:ln>
                <a:noFill/>
              </a:ln>
              <a:solidFill>
                <a:prstClr val="black"/>
              </a:solidFill>
              <a:effectLst/>
              <a:uLnTx/>
              <a:uFillTx/>
              <a:ea typeface="+mn-ea"/>
              <a:cs typeface="+mn-cs"/>
            </a:endParaRPr>
          </a:p>
        </p:txBody>
      </p:sp>
      <p:sp>
        <p:nvSpPr>
          <p:cNvPr id="4" name="Slide Number Placeholder 3"/>
          <p:cNvSpPr>
            <a:spLocks noGrp="1"/>
          </p:cNvSpPr>
          <p:nvPr>
            <p:ph type="sldNum" sz="quarter" idx="4294967295"/>
          </p:nvPr>
        </p:nvSpPr>
        <p:spPr>
          <a:xfrm>
            <a:off x="11580604" y="6394476"/>
            <a:ext cx="287418" cy="385803"/>
          </a:xfrm>
        </p:spPr>
        <p:txBody>
          <a:bodyPr/>
          <a:lstStyle/>
          <a:p>
            <a:fld id="{ABCE2B6B-7FFE-FA46-BED3-31567387080B}" type="slidenum">
              <a:rPr lang="en-US" sz="800" smtClean="0"/>
              <a:t>8</a:t>
            </a:fld>
            <a:endParaRPr lang="en-US" sz="800"/>
          </a:p>
        </p:txBody>
      </p:sp>
      <p:grpSp>
        <p:nvGrpSpPr>
          <p:cNvPr id="2" name="Group 1">
            <a:extLst>
              <a:ext uri="{FF2B5EF4-FFF2-40B4-BE49-F238E27FC236}">
                <a16:creationId xmlns:a16="http://schemas.microsoft.com/office/drawing/2014/main" id="{F0AD4A22-2F7D-9292-DD41-DCFE08E39F94}"/>
              </a:ext>
            </a:extLst>
          </p:cNvPr>
          <p:cNvGrpSpPr/>
          <p:nvPr/>
        </p:nvGrpSpPr>
        <p:grpSpPr>
          <a:xfrm>
            <a:off x="1912616" y="3130109"/>
            <a:ext cx="4243383" cy="2364824"/>
            <a:chOff x="2668615" y="2918863"/>
            <a:chExt cx="4243383" cy="2364824"/>
          </a:xfrm>
        </p:grpSpPr>
        <p:grpSp>
          <p:nvGrpSpPr>
            <p:cNvPr id="3" name="Group 2">
              <a:extLst>
                <a:ext uri="{FF2B5EF4-FFF2-40B4-BE49-F238E27FC236}">
                  <a16:creationId xmlns:a16="http://schemas.microsoft.com/office/drawing/2014/main" id="{2CD11DA3-3C1D-E02D-7B40-59FAF84E154D}"/>
                </a:ext>
              </a:extLst>
            </p:cNvPr>
            <p:cNvGrpSpPr/>
            <p:nvPr/>
          </p:nvGrpSpPr>
          <p:grpSpPr>
            <a:xfrm>
              <a:off x="2786303" y="3129332"/>
              <a:ext cx="1011345" cy="1348512"/>
              <a:chOff x="2786303" y="3129332"/>
              <a:chExt cx="1011345" cy="1348512"/>
            </a:xfrm>
          </p:grpSpPr>
          <p:sp>
            <p:nvSpPr>
              <p:cNvPr id="28" name="Rectangle: Rounded Corners 27">
                <a:extLst>
                  <a:ext uri="{FF2B5EF4-FFF2-40B4-BE49-F238E27FC236}">
                    <a16:creationId xmlns:a16="http://schemas.microsoft.com/office/drawing/2014/main" id="{73FBF0F0-8C51-08CE-9104-911F3C30A177}"/>
                  </a:ext>
                </a:extLst>
              </p:cNvPr>
              <p:cNvSpPr/>
              <p:nvPr/>
            </p:nvSpPr>
            <p:spPr>
              <a:xfrm>
                <a:off x="2786303" y="3254494"/>
                <a:ext cx="1011345" cy="1223350"/>
              </a:xfrm>
              <a:prstGeom prst="roundRect">
                <a:avLst>
                  <a:gd name="adj" fmla="val 3359"/>
                </a:avLst>
              </a:prstGeom>
              <a:noFill/>
              <a:ln w="19050">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29" name="TextBox 28">
                <a:extLst>
                  <a:ext uri="{FF2B5EF4-FFF2-40B4-BE49-F238E27FC236}">
                    <a16:creationId xmlns:a16="http://schemas.microsoft.com/office/drawing/2014/main" id="{B76F74C5-A8ED-15B5-650A-434A1E36F09D}"/>
                  </a:ext>
                </a:extLst>
              </p:cNvPr>
              <p:cNvSpPr txBox="1"/>
              <p:nvPr/>
            </p:nvSpPr>
            <p:spPr>
              <a:xfrm>
                <a:off x="2880784" y="3129332"/>
                <a:ext cx="780526" cy="276999"/>
              </a:xfrm>
              <a:prstGeom prst="rect">
                <a:avLst/>
              </a:prstGeom>
              <a:solidFill>
                <a:schemeClr val="bg1"/>
              </a:solidFill>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i="0" u="none" strike="noStrike" kern="1200" cap="none" spc="0" normalizeH="0" baseline="0" noProof="0">
                    <a:ln>
                      <a:noFill/>
                    </a:ln>
                    <a:solidFill>
                      <a:prstClr val="black"/>
                    </a:solidFill>
                    <a:effectLst/>
                    <a:uLnTx/>
                    <a:uFillTx/>
                    <a:ea typeface="+mn-ea"/>
                    <a:cs typeface="Arial" panose="020B0604020202020204" pitchFamily="34" charset="0"/>
                  </a:rPr>
                  <a:t>EI Processing Platform</a:t>
                </a:r>
              </a:p>
            </p:txBody>
          </p:sp>
        </p:grpSp>
        <p:sp>
          <p:nvSpPr>
            <p:cNvPr id="6" name="Rectangle: Rounded Corners 5">
              <a:extLst>
                <a:ext uri="{FF2B5EF4-FFF2-40B4-BE49-F238E27FC236}">
                  <a16:creationId xmlns:a16="http://schemas.microsoft.com/office/drawing/2014/main" id="{2DAB4C9D-A356-0C1E-1A7B-33B61D7B1166}"/>
                </a:ext>
              </a:extLst>
            </p:cNvPr>
            <p:cNvSpPr/>
            <p:nvPr/>
          </p:nvSpPr>
          <p:spPr>
            <a:xfrm>
              <a:off x="2668615" y="2998388"/>
              <a:ext cx="4243383" cy="2285299"/>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 name="Cylinder 6">
              <a:extLst>
                <a:ext uri="{FF2B5EF4-FFF2-40B4-BE49-F238E27FC236}">
                  <a16:creationId xmlns:a16="http://schemas.microsoft.com/office/drawing/2014/main" id="{F273913F-DFDF-76AB-D099-C972DC378AF5}"/>
                </a:ext>
              </a:extLst>
            </p:cNvPr>
            <p:cNvSpPr/>
            <p:nvPr/>
          </p:nvSpPr>
          <p:spPr>
            <a:xfrm>
              <a:off x="2896096" y="4054492"/>
              <a:ext cx="775960" cy="385375"/>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prstClr val="black"/>
                  </a:solidFill>
                  <a:effectLst/>
                  <a:uLnTx/>
                  <a:uFillTx/>
                  <a:ea typeface="+mn-ea"/>
                  <a:cs typeface="Arial" panose="020B0604020202020204" pitchFamily="34" charset="0"/>
                </a:rPr>
                <a:t>Cúram EI Database</a:t>
              </a:r>
            </a:p>
          </p:txBody>
        </p:sp>
        <p:sp>
          <p:nvSpPr>
            <p:cNvPr id="8" name="TextBox 7">
              <a:extLst>
                <a:ext uri="{FF2B5EF4-FFF2-40B4-BE49-F238E27FC236}">
                  <a16:creationId xmlns:a16="http://schemas.microsoft.com/office/drawing/2014/main" id="{DC7FFFC3-741D-FB5C-5A98-D78F93A7FB12}"/>
                </a:ext>
              </a:extLst>
            </p:cNvPr>
            <p:cNvSpPr txBox="1"/>
            <p:nvPr/>
          </p:nvSpPr>
          <p:spPr>
            <a:xfrm>
              <a:off x="2808000" y="2918863"/>
              <a:ext cx="1416020"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ea typeface="+mn-ea"/>
                  <a:cs typeface="Arial" panose="020B0604020202020204" pitchFamily="34" charset="0"/>
                </a:rPr>
                <a:t>Service Delivery Platform</a:t>
              </a:r>
            </a:p>
          </p:txBody>
        </p:sp>
        <p:grpSp>
          <p:nvGrpSpPr>
            <p:cNvPr id="9" name="Group 8">
              <a:extLst>
                <a:ext uri="{FF2B5EF4-FFF2-40B4-BE49-F238E27FC236}">
                  <a16:creationId xmlns:a16="http://schemas.microsoft.com/office/drawing/2014/main" id="{4D09A9CF-10F1-33E2-B064-3BB6F54C0ADA}"/>
                </a:ext>
              </a:extLst>
            </p:cNvPr>
            <p:cNvGrpSpPr/>
            <p:nvPr/>
          </p:nvGrpSpPr>
          <p:grpSpPr>
            <a:xfrm>
              <a:off x="3864129" y="3114873"/>
              <a:ext cx="1034169" cy="1362971"/>
              <a:chOff x="3864129" y="3114873"/>
              <a:chExt cx="1034169" cy="1362971"/>
            </a:xfrm>
          </p:grpSpPr>
          <p:sp>
            <p:nvSpPr>
              <p:cNvPr id="24" name="Rectangle: Rounded Corners 23">
                <a:extLst>
                  <a:ext uri="{FF2B5EF4-FFF2-40B4-BE49-F238E27FC236}">
                    <a16:creationId xmlns:a16="http://schemas.microsoft.com/office/drawing/2014/main" id="{0FF6834B-3450-FF8E-CA48-EDE9EFCB9E23}"/>
                  </a:ext>
                </a:extLst>
              </p:cNvPr>
              <p:cNvSpPr/>
              <p:nvPr/>
            </p:nvSpPr>
            <p:spPr>
              <a:xfrm>
                <a:off x="3864129" y="3254083"/>
                <a:ext cx="1034169" cy="1223761"/>
              </a:xfrm>
              <a:prstGeom prst="roundRect">
                <a:avLst>
                  <a:gd name="adj" fmla="val 3359"/>
                </a:avLst>
              </a:prstGeom>
              <a:noFill/>
              <a:ln w="19050">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25" name="Cylinder 24">
                <a:extLst>
                  <a:ext uri="{FF2B5EF4-FFF2-40B4-BE49-F238E27FC236}">
                    <a16:creationId xmlns:a16="http://schemas.microsoft.com/office/drawing/2014/main" id="{27ED71DE-E1EF-4900-61E1-A51622F26B13}"/>
                  </a:ext>
                </a:extLst>
              </p:cNvPr>
              <p:cNvSpPr/>
              <p:nvPr/>
            </p:nvSpPr>
            <p:spPr>
              <a:xfrm>
                <a:off x="4003281" y="4015775"/>
                <a:ext cx="773651" cy="414092"/>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prstClr val="black"/>
                    </a:solidFill>
                    <a:effectLst/>
                    <a:uLnTx/>
                    <a:uFillTx/>
                    <a:ea typeface="+mn-ea"/>
                    <a:cs typeface="Arial" panose="020B0604020202020204" pitchFamily="34" charset="0"/>
                  </a:rPr>
                  <a:t>Cúram Pensions Database</a:t>
                </a:r>
              </a:p>
            </p:txBody>
          </p:sp>
          <p:sp>
            <p:nvSpPr>
              <p:cNvPr id="26" name="TextBox 25">
                <a:extLst>
                  <a:ext uri="{FF2B5EF4-FFF2-40B4-BE49-F238E27FC236}">
                    <a16:creationId xmlns:a16="http://schemas.microsoft.com/office/drawing/2014/main" id="{F37190A4-C792-CF0D-CB3D-45FE93D8CC25}"/>
                  </a:ext>
                </a:extLst>
              </p:cNvPr>
              <p:cNvSpPr txBox="1"/>
              <p:nvPr/>
            </p:nvSpPr>
            <p:spPr>
              <a:xfrm>
                <a:off x="3912072" y="3114873"/>
                <a:ext cx="947904" cy="276999"/>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i="0" u="none" strike="noStrike" kern="1200" cap="none" spc="0" normalizeH="0" baseline="0" noProof="0">
                    <a:ln>
                      <a:noFill/>
                    </a:ln>
                    <a:solidFill>
                      <a:prstClr val="black"/>
                    </a:solidFill>
                    <a:effectLst/>
                    <a:uLnTx/>
                    <a:uFillTx/>
                    <a:ea typeface="+mn-ea"/>
                    <a:cs typeface="Arial" panose="020B0604020202020204" pitchFamily="34" charset="0"/>
                  </a:rPr>
                  <a:t>Pensions Processing Platform</a:t>
                </a:r>
              </a:p>
            </p:txBody>
          </p:sp>
          <p:sp>
            <p:nvSpPr>
              <p:cNvPr id="27" name="Rectangle 26">
                <a:extLst>
                  <a:ext uri="{FF2B5EF4-FFF2-40B4-BE49-F238E27FC236}">
                    <a16:creationId xmlns:a16="http://schemas.microsoft.com/office/drawing/2014/main" id="{EE8ABBEB-715C-616A-BA8D-03E3893F8303}"/>
                  </a:ext>
                </a:extLst>
              </p:cNvPr>
              <p:cNvSpPr/>
              <p:nvPr/>
            </p:nvSpPr>
            <p:spPr>
              <a:xfrm>
                <a:off x="3932036" y="3601654"/>
                <a:ext cx="891964" cy="384045"/>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Pensions Processing Systems</a:t>
                </a:r>
              </a:p>
            </p:txBody>
          </p:sp>
        </p:grpSp>
        <p:grpSp>
          <p:nvGrpSpPr>
            <p:cNvPr id="10" name="Group 9">
              <a:extLst>
                <a:ext uri="{FF2B5EF4-FFF2-40B4-BE49-F238E27FC236}">
                  <a16:creationId xmlns:a16="http://schemas.microsoft.com/office/drawing/2014/main" id="{109FF309-598E-75C9-ABDF-3E126C549207}"/>
                </a:ext>
              </a:extLst>
            </p:cNvPr>
            <p:cNvGrpSpPr/>
            <p:nvPr/>
          </p:nvGrpSpPr>
          <p:grpSpPr>
            <a:xfrm>
              <a:off x="5039996" y="3027937"/>
              <a:ext cx="1762060" cy="2183648"/>
              <a:chOff x="5039996" y="3027937"/>
              <a:chExt cx="1762060" cy="2183648"/>
            </a:xfrm>
          </p:grpSpPr>
          <p:sp>
            <p:nvSpPr>
              <p:cNvPr id="18" name="Rectangle: Rounded Corners 17">
                <a:extLst>
                  <a:ext uri="{FF2B5EF4-FFF2-40B4-BE49-F238E27FC236}">
                    <a16:creationId xmlns:a16="http://schemas.microsoft.com/office/drawing/2014/main" id="{F87CB9DE-5142-A317-FA20-FF90543D277C}"/>
                  </a:ext>
                </a:extLst>
              </p:cNvPr>
              <p:cNvSpPr/>
              <p:nvPr/>
            </p:nvSpPr>
            <p:spPr>
              <a:xfrm>
                <a:off x="5039996" y="3167999"/>
                <a:ext cx="1762060" cy="2043586"/>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nvGrpSpPr>
              <p:cNvPr id="19" name="Group 18">
                <a:extLst>
                  <a:ext uri="{FF2B5EF4-FFF2-40B4-BE49-F238E27FC236}">
                    <a16:creationId xmlns:a16="http://schemas.microsoft.com/office/drawing/2014/main" id="{A43A5626-9869-E697-5FCA-9D73F8677D40}"/>
                  </a:ext>
                </a:extLst>
              </p:cNvPr>
              <p:cNvGrpSpPr/>
              <p:nvPr/>
            </p:nvGrpSpPr>
            <p:grpSpPr>
              <a:xfrm>
                <a:off x="5172253" y="3476461"/>
                <a:ext cx="1522010" cy="1667809"/>
                <a:chOff x="5172253" y="3628861"/>
                <a:chExt cx="1522010" cy="1667809"/>
              </a:xfrm>
            </p:grpSpPr>
            <p:sp>
              <p:nvSpPr>
                <p:cNvPr id="21" name="Rectangle 20">
                  <a:extLst>
                    <a:ext uri="{FF2B5EF4-FFF2-40B4-BE49-F238E27FC236}">
                      <a16:creationId xmlns:a16="http://schemas.microsoft.com/office/drawing/2014/main" id="{F37AB00D-B4FA-179F-ADDD-78BC676D1299}"/>
                    </a:ext>
                  </a:extLst>
                </p:cNvPr>
                <p:cNvSpPr/>
                <p:nvPr/>
              </p:nvSpPr>
              <p:spPr>
                <a:xfrm>
                  <a:off x="5172253" y="3628861"/>
                  <a:ext cx="1522010" cy="514121"/>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ea typeface="+mn-ea"/>
                      <a:cs typeface="Arial" panose="020B0604020202020204" pitchFamily="34" charset="0"/>
                    </a:rPr>
                    <a:t>Knowledge Management Solution</a:t>
                  </a:r>
                </a:p>
              </p:txBody>
            </p:sp>
            <p:sp>
              <p:nvSpPr>
                <p:cNvPr id="22" name="Rectangle 21">
                  <a:extLst>
                    <a:ext uri="{FF2B5EF4-FFF2-40B4-BE49-F238E27FC236}">
                      <a16:creationId xmlns:a16="http://schemas.microsoft.com/office/drawing/2014/main" id="{3148F2C5-88D4-D8D8-C236-B5ADE2452E7F}"/>
                    </a:ext>
                  </a:extLst>
                </p:cNvPr>
                <p:cNvSpPr/>
                <p:nvPr/>
              </p:nvSpPr>
              <p:spPr>
                <a:xfrm>
                  <a:off x="5177854" y="4585270"/>
                  <a:ext cx="1481573" cy="34249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ea typeface="+mn-ea"/>
                      <a:cs typeface="Arial" panose="020B0604020202020204" pitchFamily="34" charset="0"/>
                    </a:rPr>
                    <a:t>Digital Adoption Platform</a:t>
                  </a:r>
                </a:p>
              </p:txBody>
            </p:sp>
            <p:sp>
              <p:nvSpPr>
                <p:cNvPr id="23" name="Cylinder 22">
                  <a:extLst>
                    <a:ext uri="{FF2B5EF4-FFF2-40B4-BE49-F238E27FC236}">
                      <a16:creationId xmlns:a16="http://schemas.microsoft.com/office/drawing/2014/main" id="{6DD98D0E-9353-D63A-D376-5D99C29B917F}"/>
                    </a:ext>
                  </a:extLst>
                </p:cNvPr>
                <p:cNvSpPr/>
                <p:nvPr/>
              </p:nvSpPr>
              <p:spPr>
                <a:xfrm>
                  <a:off x="5237776" y="4983389"/>
                  <a:ext cx="1361974" cy="313281"/>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ea typeface="+mn-ea"/>
                      <a:cs typeface="Arial" panose="020B0604020202020204" pitchFamily="34" charset="0"/>
                    </a:rPr>
                    <a:t>Training Content</a:t>
                  </a:r>
                </a:p>
              </p:txBody>
            </p:sp>
          </p:grpSp>
          <p:sp>
            <p:nvSpPr>
              <p:cNvPr id="20" name="TextBox 19">
                <a:extLst>
                  <a:ext uri="{FF2B5EF4-FFF2-40B4-BE49-F238E27FC236}">
                    <a16:creationId xmlns:a16="http://schemas.microsoft.com/office/drawing/2014/main" id="{8E61D265-7210-4922-0CD2-7C42F8C005C7}"/>
                  </a:ext>
                </a:extLst>
              </p:cNvPr>
              <p:cNvSpPr txBox="1"/>
              <p:nvPr/>
            </p:nvSpPr>
            <p:spPr>
              <a:xfrm>
                <a:off x="5205697" y="3027937"/>
                <a:ext cx="1457883" cy="430887"/>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prstClr val="black"/>
                    </a:solidFill>
                    <a:effectLst/>
                    <a:uLnTx/>
                    <a:uFillTx/>
                    <a:ea typeface="+mn-ea"/>
                    <a:cs typeface="Arial" panose="020B0604020202020204" pitchFamily="34" charset="0"/>
                  </a:rPr>
                  <a:t>Digital Knowledge Platform</a:t>
                </a:r>
              </a:p>
            </p:txBody>
          </p:sp>
        </p:grpSp>
        <p:grpSp>
          <p:nvGrpSpPr>
            <p:cNvPr id="11" name="Group 10">
              <a:extLst>
                <a:ext uri="{FF2B5EF4-FFF2-40B4-BE49-F238E27FC236}">
                  <a16:creationId xmlns:a16="http://schemas.microsoft.com/office/drawing/2014/main" id="{A88F5C72-950D-24ED-4511-C9C8F87B4B4C}"/>
                </a:ext>
              </a:extLst>
            </p:cNvPr>
            <p:cNvGrpSpPr/>
            <p:nvPr/>
          </p:nvGrpSpPr>
          <p:grpSpPr>
            <a:xfrm>
              <a:off x="3060000" y="4565712"/>
              <a:ext cx="1497902" cy="615722"/>
              <a:chOff x="3060000" y="4385712"/>
              <a:chExt cx="1497902" cy="615722"/>
            </a:xfrm>
          </p:grpSpPr>
          <p:sp>
            <p:nvSpPr>
              <p:cNvPr id="12" name="Rectangle: Rounded Corners 11">
                <a:extLst>
                  <a:ext uri="{FF2B5EF4-FFF2-40B4-BE49-F238E27FC236}">
                    <a16:creationId xmlns:a16="http://schemas.microsoft.com/office/drawing/2014/main" id="{B7CB2FAB-69F5-E5E1-4EB9-311B318FB296}"/>
                  </a:ext>
                </a:extLst>
              </p:cNvPr>
              <p:cNvSpPr/>
              <p:nvPr/>
            </p:nvSpPr>
            <p:spPr>
              <a:xfrm>
                <a:off x="3060000" y="4461434"/>
                <a:ext cx="1497902" cy="540000"/>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3" name="Rectangle 12">
                <a:extLst>
                  <a:ext uri="{FF2B5EF4-FFF2-40B4-BE49-F238E27FC236}">
                    <a16:creationId xmlns:a16="http://schemas.microsoft.com/office/drawing/2014/main" id="{726311E4-E849-08CF-AD99-76D29F349081}"/>
                  </a:ext>
                </a:extLst>
              </p:cNvPr>
              <p:cNvSpPr/>
              <p:nvPr/>
            </p:nvSpPr>
            <p:spPr>
              <a:xfrm>
                <a:off x="3309353" y="4577817"/>
                <a:ext cx="936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mn-cs"/>
                  </a:rPr>
                  <a:t>NLU / NLG</a:t>
                </a:r>
              </a:p>
            </p:txBody>
          </p:sp>
          <p:sp>
            <p:nvSpPr>
              <p:cNvPr id="16" name="Rectangle 15">
                <a:extLst>
                  <a:ext uri="{FF2B5EF4-FFF2-40B4-BE49-F238E27FC236}">
                    <a16:creationId xmlns:a16="http://schemas.microsoft.com/office/drawing/2014/main" id="{7598EBAF-E984-BA59-710F-9A5CECBD1485}"/>
                  </a:ext>
                </a:extLst>
              </p:cNvPr>
              <p:cNvSpPr/>
              <p:nvPr/>
            </p:nvSpPr>
            <p:spPr>
              <a:xfrm>
                <a:off x="3317899" y="4776399"/>
                <a:ext cx="936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mn-cs"/>
                  </a:rPr>
                  <a:t>Decision Engine</a:t>
                </a:r>
              </a:p>
            </p:txBody>
          </p:sp>
          <p:sp>
            <p:nvSpPr>
              <p:cNvPr id="17" name="TextBox 16">
                <a:extLst>
                  <a:ext uri="{FF2B5EF4-FFF2-40B4-BE49-F238E27FC236}">
                    <a16:creationId xmlns:a16="http://schemas.microsoft.com/office/drawing/2014/main" id="{ABC34BC2-7477-EFD3-139E-8A3DC21EAA73}"/>
                  </a:ext>
                </a:extLst>
              </p:cNvPr>
              <p:cNvSpPr txBox="1"/>
              <p:nvPr/>
            </p:nvSpPr>
            <p:spPr>
              <a:xfrm>
                <a:off x="3167999" y="4385712"/>
                <a:ext cx="817982" cy="123111"/>
              </a:xfrm>
              <a:prstGeom prst="rect">
                <a:avLst/>
              </a:prstGeom>
              <a:solidFill>
                <a:schemeClr val="bg1"/>
              </a:solidFill>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Chatbot Platform</a:t>
                </a:r>
              </a:p>
            </p:txBody>
          </p:sp>
        </p:grpSp>
      </p:grpSp>
      <p:sp>
        <p:nvSpPr>
          <p:cNvPr id="30" name="Cloud 29">
            <a:extLst>
              <a:ext uri="{FF2B5EF4-FFF2-40B4-BE49-F238E27FC236}">
                <a16:creationId xmlns:a16="http://schemas.microsoft.com/office/drawing/2014/main" id="{A8021064-A869-BFF1-9506-3AFA6E1FE504}"/>
              </a:ext>
            </a:extLst>
          </p:cNvPr>
          <p:cNvSpPr/>
          <p:nvPr/>
        </p:nvSpPr>
        <p:spPr>
          <a:xfrm>
            <a:off x="5861757" y="3124592"/>
            <a:ext cx="249444" cy="124150"/>
          </a:xfrm>
          <a:prstGeom prst="cloud">
            <a:avLst/>
          </a:prstGeom>
          <a:solidFill>
            <a:srgbClr val="6895BE"/>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srgbClr val="000000"/>
              </a:solidFill>
              <a:effectLst/>
              <a:uLnTx/>
              <a:uFillTx/>
              <a:ea typeface="+mn-ea"/>
              <a:cs typeface="+mn-cs"/>
            </a:endParaRPr>
          </a:p>
        </p:txBody>
      </p:sp>
      <p:sp>
        <p:nvSpPr>
          <p:cNvPr id="31" name="TextBox 30">
            <a:extLst>
              <a:ext uri="{FF2B5EF4-FFF2-40B4-BE49-F238E27FC236}">
                <a16:creationId xmlns:a16="http://schemas.microsoft.com/office/drawing/2014/main" id="{19912771-CFC3-217B-64EB-ACA45650E647}"/>
              </a:ext>
            </a:extLst>
          </p:cNvPr>
          <p:cNvSpPr txBox="1"/>
          <p:nvPr/>
        </p:nvSpPr>
        <p:spPr>
          <a:xfrm>
            <a:off x="3671279" y="3575505"/>
            <a:ext cx="55085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black"/>
                </a:solidFill>
                <a:effectLst/>
                <a:uLnTx/>
                <a:uFillTx/>
                <a:ea typeface="+mn-ea"/>
                <a:cs typeface="Arial" panose="020B0604020202020204" pitchFamily="34" charset="0"/>
              </a:rPr>
              <a:t>Azure</a:t>
            </a:r>
          </a:p>
        </p:txBody>
      </p:sp>
      <p:sp>
        <p:nvSpPr>
          <p:cNvPr id="32" name="TextBox 31">
            <a:extLst>
              <a:ext uri="{FF2B5EF4-FFF2-40B4-BE49-F238E27FC236}">
                <a16:creationId xmlns:a16="http://schemas.microsoft.com/office/drawing/2014/main" id="{FD2136D1-BE54-5776-858A-ABA4396DE86C}"/>
              </a:ext>
            </a:extLst>
          </p:cNvPr>
          <p:cNvSpPr txBox="1"/>
          <p:nvPr/>
        </p:nvSpPr>
        <p:spPr>
          <a:xfrm>
            <a:off x="2584904" y="3578239"/>
            <a:ext cx="482440" cy="276999"/>
          </a:xfrm>
          <a:prstGeom prst="rect">
            <a:avLst/>
          </a:prstGeom>
          <a:noFill/>
          <a:ln w="127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black"/>
                </a:solidFill>
                <a:effectLst/>
                <a:uLnTx/>
                <a:uFillTx/>
                <a:ea typeface="+mn-ea"/>
                <a:cs typeface="Arial" panose="020B0604020202020204" pitchFamily="34" charset="0"/>
              </a:rPr>
              <a:t>AWS</a:t>
            </a:r>
          </a:p>
        </p:txBody>
      </p:sp>
      <p:sp>
        <p:nvSpPr>
          <p:cNvPr id="33" name="Rectangle: Rounded Corners 32">
            <a:extLst>
              <a:ext uri="{FF2B5EF4-FFF2-40B4-BE49-F238E27FC236}">
                <a16:creationId xmlns:a16="http://schemas.microsoft.com/office/drawing/2014/main" id="{22406537-E523-A7F0-6848-2A98A23EADA4}"/>
              </a:ext>
            </a:extLst>
          </p:cNvPr>
          <p:cNvSpPr/>
          <p:nvPr/>
        </p:nvSpPr>
        <p:spPr>
          <a:xfrm>
            <a:off x="900000" y="3398026"/>
            <a:ext cx="936000" cy="199722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34" name="TextBox 33">
            <a:extLst>
              <a:ext uri="{FF2B5EF4-FFF2-40B4-BE49-F238E27FC236}">
                <a16:creationId xmlns:a16="http://schemas.microsoft.com/office/drawing/2014/main" id="{1C60F075-269C-A0DF-CA94-D5AAFC2FCC8B}"/>
              </a:ext>
            </a:extLst>
          </p:cNvPr>
          <p:cNvSpPr txBox="1"/>
          <p:nvPr/>
        </p:nvSpPr>
        <p:spPr>
          <a:xfrm>
            <a:off x="914832" y="3271985"/>
            <a:ext cx="798864"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ea typeface="+mn-ea"/>
                <a:cs typeface="Arial" panose="020B0604020202020204" pitchFamily="34" charset="0"/>
              </a:rPr>
              <a:t>ESDC User UX</a:t>
            </a:r>
          </a:p>
        </p:txBody>
      </p:sp>
      <p:grpSp>
        <p:nvGrpSpPr>
          <p:cNvPr id="35" name="Group 34">
            <a:extLst>
              <a:ext uri="{FF2B5EF4-FFF2-40B4-BE49-F238E27FC236}">
                <a16:creationId xmlns:a16="http://schemas.microsoft.com/office/drawing/2014/main" id="{6D22DA41-CF2F-C4AE-8CF7-7AF161D60F37}"/>
              </a:ext>
            </a:extLst>
          </p:cNvPr>
          <p:cNvGrpSpPr/>
          <p:nvPr/>
        </p:nvGrpSpPr>
        <p:grpSpPr>
          <a:xfrm>
            <a:off x="960737" y="3498576"/>
            <a:ext cx="812377" cy="1823967"/>
            <a:chOff x="960737" y="3503330"/>
            <a:chExt cx="812377" cy="1823967"/>
          </a:xfrm>
        </p:grpSpPr>
        <p:sp>
          <p:nvSpPr>
            <p:cNvPr id="36" name="Rectangle 35">
              <a:extLst>
                <a:ext uri="{FF2B5EF4-FFF2-40B4-BE49-F238E27FC236}">
                  <a16:creationId xmlns:a16="http://schemas.microsoft.com/office/drawing/2014/main" id="{1844686A-25EF-11BD-72A8-9CB4CFB88028}"/>
                </a:ext>
              </a:extLst>
            </p:cNvPr>
            <p:cNvSpPr/>
            <p:nvPr/>
          </p:nvSpPr>
          <p:spPr>
            <a:xfrm>
              <a:off x="960737" y="3503330"/>
              <a:ext cx="812377"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a:solidFill>
                    <a:prstClr val="black"/>
                  </a:solidFill>
                  <a:cs typeface="Arial" panose="020B0604020202020204" pitchFamily="34" charset="0"/>
                </a:rPr>
                <a:t>Virtual Assistant</a:t>
              </a:r>
              <a:endParaRPr kumimoji="0" lang="en-CA"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37" name="Rectangle 36">
              <a:extLst>
                <a:ext uri="{FF2B5EF4-FFF2-40B4-BE49-F238E27FC236}">
                  <a16:creationId xmlns:a16="http://schemas.microsoft.com/office/drawing/2014/main" id="{E9091FB1-8A24-8082-7F2D-FF2AAB163CE7}"/>
                </a:ext>
              </a:extLst>
            </p:cNvPr>
            <p:cNvSpPr/>
            <p:nvPr/>
          </p:nvSpPr>
          <p:spPr>
            <a:xfrm>
              <a:off x="960737" y="3755330"/>
              <a:ext cx="79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Cúram EI UI</a:t>
              </a:r>
            </a:p>
          </p:txBody>
        </p:sp>
        <p:sp>
          <p:nvSpPr>
            <p:cNvPr id="38" name="Rectangle 37">
              <a:extLst>
                <a:ext uri="{FF2B5EF4-FFF2-40B4-BE49-F238E27FC236}">
                  <a16:creationId xmlns:a16="http://schemas.microsoft.com/office/drawing/2014/main" id="{4E90803E-4CA0-2995-CB0D-C2A0DAC47F25}"/>
                </a:ext>
              </a:extLst>
            </p:cNvPr>
            <p:cNvSpPr/>
            <p:nvPr/>
          </p:nvSpPr>
          <p:spPr>
            <a:xfrm>
              <a:off x="960737" y="3934627"/>
              <a:ext cx="792000" cy="144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Knowledge UI</a:t>
              </a:r>
            </a:p>
          </p:txBody>
        </p:sp>
        <p:sp>
          <p:nvSpPr>
            <p:cNvPr id="39" name="Rectangle 38">
              <a:extLst>
                <a:ext uri="{FF2B5EF4-FFF2-40B4-BE49-F238E27FC236}">
                  <a16:creationId xmlns:a16="http://schemas.microsoft.com/office/drawing/2014/main" id="{2A6887CD-F8B5-2566-CD2B-25053D52B3FC}"/>
                </a:ext>
              </a:extLst>
            </p:cNvPr>
            <p:cNvSpPr/>
            <p:nvPr/>
          </p:nvSpPr>
          <p:spPr>
            <a:xfrm>
              <a:off x="960737" y="4104000"/>
              <a:ext cx="792000" cy="216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Scanning Capture App</a:t>
              </a:r>
            </a:p>
          </p:txBody>
        </p:sp>
        <p:grpSp>
          <p:nvGrpSpPr>
            <p:cNvPr id="40" name="Group 39">
              <a:extLst>
                <a:ext uri="{FF2B5EF4-FFF2-40B4-BE49-F238E27FC236}">
                  <a16:creationId xmlns:a16="http://schemas.microsoft.com/office/drawing/2014/main" id="{87E7E8FE-31B2-4550-9617-219AE4137F93}"/>
                </a:ext>
              </a:extLst>
            </p:cNvPr>
            <p:cNvGrpSpPr/>
            <p:nvPr/>
          </p:nvGrpSpPr>
          <p:grpSpPr>
            <a:xfrm>
              <a:off x="960737" y="4355297"/>
              <a:ext cx="792000" cy="972000"/>
              <a:chOff x="960737" y="3851297"/>
              <a:chExt cx="792000" cy="972000"/>
            </a:xfrm>
          </p:grpSpPr>
          <p:sp>
            <p:nvSpPr>
              <p:cNvPr id="41" name="Rectangle 40">
                <a:extLst>
                  <a:ext uri="{FF2B5EF4-FFF2-40B4-BE49-F238E27FC236}">
                    <a16:creationId xmlns:a16="http://schemas.microsoft.com/office/drawing/2014/main" id="{E913F3CB-B3EF-60F4-D17A-EE21F4D9E45C}"/>
                  </a:ext>
                </a:extLst>
              </p:cNvPr>
              <p:cNvSpPr/>
              <p:nvPr/>
            </p:nvSpPr>
            <p:spPr>
              <a:xfrm>
                <a:off x="960737" y="3851297"/>
                <a:ext cx="792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Training Content Editor</a:t>
                </a:r>
              </a:p>
            </p:txBody>
          </p:sp>
          <p:sp>
            <p:nvSpPr>
              <p:cNvPr id="42" name="Rectangle 41">
                <a:extLst>
                  <a:ext uri="{FF2B5EF4-FFF2-40B4-BE49-F238E27FC236}">
                    <a16:creationId xmlns:a16="http://schemas.microsoft.com/office/drawing/2014/main" id="{F958BAB9-6B60-E04E-7316-944AF1C08BF2}"/>
                  </a:ext>
                </a:extLst>
              </p:cNvPr>
              <p:cNvSpPr/>
              <p:nvPr/>
            </p:nvSpPr>
            <p:spPr>
              <a:xfrm>
                <a:off x="960737" y="4103297"/>
                <a:ext cx="792000" cy="216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CA" sz="800">
                    <a:solidFill>
                      <a:prstClr val="black"/>
                    </a:solidFill>
                    <a:cs typeface="Arial" panose="020B0604020202020204" pitchFamily="34" charset="0"/>
                  </a:rPr>
                  <a:t>Feedback Management UI</a:t>
                </a:r>
              </a:p>
            </p:txBody>
          </p:sp>
          <p:sp>
            <p:nvSpPr>
              <p:cNvPr id="43" name="Rectangle 42">
                <a:extLst>
                  <a:ext uri="{FF2B5EF4-FFF2-40B4-BE49-F238E27FC236}">
                    <a16:creationId xmlns:a16="http://schemas.microsoft.com/office/drawing/2014/main" id="{72C461C4-165C-46A9-BEE8-B228EF02FC5D}"/>
                  </a:ext>
                </a:extLst>
              </p:cNvPr>
              <p:cNvSpPr/>
              <p:nvPr/>
            </p:nvSpPr>
            <p:spPr>
              <a:xfrm>
                <a:off x="960737" y="4355297"/>
                <a:ext cx="792000" cy="216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CA" sz="800">
                    <a:solidFill>
                      <a:prstClr val="black"/>
                    </a:solidFill>
                    <a:cs typeface="Arial" panose="020B0604020202020204" pitchFamily="34" charset="0"/>
                  </a:rPr>
                  <a:t>Analytics Dashboard</a:t>
                </a:r>
              </a:p>
            </p:txBody>
          </p:sp>
          <p:sp>
            <p:nvSpPr>
              <p:cNvPr id="44" name="Rectangle 43">
                <a:extLst>
                  <a:ext uri="{FF2B5EF4-FFF2-40B4-BE49-F238E27FC236}">
                    <a16:creationId xmlns:a16="http://schemas.microsoft.com/office/drawing/2014/main" id="{DC162608-3ACA-FAA7-2087-875DB006768D}"/>
                  </a:ext>
                </a:extLst>
              </p:cNvPr>
              <p:cNvSpPr/>
              <p:nvPr/>
            </p:nvSpPr>
            <p:spPr>
              <a:xfrm>
                <a:off x="960737" y="4607297"/>
                <a:ext cx="792000" cy="216000"/>
              </a:xfrm>
              <a:prstGeom prst="rect">
                <a:avLst/>
              </a:prstGeom>
              <a:solidFill>
                <a:srgbClr val="BF9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Single Sign-On</a:t>
                </a:r>
              </a:p>
            </p:txBody>
          </p:sp>
        </p:grpSp>
      </p:grpSp>
      <p:grpSp>
        <p:nvGrpSpPr>
          <p:cNvPr id="52" name="Group 51">
            <a:extLst>
              <a:ext uri="{FF2B5EF4-FFF2-40B4-BE49-F238E27FC236}">
                <a16:creationId xmlns:a16="http://schemas.microsoft.com/office/drawing/2014/main" id="{6831DE18-DEC1-B74B-991A-C40DE5A0031B}"/>
              </a:ext>
            </a:extLst>
          </p:cNvPr>
          <p:cNvGrpSpPr/>
          <p:nvPr/>
        </p:nvGrpSpPr>
        <p:grpSpPr>
          <a:xfrm>
            <a:off x="7955304" y="630959"/>
            <a:ext cx="1944000" cy="1892625"/>
            <a:chOff x="3238071" y="411375"/>
            <a:chExt cx="1944000" cy="1892625"/>
          </a:xfrm>
        </p:grpSpPr>
        <p:sp>
          <p:nvSpPr>
            <p:cNvPr id="53" name="Freeform 39">
              <a:extLst>
                <a:ext uri="{FF2B5EF4-FFF2-40B4-BE49-F238E27FC236}">
                  <a16:creationId xmlns:a16="http://schemas.microsoft.com/office/drawing/2014/main" id="{61DF7404-B9F2-B7EE-F849-199046A175CA}"/>
                </a:ext>
              </a:extLst>
            </p:cNvPr>
            <p:cNvSpPr>
              <a:spLocks/>
            </p:cNvSpPr>
            <p:nvPr/>
          </p:nvSpPr>
          <p:spPr bwMode="auto">
            <a:xfrm>
              <a:off x="3238071" y="468000"/>
              <a:ext cx="1944000" cy="1836000"/>
            </a:xfrm>
            <a:custGeom>
              <a:avLst/>
              <a:gdLst>
                <a:gd name="T0" fmla="*/ 192 w 4946"/>
                <a:gd name="T1" fmla="*/ 4386 h 4386"/>
                <a:gd name="T2" fmla="*/ 4754 w 4946"/>
                <a:gd name="T3" fmla="*/ 4386 h 4386"/>
                <a:gd name="T4" fmla="*/ 4946 w 4946"/>
                <a:gd name="T5" fmla="*/ 4194 h 4386"/>
                <a:gd name="T6" fmla="*/ 4946 w 4946"/>
                <a:gd name="T7" fmla="*/ 192 h 4386"/>
                <a:gd name="T8" fmla="*/ 4754 w 4946"/>
                <a:gd name="T9" fmla="*/ 0 h 4386"/>
                <a:gd name="T10" fmla="*/ 192 w 4946"/>
                <a:gd name="T11" fmla="*/ 0 h 4386"/>
                <a:gd name="T12" fmla="*/ 0 w 4946"/>
                <a:gd name="T13" fmla="*/ 192 h 4386"/>
                <a:gd name="T14" fmla="*/ 0 w 4946"/>
                <a:gd name="T15" fmla="*/ 4194 h 4386"/>
                <a:gd name="T16" fmla="*/ 192 w 4946"/>
                <a:gd name="T17" fmla="*/ 4386 h 4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46" h="4386">
                  <a:moveTo>
                    <a:pt x="192" y="4386"/>
                  </a:moveTo>
                  <a:lnTo>
                    <a:pt x="4754" y="4386"/>
                  </a:lnTo>
                  <a:cubicBezTo>
                    <a:pt x="4860" y="4386"/>
                    <a:pt x="4946" y="4300"/>
                    <a:pt x="4946" y="4194"/>
                  </a:cubicBezTo>
                  <a:lnTo>
                    <a:pt x="4946" y="192"/>
                  </a:lnTo>
                  <a:cubicBezTo>
                    <a:pt x="4946" y="86"/>
                    <a:pt x="4860" y="0"/>
                    <a:pt x="4754" y="0"/>
                  </a:cubicBezTo>
                  <a:lnTo>
                    <a:pt x="192" y="0"/>
                  </a:lnTo>
                  <a:cubicBezTo>
                    <a:pt x="86" y="0"/>
                    <a:pt x="0" y="86"/>
                    <a:pt x="0" y="192"/>
                  </a:cubicBezTo>
                  <a:lnTo>
                    <a:pt x="0" y="4194"/>
                  </a:lnTo>
                  <a:cubicBezTo>
                    <a:pt x="0" y="4300"/>
                    <a:pt x="86" y="4386"/>
                    <a:pt x="192" y="4386"/>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54" name="Rectangle 41">
              <a:extLst>
                <a:ext uri="{FF2B5EF4-FFF2-40B4-BE49-F238E27FC236}">
                  <a16:creationId xmlns:a16="http://schemas.microsoft.com/office/drawing/2014/main" id="{6DF0FBFA-8AFB-A1D8-C866-B9E8F916F3D9}"/>
                </a:ext>
              </a:extLst>
            </p:cNvPr>
            <p:cNvSpPr>
              <a:spLocks noChangeArrowheads="1"/>
            </p:cNvSpPr>
            <p:nvPr/>
          </p:nvSpPr>
          <p:spPr bwMode="auto">
            <a:xfrm>
              <a:off x="3274071" y="411375"/>
              <a:ext cx="1797534" cy="123111"/>
            </a:xfrm>
            <a:prstGeom prst="rect">
              <a:avLst/>
            </a:prstGeom>
            <a:solidFill>
              <a:schemeClr val="bg1"/>
            </a:solidFill>
            <a:ln>
              <a:solidFill>
                <a:srgbClr val="A6A6A6"/>
              </a:solidFill>
            </a:ln>
          </p:spPr>
          <p:txBody>
            <a:bodyPr vert="horz" wrap="none" lIns="36000" tIns="0" rIns="3600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C0C0C"/>
                  </a:solidFill>
                  <a:effectLst/>
                  <a:uLnTx/>
                  <a:uFillTx/>
                  <a:latin typeface="+mn-lt"/>
                  <a:ea typeface="+mn-ea"/>
                  <a:cs typeface="Arial" panose="020B0604020202020204" pitchFamily="34" charset="0"/>
                </a:rPr>
                <a:t>Credential, Identity, and MFA Providers  </a:t>
              </a:r>
              <a:endParaRPr kumimoji="0" lang="en-US" altLang="en-US" sz="800" b="1"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p:txBody>
        </p:sp>
        <p:grpSp>
          <p:nvGrpSpPr>
            <p:cNvPr id="55" name="Group 54">
              <a:extLst>
                <a:ext uri="{FF2B5EF4-FFF2-40B4-BE49-F238E27FC236}">
                  <a16:creationId xmlns:a16="http://schemas.microsoft.com/office/drawing/2014/main" id="{22BAE976-AB50-F854-9704-A9C33EFE00AE}"/>
                </a:ext>
              </a:extLst>
            </p:cNvPr>
            <p:cNvGrpSpPr/>
            <p:nvPr/>
          </p:nvGrpSpPr>
          <p:grpSpPr>
            <a:xfrm>
              <a:off x="3310071" y="1728000"/>
              <a:ext cx="1833874" cy="504000"/>
              <a:chOff x="3310071" y="1534330"/>
              <a:chExt cx="1833874" cy="504000"/>
            </a:xfrm>
          </p:grpSpPr>
          <p:grpSp>
            <p:nvGrpSpPr>
              <p:cNvPr id="66" name="Group 65">
                <a:extLst>
                  <a:ext uri="{FF2B5EF4-FFF2-40B4-BE49-F238E27FC236}">
                    <a16:creationId xmlns:a16="http://schemas.microsoft.com/office/drawing/2014/main" id="{E4851270-701F-DD95-D27D-1387E25C3C6F}"/>
                  </a:ext>
                </a:extLst>
              </p:cNvPr>
              <p:cNvGrpSpPr/>
              <p:nvPr/>
            </p:nvGrpSpPr>
            <p:grpSpPr>
              <a:xfrm>
                <a:off x="3310071" y="1534330"/>
                <a:ext cx="967442" cy="504000"/>
                <a:chOff x="3310071" y="1534330"/>
                <a:chExt cx="967442" cy="504000"/>
              </a:xfrm>
            </p:grpSpPr>
            <p:sp>
              <p:nvSpPr>
                <p:cNvPr id="71" name="Freeform 14">
                  <a:extLst>
                    <a:ext uri="{FF2B5EF4-FFF2-40B4-BE49-F238E27FC236}">
                      <a16:creationId xmlns:a16="http://schemas.microsoft.com/office/drawing/2014/main" id="{9E4B7ABB-A337-9DC8-6220-AA17008E19EB}"/>
                    </a:ext>
                  </a:extLst>
                </p:cNvPr>
                <p:cNvSpPr>
                  <a:spLocks/>
                </p:cNvSpPr>
                <p:nvPr/>
              </p:nvSpPr>
              <p:spPr bwMode="auto">
                <a:xfrm>
                  <a:off x="3310071" y="1678330"/>
                  <a:ext cx="864000" cy="360000"/>
                </a:xfrm>
                <a:custGeom>
                  <a:avLst/>
                  <a:gdLst>
                    <a:gd name="T0" fmla="*/ 192 w 4324"/>
                    <a:gd name="T1" fmla="*/ 1134 h 1134"/>
                    <a:gd name="T2" fmla="*/ 4132 w 4324"/>
                    <a:gd name="T3" fmla="*/ 1134 h 1134"/>
                    <a:gd name="T4" fmla="*/ 4324 w 4324"/>
                    <a:gd name="T5" fmla="*/ 942 h 1134"/>
                    <a:gd name="T6" fmla="*/ 4324 w 4324"/>
                    <a:gd name="T7" fmla="*/ 192 h 1134"/>
                    <a:gd name="T8" fmla="*/ 4132 w 4324"/>
                    <a:gd name="T9" fmla="*/ 0 h 1134"/>
                    <a:gd name="T10" fmla="*/ 192 w 4324"/>
                    <a:gd name="T11" fmla="*/ 0 h 1134"/>
                    <a:gd name="T12" fmla="*/ 0 w 4324"/>
                    <a:gd name="T13" fmla="*/ 192 h 1134"/>
                    <a:gd name="T14" fmla="*/ 0 w 4324"/>
                    <a:gd name="T15" fmla="*/ 942 h 1134"/>
                    <a:gd name="T16" fmla="*/ 192 w 4324"/>
                    <a:gd name="T17" fmla="*/ 1134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4" h="1134">
                      <a:moveTo>
                        <a:pt x="192" y="1134"/>
                      </a:moveTo>
                      <a:lnTo>
                        <a:pt x="4132" y="1134"/>
                      </a:lnTo>
                      <a:cubicBezTo>
                        <a:pt x="4238" y="1134"/>
                        <a:pt x="4324" y="1048"/>
                        <a:pt x="4324" y="942"/>
                      </a:cubicBezTo>
                      <a:lnTo>
                        <a:pt x="4324" y="192"/>
                      </a:lnTo>
                      <a:cubicBezTo>
                        <a:pt x="4324" y="86"/>
                        <a:pt x="4238" y="0"/>
                        <a:pt x="4132" y="0"/>
                      </a:cubicBezTo>
                      <a:lnTo>
                        <a:pt x="192" y="0"/>
                      </a:lnTo>
                      <a:cubicBezTo>
                        <a:pt x="86" y="0"/>
                        <a:pt x="0" y="86"/>
                        <a:pt x="0" y="192"/>
                      </a:cubicBezTo>
                      <a:lnTo>
                        <a:pt x="0" y="942"/>
                      </a:lnTo>
                      <a:cubicBezTo>
                        <a:pt x="0" y="1048"/>
                        <a:pt x="86" y="1134"/>
                        <a:pt x="192" y="1134"/>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2" name="Freeform 18">
                  <a:extLst>
                    <a:ext uri="{FF2B5EF4-FFF2-40B4-BE49-F238E27FC236}">
                      <a16:creationId xmlns:a16="http://schemas.microsoft.com/office/drawing/2014/main" id="{13AF17BA-7EE2-F643-C177-6903793E9D78}"/>
                    </a:ext>
                  </a:extLst>
                </p:cNvPr>
                <p:cNvSpPr>
                  <a:spLocks/>
                </p:cNvSpPr>
                <p:nvPr/>
              </p:nvSpPr>
              <p:spPr bwMode="auto">
                <a:xfrm>
                  <a:off x="3382071" y="1822330"/>
                  <a:ext cx="720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chemeClr val="bg1">
                    <a:lumMod val="65000"/>
                  </a:schemeClr>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IDPaaS</a:t>
                  </a:r>
                  <a:endParaRPr kumimoji="0" lang="en-CA"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3" name="Rectangle 15">
                  <a:extLst>
                    <a:ext uri="{FF2B5EF4-FFF2-40B4-BE49-F238E27FC236}">
                      <a16:creationId xmlns:a16="http://schemas.microsoft.com/office/drawing/2014/main" id="{E5218BD8-0E7F-CD72-F772-C484293E0F5B}"/>
                    </a:ext>
                  </a:extLst>
                </p:cNvPr>
                <p:cNvSpPr>
                  <a:spLocks noChangeArrowheads="1"/>
                </p:cNvSpPr>
                <p:nvPr/>
              </p:nvSpPr>
              <p:spPr bwMode="auto">
                <a:xfrm>
                  <a:off x="3384000" y="1534330"/>
                  <a:ext cx="893513" cy="265670"/>
                </a:xfrm>
                <a:prstGeom prst="rect">
                  <a:avLst/>
                </a:prstGeom>
                <a:solidFill>
                  <a:schemeClr val="bg1"/>
                </a:solidFill>
                <a:ln>
                  <a:solidFill>
                    <a:srgbClr val="A6A6A6"/>
                  </a:solidFill>
                </a:ln>
              </p:spPr>
              <p:txBody>
                <a:bodyPr vert="horz" wrap="square" lIns="36000" tIns="45720" rIns="3600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3</a:t>
                  </a:r>
                  <a:r>
                    <a:rPr kumimoji="0" lang="en-CA" sz="800" b="0" i="0" u="none" strike="noStrike" kern="1200" cap="none" spc="0" normalizeH="0" baseline="30000" noProof="0">
                      <a:ln>
                        <a:noFill/>
                      </a:ln>
                      <a:solidFill>
                        <a:prstClr val="black"/>
                      </a:solidFill>
                      <a:effectLst/>
                      <a:uLnTx/>
                      <a:uFillTx/>
                      <a:ea typeface="+mn-ea"/>
                      <a:cs typeface="Arial" panose="020B0604020202020204" pitchFamily="34" charset="0"/>
                    </a:rPr>
                    <a:t>rd</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 Party Identity Providers</a:t>
                  </a:r>
                </a:p>
              </p:txBody>
            </p:sp>
          </p:grpSp>
          <p:grpSp>
            <p:nvGrpSpPr>
              <p:cNvPr id="67" name="Group 66">
                <a:extLst>
                  <a:ext uri="{FF2B5EF4-FFF2-40B4-BE49-F238E27FC236}">
                    <a16:creationId xmlns:a16="http://schemas.microsoft.com/office/drawing/2014/main" id="{9DC7D128-58FB-F385-424C-ED476E94D4EB}"/>
                  </a:ext>
                </a:extLst>
              </p:cNvPr>
              <p:cNvGrpSpPr/>
              <p:nvPr/>
            </p:nvGrpSpPr>
            <p:grpSpPr>
              <a:xfrm>
                <a:off x="4246071" y="1549625"/>
                <a:ext cx="897874" cy="488705"/>
                <a:chOff x="4246071" y="1549625"/>
                <a:chExt cx="897874" cy="488705"/>
              </a:xfrm>
            </p:grpSpPr>
            <p:sp>
              <p:nvSpPr>
                <p:cNvPr id="68" name="Freeform 14">
                  <a:extLst>
                    <a:ext uri="{FF2B5EF4-FFF2-40B4-BE49-F238E27FC236}">
                      <a16:creationId xmlns:a16="http://schemas.microsoft.com/office/drawing/2014/main" id="{763F1C34-94D9-886A-4664-E20FC029F2D9}"/>
                    </a:ext>
                  </a:extLst>
                </p:cNvPr>
                <p:cNvSpPr>
                  <a:spLocks/>
                </p:cNvSpPr>
                <p:nvPr/>
              </p:nvSpPr>
              <p:spPr bwMode="auto">
                <a:xfrm>
                  <a:off x="4246071" y="1678330"/>
                  <a:ext cx="864000" cy="360000"/>
                </a:xfrm>
                <a:custGeom>
                  <a:avLst/>
                  <a:gdLst>
                    <a:gd name="T0" fmla="*/ 192 w 4324"/>
                    <a:gd name="T1" fmla="*/ 1134 h 1134"/>
                    <a:gd name="T2" fmla="*/ 4132 w 4324"/>
                    <a:gd name="T3" fmla="*/ 1134 h 1134"/>
                    <a:gd name="T4" fmla="*/ 4324 w 4324"/>
                    <a:gd name="T5" fmla="*/ 942 h 1134"/>
                    <a:gd name="T6" fmla="*/ 4324 w 4324"/>
                    <a:gd name="T7" fmla="*/ 192 h 1134"/>
                    <a:gd name="T8" fmla="*/ 4132 w 4324"/>
                    <a:gd name="T9" fmla="*/ 0 h 1134"/>
                    <a:gd name="T10" fmla="*/ 192 w 4324"/>
                    <a:gd name="T11" fmla="*/ 0 h 1134"/>
                    <a:gd name="T12" fmla="*/ 0 w 4324"/>
                    <a:gd name="T13" fmla="*/ 192 h 1134"/>
                    <a:gd name="T14" fmla="*/ 0 w 4324"/>
                    <a:gd name="T15" fmla="*/ 942 h 1134"/>
                    <a:gd name="T16" fmla="*/ 192 w 4324"/>
                    <a:gd name="T17" fmla="*/ 1134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4" h="1134">
                      <a:moveTo>
                        <a:pt x="192" y="1134"/>
                      </a:moveTo>
                      <a:lnTo>
                        <a:pt x="4132" y="1134"/>
                      </a:lnTo>
                      <a:cubicBezTo>
                        <a:pt x="4238" y="1134"/>
                        <a:pt x="4324" y="1048"/>
                        <a:pt x="4324" y="942"/>
                      </a:cubicBezTo>
                      <a:lnTo>
                        <a:pt x="4324" y="192"/>
                      </a:lnTo>
                      <a:cubicBezTo>
                        <a:pt x="4324" y="86"/>
                        <a:pt x="4238" y="0"/>
                        <a:pt x="4132" y="0"/>
                      </a:cubicBezTo>
                      <a:lnTo>
                        <a:pt x="192" y="0"/>
                      </a:lnTo>
                      <a:cubicBezTo>
                        <a:pt x="86" y="0"/>
                        <a:pt x="0" y="86"/>
                        <a:pt x="0" y="192"/>
                      </a:cubicBezTo>
                      <a:lnTo>
                        <a:pt x="0" y="942"/>
                      </a:lnTo>
                      <a:cubicBezTo>
                        <a:pt x="0" y="1048"/>
                        <a:pt x="86" y="1134"/>
                        <a:pt x="192" y="1134"/>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9" name="Freeform 18">
                  <a:extLst>
                    <a:ext uri="{FF2B5EF4-FFF2-40B4-BE49-F238E27FC236}">
                      <a16:creationId xmlns:a16="http://schemas.microsoft.com/office/drawing/2014/main" id="{597E1C52-2360-5E21-9816-C7D6EBF17000}"/>
                    </a:ext>
                  </a:extLst>
                </p:cNvPr>
                <p:cNvSpPr>
                  <a:spLocks/>
                </p:cNvSpPr>
                <p:nvPr/>
              </p:nvSpPr>
              <p:spPr bwMode="auto">
                <a:xfrm>
                  <a:off x="4318071" y="1822330"/>
                  <a:ext cx="720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chemeClr val="bg1">
                    <a:lumMod val="65000"/>
                  </a:schemeClr>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MFAaaS</a:t>
                  </a:r>
                  <a:endParaRPr kumimoji="0" lang="en-CA" sz="7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0" name="Rectangle 15">
                  <a:extLst>
                    <a:ext uri="{FF2B5EF4-FFF2-40B4-BE49-F238E27FC236}">
                      <a16:creationId xmlns:a16="http://schemas.microsoft.com/office/drawing/2014/main" id="{3673AEAA-5288-60AD-E084-6C82A70E0A44}"/>
                    </a:ext>
                  </a:extLst>
                </p:cNvPr>
                <p:cNvSpPr>
                  <a:spLocks noChangeArrowheads="1"/>
                </p:cNvSpPr>
                <p:nvPr/>
              </p:nvSpPr>
              <p:spPr bwMode="auto">
                <a:xfrm>
                  <a:off x="4320000" y="1549625"/>
                  <a:ext cx="823945" cy="224095"/>
                </a:xfrm>
                <a:prstGeom prst="rect">
                  <a:avLst/>
                </a:prstGeom>
                <a:solidFill>
                  <a:srgbClr val="FFFFFF"/>
                </a:solidFill>
                <a:ln w="9525">
                  <a:solidFill>
                    <a:srgbClr val="000000"/>
                  </a:solid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3</a:t>
                  </a:r>
                  <a:r>
                    <a:rPr kumimoji="0" lang="en-CA" sz="800" b="0" i="0" u="none" strike="noStrike" kern="1200" cap="none" spc="0" normalizeH="0" baseline="30000" noProof="0">
                      <a:ln>
                        <a:noFill/>
                      </a:ln>
                      <a:solidFill>
                        <a:prstClr val="black"/>
                      </a:solidFill>
                      <a:effectLst/>
                      <a:uLnTx/>
                      <a:uFillTx/>
                      <a:ea typeface="+mn-ea"/>
                      <a:cs typeface="Arial" panose="020B0604020202020204" pitchFamily="34" charset="0"/>
                    </a:rPr>
                    <a:t>rd</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 Party MFA Providers</a:t>
                  </a:r>
                </a:p>
              </p:txBody>
            </p:sp>
          </p:grpSp>
        </p:grpSp>
        <p:grpSp>
          <p:nvGrpSpPr>
            <p:cNvPr id="56" name="Group 55">
              <a:extLst>
                <a:ext uri="{FF2B5EF4-FFF2-40B4-BE49-F238E27FC236}">
                  <a16:creationId xmlns:a16="http://schemas.microsoft.com/office/drawing/2014/main" id="{7567ADC5-49F5-4B5F-4712-F454CFB21C14}"/>
                </a:ext>
              </a:extLst>
            </p:cNvPr>
            <p:cNvGrpSpPr/>
            <p:nvPr/>
          </p:nvGrpSpPr>
          <p:grpSpPr>
            <a:xfrm>
              <a:off x="3310071" y="611802"/>
              <a:ext cx="1800000" cy="432198"/>
              <a:chOff x="3310071" y="611802"/>
              <a:chExt cx="1800000" cy="432198"/>
            </a:xfrm>
          </p:grpSpPr>
          <p:sp>
            <p:nvSpPr>
              <p:cNvPr id="62" name="Freeform 5">
                <a:extLst>
                  <a:ext uri="{FF2B5EF4-FFF2-40B4-BE49-F238E27FC236}">
                    <a16:creationId xmlns:a16="http://schemas.microsoft.com/office/drawing/2014/main" id="{C2E1D2C4-D634-2804-F849-9461E069EB0F}"/>
                  </a:ext>
                </a:extLst>
              </p:cNvPr>
              <p:cNvSpPr>
                <a:spLocks/>
              </p:cNvSpPr>
              <p:nvPr/>
            </p:nvSpPr>
            <p:spPr bwMode="auto">
              <a:xfrm>
                <a:off x="3310071" y="684000"/>
                <a:ext cx="1800000" cy="360000"/>
              </a:xfrm>
              <a:custGeom>
                <a:avLst/>
                <a:gdLst>
                  <a:gd name="T0" fmla="*/ 192 w 3931"/>
                  <a:gd name="T1" fmla="*/ 877 h 877"/>
                  <a:gd name="T2" fmla="*/ 3739 w 3931"/>
                  <a:gd name="T3" fmla="*/ 877 h 877"/>
                  <a:gd name="T4" fmla="*/ 3931 w 3931"/>
                  <a:gd name="T5" fmla="*/ 685 h 877"/>
                  <a:gd name="T6" fmla="*/ 3931 w 3931"/>
                  <a:gd name="T7" fmla="*/ 192 h 877"/>
                  <a:gd name="T8" fmla="*/ 3739 w 3931"/>
                  <a:gd name="T9" fmla="*/ 0 h 877"/>
                  <a:gd name="T10" fmla="*/ 192 w 3931"/>
                  <a:gd name="T11" fmla="*/ 0 h 877"/>
                  <a:gd name="T12" fmla="*/ 0 w 3931"/>
                  <a:gd name="T13" fmla="*/ 192 h 877"/>
                  <a:gd name="T14" fmla="*/ 0 w 3931"/>
                  <a:gd name="T15" fmla="*/ 685 h 877"/>
                  <a:gd name="T16" fmla="*/ 192 w 3931"/>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1" h="877">
                    <a:moveTo>
                      <a:pt x="192" y="877"/>
                    </a:moveTo>
                    <a:lnTo>
                      <a:pt x="3739" y="877"/>
                    </a:lnTo>
                    <a:cubicBezTo>
                      <a:pt x="3845" y="877"/>
                      <a:pt x="3931" y="791"/>
                      <a:pt x="3931" y="685"/>
                    </a:cubicBezTo>
                    <a:lnTo>
                      <a:pt x="3931" y="192"/>
                    </a:lnTo>
                    <a:cubicBezTo>
                      <a:pt x="3931" y="86"/>
                      <a:pt x="3845" y="0"/>
                      <a:pt x="3739" y="0"/>
                    </a:cubicBezTo>
                    <a:lnTo>
                      <a:pt x="192" y="0"/>
                    </a:lnTo>
                    <a:cubicBezTo>
                      <a:pt x="86" y="0"/>
                      <a:pt x="0" y="86"/>
                      <a:pt x="0" y="192"/>
                    </a:cubicBezTo>
                    <a:lnTo>
                      <a:pt x="0" y="685"/>
                    </a:lnTo>
                    <a:cubicBezTo>
                      <a:pt x="0" y="791"/>
                      <a:pt x="86" y="877"/>
                      <a:pt x="192" y="877"/>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3" name="Freeform 8">
                <a:extLst>
                  <a:ext uri="{FF2B5EF4-FFF2-40B4-BE49-F238E27FC236}">
                    <a16:creationId xmlns:a16="http://schemas.microsoft.com/office/drawing/2014/main" id="{3E9D9883-2D86-854D-FF03-90A8E78CBAB4}"/>
                  </a:ext>
                </a:extLst>
              </p:cNvPr>
              <p:cNvSpPr>
                <a:spLocks/>
              </p:cNvSpPr>
              <p:nvPr/>
            </p:nvSpPr>
            <p:spPr bwMode="auto">
              <a:xfrm>
                <a:off x="3384000" y="828000"/>
                <a:ext cx="792000" cy="144000"/>
              </a:xfrm>
              <a:custGeom>
                <a:avLst/>
                <a:gdLst>
                  <a:gd name="T0" fmla="*/ 181 w 1756"/>
                  <a:gd name="T1" fmla="*/ 515 h 515"/>
                  <a:gd name="T2" fmla="*/ 1574 w 1756"/>
                  <a:gd name="T3" fmla="*/ 515 h 515"/>
                  <a:gd name="T4" fmla="*/ 1756 w 1756"/>
                  <a:gd name="T5" fmla="*/ 334 h 515"/>
                  <a:gd name="T6" fmla="*/ 1756 w 1756"/>
                  <a:gd name="T7" fmla="*/ 182 h 515"/>
                  <a:gd name="T8" fmla="*/ 1574 w 1756"/>
                  <a:gd name="T9" fmla="*/ 0 h 515"/>
                  <a:gd name="T10" fmla="*/ 181 w 1756"/>
                  <a:gd name="T11" fmla="*/ 0 h 515"/>
                  <a:gd name="T12" fmla="*/ 0 w 1756"/>
                  <a:gd name="T13" fmla="*/ 182 h 515"/>
                  <a:gd name="T14" fmla="*/ 0 w 1756"/>
                  <a:gd name="T15" fmla="*/ 334 h 515"/>
                  <a:gd name="T16" fmla="*/ 181 w 1756"/>
                  <a:gd name="T17" fmla="*/ 515 h 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6" h="515">
                    <a:moveTo>
                      <a:pt x="181" y="515"/>
                    </a:moveTo>
                    <a:lnTo>
                      <a:pt x="1574" y="515"/>
                    </a:lnTo>
                    <a:cubicBezTo>
                      <a:pt x="1674" y="515"/>
                      <a:pt x="1756" y="434"/>
                      <a:pt x="1756" y="334"/>
                    </a:cubicBezTo>
                    <a:lnTo>
                      <a:pt x="1756" y="182"/>
                    </a:lnTo>
                    <a:cubicBezTo>
                      <a:pt x="1756" y="81"/>
                      <a:pt x="1674" y="0"/>
                      <a:pt x="1574" y="0"/>
                    </a:cubicBezTo>
                    <a:lnTo>
                      <a:pt x="181" y="0"/>
                    </a:lnTo>
                    <a:cubicBezTo>
                      <a:pt x="81" y="0"/>
                      <a:pt x="0" y="81"/>
                      <a:pt x="0" y="182"/>
                    </a:cubicBezTo>
                    <a:lnTo>
                      <a:pt x="0" y="334"/>
                    </a:lnTo>
                    <a:cubicBezTo>
                      <a:pt x="0" y="434"/>
                      <a:pt x="81" y="515"/>
                      <a:pt x="181" y="515"/>
                    </a:cubicBezTo>
                    <a:close/>
                  </a:path>
                </a:pathLst>
              </a:custGeom>
              <a:solidFill>
                <a:srgbClr val="A6A6A6"/>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GC Key</a:t>
                </a:r>
              </a:p>
            </p:txBody>
          </p:sp>
          <p:sp>
            <p:nvSpPr>
              <p:cNvPr id="64" name="Freeform 11">
                <a:extLst>
                  <a:ext uri="{FF2B5EF4-FFF2-40B4-BE49-F238E27FC236}">
                    <a16:creationId xmlns:a16="http://schemas.microsoft.com/office/drawing/2014/main" id="{FA033F3F-8037-5273-EEB1-A544CDAA5C7B}"/>
                  </a:ext>
                </a:extLst>
              </p:cNvPr>
              <p:cNvSpPr>
                <a:spLocks/>
              </p:cNvSpPr>
              <p:nvPr/>
            </p:nvSpPr>
            <p:spPr bwMode="auto">
              <a:xfrm>
                <a:off x="4248000" y="828000"/>
                <a:ext cx="792000" cy="144000"/>
              </a:xfrm>
              <a:custGeom>
                <a:avLst/>
                <a:gdLst>
                  <a:gd name="T0" fmla="*/ 181 w 1814"/>
                  <a:gd name="T1" fmla="*/ 529 h 529"/>
                  <a:gd name="T2" fmla="*/ 1632 w 1814"/>
                  <a:gd name="T3" fmla="*/ 529 h 529"/>
                  <a:gd name="T4" fmla="*/ 1814 w 1814"/>
                  <a:gd name="T5" fmla="*/ 348 h 529"/>
                  <a:gd name="T6" fmla="*/ 1814 w 1814"/>
                  <a:gd name="T7" fmla="*/ 182 h 529"/>
                  <a:gd name="T8" fmla="*/ 1632 w 1814"/>
                  <a:gd name="T9" fmla="*/ 0 h 529"/>
                  <a:gd name="T10" fmla="*/ 181 w 1814"/>
                  <a:gd name="T11" fmla="*/ 0 h 529"/>
                  <a:gd name="T12" fmla="*/ 0 w 1814"/>
                  <a:gd name="T13" fmla="*/ 182 h 529"/>
                  <a:gd name="T14" fmla="*/ 0 w 1814"/>
                  <a:gd name="T15" fmla="*/ 348 h 529"/>
                  <a:gd name="T16" fmla="*/ 181 w 1814"/>
                  <a:gd name="T17" fmla="*/ 529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4" h="529">
                    <a:moveTo>
                      <a:pt x="181" y="529"/>
                    </a:moveTo>
                    <a:lnTo>
                      <a:pt x="1632" y="529"/>
                    </a:lnTo>
                    <a:cubicBezTo>
                      <a:pt x="1733" y="529"/>
                      <a:pt x="1814" y="448"/>
                      <a:pt x="1814" y="348"/>
                    </a:cubicBezTo>
                    <a:lnTo>
                      <a:pt x="1814" y="182"/>
                    </a:lnTo>
                    <a:cubicBezTo>
                      <a:pt x="1814" y="81"/>
                      <a:pt x="1733" y="0"/>
                      <a:pt x="1632" y="0"/>
                    </a:cubicBezTo>
                    <a:lnTo>
                      <a:pt x="181" y="0"/>
                    </a:lnTo>
                    <a:cubicBezTo>
                      <a:pt x="81" y="0"/>
                      <a:pt x="0" y="81"/>
                      <a:pt x="0" y="182"/>
                    </a:cubicBezTo>
                    <a:lnTo>
                      <a:pt x="0" y="348"/>
                    </a:lnTo>
                    <a:cubicBezTo>
                      <a:pt x="0" y="448"/>
                      <a:pt x="81" y="529"/>
                      <a:pt x="181" y="529"/>
                    </a:cubicBezTo>
                    <a:close/>
                  </a:path>
                </a:pathLst>
              </a:custGeom>
              <a:solidFill>
                <a:srgbClr val="A6A6A6"/>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GC </a:t>
                </a: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MFAaaS</a:t>
                </a:r>
                <a:endParaRPr kumimoji="0" lang="en-CA"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5" name="Rectangle 7">
                <a:extLst>
                  <a:ext uri="{FF2B5EF4-FFF2-40B4-BE49-F238E27FC236}">
                    <a16:creationId xmlns:a16="http://schemas.microsoft.com/office/drawing/2014/main" id="{09908F72-5684-BA42-3645-EF97772BA9D7}"/>
                  </a:ext>
                </a:extLst>
              </p:cNvPr>
              <p:cNvSpPr>
                <a:spLocks noChangeArrowheads="1"/>
              </p:cNvSpPr>
              <p:nvPr/>
            </p:nvSpPr>
            <p:spPr bwMode="auto">
              <a:xfrm>
                <a:off x="3384000" y="611802"/>
                <a:ext cx="1276559" cy="123111"/>
              </a:xfrm>
              <a:prstGeom prst="rect">
                <a:avLst/>
              </a:prstGeom>
              <a:solidFill>
                <a:schemeClr val="bg1"/>
              </a:solidFill>
              <a:ln>
                <a:solidFill>
                  <a:srgbClr val="A6A6A6"/>
                </a:solidFill>
              </a:ln>
            </p:spPr>
            <p:txBody>
              <a:bodyPr vert="horz" wrap="none" lIns="36000" tIns="0" rIns="3600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latin typeface="+mn-lt"/>
                    <a:ea typeface="+mn-ea"/>
                    <a:cs typeface="Arial" panose="020B0604020202020204" pitchFamily="34" charset="0"/>
                  </a:rPr>
                  <a:t>GC Credential Service &amp; MFA</a:t>
                </a:r>
                <a:endParaRPr kumimoji="0" lang="en-US" altLang="en-US" sz="80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p:txBody>
          </p:sp>
        </p:grpSp>
        <p:grpSp>
          <p:nvGrpSpPr>
            <p:cNvPr id="57" name="Group 56">
              <a:extLst>
                <a:ext uri="{FF2B5EF4-FFF2-40B4-BE49-F238E27FC236}">
                  <a16:creationId xmlns:a16="http://schemas.microsoft.com/office/drawing/2014/main" id="{A635501F-3A0A-3DC9-388E-7C69D694C807}"/>
                </a:ext>
              </a:extLst>
            </p:cNvPr>
            <p:cNvGrpSpPr/>
            <p:nvPr/>
          </p:nvGrpSpPr>
          <p:grpSpPr>
            <a:xfrm>
              <a:off x="3310071" y="1051002"/>
              <a:ext cx="1837929" cy="641773"/>
              <a:chOff x="3310071" y="1051002"/>
              <a:chExt cx="1837929" cy="641773"/>
            </a:xfrm>
          </p:grpSpPr>
          <p:sp>
            <p:nvSpPr>
              <p:cNvPr id="58" name="Freeform 18">
                <a:extLst>
                  <a:ext uri="{FF2B5EF4-FFF2-40B4-BE49-F238E27FC236}">
                    <a16:creationId xmlns:a16="http://schemas.microsoft.com/office/drawing/2014/main" id="{8BC2792D-B127-A8DF-46B9-DFC1DD5B4BC5}"/>
                  </a:ext>
                </a:extLst>
              </p:cNvPr>
              <p:cNvSpPr>
                <a:spLocks/>
              </p:cNvSpPr>
              <p:nvPr/>
            </p:nvSpPr>
            <p:spPr bwMode="auto">
              <a:xfrm>
                <a:off x="3384000" y="1296000"/>
                <a:ext cx="1260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Provinces/Territories</a:t>
                </a:r>
              </a:p>
            </p:txBody>
          </p:sp>
          <p:sp>
            <p:nvSpPr>
              <p:cNvPr id="59" name="Freeform 21">
                <a:extLst>
                  <a:ext uri="{FF2B5EF4-FFF2-40B4-BE49-F238E27FC236}">
                    <a16:creationId xmlns:a16="http://schemas.microsoft.com/office/drawing/2014/main" id="{C36A4B4A-D59C-2A0B-4F88-B6FDC2A320E3}"/>
                  </a:ext>
                </a:extLst>
              </p:cNvPr>
              <p:cNvSpPr>
                <a:spLocks/>
              </p:cNvSpPr>
              <p:nvPr/>
            </p:nvSpPr>
            <p:spPr bwMode="auto">
              <a:xfrm>
                <a:off x="3384000" y="1476000"/>
                <a:ext cx="1260000" cy="144000"/>
              </a:xfrm>
              <a:custGeom>
                <a:avLst/>
                <a:gdLst>
                  <a:gd name="T0" fmla="*/ 181 w 3707"/>
                  <a:gd name="T1" fmla="*/ 420 h 420"/>
                  <a:gd name="T2" fmla="*/ 3525 w 3707"/>
                  <a:gd name="T3" fmla="*/ 420 h 420"/>
                  <a:gd name="T4" fmla="*/ 3707 w 3707"/>
                  <a:gd name="T5" fmla="*/ 239 h 420"/>
                  <a:gd name="T6" fmla="*/ 3707 w 3707"/>
                  <a:gd name="T7" fmla="*/ 182 h 420"/>
                  <a:gd name="T8" fmla="*/ 3525 w 3707"/>
                  <a:gd name="T9" fmla="*/ 0 h 420"/>
                  <a:gd name="T10" fmla="*/ 181 w 3707"/>
                  <a:gd name="T11" fmla="*/ 0 h 420"/>
                  <a:gd name="T12" fmla="*/ 0 w 3707"/>
                  <a:gd name="T13" fmla="*/ 182 h 420"/>
                  <a:gd name="T14" fmla="*/ 0 w 3707"/>
                  <a:gd name="T15" fmla="*/ 239 h 420"/>
                  <a:gd name="T16" fmla="*/ 181 w 3707"/>
                  <a:gd name="T17" fmla="*/ 42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7" h="420">
                    <a:moveTo>
                      <a:pt x="181" y="420"/>
                    </a:moveTo>
                    <a:lnTo>
                      <a:pt x="3525" y="420"/>
                    </a:lnTo>
                    <a:cubicBezTo>
                      <a:pt x="3625" y="420"/>
                      <a:pt x="3707" y="339"/>
                      <a:pt x="3707" y="239"/>
                    </a:cubicBezTo>
                    <a:lnTo>
                      <a:pt x="3707" y="182"/>
                    </a:lnTo>
                    <a:cubicBezTo>
                      <a:pt x="3707" y="81"/>
                      <a:pt x="3625" y="0"/>
                      <a:pt x="3525" y="0"/>
                    </a:cubicBezTo>
                    <a:lnTo>
                      <a:pt x="181" y="0"/>
                    </a:lnTo>
                    <a:cubicBezTo>
                      <a:pt x="81" y="0"/>
                      <a:pt x="0" y="81"/>
                      <a:pt x="0" y="182"/>
                    </a:cubicBezTo>
                    <a:lnTo>
                      <a:pt x="0" y="239"/>
                    </a:lnTo>
                    <a:cubicBezTo>
                      <a:pt x="0" y="339"/>
                      <a:pt x="81" y="420"/>
                      <a:pt x="181" y="420"/>
                    </a:cubicBezTo>
                    <a:close/>
                  </a:path>
                </a:pathLst>
              </a:custGeom>
              <a:solidFill>
                <a:srgbClr val="A6A6A6"/>
              </a:solidFill>
              <a:ln w="0">
                <a:solidFill>
                  <a:srgbClr val="A6A6A6"/>
                </a:solidFill>
                <a:prstDash val="solid"/>
                <a:round/>
                <a:headEnd/>
                <a:tailEnd/>
              </a:ln>
            </p:spPr>
            <p:txBody>
              <a:bodyPr vert="horz" wrap="square" lIns="91440" tIns="0" rIns="9144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Interac Sign-In Service</a:t>
                </a:r>
              </a:p>
            </p:txBody>
          </p:sp>
          <p:sp>
            <p:nvSpPr>
              <p:cNvPr id="60" name="Freeform 14">
                <a:extLst>
                  <a:ext uri="{FF2B5EF4-FFF2-40B4-BE49-F238E27FC236}">
                    <a16:creationId xmlns:a16="http://schemas.microsoft.com/office/drawing/2014/main" id="{219AA20E-4C83-A733-D040-B4D43B680E03}"/>
                  </a:ext>
                </a:extLst>
              </p:cNvPr>
              <p:cNvSpPr>
                <a:spLocks/>
              </p:cNvSpPr>
              <p:nvPr/>
            </p:nvSpPr>
            <p:spPr bwMode="auto">
              <a:xfrm>
                <a:off x="3310071" y="1152000"/>
                <a:ext cx="1800000" cy="540775"/>
              </a:xfrm>
              <a:custGeom>
                <a:avLst/>
                <a:gdLst>
                  <a:gd name="T0" fmla="*/ 192 w 4324"/>
                  <a:gd name="T1" fmla="*/ 1134 h 1134"/>
                  <a:gd name="T2" fmla="*/ 4132 w 4324"/>
                  <a:gd name="T3" fmla="*/ 1134 h 1134"/>
                  <a:gd name="T4" fmla="*/ 4324 w 4324"/>
                  <a:gd name="T5" fmla="*/ 942 h 1134"/>
                  <a:gd name="T6" fmla="*/ 4324 w 4324"/>
                  <a:gd name="T7" fmla="*/ 192 h 1134"/>
                  <a:gd name="T8" fmla="*/ 4132 w 4324"/>
                  <a:gd name="T9" fmla="*/ 0 h 1134"/>
                  <a:gd name="T10" fmla="*/ 192 w 4324"/>
                  <a:gd name="T11" fmla="*/ 0 h 1134"/>
                  <a:gd name="T12" fmla="*/ 0 w 4324"/>
                  <a:gd name="T13" fmla="*/ 192 h 1134"/>
                  <a:gd name="T14" fmla="*/ 0 w 4324"/>
                  <a:gd name="T15" fmla="*/ 942 h 1134"/>
                  <a:gd name="T16" fmla="*/ 192 w 4324"/>
                  <a:gd name="T17" fmla="*/ 1134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4" h="1134">
                    <a:moveTo>
                      <a:pt x="192" y="1134"/>
                    </a:moveTo>
                    <a:lnTo>
                      <a:pt x="4132" y="1134"/>
                    </a:lnTo>
                    <a:cubicBezTo>
                      <a:pt x="4238" y="1134"/>
                      <a:pt x="4324" y="1048"/>
                      <a:pt x="4324" y="942"/>
                    </a:cubicBezTo>
                    <a:lnTo>
                      <a:pt x="4324" y="192"/>
                    </a:lnTo>
                    <a:cubicBezTo>
                      <a:pt x="4324" y="86"/>
                      <a:pt x="4238" y="0"/>
                      <a:pt x="4132" y="0"/>
                    </a:cubicBezTo>
                    <a:lnTo>
                      <a:pt x="192" y="0"/>
                    </a:lnTo>
                    <a:cubicBezTo>
                      <a:pt x="86" y="0"/>
                      <a:pt x="0" y="86"/>
                      <a:pt x="0" y="192"/>
                    </a:cubicBezTo>
                    <a:lnTo>
                      <a:pt x="0" y="942"/>
                    </a:lnTo>
                    <a:cubicBezTo>
                      <a:pt x="0" y="1048"/>
                      <a:pt x="86" y="1134"/>
                      <a:pt x="192" y="1134"/>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1" name="Rectangle 15">
                <a:extLst>
                  <a:ext uri="{FF2B5EF4-FFF2-40B4-BE49-F238E27FC236}">
                    <a16:creationId xmlns:a16="http://schemas.microsoft.com/office/drawing/2014/main" id="{F4040D79-FAD9-8265-D17D-AA622B5FFA3E}"/>
                  </a:ext>
                </a:extLst>
              </p:cNvPr>
              <p:cNvSpPr>
                <a:spLocks noChangeArrowheads="1"/>
              </p:cNvSpPr>
              <p:nvPr/>
            </p:nvSpPr>
            <p:spPr bwMode="auto">
              <a:xfrm>
                <a:off x="3384000" y="1051002"/>
                <a:ext cx="1764000" cy="197168"/>
              </a:xfrm>
              <a:prstGeom prst="rect">
                <a:avLst/>
              </a:prstGeom>
              <a:solidFill>
                <a:srgbClr val="FFFFFF"/>
              </a:solidFill>
              <a:ln w="9525">
                <a:solidFill>
                  <a:srgbClr val="000000"/>
                </a:solid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ESDC Credential &amp; Identity providers  </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grpSp>
      <p:cxnSp>
        <p:nvCxnSpPr>
          <p:cNvPr id="74" name="Straight Arrow Connector 73">
            <a:extLst>
              <a:ext uri="{FF2B5EF4-FFF2-40B4-BE49-F238E27FC236}">
                <a16:creationId xmlns:a16="http://schemas.microsoft.com/office/drawing/2014/main" id="{36432AA9-D7A1-209E-FF2F-80B4D9A853DE}"/>
              </a:ext>
            </a:extLst>
          </p:cNvPr>
          <p:cNvCxnSpPr>
            <a:cxnSpLocks/>
          </p:cNvCxnSpPr>
          <p:nvPr/>
        </p:nvCxnSpPr>
        <p:spPr>
          <a:xfrm flipH="1">
            <a:off x="7606809" y="1507246"/>
            <a:ext cx="349189"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5" name="Freeform 10">
            <a:extLst>
              <a:ext uri="{FF2B5EF4-FFF2-40B4-BE49-F238E27FC236}">
                <a16:creationId xmlns:a16="http://schemas.microsoft.com/office/drawing/2014/main" id="{EB1D8AF8-10BC-DE3E-1973-8DE0BF65166D}"/>
              </a:ext>
            </a:extLst>
          </p:cNvPr>
          <p:cNvSpPr>
            <a:spLocks/>
          </p:cNvSpPr>
          <p:nvPr/>
        </p:nvSpPr>
        <p:spPr bwMode="auto">
          <a:xfrm>
            <a:off x="8061050" y="4212397"/>
            <a:ext cx="2637929" cy="650777"/>
          </a:xfrm>
          <a:prstGeom prst="roundRect">
            <a:avLst>
              <a:gd name="adj" fmla="val 7092"/>
            </a:avLst>
          </a:prstGeom>
          <a:noFill/>
          <a:ln w="12700" cap="rnd">
            <a:solidFill>
              <a:srgbClr val="BF9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ea typeface="+mn-ea"/>
              <a:cs typeface="+mn-cs"/>
            </a:endParaRPr>
          </a:p>
        </p:txBody>
      </p:sp>
      <p:sp>
        <p:nvSpPr>
          <p:cNvPr id="76" name="Rectangle: Rounded Corners 75">
            <a:extLst>
              <a:ext uri="{FF2B5EF4-FFF2-40B4-BE49-F238E27FC236}">
                <a16:creationId xmlns:a16="http://schemas.microsoft.com/office/drawing/2014/main" id="{C1DD4CDD-6CB6-37AB-F4D6-33B747502BD7}"/>
              </a:ext>
            </a:extLst>
          </p:cNvPr>
          <p:cNvSpPr/>
          <p:nvPr/>
        </p:nvSpPr>
        <p:spPr>
          <a:xfrm>
            <a:off x="9759928" y="4262648"/>
            <a:ext cx="842367" cy="573262"/>
          </a:xfrm>
          <a:prstGeom prst="roundRect">
            <a:avLst/>
          </a:prstGeom>
          <a:solidFill>
            <a:srgbClr val="BF9000"/>
          </a:solidFill>
          <a:ln>
            <a:noFill/>
          </a:ln>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Partner and Employer Services (PRP, AOB, SUB)</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7" name="Rectangle: Rounded Corners 76">
            <a:extLst>
              <a:ext uri="{FF2B5EF4-FFF2-40B4-BE49-F238E27FC236}">
                <a16:creationId xmlns:a16="http://schemas.microsoft.com/office/drawing/2014/main" id="{DA793506-F9FE-90CC-9463-9807F231954B}"/>
              </a:ext>
            </a:extLst>
          </p:cNvPr>
          <p:cNvSpPr/>
          <p:nvPr/>
        </p:nvSpPr>
        <p:spPr>
          <a:xfrm>
            <a:off x="8172980" y="4449454"/>
            <a:ext cx="1089119" cy="153090"/>
          </a:xfrm>
          <a:prstGeom prst="roundRect">
            <a:avLst/>
          </a:prstGeom>
          <a:solidFill>
            <a:srgbClr val="BF9000"/>
          </a:solidFill>
          <a:ln>
            <a:noFill/>
          </a:ln>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cs typeface="Arial" panose="020B0604020202020204" pitchFamily="34" charset="0"/>
              </a:rPr>
              <a:t>Atrium (Appeals </a:t>
            </a:r>
            <a:r>
              <a:rPr kumimoji="0" lang="en-CA" sz="800" b="0" i="0" u="none" strike="noStrike" kern="1200" cap="none" spc="0" normalizeH="0" baseline="0" noProof="0" err="1">
                <a:ln>
                  <a:noFill/>
                </a:ln>
                <a:solidFill>
                  <a:prstClr val="black"/>
                </a:solidFill>
                <a:effectLst/>
                <a:uLnTx/>
                <a:uFillTx/>
                <a:cs typeface="Arial" panose="020B0604020202020204" pitchFamily="34" charset="0"/>
              </a:rPr>
              <a:t>Lvl</a:t>
            </a:r>
            <a:r>
              <a:rPr lang="en-CA" sz="800">
                <a:solidFill>
                  <a:prstClr val="black"/>
                </a:solidFill>
                <a:cs typeface="Arial" panose="020B0604020202020204" pitchFamily="34" charset="0"/>
              </a:rPr>
              <a:t> 2)</a:t>
            </a:r>
            <a:endParaRPr kumimoji="0" lang="en-US" sz="800" b="0" i="0" u="none" strike="noStrike" kern="1200" cap="none" spc="0" normalizeH="0" baseline="0" noProof="0">
              <a:ln>
                <a:noFill/>
              </a:ln>
              <a:solidFill>
                <a:prstClr val="black"/>
              </a:solidFill>
              <a:effectLst/>
              <a:uLnTx/>
              <a:uFillTx/>
              <a:cs typeface="Arial" panose="020B0604020202020204" pitchFamily="34" charset="0"/>
            </a:endParaRPr>
          </a:p>
        </p:txBody>
      </p:sp>
      <p:sp>
        <p:nvSpPr>
          <p:cNvPr id="78" name="Rectangle: Rounded Corners 77">
            <a:extLst>
              <a:ext uri="{FF2B5EF4-FFF2-40B4-BE49-F238E27FC236}">
                <a16:creationId xmlns:a16="http://schemas.microsoft.com/office/drawing/2014/main" id="{29510132-1196-5E09-7745-461DC8A5DB9B}"/>
              </a:ext>
            </a:extLst>
          </p:cNvPr>
          <p:cNvSpPr/>
          <p:nvPr/>
        </p:nvSpPr>
        <p:spPr>
          <a:xfrm>
            <a:off x="8172981" y="4641113"/>
            <a:ext cx="708701" cy="163588"/>
          </a:xfrm>
          <a:prstGeom prst="roundRect">
            <a:avLst/>
          </a:prstGeom>
          <a:solidFill>
            <a:srgbClr val="BF9000"/>
          </a:solidFill>
          <a:ln>
            <a:noFill/>
          </a:ln>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Financials</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9" name="Rectangle: Rounded Corners 78">
            <a:extLst>
              <a:ext uri="{FF2B5EF4-FFF2-40B4-BE49-F238E27FC236}">
                <a16:creationId xmlns:a16="http://schemas.microsoft.com/office/drawing/2014/main" id="{C6100AFA-9E0F-6FEA-9C61-786DE017B8A5}"/>
              </a:ext>
            </a:extLst>
          </p:cNvPr>
          <p:cNvSpPr/>
          <p:nvPr/>
        </p:nvSpPr>
        <p:spPr>
          <a:xfrm>
            <a:off x="9351090" y="4464840"/>
            <a:ext cx="283504" cy="123960"/>
          </a:xfrm>
          <a:prstGeom prst="roundRect">
            <a:avLst/>
          </a:prstGeom>
          <a:solidFill>
            <a:srgbClr val="BF9000"/>
          </a:solidFill>
          <a:ln>
            <a:noFill/>
          </a:ln>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ROE</a:t>
            </a:r>
            <a:endParaRPr kumimoji="0" lang="en-US" sz="7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0" name="Rectangle: Rounded Corners 79">
            <a:extLst>
              <a:ext uri="{FF2B5EF4-FFF2-40B4-BE49-F238E27FC236}">
                <a16:creationId xmlns:a16="http://schemas.microsoft.com/office/drawing/2014/main" id="{BA0FC542-D9F7-C316-EAC7-8B5BC485968D}"/>
              </a:ext>
            </a:extLst>
          </p:cNvPr>
          <p:cNvSpPr/>
          <p:nvPr/>
        </p:nvSpPr>
        <p:spPr>
          <a:xfrm>
            <a:off x="8908499" y="4652200"/>
            <a:ext cx="757872" cy="193555"/>
          </a:xfrm>
          <a:prstGeom prst="roundRect">
            <a:avLst/>
          </a:prstGeom>
          <a:solidFill>
            <a:srgbClr val="BF9000"/>
          </a:solidFill>
          <a:ln>
            <a:noFill/>
          </a:ln>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Apps Scheduler</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1" name="TextBox 152">
            <a:extLst>
              <a:ext uri="{FF2B5EF4-FFF2-40B4-BE49-F238E27FC236}">
                <a16:creationId xmlns:a16="http://schemas.microsoft.com/office/drawing/2014/main" id="{2214E4F4-AEE9-543D-7911-F383029F4671}"/>
              </a:ext>
            </a:extLst>
          </p:cNvPr>
          <p:cNvSpPr txBox="1"/>
          <p:nvPr/>
        </p:nvSpPr>
        <p:spPr>
          <a:xfrm>
            <a:off x="8122654" y="4150010"/>
            <a:ext cx="1632650" cy="138499"/>
          </a:xfrm>
          <a:prstGeom prst="rect">
            <a:avLst/>
          </a:prstGeom>
          <a:solidFill>
            <a:schemeClr val="bg1"/>
          </a:solidFill>
          <a:ln>
            <a:solidFill>
              <a:schemeClr val="bg1"/>
            </a:solidFill>
          </a:ln>
        </p:spPr>
        <p:txBody>
          <a:bodyPr wrap="square" lIns="36000" tIns="0" rIns="0" bIns="0" rtlCol="0" anchor="ctr">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Arial" panose="020B0604020202020204" pitchFamily="34" charset="0"/>
              </a:rPr>
              <a:t>EI Partner Services &amp; Systems</a:t>
            </a:r>
          </a:p>
        </p:txBody>
      </p:sp>
      <p:grpSp>
        <p:nvGrpSpPr>
          <p:cNvPr id="82" name="Group 81">
            <a:extLst>
              <a:ext uri="{FF2B5EF4-FFF2-40B4-BE49-F238E27FC236}">
                <a16:creationId xmlns:a16="http://schemas.microsoft.com/office/drawing/2014/main" id="{48B71320-C37F-C0A5-678F-3AC1E9657F54}"/>
              </a:ext>
            </a:extLst>
          </p:cNvPr>
          <p:cNvGrpSpPr>
            <a:grpSpLocks noChangeAspect="1"/>
          </p:cNvGrpSpPr>
          <p:nvPr/>
        </p:nvGrpSpPr>
        <p:grpSpPr>
          <a:xfrm>
            <a:off x="10404650" y="4070864"/>
            <a:ext cx="212663" cy="153473"/>
            <a:chOff x="2577832" y="3724408"/>
            <a:chExt cx="124278" cy="153473"/>
          </a:xfrm>
        </p:grpSpPr>
        <p:sp>
          <p:nvSpPr>
            <p:cNvPr id="83" name="Rectangle 82">
              <a:extLst>
                <a:ext uri="{FF2B5EF4-FFF2-40B4-BE49-F238E27FC236}">
                  <a16:creationId xmlns:a16="http://schemas.microsoft.com/office/drawing/2014/main" id="{A1AE5B2D-4E58-AC8C-0A00-5180D6FB2BF2}"/>
                </a:ext>
              </a:extLst>
            </p:cNvPr>
            <p:cNvSpPr/>
            <p:nvPr/>
          </p:nvSpPr>
          <p:spPr>
            <a:xfrm>
              <a:off x="2577832" y="3724408"/>
              <a:ext cx="124278" cy="153473"/>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84" name="Rectangle 83">
              <a:extLst>
                <a:ext uri="{FF2B5EF4-FFF2-40B4-BE49-F238E27FC236}">
                  <a16:creationId xmlns:a16="http://schemas.microsoft.com/office/drawing/2014/main" id="{9CF7190D-D41A-C86E-8A4B-7FA0E36767AA}"/>
                </a:ext>
              </a:extLst>
            </p:cNvPr>
            <p:cNvSpPr/>
            <p:nvPr/>
          </p:nvSpPr>
          <p:spPr>
            <a:xfrm>
              <a:off x="2577832" y="3777859"/>
              <a:ext cx="124278" cy="46571"/>
            </a:xfrm>
            <a:prstGeom prst="rect">
              <a:avLst/>
            </a:prstGeom>
            <a:solidFill>
              <a:srgbClr val="BF9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85" name="Rectangle 84">
              <a:extLst>
                <a:ext uri="{FF2B5EF4-FFF2-40B4-BE49-F238E27FC236}">
                  <a16:creationId xmlns:a16="http://schemas.microsoft.com/office/drawing/2014/main" id="{84A836F3-A44D-BC56-7F17-5A0F2AE1A5CC}"/>
                </a:ext>
              </a:extLst>
            </p:cNvPr>
            <p:cNvSpPr/>
            <p:nvPr/>
          </p:nvSpPr>
          <p:spPr>
            <a:xfrm>
              <a:off x="2577832" y="3831310"/>
              <a:ext cx="124278" cy="46571"/>
            </a:xfrm>
            <a:prstGeom prst="rect">
              <a:avLst/>
            </a:prstGeom>
            <a:solidFill>
              <a:srgbClr val="BF9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nvGrpSpPr>
            <p:cNvPr id="86" name="Group 85">
              <a:extLst>
                <a:ext uri="{FF2B5EF4-FFF2-40B4-BE49-F238E27FC236}">
                  <a16:creationId xmlns:a16="http://schemas.microsoft.com/office/drawing/2014/main" id="{518B2B8E-29C3-81DA-F915-0ACE9F821403}"/>
                </a:ext>
              </a:extLst>
            </p:cNvPr>
            <p:cNvGrpSpPr/>
            <p:nvPr/>
          </p:nvGrpSpPr>
          <p:grpSpPr>
            <a:xfrm>
              <a:off x="2577832" y="3724408"/>
              <a:ext cx="124278" cy="46571"/>
              <a:chOff x="2577832" y="3724408"/>
              <a:chExt cx="124278" cy="46571"/>
            </a:xfrm>
          </p:grpSpPr>
          <p:sp>
            <p:nvSpPr>
              <p:cNvPr id="87" name="Rectangle 86">
                <a:extLst>
                  <a:ext uri="{FF2B5EF4-FFF2-40B4-BE49-F238E27FC236}">
                    <a16:creationId xmlns:a16="http://schemas.microsoft.com/office/drawing/2014/main" id="{83C3D059-7421-40F7-543D-FE19E643E6B9}"/>
                  </a:ext>
                </a:extLst>
              </p:cNvPr>
              <p:cNvSpPr/>
              <p:nvPr/>
            </p:nvSpPr>
            <p:spPr>
              <a:xfrm>
                <a:off x="2577832" y="3724408"/>
                <a:ext cx="124278" cy="46571"/>
              </a:xfrm>
              <a:prstGeom prst="rect">
                <a:avLst/>
              </a:prstGeom>
              <a:solidFill>
                <a:srgbClr val="BF9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88" name="Oval 87">
                <a:extLst>
                  <a:ext uri="{FF2B5EF4-FFF2-40B4-BE49-F238E27FC236}">
                    <a16:creationId xmlns:a16="http://schemas.microsoft.com/office/drawing/2014/main" id="{05630D8E-8DC0-1F24-B607-5E17878E454F}"/>
                  </a:ext>
                </a:extLst>
              </p:cNvPr>
              <p:cNvSpPr/>
              <p:nvPr/>
            </p:nvSpPr>
            <p:spPr>
              <a:xfrm>
                <a:off x="2591483" y="3736025"/>
                <a:ext cx="22374" cy="22374"/>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grpSp>
      <p:sp>
        <p:nvSpPr>
          <p:cNvPr id="89" name="Rectangle: Rounded Corners 88">
            <a:extLst>
              <a:ext uri="{FF2B5EF4-FFF2-40B4-BE49-F238E27FC236}">
                <a16:creationId xmlns:a16="http://schemas.microsoft.com/office/drawing/2014/main" id="{C4249C28-75DD-F9D8-AA70-5B9BF3DE091C}"/>
              </a:ext>
            </a:extLst>
          </p:cNvPr>
          <p:cNvSpPr/>
          <p:nvPr/>
        </p:nvSpPr>
        <p:spPr>
          <a:xfrm>
            <a:off x="8184254" y="4288593"/>
            <a:ext cx="1376753" cy="123959"/>
          </a:xfrm>
          <a:prstGeom prst="roundRect">
            <a:avLst/>
          </a:prstGeom>
          <a:solidFill>
            <a:srgbClr val="BF9000"/>
          </a:solidFill>
          <a:ln>
            <a:noFill/>
          </a:ln>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ADMS (RFR + Appeals </a:t>
            </a: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Lvl</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 1)</a:t>
            </a:r>
          </a:p>
        </p:txBody>
      </p:sp>
      <p:grpSp>
        <p:nvGrpSpPr>
          <p:cNvPr id="90" name="Group 89">
            <a:extLst>
              <a:ext uri="{FF2B5EF4-FFF2-40B4-BE49-F238E27FC236}">
                <a16:creationId xmlns:a16="http://schemas.microsoft.com/office/drawing/2014/main" id="{FF16B301-6AAB-6C70-14D7-536323A1F2F5}"/>
              </a:ext>
            </a:extLst>
          </p:cNvPr>
          <p:cNvGrpSpPr/>
          <p:nvPr/>
        </p:nvGrpSpPr>
        <p:grpSpPr>
          <a:xfrm>
            <a:off x="1152000" y="925926"/>
            <a:ext cx="5004000" cy="2021319"/>
            <a:chOff x="1619999" y="570680"/>
            <a:chExt cx="5004000" cy="2021319"/>
          </a:xfrm>
        </p:grpSpPr>
        <p:sp>
          <p:nvSpPr>
            <p:cNvPr id="91" name="Rectangle 90">
              <a:extLst>
                <a:ext uri="{FF2B5EF4-FFF2-40B4-BE49-F238E27FC236}">
                  <a16:creationId xmlns:a16="http://schemas.microsoft.com/office/drawing/2014/main" id="{27057E23-12A2-CEAD-FA5A-64219592B9E0}"/>
                </a:ext>
              </a:extLst>
            </p:cNvPr>
            <p:cNvSpPr/>
            <p:nvPr/>
          </p:nvSpPr>
          <p:spPr>
            <a:xfrm>
              <a:off x="3132000" y="850421"/>
              <a:ext cx="1368000" cy="211507"/>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Service Canada Lab</a:t>
              </a:r>
            </a:p>
          </p:txBody>
        </p:sp>
        <p:sp>
          <p:nvSpPr>
            <p:cNvPr id="92" name="Rectangle 91">
              <a:extLst>
                <a:ext uri="{FF2B5EF4-FFF2-40B4-BE49-F238E27FC236}">
                  <a16:creationId xmlns:a16="http://schemas.microsoft.com/office/drawing/2014/main" id="{494CD363-C7BB-CE83-0005-B7A661E27475}"/>
                </a:ext>
              </a:extLst>
            </p:cNvPr>
            <p:cNvSpPr/>
            <p:nvPr/>
          </p:nvSpPr>
          <p:spPr>
            <a:xfrm>
              <a:off x="3132000" y="1080000"/>
              <a:ext cx="1368000" cy="185542"/>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Virtual Assistant</a:t>
              </a:r>
            </a:p>
          </p:txBody>
        </p:sp>
        <p:sp>
          <p:nvSpPr>
            <p:cNvPr id="93" name="Rectangle: Rounded Corners 92">
              <a:extLst>
                <a:ext uri="{FF2B5EF4-FFF2-40B4-BE49-F238E27FC236}">
                  <a16:creationId xmlns:a16="http://schemas.microsoft.com/office/drawing/2014/main" id="{F4AEE390-7FD0-F519-E9EA-D069E0EE034F}"/>
                </a:ext>
              </a:extLst>
            </p:cNvPr>
            <p:cNvSpPr/>
            <p:nvPr/>
          </p:nvSpPr>
          <p:spPr>
            <a:xfrm>
              <a:off x="1619999" y="689676"/>
              <a:ext cx="5004000" cy="1902323"/>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94" name="TextBox 93">
              <a:extLst>
                <a:ext uri="{FF2B5EF4-FFF2-40B4-BE49-F238E27FC236}">
                  <a16:creationId xmlns:a16="http://schemas.microsoft.com/office/drawing/2014/main" id="{FDA9D75F-57BB-E68C-8947-4C8D7B48149C}"/>
                </a:ext>
              </a:extLst>
            </p:cNvPr>
            <p:cNvSpPr txBox="1"/>
            <p:nvPr/>
          </p:nvSpPr>
          <p:spPr>
            <a:xfrm>
              <a:off x="1692000" y="570680"/>
              <a:ext cx="2054015" cy="123111"/>
            </a:xfrm>
            <a:prstGeom prst="rect">
              <a:avLst/>
            </a:prstGeom>
            <a:solidFill>
              <a:schemeClr val="bg1"/>
            </a:solidFill>
            <a:ln>
              <a:noFill/>
            </a:ln>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prstClr val="black"/>
                  </a:solidFill>
                  <a:effectLst/>
                  <a:uLnTx/>
                  <a:uFillTx/>
                  <a:ea typeface="+mn-ea"/>
                  <a:cs typeface="Arial" panose="020B0604020202020204" pitchFamily="34" charset="0"/>
                </a:rPr>
                <a:t>Service Canada Client and Partner UX Platform</a:t>
              </a:r>
            </a:p>
          </p:txBody>
        </p:sp>
        <p:sp>
          <p:nvSpPr>
            <p:cNvPr id="95" name="Rectangle: Rounded Corners 94">
              <a:extLst>
                <a:ext uri="{FF2B5EF4-FFF2-40B4-BE49-F238E27FC236}">
                  <a16:creationId xmlns:a16="http://schemas.microsoft.com/office/drawing/2014/main" id="{68B6DB55-A91F-8ECD-9AF6-BC82FF99B397}"/>
                </a:ext>
              </a:extLst>
            </p:cNvPr>
            <p:cNvSpPr/>
            <p:nvPr/>
          </p:nvSpPr>
          <p:spPr>
            <a:xfrm>
              <a:off x="1656000" y="755999"/>
              <a:ext cx="3672000" cy="1800000"/>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96" name="Rectangle 15">
              <a:extLst>
                <a:ext uri="{FF2B5EF4-FFF2-40B4-BE49-F238E27FC236}">
                  <a16:creationId xmlns:a16="http://schemas.microsoft.com/office/drawing/2014/main" id="{65EDFEDA-A140-0D13-12CD-DB327FEDBFA1}"/>
                </a:ext>
              </a:extLst>
            </p:cNvPr>
            <p:cNvSpPr>
              <a:spLocks noChangeArrowheads="1"/>
            </p:cNvSpPr>
            <p:nvPr/>
          </p:nvSpPr>
          <p:spPr bwMode="auto">
            <a:xfrm>
              <a:off x="1727999" y="660534"/>
              <a:ext cx="781981" cy="153888"/>
            </a:xfrm>
            <a:prstGeom prst="rect">
              <a:avLst/>
            </a:prstGeom>
            <a:solidFill>
              <a:srgbClr val="FFFFFF"/>
            </a:solidFill>
            <a:ln w="9525">
              <a:no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C0C0C"/>
                  </a:solidFill>
                  <a:effectLst/>
                  <a:uLnTx/>
                  <a:uFillTx/>
                  <a:ea typeface="+mn-ea"/>
                  <a:cs typeface="Arial" panose="020B0604020202020204" pitchFamily="34" charset="0"/>
                </a:rPr>
                <a:t>Online Channel</a:t>
              </a:r>
              <a:endParaRPr kumimoji="0" lang="en-US" altLang="en-US" sz="800" b="1"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97" name="Rectangle 96">
              <a:extLst>
                <a:ext uri="{FF2B5EF4-FFF2-40B4-BE49-F238E27FC236}">
                  <a16:creationId xmlns:a16="http://schemas.microsoft.com/office/drawing/2014/main" id="{4BB8D577-CB64-5B61-E61A-01E18ACA1A2D}"/>
                </a:ext>
              </a:extLst>
            </p:cNvPr>
            <p:cNvSpPr/>
            <p:nvPr/>
          </p:nvSpPr>
          <p:spPr>
            <a:xfrm>
              <a:off x="1728000" y="864000"/>
              <a:ext cx="1368000" cy="18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Web Content</a:t>
              </a:r>
            </a:p>
          </p:txBody>
        </p:sp>
        <p:grpSp>
          <p:nvGrpSpPr>
            <p:cNvPr id="98" name="Group 97">
              <a:extLst>
                <a:ext uri="{FF2B5EF4-FFF2-40B4-BE49-F238E27FC236}">
                  <a16:creationId xmlns:a16="http://schemas.microsoft.com/office/drawing/2014/main" id="{877C79D2-45A2-C851-BAAD-943D956899FA}"/>
                </a:ext>
              </a:extLst>
            </p:cNvPr>
            <p:cNvGrpSpPr/>
            <p:nvPr/>
          </p:nvGrpSpPr>
          <p:grpSpPr>
            <a:xfrm>
              <a:off x="5364000" y="751234"/>
              <a:ext cx="1224000" cy="868765"/>
              <a:chOff x="5364000" y="751234"/>
              <a:chExt cx="1224000" cy="868765"/>
            </a:xfrm>
          </p:grpSpPr>
          <p:sp>
            <p:nvSpPr>
              <p:cNvPr id="123" name="Rectangle 122">
                <a:extLst>
                  <a:ext uri="{FF2B5EF4-FFF2-40B4-BE49-F238E27FC236}">
                    <a16:creationId xmlns:a16="http://schemas.microsoft.com/office/drawing/2014/main" id="{82297C36-CF0C-0B57-F85D-A870F06AAD85}"/>
                  </a:ext>
                </a:extLst>
              </p:cNvPr>
              <p:cNvSpPr/>
              <p:nvPr/>
            </p:nvSpPr>
            <p:spPr>
              <a:xfrm>
                <a:off x="5436000" y="864000"/>
                <a:ext cx="1080000" cy="144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ea typeface="+mn-ea"/>
                    <a:cs typeface="Arial" panose="020B0604020202020204" pitchFamily="34" charset="0"/>
                  </a:rPr>
                  <a:t>Call Routing &amp; Call Back</a:t>
                </a:r>
              </a:p>
            </p:txBody>
          </p:sp>
          <p:sp>
            <p:nvSpPr>
              <p:cNvPr id="124" name="Rectangle 123">
                <a:extLst>
                  <a:ext uri="{FF2B5EF4-FFF2-40B4-BE49-F238E27FC236}">
                    <a16:creationId xmlns:a16="http://schemas.microsoft.com/office/drawing/2014/main" id="{C8A4FFA2-53EF-A2AC-720D-E36F3BAA7ED4}"/>
                  </a:ext>
                </a:extLst>
              </p:cNvPr>
              <p:cNvSpPr/>
              <p:nvPr/>
            </p:nvSpPr>
            <p:spPr>
              <a:xfrm>
                <a:off x="5431390" y="1044000"/>
                <a:ext cx="1080000" cy="144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IVR &amp; CTI</a:t>
                </a:r>
              </a:p>
            </p:txBody>
          </p:sp>
          <p:sp>
            <p:nvSpPr>
              <p:cNvPr id="125" name="Rectangle 124">
                <a:extLst>
                  <a:ext uri="{FF2B5EF4-FFF2-40B4-BE49-F238E27FC236}">
                    <a16:creationId xmlns:a16="http://schemas.microsoft.com/office/drawing/2014/main" id="{91158C67-4953-0B89-C9D1-77D284365EF9}"/>
                  </a:ext>
                </a:extLst>
              </p:cNvPr>
              <p:cNvSpPr/>
              <p:nvPr/>
            </p:nvSpPr>
            <p:spPr>
              <a:xfrm>
                <a:off x="5431390" y="1224000"/>
                <a:ext cx="1080000" cy="144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ea typeface="+mn-ea"/>
                    <a:cs typeface="Arial" panose="020B0604020202020204" pitchFamily="34" charset="0"/>
                  </a:rPr>
                  <a:t>Workforce </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Management</a:t>
                </a:r>
                <a:endParaRPr kumimoji="0" lang="en-CA" sz="7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26" name="Rectangle 125">
                <a:extLst>
                  <a:ext uri="{FF2B5EF4-FFF2-40B4-BE49-F238E27FC236}">
                    <a16:creationId xmlns:a16="http://schemas.microsoft.com/office/drawing/2014/main" id="{EAF58614-DA8B-7A2C-CC74-A2366FDE4718}"/>
                  </a:ext>
                </a:extLst>
              </p:cNvPr>
              <p:cNvSpPr/>
              <p:nvPr/>
            </p:nvSpPr>
            <p:spPr>
              <a:xfrm>
                <a:off x="5423369" y="1404000"/>
                <a:ext cx="1080000" cy="144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Call Routing</a:t>
                </a:r>
              </a:p>
            </p:txBody>
          </p:sp>
          <p:sp>
            <p:nvSpPr>
              <p:cNvPr id="127" name="Rectangle: Rounded Corners 126">
                <a:extLst>
                  <a:ext uri="{FF2B5EF4-FFF2-40B4-BE49-F238E27FC236}">
                    <a16:creationId xmlns:a16="http://schemas.microsoft.com/office/drawing/2014/main" id="{16D27315-3C92-8063-890F-3542CFA485D0}"/>
                  </a:ext>
                </a:extLst>
              </p:cNvPr>
              <p:cNvSpPr/>
              <p:nvPr/>
            </p:nvSpPr>
            <p:spPr>
              <a:xfrm>
                <a:off x="5364000" y="755999"/>
                <a:ext cx="1224000" cy="864000"/>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28" name="Rectangle 15">
                <a:extLst>
                  <a:ext uri="{FF2B5EF4-FFF2-40B4-BE49-F238E27FC236}">
                    <a16:creationId xmlns:a16="http://schemas.microsoft.com/office/drawing/2014/main" id="{BE75A310-23F8-CC44-ABA0-CBE670608EE2}"/>
                  </a:ext>
                </a:extLst>
              </p:cNvPr>
              <p:cNvSpPr>
                <a:spLocks noChangeArrowheads="1"/>
              </p:cNvSpPr>
              <p:nvPr/>
            </p:nvSpPr>
            <p:spPr bwMode="auto">
              <a:xfrm>
                <a:off x="5436000" y="751234"/>
                <a:ext cx="792000" cy="91947"/>
              </a:xfrm>
              <a:prstGeom prst="rect">
                <a:avLst/>
              </a:prstGeom>
              <a:solidFill>
                <a:srgbClr val="FFFFFF"/>
              </a:solidFill>
              <a:ln w="9525">
                <a:no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Contact Centre</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sp>
          <p:nvSpPr>
            <p:cNvPr id="99" name="Rectangle: Rounded Corners 98">
              <a:extLst>
                <a:ext uri="{FF2B5EF4-FFF2-40B4-BE49-F238E27FC236}">
                  <a16:creationId xmlns:a16="http://schemas.microsoft.com/office/drawing/2014/main" id="{886F132D-DE73-75B8-17C3-6854E1DA45CE}"/>
                </a:ext>
              </a:extLst>
            </p:cNvPr>
            <p:cNvSpPr/>
            <p:nvPr/>
          </p:nvSpPr>
          <p:spPr>
            <a:xfrm>
              <a:off x="1692000" y="1332000"/>
              <a:ext cx="3600000" cy="1188000"/>
            </a:xfrm>
            <a:prstGeom prst="roundRect">
              <a:avLst>
                <a:gd name="adj" fmla="val 4617"/>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00" name="Rectangle 15">
              <a:extLst>
                <a:ext uri="{FF2B5EF4-FFF2-40B4-BE49-F238E27FC236}">
                  <a16:creationId xmlns:a16="http://schemas.microsoft.com/office/drawing/2014/main" id="{BD9F3AD6-12C7-4C20-95BD-73D684E8057A}"/>
                </a:ext>
              </a:extLst>
            </p:cNvPr>
            <p:cNvSpPr>
              <a:spLocks noChangeArrowheads="1"/>
            </p:cNvSpPr>
            <p:nvPr/>
          </p:nvSpPr>
          <p:spPr bwMode="auto">
            <a:xfrm>
              <a:off x="1764000" y="1238430"/>
              <a:ext cx="828000" cy="197168"/>
            </a:xfrm>
            <a:prstGeom prst="rect">
              <a:avLst/>
            </a:prstGeom>
            <a:solidFill>
              <a:srgbClr val="FFFFFF"/>
            </a:solidFill>
            <a:ln w="9525">
              <a:no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C0C0C"/>
                  </a:solidFill>
                  <a:effectLst/>
                  <a:uLnTx/>
                  <a:uFillTx/>
                  <a:ea typeface="+mn-ea"/>
                  <a:cs typeface="Arial" panose="020B0604020202020204" pitchFamily="34" charset="0"/>
                </a:rPr>
                <a:t>Digital Centre</a:t>
              </a:r>
              <a:endParaRPr kumimoji="0" lang="en-US" altLang="en-US" sz="800" b="1"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01" name="Rectangle: Rounded Corners 100">
              <a:extLst>
                <a:ext uri="{FF2B5EF4-FFF2-40B4-BE49-F238E27FC236}">
                  <a16:creationId xmlns:a16="http://schemas.microsoft.com/office/drawing/2014/main" id="{8AEE27BF-1AF5-DDF4-36E1-49EBF627C1A8}"/>
                </a:ext>
              </a:extLst>
            </p:cNvPr>
            <p:cNvSpPr/>
            <p:nvPr/>
          </p:nvSpPr>
          <p:spPr>
            <a:xfrm>
              <a:off x="1728000" y="1692000"/>
              <a:ext cx="2736000" cy="792000"/>
            </a:xfrm>
            <a:prstGeom prst="roundRect">
              <a:avLst>
                <a:gd name="adj" fmla="val 6583"/>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02" name="Rectangle: Rounded Corners 101">
              <a:extLst>
                <a:ext uri="{FF2B5EF4-FFF2-40B4-BE49-F238E27FC236}">
                  <a16:creationId xmlns:a16="http://schemas.microsoft.com/office/drawing/2014/main" id="{F5D22C92-3250-2FEC-F8EF-473D41FDAD37}"/>
                </a:ext>
              </a:extLst>
            </p:cNvPr>
            <p:cNvSpPr/>
            <p:nvPr/>
          </p:nvSpPr>
          <p:spPr>
            <a:xfrm>
              <a:off x="1764000" y="2088000"/>
              <a:ext cx="2592000" cy="360000"/>
            </a:xfrm>
            <a:prstGeom prst="roundRect">
              <a:avLst>
                <a:gd name="adj" fmla="val 12661"/>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03" name="Rectangle 102">
              <a:extLst>
                <a:ext uri="{FF2B5EF4-FFF2-40B4-BE49-F238E27FC236}">
                  <a16:creationId xmlns:a16="http://schemas.microsoft.com/office/drawing/2014/main" id="{5FCE6CF5-1C74-7F70-F09A-906DE32607A4}"/>
                </a:ext>
              </a:extLst>
            </p:cNvPr>
            <p:cNvSpPr/>
            <p:nvPr/>
          </p:nvSpPr>
          <p:spPr>
            <a:xfrm>
              <a:off x="3293776" y="1759209"/>
              <a:ext cx="1098224" cy="117193"/>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Message Centre</a:t>
              </a:r>
            </a:p>
          </p:txBody>
        </p:sp>
        <p:sp>
          <p:nvSpPr>
            <p:cNvPr id="104" name="Rectangle 15">
              <a:extLst>
                <a:ext uri="{FF2B5EF4-FFF2-40B4-BE49-F238E27FC236}">
                  <a16:creationId xmlns:a16="http://schemas.microsoft.com/office/drawing/2014/main" id="{44AE6DD0-D1EB-7AF6-3823-5C3E2EA8CFEA}"/>
                </a:ext>
              </a:extLst>
            </p:cNvPr>
            <p:cNvSpPr>
              <a:spLocks noChangeArrowheads="1"/>
            </p:cNvSpPr>
            <p:nvPr/>
          </p:nvSpPr>
          <p:spPr bwMode="auto">
            <a:xfrm>
              <a:off x="1836000" y="1990520"/>
              <a:ext cx="1692000" cy="197168"/>
            </a:xfrm>
            <a:prstGeom prst="rect">
              <a:avLst/>
            </a:prstGeom>
            <a:solidFill>
              <a:srgbClr val="FFFFFF"/>
            </a:solidFill>
            <a:ln w="9525">
              <a:no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Benefit Delivery Client Engagement</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05" name="Rectangle 104">
              <a:extLst>
                <a:ext uri="{FF2B5EF4-FFF2-40B4-BE49-F238E27FC236}">
                  <a16:creationId xmlns:a16="http://schemas.microsoft.com/office/drawing/2014/main" id="{3A0A3E25-B3A7-6D8C-5A08-3839D9BC7105}"/>
                </a:ext>
              </a:extLst>
            </p:cNvPr>
            <p:cNvSpPr/>
            <p:nvPr/>
          </p:nvSpPr>
          <p:spPr>
            <a:xfrm>
              <a:off x="1791291" y="1893490"/>
              <a:ext cx="720000" cy="13267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Life Events</a:t>
              </a:r>
            </a:p>
          </p:txBody>
        </p:sp>
        <p:sp>
          <p:nvSpPr>
            <p:cNvPr id="106" name="Rectangle 105">
              <a:extLst>
                <a:ext uri="{FF2B5EF4-FFF2-40B4-BE49-F238E27FC236}">
                  <a16:creationId xmlns:a16="http://schemas.microsoft.com/office/drawing/2014/main" id="{9C89ACAA-E2F0-CE9E-30B6-231CD1FA15DC}"/>
                </a:ext>
              </a:extLst>
            </p:cNvPr>
            <p:cNvSpPr/>
            <p:nvPr/>
          </p:nvSpPr>
          <p:spPr>
            <a:xfrm>
              <a:off x="2537776" y="1908000"/>
              <a:ext cx="720000" cy="108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Tell-Us-Once</a:t>
              </a:r>
            </a:p>
          </p:txBody>
        </p:sp>
        <p:sp>
          <p:nvSpPr>
            <p:cNvPr id="107" name="Rectangle 106">
              <a:extLst>
                <a:ext uri="{FF2B5EF4-FFF2-40B4-BE49-F238E27FC236}">
                  <a16:creationId xmlns:a16="http://schemas.microsoft.com/office/drawing/2014/main" id="{14877856-9E3F-CE6D-2025-88945154BE1A}"/>
                </a:ext>
              </a:extLst>
            </p:cNvPr>
            <p:cNvSpPr/>
            <p:nvPr/>
          </p:nvSpPr>
          <p:spPr>
            <a:xfrm>
              <a:off x="3293776" y="1908000"/>
              <a:ext cx="1080000" cy="108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Rep-a-Client</a:t>
              </a:r>
            </a:p>
          </p:txBody>
        </p:sp>
        <p:sp>
          <p:nvSpPr>
            <p:cNvPr id="108" name="Rectangle 107">
              <a:extLst>
                <a:ext uri="{FF2B5EF4-FFF2-40B4-BE49-F238E27FC236}">
                  <a16:creationId xmlns:a16="http://schemas.microsoft.com/office/drawing/2014/main" id="{662A6E71-1DF7-3A28-4E3F-7295F9A5EE54}"/>
                </a:ext>
              </a:extLst>
            </p:cNvPr>
            <p:cNvSpPr/>
            <p:nvPr/>
          </p:nvSpPr>
          <p:spPr>
            <a:xfrm>
              <a:off x="1836000" y="2157800"/>
              <a:ext cx="1188000" cy="218598"/>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EI Benefits Management</a:t>
              </a:r>
            </a:p>
          </p:txBody>
        </p:sp>
        <p:sp>
          <p:nvSpPr>
            <p:cNvPr id="109" name="Rectangle 108">
              <a:extLst>
                <a:ext uri="{FF2B5EF4-FFF2-40B4-BE49-F238E27FC236}">
                  <a16:creationId xmlns:a16="http://schemas.microsoft.com/office/drawing/2014/main" id="{E77BEAF5-A185-8C20-EA86-02E7F7E1D299}"/>
                </a:ext>
              </a:extLst>
            </p:cNvPr>
            <p:cNvSpPr/>
            <p:nvPr/>
          </p:nvSpPr>
          <p:spPr>
            <a:xfrm>
              <a:off x="3060000" y="2160000"/>
              <a:ext cx="1224000" cy="216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Pensions Benefit Management</a:t>
              </a:r>
            </a:p>
          </p:txBody>
        </p:sp>
        <p:grpSp>
          <p:nvGrpSpPr>
            <p:cNvPr id="110" name="Group 109">
              <a:extLst>
                <a:ext uri="{FF2B5EF4-FFF2-40B4-BE49-F238E27FC236}">
                  <a16:creationId xmlns:a16="http://schemas.microsoft.com/office/drawing/2014/main" id="{736858EE-E979-7FD0-7F56-33CE138CC14A}"/>
                </a:ext>
              </a:extLst>
            </p:cNvPr>
            <p:cNvGrpSpPr/>
            <p:nvPr/>
          </p:nvGrpSpPr>
          <p:grpSpPr>
            <a:xfrm>
              <a:off x="4536000" y="1692000"/>
              <a:ext cx="684000" cy="756000"/>
              <a:chOff x="4536000" y="1692000"/>
              <a:chExt cx="684000" cy="756000"/>
            </a:xfrm>
          </p:grpSpPr>
          <p:sp>
            <p:nvSpPr>
              <p:cNvPr id="121" name="Rectangle 120">
                <a:extLst>
                  <a:ext uri="{FF2B5EF4-FFF2-40B4-BE49-F238E27FC236}">
                    <a16:creationId xmlns:a16="http://schemas.microsoft.com/office/drawing/2014/main" id="{5A337441-E050-14A7-7B8A-D1ACF3E3D08A}"/>
                  </a:ext>
                </a:extLst>
              </p:cNvPr>
              <p:cNvSpPr/>
              <p:nvPr/>
            </p:nvSpPr>
            <p:spPr>
              <a:xfrm>
                <a:off x="4536000" y="1692000"/>
                <a:ext cx="684000" cy="360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ea typeface="+mn-ea"/>
                    <a:cs typeface="Arial" panose="020B0604020202020204" pitchFamily="34" charset="0"/>
                  </a:rPr>
                  <a:t>Service Canada Business Account</a:t>
                </a:r>
              </a:p>
            </p:txBody>
          </p:sp>
          <p:sp>
            <p:nvSpPr>
              <p:cNvPr id="122" name="Rectangle 121">
                <a:extLst>
                  <a:ext uri="{FF2B5EF4-FFF2-40B4-BE49-F238E27FC236}">
                    <a16:creationId xmlns:a16="http://schemas.microsoft.com/office/drawing/2014/main" id="{5DBD7661-7E98-7A08-C674-462CD97933DF}"/>
                  </a:ext>
                </a:extLst>
              </p:cNvPr>
              <p:cNvSpPr/>
              <p:nvPr/>
            </p:nvSpPr>
            <p:spPr>
              <a:xfrm>
                <a:off x="4536000" y="2088000"/>
                <a:ext cx="684000" cy="360000"/>
              </a:xfrm>
              <a:prstGeom prst="rect">
                <a:avLst/>
              </a:prstGeom>
              <a:solidFill>
                <a:schemeClr val="bg1">
                  <a:lumMod val="65000"/>
                </a:schemeClr>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Partner Portal</a:t>
                </a:r>
              </a:p>
            </p:txBody>
          </p:sp>
        </p:grpSp>
        <p:sp>
          <p:nvSpPr>
            <p:cNvPr id="111" name="Rectangle 15">
              <a:extLst>
                <a:ext uri="{FF2B5EF4-FFF2-40B4-BE49-F238E27FC236}">
                  <a16:creationId xmlns:a16="http://schemas.microsoft.com/office/drawing/2014/main" id="{017D29F1-F929-AED8-CACF-9D4C8875C879}"/>
                </a:ext>
              </a:extLst>
            </p:cNvPr>
            <p:cNvSpPr>
              <a:spLocks noChangeArrowheads="1"/>
            </p:cNvSpPr>
            <p:nvPr/>
          </p:nvSpPr>
          <p:spPr bwMode="auto">
            <a:xfrm>
              <a:off x="1800000" y="1590471"/>
              <a:ext cx="1224000" cy="197168"/>
            </a:xfrm>
            <a:prstGeom prst="rect">
              <a:avLst/>
            </a:prstGeom>
            <a:solidFill>
              <a:srgbClr val="FFFFFF"/>
            </a:solidFill>
            <a:ln w="9525">
              <a:noFill/>
              <a:miter lim="800000"/>
              <a:headEnd/>
              <a:tailEnd/>
            </a:ln>
          </p:spPr>
          <p:txBody>
            <a:bodyPr vert="horz" wrap="square" lIns="36000" tIns="45720" rIns="3600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Service Canada Account</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nvGrpSpPr>
            <p:cNvPr id="112" name="Group 111">
              <a:extLst>
                <a:ext uri="{FF2B5EF4-FFF2-40B4-BE49-F238E27FC236}">
                  <a16:creationId xmlns:a16="http://schemas.microsoft.com/office/drawing/2014/main" id="{0AE6BC91-A89D-53D9-F1F7-9061FB8EDEAC}"/>
                </a:ext>
              </a:extLst>
            </p:cNvPr>
            <p:cNvGrpSpPr/>
            <p:nvPr/>
          </p:nvGrpSpPr>
          <p:grpSpPr>
            <a:xfrm>
              <a:off x="5364000" y="1728000"/>
              <a:ext cx="1224000" cy="828000"/>
              <a:chOff x="5364000" y="1728000"/>
              <a:chExt cx="1224000" cy="828000"/>
            </a:xfrm>
          </p:grpSpPr>
          <p:sp>
            <p:nvSpPr>
              <p:cNvPr id="117" name="Rectangle 116">
                <a:extLst>
                  <a:ext uri="{FF2B5EF4-FFF2-40B4-BE49-F238E27FC236}">
                    <a16:creationId xmlns:a16="http://schemas.microsoft.com/office/drawing/2014/main" id="{09015A22-5C3B-153E-191B-17ED94930875}"/>
                  </a:ext>
                </a:extLst>
              </p:cNvPr>
              <p:cNvSpPr/>
              <p:nvPr/>
            </p:nvSpPr>
            <p:spPr>
              <a:xfrm>
                <a:off x="5436000" y="1836000"/>
                <a:ext cx="1080000" cy="144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Feedback Capture</a:t>
                </a:r>
              </a:p>
            </p:txBody>
          </p:sp>
          <p:sp>
            <p:nvSpPr>
              <p:cNvPr id="118" name="Rectangle 117">
                <a:extLst>
                  <a:ext uri="{FF2B5EF4-FFF2-40B4-BE49-F238E27FC236}">
                    <a16:creationId xmlns:a16="http://schemas.microsoft.com/office/drawing/2014/main" id="{02158CB3-EE1E-61B4-6D9A-A5287CF24ECB}"/>
                  </a:ext>
                </a:extLst>
              </p:cNvPr>
              <p:cNvSpPr/>
              <p:nvPr/>
            </p:nvSpPr>
            <p:spPr>
              <a:xfrm>
                <a:off x="5436000" y="2016000"/>
                <a:ext cx="1080000" cy="144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Feedback Analysis</a:t>
                </a:r>
              </a:p>
            </p:txBody>
          </p:sp>
          <p:sp>
            <p:nvSpPr>
              <p:cNvPr id="119" name="Rectangle: Rounded Corners 118">
                <a:extLst>
                  <a:ext uri="{FF2B5EF4-FFF2-40B4-BE49-F238E27FC236}">
                    <a16:creationId xmlns:a16="http://schemas.microsoft.com/office/drawing/2014/main" id="{7FA40E5B-EBED-462E-FB23-87E44B88C814}"/>
                  </a:ext>
                </a:extLst>
              </p:cNvPr>
              <p:cNvSpPr/>
              <p:nvPr/>
            </p:nvSpPr>
            <p:spPr>
              <a:xfrm>
                <a:off x="5364000" y="1728000"/>
                <a:ext cx="1224000" cy="828000"/>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20" name="Cylinder 119">
                <a:extLst>
                  <a:ext uri="{FF2B5EF4-FFF2-40B4-BE49-F238E27FC236}">
                    <a16:creationId xmlns:a16="http://schemas.microsoft.com/office/drawing/2014/main" id="{31E984B8-571A-9D5E-4009-6DBFC7A9E79B}"/>
                  </a:ext>
                </a:extLst>
              </p:cNvPr>
              <p:cNvSpPr/>
              <p:nvPr/>
            </p:nvSpPr>
            <p:spPr>
              <a:xfrm>
                <a:off x="5436000" y="2250000"/>
                <a:ext cx="1080000" cy="216000"/>
              </a:xfrm>
              <a:prstGeom prst="can">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Feedback Repository</a:t>
                </a:r>
              </a:p>
            </p:txBody>
          </p:sp>
        </p:grpSp>
        <p:sp>
          <p:nvSpPr>
            <p:cNvPr id="113" name="Rectangle 15">
              <a:extLst>
                <a:ext uri="{FF2B5EF4-FFF2-40B4-BE49-F238E27FC236}">
                  <a16:creationId xmlns:a16="http://schemas.microsoft.com/office/drawing/2014/main" id="{8F64141C-4AD9-B8C3-A52D-43F6FD70962D}"/>
                </a:ext>
              </a:extLst>
            </p:cNvPr>
            <p:cNvSpPr>
              <a:spLocks noChangeArrowheads="1"/>
            </p:cNvSpPr>
            <p:nvPr/>
          </p:nvSpPr>
          <p:spPr bwMode="auto">
            <a:xfrm>
              <a:off x="5436000" y="1634068"/>
              <a:ext cx="1134000" cy="197168"/>
            </a:xfrm>
            <a:prstGeom prst="rect">
              <a:avLst/>
            </a:prstGeom>
            <a:solidFill>
              <a:srgbClr val="FFFFFF"/>
            </a:solidFill>
            <a:ln w="9525">
              <a:noFill/>
              <a:miter lim="800000"/>
              <a:headEnd/>
              <a:tailEnd/>
            </a:ln>
          </p:spPr>
          <p:txBody>
            <a:bodyPr vert="horz" wrap="square" lIns="36000" tIns="45720" rIns="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Feedback Management</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14" name="Rectangle 113">
              <a:extLst>
                <a:ext uri="{FF2B5EF4-FFF2-40B4-BE49-F238E27FC236}">
                  <a16:creationId xmlns:a16="http://schemas.microsoft.com/office/drawing/2014/main" id="{83BD0D3B-CE47-D4F6-1263-7FDD37F4669D}"/>
                </a:ext>
              </a:extLst>
            </p:cNvPr>
            <p:cNvSpPr/>
            <p:nvPr/>
          </p:nvSpPr>
          <p:spPr>
            <a:xfrm>
              <a:off x="1728000" y="1080000"/>
              <a:ext cx="1368000" cy="18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Web Analytics</a:t>
              </a:r>
            </a:p>
          </p:txBody>
        </p:sp>
        <p:sp>
          <p:nvSpPr>
            <p:cNvPr id="115" name="Rectangle 114">
              <a:extLst>
                <a:ext uri="{FF2B5EF4-FFF2-40B4-BE49-F238E27FC236}">
                  <a16:creationId xmlns:a16="http://schemas.microsoft.com/office/drawing/2014/main" id="{1CFA06DB-4525-42BB-6EBC-EFACF1722CE3}"/>
                </a:ext>
              </a:extLst>
            </p:cNvPr>
            <p:cNvSpPr/>
            <p:nvPr/>
          </p:nvSpPr>
          <p:spPr>
            <a:xfrm>
              <a:off x="1803834" y="1763999"/>
              <a:ext cx="1453942" cy="119329"/>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Client Account Overview</a:t>
              </a:r>
            </a:p>
          </p:txBody>
        </p:sp>
        <p:sp>
          <p:nvSpPr>
            <p:cNvPr id="116" name="Rectangle 115">
              <a:extLst>
                <a:ext uri="{FF2B5EF4-FFF2-40B4-BE49-F238E27FC236}">
                  <a16:creationId xmlns:a16="http://schemas.microsoft.com/office/drawing/2014/main" id="{E1D1AF06-6E01-E184-6A03-EC4CBA9FD933}"/>
                </a:ext>
              </a:extLst>
            </p:cNvPr>
            <p:cNvSpPr/>
            <p:nvPr/>
          </p:nvSpPr>
          <p:spPr>
            <a:xfrm>
              <a:off x="1764000" y="1440000"/>
              <a:ext cx="3456000" cy="180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Unauthenticated Digital Service</a:t>
              </a:r>
            </a:p>
          </p:txBody>
        </p:sp>
      </p:grpSp>
      <p:grpSp>
        <p:nvGrpSpPr>
          <p:cNvPr id="130" name="Group 129">
            <a:extLst>
              <a:ext uri="{FF2B5EF4-FFF2-40B4-BE49-F238E27FC236}">
                <a16:creationId xmlns:a16="http://schemas.microsoft.com/office/drawing/2014/main" id="{672D134D-4C3A-BA73-05FE-9BD66E948DEC}"/>
              </a:ext>
            </a:extLst>
          </p:cNvPr>
          <p:cNvGrpSpPr/>
          <p:nvPr/>
        </p:nvGrpSpPr>
        <p:grpSpPr>
          <a:xfrm>
            <a:off x="3469477" y="5691341"/>
            <a:ext cx="2592000" cy="562918"/>
            <a:chOff x="3240000" y="5521082"/>
            <a:chExt cx="2592000" cy="562918"/>
          </a:xfrm>
        </p:grpSpPr>
        <p:sp>
          <p:nvSpPr>
            <p:cNvPr id="133" name="Rectangle: Rounded Corners 132">
              <a:extLst>
                <a:ext uri="{FF2B5EF4-FFF2-40B4-BE49-F238E27FC236}">
                  <a16:creationId xmlns:a16="http://schemas.microsoft.com/office/drawing/2014/main" id="{A7937F33-818C-93CA-D6F1-6E37E3BBA63F}"/>
                </a:ext>
              </a:extLst>
            </p:cNvPr>
            <p:cNvSpPr/>
            <p:nvPr/>
          </p:nvSpPr>
          <p:spPr>
            <a:xfrm>
              <a:off x="3240000" y="5616000"/>
              <a:ext cx="2592000" cy="468000"/>
            </a:xfrm>
            <a:prstGeom prst="roundRect">
              <a:avLst>
                <a:gd name="adj" fmla="val 18174"/>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34" name="TextBox 133">
              <a:extLst>
                <a:ext uri="{FF2B5EF4-FFF2-40B4-BE49-F238E27FC236}">
                  <a16:creationId xmlns:a16="http://schemas.microsoft.com/office/drawing/2014/main" id="{FA9F4AB9-D584-3922-681F-5BA766A951A5}"/>
                </a:ext>
              </a:extLst>
            </p:cNvPr>
            <p:cNvSpPr txBox="1"/>
            <p:nvPr/>
          </p:nvSpPr>
          <p:spPr>
            <a:xfrm>
              <a:off x="3344658" y="5521082"/>
              <a:ext cx="1783997" cy="153888"/>
            </a:xfrm>
            <a:prstGeom prst="rect">
              <a:avLst/>
            </a:prstGeom>
            <a:solidFill>
              <a:schemeClr val="bg1"/>
            </a:solidFill>
            <a:ln>
              <a:noFill/>
            </a:ln>
          </p:spPr>
          <p:txBody>
            <a:bodyPr wrap="square" lIns="36000" tIns="0" rIns="36000" bIns="0" rtlCol="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prstClr val="black"/>
                  </a:solidFill>
                  <a:effectLst/>
                  <a:uLnTx/>
                  <a:uFillTx/>
                  <a:ea typeface="+mn-ea"/>
                  <a:cs typeface="+mn-cs"/>
                </a:rPr>
                <a:t>Trusted Digital Repository (TDR)</a:t>
              </a:r>
            </a:p>
          </p:txBody>
        </p:sp>
        <p:sp>
          <p:nvSpPr>
            <p:cNvPr id="135" name="Rectangle 134">
              <a:extLst>
                <a:ext uri="{FF2B5EF4-FFF2-40B4-BE49-F238E27FC236}">
                  <a16:creationId xmlns:a16="http://schemas.microsoft.com/office/drawing/2014/main" id="{18A8D3B2-CE2E-1A19-69F9-CBF412953797}"/>
                </a:ext>
              </a:extLst>
            </p:cNvPr>
            <p:cNvSpPr/>
            <p:nvPr/>
          </p:nvSpPr>
          <p:spPr>
            <a:xfrm>
              <a:off x="3312000" y="5724000"/>
              <a:ext cx="792000" cy="288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Scanning</a:t>
              </a:r>
            </a:p>
          </p:txBody>
        </p:sp>
        <p:sp>
          <p:nvSpPr>
            <p:cNvPr id="136" name="Rectangle 135">
              <a:extLst>
                <a:ext uri="{FF2B5EF4-FFF2-40B4-BE49-F238E27FC236}">
                  <a16:creationId xmlns:a16="http://schemas.microsoft.com/office/drawing/2014/main" id="{77F61001-B67E-784E-69EE-8D7129F123FA}"/>
                </a:ext>
              </a:extLst>
            </p:cNvPr>
            <p:cNvSpPr/>
            <p:nvPr/>
          </p:nvSpPr>
          <p:spPr>
            <a:xfrm>
              <a:off x="4140000" y="5746639"/>
              <a:ext cx="792000" cy="252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Management</a:t>
              </a:r>
            </a:p>
          </p:txBody>
        </p:sp>
        <p:sp>
          <p:nvSpPr>
            <p:cNvPr id="137" name="Cylinder 136">
              <a:extLst>
                <a:ext uri="{FF2B5EF4-FFF2-40B4-BE49-F238E27FC236}">
                  <a16:creationId xmlns:a16="http://schemas.microsoft.com/office/drawing/2014/main" id="{25F70877-2505-E397-446A-1D1CA1A51B5F}"/>
                </a:ext>
              </a:extLst>
            </p:cNvPr>
            <p:cNvSpPr/>
            <p:nvPr/>
          </p:nvSpPr>
          <p:spPr>
            <a:xfrm>
              <a:off x="4968000" y="5724000"/>
              <a:ext cx="792000" cy="288000"/>
            </a:xfrm>
            <a:prstGeom prst="can">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Repository</a:t>
              </a:r>
            </a:p>
          </p:txBody>
        </p:sp>
      </p:grpSp>
      <p:sp>
        <p:nvSpPr>
          <p:cNvPr id="138" name="Rectangle: Rounded Corners 137">
            <a:extLst>
              <a:ext uri="{FF2B5EF4-FFF2-40B4-BE49-F238E27FC236}">
                <a16:creationId xmlns:a16="http://schemas.microsoft.com/office/drawing/2014/main" id="{71C0DCE6-88BA-B13F-A8EC-BA912D1C2F97}"/>
              </a:ext>
            </a:extLst>
          </p:cNvPr>
          <p:cNvSpPr/>
          <p:nvPr/>
        </p:nvSpPr>
        <p:spPr>
          <a:xfrm>
            <a:off x="2149981" y="5772899"/>
            <a:ext cx="1080000" cy="2880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ESDC User Directory</a:t>
            </a:r>
          </a:p>
        </p:txBody>
      </p:sp>
      <p:grpSp>
        <p:nvGrpSpPr>
          <p:cNvPr id="139" name="Group 138">
            <a:extLst>
              <a:ext uri="{FF2B5EF4-FFF2-40B4-BE49-F238E27FC236}">
                <a16:creationId xmlns:a16="http://schemas.microsoft.com/office/drawing/2014/main" id="{7F5B2AE6-A643-4A62-86B2-DAE32A867A63}"/>
              </a:ext>
            </a:extLst>
          </p:cNvPr>
          <p:cNvGrpSpPr/>
          <p:nvPr/>
        </p:nvGrpSpPr>
        <p:grpSpPr>
          <a:xfrm>
            <a:off x="391254" y="4416023"/>
            <a:ext cx="538233" cy="692780"/>
            <a:chOff x="95616" y="3714246"/>
            <a:chExt cx="538233" cy="692780"/>
          </a:xfrm>
        </p:grpSpPr>
        <p:pic>
          <p:nvPicPr>
            <p:cNvPr id="140" name="Picture 139" descr="Icon&#10;&#10;Description automatically generated">
              <a:extLst>
                <a:ext uri="{FF2B5EF4-FFF2-40B4-BE49-F238E27FC236}">
                  <a16:creationId xmlns:a16="http://schemas.microsoft.com/office/drawing/2014/main" id="{67F63247-87EC-A9E5-8954-E0856B105C3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04692" y="3714246"/>
              <a:ext cx="320080" cy="313923"/>
            </a:xfrm>
            <a:prstGeom prst="rect">
              <a:avLst/>
            </a:prstGeom>
          </p:spPr>
        </p:pic>
        <p:sp>
          <p:nvSpPr>
            <p:cNvPr id="141" name="TextBox 140">
              <a:extLst>
                <a:ext uri="{FF2B5EF4-FFF2-40B4-BE49-F238E27FC236}">
                  <a16:creationId xmlns:a16="http://schemas.microsoft.com/office/drawing/2014/main" id="{52A0BD30-E709-E5C7-C105-BD7C7FE3834F}"/>
                </a:ext>
              </a:extLst>
            </p:cNvPr>
            <p:cNvSpPr txBox="1"/>
            <p:nvPr/>
          </p:nvSpPr>
          <p:spPr>
            <a:xfrm>
              <a:off x="95616" y="4037694"/>
              <a:ext cx="538233" cy="369332"/>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Arial" panose="020B0604020202020204" pitchFamily="34" charset="0"/>
                </a:rPr>
                <a:t>ESDC Users</a:t>
              </a:r>
            </a:p>
          </p:txBody>
        </p:sp>
      </p:grpSp>
      <p:grpSp>
        <p:nvGrpSpPr>
          <p:cNvPr id="142" name="Group 141">
            <a:extLst>
              <a:ext uri="{FF2B5EF4-FFF2-40B4-BE49-F238E27FC236}">
                <a16:creationId xmlns:a16="http://schemas.microsoft.com/office/drawing/2014/main" id="{52C60F34-6099-14D1-EE30-F61A35B3A3E3}"/>
              </a:ext>
            </a:extLst>
          </p:cNvPr>
          <p:cNvGrpSpPr/>
          <p:nvPr/>
        </p:nvGrpSpPr>
        <p:grpSpPr>
          <a:xfrm>
            <a:off x="357878" y="5720082"/>
            <a:ext cx="648000" cy="831279"/>
            <a:chOff x="253857" y="5227258"/>
            <a:chExt cx="648000" cy="831279"/>
          </a:xfrm>
        </p:grpSpPr>
        <p:pic>
          <p:nvPicPr>
            <p:cNvPr id="143" name="Picture 142" descr="Icon&#10;&#10;Description automatically generated">
              <a:extLst>
                <a:ext uri="{FF2B5EF4-FFF2-40B4-BE49-F238E27FC236}">
                  <a16:creationId xmlns:a16="http://schemas.microsoft.com/office/drawing/2014/main" id="{464FC974-043F-8BFF-58F3-061C14ABF6D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17817" y="5227258"/>
              <a:ext cx="320080" cy="313923"/>
            </a:xfrm>
            <a:prstGeom prst="rect">
              <a:avLst/>
            </a:prstGeom>
          </p:spPr>
        </p:pic>
        <p:sp>
          <p:nvSpPr>
            <p:cNvPr id="144" name="TextBox 143">
              <a:extLst>
                <a:ext uri="{FF2B5EF4-FFF2-40B4-BE49-F238E27FC236}">
                  <a16:creationId xmlns:a16="http://schemas.microsoft.com/office/drawing/2014/main" id="{38A26FBC-A32A-0998-EEA2-634C005E3B8C}"/>
                </a:ext>
              </a:extLst>
            </p:cNvPr>
            <p:cNvSpPr txBox="1"/>
            <p:nvPr/>
          </p:nvSpPr>
          <p:spPr>
            <a:xfrm>
              <a:off x="253857" y="5550706"/>
              <a:ext cx="648000" cy="507831"/>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Arial" panose="020B0604020202020204" pitchFamily="34" charset="0"/>
                </a:rPr>
                <a:t>ESDC Analytics Users</a:t>
              </a:r>
            </a:p>
          </p:txBody>
        </p:sp>
      </p:grpSp>
      <p:cxnSp>
        <p:nvCxnSpPr>
          <p:cNvPr id="145" name="Straight Arrow Connector 144">
            <a:extLst>
              <a:ext uri="{FF2B5EF4-FFF2-40B4-BE49-F238E27FC236}">
                <a16:creationId xmlns:a16="http://schemas.microsoft.com/office/drawing/2014/main" id="{E96819DE-7BF9-7444-568D-70001274ED52}"/>
              </a:ext>
            </a:extLst>
          </p:cNvPr>
          <p:cNvCxnSpPr>
            <a:cxnSpLocks/>
          </p:cNvCxnSpPr>
          <p:nvPr/>
        </p:nvCxnSpPr>
        <p:spPr>
          <a:xfrm flipH="1">
            <a:off x="655867" y="4398377"/>
            <a:ext cx="252000" cy="0"/>
          </a:xfrm>
          <a:prstGeom prst="straightConnector1">
            <a:avLst/>
          </a:prstGeom>
          <a:ln w="952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146" name="Group 145">
            <a:extLst>
              <a:ext uri="{FF2B5EF4-FFF2-40B4-BE49-F238E27FC236}">
                <a16:creationId xmlns:a16="http://schemas.microsoft.com/office/drawing/2014/main" id="{C6A58764-3246-9D2C-73D3-F660531B0DF2}"/>
              </a:ext>
            </a:extLst>
          </p:cNvPr>
          <p:cNvGrpSpPr/>
          <p:nvPr/>
        </p:nvGrpSpPr>
        <p:grpSpPr>
          <a:xfrm>
            <a:off x="2413567" y="494727"/>
            <a:ext cx="807071" cy="337959"/>
            <a:chOff x="-255090" y="1448224"/>
            <a:chExt cx="807071" cy="337959"/>
          </a:xfrm>
        </p:grpSpPr>
        <p:pic>
          <p:nvPicPr>
            <p:cNvPr id="147" name="Picture 146" descr="Icon&#10;&#10;Description automatically generated">
              <a:extLst>
                <a:ext uri="{FF2B5EF4-FFF2-40B4-BE49-F238E27FC236}">
                  <a16:creationId xmlns:a16="http://schemas.microsoft.com/office/drawing/2014/main" id="{F12300B2-CD38-4EA6-F25C-6EAC259036F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31901" y="1448224"/>
              <a:ext cx="320080" cy="313923"/>
            </a:xfrm>
            <a:prstGeom prst="rect">
              <a:avLst/>
            </a:prstGeom>
          </p:spPr>
        </p:pic>
        <p:sp>
          <p:nvSpPr>
            <p:cNvPr id="148" name="TextBox 147">
              <a:extLst>
                <a:ext uri="{FF2B5EF4-FFF2-40B4-BE49-F238E27FC236}">
                  <a16:creationId xmlns:a16="http://schemas.microsoft.com/office/drawing/2014/main" id="{38EC0F16-CFA7-B960-2002-3AA43966DC6B}"/>
                </a:ext>
              </a:extLst>
            </p:cNvPr>
            <p:cNvSpPr txBox="1"/>
            <p:nvPr/>
          </p:nvSpPr>
          <p:spPr>
            <a:xfrm>
              <a:off x="-255090" y="1555351"/>
              <a:ext cx="537327" cy="230832"/>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Clients</a:t>
              </a:r>
            </a:p>
          </p:txBody>
        </p:sp>
      </p:grpSp>
      <p:cxnSp>
        <p:nvCxnSpPr>
          <p:cNvPr id="149" name="Straight Arrow Connector 148">
            <a:extLst>
              <a:ext uri="{FF2B5EF4-FFF2-40B4-BE49-F238E27FC236}">
                <a16:creationId xmlns:a16="http://schemas.microsoft.com/office/drawing/2014/main" id="{68B2ECB1-1C09-9EA2-19DE-4E5DD9C968E0}"/>
              </a:ext>
            </a:extLst>
          </p:cNvPr>
          <p:cNvCxnSpPr>
            <a:cxnSpLocks/>
          </p:cNvCxnSpPr>
          <p:nvPr/>
        </p:nvCxnSpPr>
        <p:spPr>
          <a:xfrm flipH="1" flipV="1">
            <a:off x="3017929" y="771340"/>
            <a:ext cx="6296" cy="167584"/>
          </a:xfrm>
          <a:prstGeom prst="straightConnector1">
            <a:avLst/>
          </a:prstGeom>
          <a:ln w="952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28E1F885-B9EE-6EC4-5196-988A223C84EA}"/>
              </a:ext>
            </a:extLst>
          </p:cNvPr>
          <p:cNvCxnSpPr>
            <a:cxnSpLocks/>
          </p:cNvCxnSpPr>
          <p:nvPr/>
        </p:nvCxnSpPr>
        <p:spPr>
          <a:xfrm>
            <a:off x="4539597" y="2939760"/>
            <a:ext cx="0" cy="25200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3EE5A7F2-143F-C02D-8504-2C44CEDB5FA7}"/>
              </a:ext>
            </a:extLst>
          </p:cNvPr>
          <p:cNvCxnSpPr>
            <a:cxnSpLocks/>
          </p:cNvCxnSpPr>
          <p:nvPr/>
        </p:nvCxnSpPr>
        <p:spPr>
          <a:xfrm>
            <a:off x="2627044" y="5498895"/>
            <a:ext cx="0" cy="254811"/>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F6BBAB13-C8E7-5396-0198-3F9C931BF4C3}"/>
              </a:ext>
            </a:extLst>
          </p:cNvPr>
          <p:cNvCxnSpPr>
            <a:cxnSpLocks/>
            <a:stCxn id="33" idx="2"/>
            <a:endCxn id="138" idx="1"/>
          </p:cNvCxnSpPr>
          <p:nvPr/>
        </p:nvCxnSpPr>
        <p:spPr>
          <a:xfrm rot="16200000" flipH="1">
            <a:off x="1498164" y="5265081"/>
            <a:ext cx="521653" cy="781981"/>
          </a:xfrm>
          <a:prstGeom prst="bentConnector2">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C7AF8C02-276D-9A4F-D126-09D8C2E439DC}"/>
              </a:ext>
            </a:extLst>
          </p:cNvPr>
          <p:cNvCxnSpPr>
            <a:cxnSpLocks/>
          </p:cNvCxnSpPr>
          <p:nvPr/>
        </p:nvCxnSpPr>
        <p:spPr>
          <a:xfrm flipH="1">
            <a:off x="6163613" y="3603070"/>
            <a:ext cx="25200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E52B4AF1-977B-8E1F-5A11-F33510EF23C7}"/>
              </a:ext>
            </a:extLst>
          </p:cNvPr>
          <p:cNvGrpSpPr/>
          <p:nvPr/>
        </p:nvGrpSpPr>
        <p:grpSpPr>
          <a:xfrm>
            <a:off x="6471991" y="4270774"/>
            <a:ext cx="916495" cy="1353615"/>
            <a:chOff x="3023998" y="3818610"/>
            <a:chExt cx="1011614" cy="998655"/>
          </a:xfrm>
        </p:grpSpPr>
        <p:sp>
          <p:nvSpPr>
            <p:cNvPr id="156" name="Rectangle 155">
              <a:extLst>
                <a:ext uri="{FF2B5EF4-FFF2-40B4-BE49-F238E27FC236}">
                  <a16:creationId xmlns:a16="http://schemas.microsoft.com/office/drawing/2014/main" id="{67F0AA7B-1F33-B933-31DB-E0AD7D9C8681}"/>
                </a:ext>
              </a:extLst>
            </p:cNvPr>
            <p:cNvSpPr/>
            <p:nvPr/>
          </p:nvSpPr>
          <p:spPr>
            <a:xfrm>
              <a:off x="3096000" y="4561797"/>
              <a:ext cx="908859" cy="222017"/>
            </a:xfrm>
            <a:prstGeom prst="rect">
              <a:avLst/>
            </a:prstGeom>
            <a:solidFill>
              <a:srgbClr val="A6A6A6"/>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cs typeface="Arial"/>
                </a:rPr>
                <a:t>Replication/</a:t>
              </a:r>
            </a:p>
            <a:p>
              <a:pPr marL="0" marR="0" lvl="0" indent="0" algn="ctr" defTabSz="457200" rtl="0" eaLnBrk="1" fontAlgn="auto" latinLnBrk="0" hangingPunct="1">
                <a:lnSpc>
                  <a:spcPct val="100000"/>
                </a:lnSpc>
                <a:spcBef>
                  <a:spcPts val="0"/>
                </a:spcBef>
                <a:spcAft>
                  <a:spcPts val="0"/>
                </a:spcAft>
                <a:buClrTx/>
                <a:buSzTx/>
                <a:buFontTx/>
                <a:buNone/>
                <a:tabLst/>
                <a:defRPr/>
              </a:pPr>
              <a:r>
                <a:rPr lang="en-CA" sz="800">
                  <a:solidFill>
                    <a:prstClr val="black"/>
                  </a:solidFill>
                  <a:cs typeface="Arial"/>
                </a:rPr>
                <a:t>S</a:t>
              </a:r>
              <a:r>
                <a:rPr kumimoji="0" lang="en-CA" sz="800" b="0" i="0" u="none" strike="noStrike" kern="1200" cap="none" spc="0" normalizeH="0" baseline="0" noProof="0" err="1">
                  <a:ln>
                    <a:noFill/>
                  </a:ln>
                  <a:solidFill>
                    <a:prstClr val="black"/>
                  </a:solidFill>
                  <a:effectLst/>
                  <a:uLnTx/>
                  <a:uFillTx/>
                  <a:cs typeface="Arial"/>
                </a:rPr>
                <a:t>ync</a:t>
              </a:r>
              <a:endParaRPr kumimoji="0" lang="en-US" sz="800" b="0" i="0" u="none" strike="noStrike" kern="1200" cap="none" spc="0" normalizeH="0" baseline="0" noProof="0">
                <a:ln>
                  <a:noFill/>
                </a:ln>
                <a:solidFill>
                  <a:prstClr val="black"/>
                </a:solidFill>
                <a:effectLst/>
                <a:uLnTx/>
                <a:uFillTx/>
                <a:cs typeface="Arial"/>
              </a:endParaRPr>
            </a:p>
          </p:txBody>
        </p:sp>
        <p:sp>
          <p:nvSpPr>
            <p:cNvPr id="157" name="Rectangle 156">
              <a:extLst>
                <a:ext uri="{FF2B5EF4-FFF2-40B4-BE49-F238E27FC236}">
                  <a16:creationId xmlns:a16="http://schemas.microsoft.com/office/drawing/2014/main" id="{A1C95586-D845-95F6-6075-507D46C88BAA}"/>
                </a:ext>
              </a:extLst>
            </p:cNvPr>
            <p:cNvSpPr/>
            <p:nvPr/>
          </p:nvSpPr>
          <p:spPr>
            <a:xfrm>
              <a:off x="3096000" y="4139688"/>
              <a:ext cx="908859" cy="180000"/>
            </a:xfrm>
            <a:prstGeom prst="rect">
              <a:avLst/>
            </a:prstGeom>
            <a:solidFill>
              <a:srgbClr val="A6A6A6"/>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CDC</a:t>
              </a:r>
            </a:p>
          </p:txBody>
        </p:sp>
        <p:sp>
          <p:nvSpPr>
            <p:cNvPr id="158" name="Rectangle 157">
              <a:extLst>
                <a:ext uri="{FF2B5EF4-FFF2-40B4-BE49-F238E27FC236}">
                  <a16:creationId xmlns:a16="http://schemas.microsoft.com/office/drawing/2014/main" id="{0ED531E9-B40E-BBC7-5DC2-B34CA59671AF}"/>
                </a:ext>
              </a:extLst>
            </p:cNvPr>
            <p:cNvSpPr/>
            <p:nvPr/>
          </p:nvSpPr>
          <p:spPr>
            <a:xfrm>
              <a:off x="3096000" y="4355693"/>
              <a:ext cx="908859" cy="180000"/>
            </a:xfrm>
            <a:prstGeom prst="rect">
              <a:avLst/>
            </a:prstGeom>
            <a:solidFill>
              <a:srgbClr val="A6A6A6"/>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a:rPr>
                <a:t>ETL/ELT</a:t>
              </a:r>
              <a:endParaRPr kumimoji="0" lang="en-US" sz="800" b="0" i="0" u="none" strike="noStrike" kern="1200" cap="none" spc="0" normalizeH="0" baseline="0" noProof="0">
                <a:ln>
                  <a:noFill/>
                </a:ln>
                <a:solidFill>
                  <a:prstClr val="black"/>
                </a:solidFill>
                <a:effectLst/>
                <a:uLnTx/>
                <a:uFillTx/>
                <a:ea typeface="+mn-ea"/>
                <a:cs typeface="Arial"/>
              </a:endParaRPr>
            </a:p>
          </p:txBody>
        </p:sp>
        <p:sp>
          <p:nvSpPr>
            <p:cNvPr id="159" name="Freeform 10">
              <a:extLst>
                <a:ext uri="{FF2B5EF4-FFF2-40B4-BE49-F238E27FC236}">
                  <a16:creationId xmlns:a16="http://schemas.microsoft.com/office/drawing/2014/main" id="{9B8AEE07-92C7-AC94-2DC3-38E3167BDB8A}"/>
                </a:ext>
              </a:extLst>
            </p:cNvPr>
            <p:cNvSpPr>
              <a:spLocks/>
            </p:cNvSpPr>
            <p:nvPr/>
          </p:nvSpPr>
          <p:spPr bwMode="auto">
            <a:xfrm>
              <a:off x="3023998" y="3989265"/>
              <a:ext cx="1011614" cy="828000"/>
            </a:xfrm>
            <a:prstGeom prst="roundRect">
              <a:avLst>
                <a:gd name="adj" fmla="val 9905"/>
              </a:avLst>
            </a:prstGeom>
            <a:noFill/>
            <a:ln w="12700" cap="rnd">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ea typeface="+mn-ea"/>
                <a:cs typeface="+mn-cs"/>
              </a:endParaRPr>
            </a:p>
          </p:txBody>
        </p:sp>
        <p:sp>
          <p:nvSpPr>
            <p:cNvPr id="160" name="TextBox 159">
              <a:extLst>
                <a:ext uri="{FF2B5EF4-FFF2-40B4-BE49-F238E27FC236}">
                  <a16:creationId xmlns:a16="http://schemas.microsoft.com/office/drawing/2014/main" id="{97190788-F721-9B61-7957-1BBF39C1A2E3}"/>
                </a:ext>
              </a:extLst>
            </p:cNvPr>
            <p:cNvSpPr txBox="1"/>
            <p:nvPr/>
          </p:nvSpPr>
          <p:spPr>
            <a:xfrm>
              <a:off x="3088075" y="3818610"/>
              <a:ext cx="632908" cy="272482"/>
            </a:xfrm>
            <a:prstGeom prst="rect">
              <a:avLst/>
            </a:prstGeom>
            <a:solidFill>
              <a:schemeClr val="bg1"/>
            </a:solidFill>
            <a:ln>
              <a:noFill/>
            </a:ln>
          </p:spPr>
          <p:txBody>
            <a:bodyPr wrap="square" lIns="0" tIns="0" rIns="0" bIns="0" rtlCol="0" anchor="ctr">
              <a:spAutoFit/>
            </a:bodyPr>
            <a:lstStyle>
              <a:defPPr>
                <a:defRPr lang="en-US"/>
              </a:defPPr>
              <a:lvl1pPr defTabSz="342900">
                <a:defRPr sz="800">
                  <a:solidFill>
                    <a:srgbClr val="6895BE"/>
                  </a:solidFill>
                  <a:latin typeface="Arial" panose="020B0604020202020204" pitchFamily="34" charset="0"/>
                  <a:cs typeface="Arial" panose="020B0604020202020204" pitchFamily="34" charset="0"/>
                </a:defRPr>
              </a:lvl1p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black"/>
                  </a:solidFill>
                  <a:effectLst/>
                  <a:uLnTx/>
                  <a:uFillTx/>
                  <a:latin typeface="+mn-lt"/>
                  <a:ea typeface="+mn-ea"/>
                  <a:cs typeface="Arial" panose="020B0604020202020204" pitchFamily="34" charset="0"/>
                </a:rPr>
                <a:t>ESDC Data Integration Services</a:t>
              </a:r>
            </a:p>
          </p:txBody>
        </p:sp>
      </p:grpSp>
      <p:sp>
        <p:nvSpPr>
          <p:cNvPr id="161" name="Freeform 10">
            <a:extLst>
              <a:ext uri="{FF2B5EF4-FFF2-40B4-BE49-F238E27FC236}">
                <a16:creationId xmlns:a16="http://schemas.microsoft.com/office/drawing/2014/main" id="{E913E22A-E0AF-092B-FD80-AF98CD9A8E5C}"/>
              </a:ext>
            </a:extLst>
          </p:cNvPr>
          <p:cNvSpPr>
            <a:spLocks/>
          </p:cNvSpPr>
          <p:nvPr/>
        </p:nvSpPr>
        <p:spPr bwMode="auto">
          <a:xfrm>
            <a:off x="6408000" y="2403871"/>
            <a:ext cx="1046445" cy="3318102"/>
          </a:xfrm>
          <a:prstGeom prst="roundRect">
            <a:avLst>
              <a:gd name="adj" fmla="val 5918"/>
            </a:avLst>
          </a:prstGeom>
          <a:noFill/>
          <a:ln w="12700" cap="rnd">
            <a:solidFill>
              <a:srgbClr val="6895BE"/>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ea typeface="+mn-ea"/>
              <a:cs typeface="+mn-cs"/>
            </a:endParaRPr>
          </a:p>
        </p:txBody>
      </p:sp>
      <p:sp>
        <p:nvSpPr>
          <p:cNvPr id="162" name="TextBox 161">
            <a:extLst>
              <a:ext uri="{FF2B5EF4-FFF2-40B4-BE49-F238E27FC236}">
                <a16:creationId xmlns:a16="http://schemas.microsoft.com/office/drawing/2014/main" id="{689D339F-C950-D42D-0EC6-13E2B8618391}"/>
              </a:ext>
            </a:extLst>
          </p:cNvPr>
          <p:cNvSpPr txBox="1"/>
          <p:nvPr/>
        </p:nvSpPr>
        <p:spPr>
          <a:xfrm>
            <a:off x="6612323" y="2282461"/>
            <a:ext cx="804961" cy="553999"/>
          </a:xfrm>
          <a:prstGeom prst="rect">
            <a:avLst/>
          </a:prstGeom>
          <a:solidFill>
            <a:schemeClr val="bg1"/>
          </a:solidFill>
          <a:ln>
            <a:solidFill>
              <a:schemeClr val="bg1"/>
            </a:solidFill>
          </a:ln>
        </p:spPr>
        <p:txBody>
          <a:bodyPr wrap="square" lIns="36000" tIns="45720" rIns="36000" bIns="45720" rtlCol="0" anchor="ctr">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ea typeface="+mn-ea"/>
                <a:cs typeface="Arial"/>
              </a:rPr>
              <a:t>ESDC Data Exchange Platforms</a:t>
            </a:r>
            <a:endParaRPr kumimoji="0" lang="en-US" sz="1000" b="1"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nvGrpSpPr>
          <p:cNvPr id="163" name="Group 162">
            <a:extLst>
              <a:ext uri="{FF2B5EF4-FFF2-40B4-BE49-F238E27FC236}">
                <a16:creationId xmlns:a16="http://schemas.microsoft.com/office/drawing/2014/main" id="{0DE7CBD2-DB19-3A17-EFBB-76933FE29AFE}"/>
              </a:ext>
            </a:extLst>
          </p:cNvPr>
          <p:cNvGrpSpPr/>
          <p:nvPr/>
        </p:nvGrpSpPr>
        <p:grpSpPr>
          <a:xfrm>
            <a:off x="6471998" y="2812564"/>
            <a:ext cx="908912" cy="1319676"/>
            <a:chOff x="3024000" y="2562495"/>
            <a:chExt cx="1003243" cy="973619"/>
          </a:xfrm>
        </p:grpSpPr>
        <p:sp>
          <p:nvSpPr>
            <p:cNvPr id="164" name="Rectangle 163">
              <a:extLst>
                <a:ext uri="{FF2B5EF4-FFF2-40B4-BE49-F238E27FC236}">
                  <a16:creationId xmlns:a16="http://schemas.microsoft.com/office/drawing/2014/main" id="{014D4316-3C85-B381-92BD-86DE0D15104D}"/>
                </a:ext>
              </a:extLst>
            </p:cNvPr>
            <p:cNvSpPr/>
            <p:nvPr/>
          </p:nvSpPr>
          <p:spPr>
            <a:xfrm>
              <a:off x="3096000" y="3111404"/>
              <a:ext cx="908857" cy="180000"/>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a:rPr>
                <a:t>Message Broker</a:t>
              </a:r>
              <a:endParaRPr kumimoji="0" lang="en-US" sz="800" b="0" i="0" u="none" strike="noStrike" kern="1200" cap="none" spc="0" normalizeH="0" baseline="0" noProof="0">
                <a:ln>
                  <a:noFill/>
                </a:ln>
                <a:solidFill>
                  <a:prstClr val="black"/>
                </a:solidFill>
                <a:effectLst/>
                <a:uLnTx/>
                <a:uFillTx/>
                <a:ea typeface="+mn-ea"/>
                <a:cs typeface="Arial"/>
              </a:endParaRPr>
            </a:p>
          </p:txBody>
        </p:sp>
        <p:sp>
          <p:nvSpPr>
            <p:cNvPr id="165" name="Rectangle 164">
              <a:extLst>
                <a:ext uri="{FF2B5EF4-FFF2-40B4-BE49-F238E27FC236}">
                  <a16:creationId xmlns:a16="http://schemas.microsoft.com/office/drawing/2014/main" id="{A92BDADF-4754-68AD-AFC3-FF18AD01CFAF}"/>
                </a:ext>
              </a:extLst>
            </p:cNvPr>
            <p:cNvSpPr/>
            <p:nvPr/>
          </p:nvSpPr>
          <p:spPr>
            <a:xfrm>
              <a:off x="3096000" y="3327402"/>
              <a:ext cx="885781" cy="180000"/>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File Transfer</a:t>
              </a:r>
            </a:p>
          </p:txBody>
        </p:sp>
        <p:sp>
          <p:nvSpPr>
            <p:cNvPr id="166" name="Freeform 10">
              <a:extLst>
                <a:ext uri="{FF2B5EF4-FFF2-40B4-BE49-F238E27FC236}">
                  <a16:creationId xmlns:a16="http://schemas.microsoft.com/office/drawing/2014/main" id="{9F94B0ED-E927-2BA5-5DF9-F7E00C5A3CBA}"/>
                </a:ext>
              </a:extLst>
            </p:cNvPr>
            <p:cNvSpPr>
              <a:spLocks/>
            </p:cNvSpPr>
            <p:nvPr/>
          </p:nvSpPr>
          <p:spPr bwMode="auto">
            <a:xfrm>
              <a:off x="3024000" y="2708114"/>
              <a:ext cx="1003243" cy="828000"/>
            </a:xfrm>
            <a:prstGeom prst="roundRect">
              <a:avLst>
                <a:gd name="adj" fmla="val 10517"/>
              </a:avLst>
            </a:prstGeom>
            <a:noFill/>
            <a:ln w="12700" cap="rnd">
              <a:solidFill>
                <a:srgbClr val="6895BE"/>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ea typeface="+mn-ea"/>
                <a:cs typeface="+mn-cs"/>
              </a:endParaRPr>
            </a:p>
          </p:txBody>
        </p:sp>
        <p:sp>
          <p:nvSpPr>
            <p:cNvPr id="167" name="TextBox 166">
              <a:extLst>
                <a:ext uri="{FF2B5EF4-FFF2-40B4-BE49-F238E27FC236}">
                  <a16:creationId xmlns:a16="http://schemas.microsoft.com/office/drawing/2014/main" id="{5965DAB7-B68C-4916-B180-B2C0B91683EB}"/>
                </a:ext>
              </a:extLst>
            </p:cNvPr>
            <p:cNvSpPr txBox="1"/>
            <p:nvPr/>
          </p:nvSpPr>
          <p:spPr>
            <a:xfrm>
              <a:off x="3096000" y="2562495"/>
              <a:ext cx="774605" cy="271149"/>
            </a:xfrm>
            <a:prstGeom prst="rect">
              <a:avLst/>
            </a:prstGeom>
            <a:solidFill>
              <a:schemeClr val="bg1"/>
            </a:solidFill>
            <a:ln>
              <a:solidFill>
                <a:schemeClr val="bg1"/>
              </a:solidFill>
            </a:ln>
          </p:spPr>
          <p:txBody>
            <a:bodyPr wrap="square" lIns="0" tIns="0" rIns="0" bIns="0" rtlCol="0" anchor="ctr">
              <a:spAutoFit/>
            </a:bodyPr>
            <a:lstStyle>
              <a:defPPr>
                <a:defRPr lang="en-US"/>
              </a:defPPr>
              <a:lvl1pPr defTabSz="342900">
                <a:defRPr sz="800">
                  <a:solidFill>
                    <a:srgbClr val="6895BE"/>
                  </a:solidFill>
                  <a:latin typeface="Arial" panose="020B0604020202020204" pitchFamily="34" charset="0"/>
                  <a:cs typeface="Arial" panose="020B0604020202020204" pitchFamily="34" charset="0"/>
                </a:defRPr>
              </a:lvl1p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mn-lt"/>
                  <a:ea typeface="+mn-ea"/>
                  <a:cs typeface="Arial" panose="020B0604020202020204" pitchFamily="34" charset="0"/>
                </a:rPr>
                <a:t>ESDC Interoperability Platform</a:t>
              </a:r>
            </a:p>
          </p:txBody>
        </p:sp>
        <p:sp>
          <p:nvSpPr>
            <p:cNvPr id="168" name="Rectangle 167">
              <a:extLst>
                <a:ext uri="{FF2B5EF4-FFF2-40B4-BE49-F238E27FC236}">
                  <a16:creationId xmlns:a16="http://schemas.microsoft.com/office/drawing/2014/main" id="{75762DBF-53D0-E7A4-D57E-18C7B279D3A3}"/>
                </a:ext>
              </a:extLst>
            </p:cNvPr>
            <p:cNvSpPr/>
            <p:nvPr/>
          </p:nvSpPr>
          <p:spPr>
            <a:xfrm>
              <a:off x="3095999" y="2895406"/>
              <a:ext cx="908858" cy="180000"/>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a:rPr>
                <a:t>API Management</a:t>
              </a:r>
              <a:endParaRPr kumimoji="0" lang="en-US" sz="800" b="0" i="0" u="none" strike="noStrike" kern="1200" cap="none" spc="0" normalizeH="0" baseline="0" noProof="0">
                <a:ln>
                  <a:noFill/>
                </a:ln>
                <a:solidFill>
                  <a:prstClr val="black"/>
                </a:solidFill>
                <a:effectLst/>
                <a:uLnTx/>
                <a:uFillTx/>
                <a:ea typeface="+mn-ea"/>
                <a:cs typeface="Arial"/>
              </a:endParaRPr>
            </a:p>
          </p:txBody>
        </p:sp>
      </p:grpSp>
      <p:cxnSp>
        <p:nvCxnSpPr>
          <p:cNvPr id="169" name="Connector: Elbow 168">
            <a:extLst>
              <a:ext uri="{FF2B5EF4-FFF2-40B4-BE49-F238E27FC236}">
                <a16:creationId xmlns:a16="http://schemas.microsoft.com/office/drawing/2014/main" id="{A8170443-00EB-B93C-55D7-2E6065DEFA99}"/>
              </a:ext>
            </a:extLst>
          </p:cNvPr>
          <p:cNvCxnSpPr>
            <a:cxnSpLocks/>
          </p:cNvCxnSpPr>
          <p:nvPr/>
        </p:nvCxnSpPr>
        <p:spPr>
          <a:xfrm rot="16200000" flipV="1">
            <a:off x="7006347" y="5819068"/>
            <a:ext cx="399888" cy="205699"/>
          </a:xfrm>
          <a:prstGeom prst="bentConnector3">
            <a:avLst>
              <a:gd name="adj1" fmla="val 2278"/>
            </a:avLst>
          </a:prstGeom>
          <a:ln w="9525">
            <a:solidFill>
              <a:srgbClr val="A6A6A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E6C52626-ADD5-E66F-ED65-1DDDD6B6376D}"/>
              </a:ext>
            </a:extLst>
          </p:cNvPr>
          <p:cNvCxnSpPr>
            <a:cxnSpLocks/>
          </p:cNvCxnSpPr>
          <p:nvPr/>
        </p:nvCxnSpPr>
        <p:spPr>
          <a:xfrm flipH="1">
            <a:off x="6152729" y="1643655"/>
            <a:ext cx="329718"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139AD139-F46B-318B-987E-3BB022FFEEC7}"/>
              </a:ext>
            </a:extLst>
          </p:cNvPr>
          <p:cNvCxnSpPr>
            <a:cxnSpLocks/>
          </p:cNvCxnSpPr>
          <p:nvPr/>
        </p:nvCxnSpPr>
        <p:spPr>
          <a:xfrm flipH="1">
            <a:off x="6156000" y="3603070"/>
            <a:ext cx="252000" cy="0"/>
          </a:xfrm>
          <a:prstGeom prst="straightConnector1">
            <a:avLst/>
          </a:prstGeom>
          <a:ln w="952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30ABED0A-CE5F-3ED0-F224-760B4CC97870}"/>
              </a:ext>
            </a:extLst>
          </p:cNvPr>
          <p:cNvCxnSpPr>
            <a:cxnSpLocks/>
          </p:cNvCxnSpPr>
          <p:nvPr/>
        </p:nvCxnSpPr>
        <p:spPr>
          <a:xfrm flipH="1">
            <a:off x="7477566" y="5052886"/>
            <a:ext cx="40633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3" name="Can 293">
            <a:extLst>
              <a:ext uri="{FF2B5EF4-FFF2-40B4-BE49-F238E27FC236}">
                <a16:creationId xmlns:a16="http://schemas.microsoft.com/office/drawing/2014/main" id="{B31A45FB-D3B7-2C09-1F2C-1954931F95CA}"/>
              </a:ext>
            </a:extLst>
          </p:cNvPr>
          <p:cNvSpPr/>
          <p:nvPr/>
        </p:nvSpPr>
        <p:spPr>
          <a:xfrm>
            <a:off x="7810891" y="5965400"/>
            <a:ext cx="1167081" cy="257532"/>
          </a:xfrm>
          <a:prstGeom prst="ca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mn-cs"/>
              </a:rPr>
              <a:t>Enterprise Data Warehouse</a:t>
            </a:r>
          </a:p>
        </p:txBody>
      </p:sp>
      <p:sp>
        <p:nvSpPr>
          <p:cNvPr id="174" name="Can 299">
            <a:extLst>
              <a:ext uri="{FF2B5EF4-FFF2-40B4-BE49-F238E27FC236}">
                <a16:creationId xmlns:a16="http://schemas.microsoft.com/office/drawing/2014/main" id="{31C98F21-2B96-ED97-1364-DA84C9BF2692}"/>
              </a:ext>
            </a:extLst>
          </p:cNvPr>
          <p:cNvSpPr/>
          <p:nvPr/>
        </p:nvSpPr>
        <p:spPr>
          <a:xfrm>
            <a:off x="7810891" y="6267525"/>
            <a:ext cx="1189447" cy="221992"/>
          </a:xfrm>
          <a:prstGeom prst="ca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mn-cs"/>
              </a:rPr>
              <a:t>Enterprise  Data Lake</a:t>
            </a:r>
          </a:p>
        </p:txBody>
      </p:sp>
      <p:sp>
        <p:nvSpPr>
          <p:cNvPr id="175" name="Rounded Rectangle 292">
            <a:extLst>
              <a:ext uri="{FF2B5EF4-FFF2-40B4-BE49-F238E27FC236}">
                <a16:creationId xmlns:a16="http://schemas.microsoft.com/office/drawing/2014/main" id="{45ADC7A4-47FF-8F94-2BAF-12DF74A50E6E}"/>
              </a:ext>
            </a:extLst>
          </p:cNvPr>
          <p:cNvSpPr/>
          <p:nvPr/>
        </p:nvSpPr>
        <p:spPr>
          <a:xfrm>
            <a:off x="7360625" y="6579419"/>
            <a:ext cx="3182270" cy="222962"/>
          </a:xfrm>
          <a:prstGeom prst="roundRect">
            <a:avLst>
              <a:gd name="adj" fmla="val 13945"/>
            </a:avLst>
          </a:prstGeom>
          <a:ln w="12700">
            <a:solidFill>
              <a:srgbClr val="A6A6A6"/>
            </a:solidFill>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00" i="0" u="none" strike="noStrike" kern="1200" cap="none" spc="0" normalizeH="0" baseline="0" noProof="0">
              <a:ln>
                <a:noFill/>
              </a:ln>
              <a:solidFill>
                <a:prstClr val="black"/>
              </a:solidFill>
              <a:effectLst/>
              <a:uLnTx/>
              <a:uFillTx/>
              <a:ea typeface="+mn-ea"/>
              <a:cs typeface="+mn-cs"/>
            </a:endParaRPr>
          </a:p>
        </p:txBody>
      </p:sp>
      <p:sp>
        <p:nvSpPr>
          <p:cNvPr id="176" name="Rectangle 175">
            <a:extLst>
              <a:ext uri="{FF2B5EF4-FFF2-40B4-BE49-F238E27FC236}">
                <a16:creationId xmlns:a16="http://schemas.microsoft.com/office/drawing/2014/main" id="{BBBFF430-6F2F-81E4-68CE-BA778EC2D52A}"/>
              </a:ext>
            </a:extLst>
          </p:cNvPr>
          <p:cNvSpPr/>
          <p:nvPr/>
        </p:nvSpPr>
        <p:spPr>
          <a:xfrm>
            <a:off x="9070433" y="6285945"/>
            <a:ext cx="1420479" cy="130634"/>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prstClr val="black"/>
                </a:solidFill>
                <a:effectLst/>
                <a:uLnTx/>
                <a:uFillTx/>
                <a:ea typeface="+mn-ea"/>
                <a:cs typeface="Arial"/>
              </a:rPr>
              <a:t> </a:t>
            </a:r>
            <a:r>
              <a:rPr kumimoji="0" lang="en-US" sz="700" i="0" u="none" strike="noStrike" kern="1200" cap="none" spc="0" normalizeH="0" baseline="0" noProof="0">
                <a:ln>
                  <a:noFill/>
                </a:ln>
                <a:solidFill>
                  <a:prstClr val="black"/>
                </a:solidFill>
                <a:effectLst/>
                <a:uLnTx/>
                <a:uFillTx/>
                <a:ea typeface="+mn-ea"/>
                <a:cs typeface="Arial"/>
              </a:rPr>
              <a:t>Data Science &amp; Machine Learning</a:t>
            </a:r>
          </a:p>
        </p:txBody>
      </p:sp>
      <p:sp>
        <p:nvSpPr>
          <p:cNvPr id="177" name="Rounded Rectangle 292">
            <a:extLst>
              <a:ext uri="{FF2B5EF4-FFF2-40B4-BE49-F238E27FC236}">
                <a16:creationId xmlns:a16="http://schemas.microsoft.com/office/drawing/2014/main" id="{0C34415A-678B-FFCA-A2D9-62DBD1108E1F}"/>
              </a:ext>
            </a:extLst>
          </p:cNvPr>
          <p:cNvSpPr/>
          <p:nvPr/>
        </p:nvSpPr>
        <p:spPr>
          <a:xfrm>
            <a:off x="9033540" y="5956011"/>
            <a:ext cx="1489905" cy="522067"/>
          </a:xfrm>
          <a:prstGeom prst="roundRect">
            <a:avLst>
              <a:gd name="adj" fmla="val 5251"/>
            </a:avLst>
          </a:prstGeom>
          <a:ln w="12700">
            <a:solidFill>
              <a:srgbClr val="A6A6A6"/>
            </a:solidFill>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00" i="0" u="none" strike="noStrike" kern="1200" cap="none" spc="0" normalizeH="0" baseline="0" noProof="0">
              <a:ln>
                <a:noFill/>
              </a:ln>
              <a:solidFill>
                <a:prstClr val="black"/>
              </a:solidFill>
              <a:effectLst/>
              <a:uLnTx/>
              <a:uFillTx/>
              <a:ea typeface="+mn-ea"/>
              <a:cs typeface="+mn-cs"/>
            </a:endParaRPr>
          </a:p>
        </p:txBody>
      </p:sp>
      <p:sp>
        <p:nvSpPr>
          <p:cNvPr id="178" name="Rectangle 177">
            <a:extLst>
              <a:ext uri="{FF2B5EF4-FFF2-40B4-BE49-F238E27FC236}">
                <a16:creationId xmlns:a16="http://schemas.microsoft.com/office/drawing/2014/main" id="{5367E9D0-D0A5-DB91-1B33-F79536ABF7B5}"/>
              </a:ext>
            </a:extLst>
          </p:cNvPr>
          <p:cNvSpPr/>
          <p:nvPr/>
        </p:nvSpPr>
        <p:spPr>
          <a:xfrm>
            <a:off x="9070433" y="6001327"/>
            <a:ext cx="1419761" cy="116285"/>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Arial"/>
              </a:rPr>
              <a:t>Ad-hoc Reporting &amp; Analytics</a:t>
            </a:r>
          </a:p>
        </p:txBody>
      </p:sp>
      <p:sp>
        <p:nvSpPr>
          <p:cNvPr id="179" name="Rectangle 178">
            <a:extLst>
              <a:ext uri="{FF2B5EF4-FFF2-40B4-BE49-F238E27FC236}">
                <a16:creationId xmlns:a16="http://schemas.microsoft.com/office/drawing/2014/main" id="{18D6A73F-61ED-1691-BD17-D7241CE88D27}"/>
              </a:ext>
            </a:extLst>
          </p:cNvPr>
          <p:cNvSpPr/>
          <p:nvPr/>
        </p:nvSpPr>
        <p:spPr>
          <a:xfrm>
            <a:off x="9070433" y="6157613"/>
            <a:ext cx="1420479" cy="100137"/>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Arial"/>
              </a:rPr>
              <a:t>Certified Reporting</a:t>
            </a:r>
          </a:p>
        </p:txBody>
      </p:sp>
      <p:sp>
        <p:nvSpPr>
          <p:cNvPr id="180" name="TextBox 179">
            <a:extLst>
              <a:ext uri="{FF2B5EF4-FFF2-40B4-BE49-F238E27FC236}">
                <a16:creationId xmlns:a16="http://schemas.microsoft.com/office/drawing/2014/main" id="{DDAB5940-8F92-25DA-804A-5CADF5850979}"/>
              </a:ext>
            </a:extLst>
          </p:cNvPr>
          <p:cNvSpPr txBox="1"/>
          <p:nvPr/>
        </p:nvSpPr>
        <p:spPr>
          <a:xfrm>
            <a:off x="7352217" y="5753049"/>
            <a:ext cx="1998874" cy="138499"/>
          </a:xfrm>
          <a:prstGeom prst="rect">
            <a:avLst/>
          </a:prstGeom>
          <a:solidFill>
            <a:schemeClr val="bg1"/>
          </a:solidFill>
          <a:ln>
            <a:noFill/>
          </a:ln>
        </p:spPr>
        <p:txBody>
          <a:bodyPr wrap="square" lIns="36000" tIns="0" rIns="0" bIns="0" rtlCol="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i="0" u="none" strike="noStrike" kern="1200" cap="none" spc="0" normalizeH="0" baseline="0" noProof="0">
                <a:ln>
                  <a:noFill/>
                </a:ln>
                <a:solidFill>
                  <a:prstClr val="black"/>
                </a:solidFill>
                <a:effectLst/>
                <a:uLnTx/>
                <a:uFillTx/>
                <a:ea typeface="+mn-ea"/>
                <a:cs typeface="+mn-cs"/>
              </a:rPr>
              <a:t>Data Foundation Platform for Analytics</a:t>
            </a:r>
          </a:p>
        </p:txBody>
      </p:sp>
      <p:sp>
        <p:nvSpPr>
          <p:cNvPr id="181" name="Cloud 180">
            <a:extLst>
              <a:ext uri="{FF2B5EF4-FFF2-40B4-BE49-F238E27FC236}">
                <a16:creationId xmlns:a16="http://schemas.microsoft.com/office/drawing/2014/main" id="{9C051BF5-8735-EF1F-C7D9-2E5FF660FEFA}"/>
              </a:ext>
            </a:extLst>
          </p:cNvPr>
          <p:cNvSpPr/>
          <p:nvPr/>
        </p:nvSpPr>
        <p:spPr>
          <a:xfrm>
            <a:off x="10359420" y="5759885"/>
            <a:ext cx="277663" cy="135620"/>
          </a:xfrm>
          <a:prstGeom prst="cloud">
            <a:avLst/>
          </a:prstGeom>
          <a:solidFill>
            <a:srgbClr val="A6A6A6"/>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100" i="0" u="none" strike="noStrike" kern="1200" cap="none" spc="0" normalizeH="0" baseline="0" noProof="0">
              <a:ln>
                <a:noFill/>
              </a:ln>
              <a:solidFill>
                <a:srgbClr val="000000"/>
              </a:solidFill>
              <a:effectLst/>
              <a:uLnTx/>
              <a:uFillTx/>
              <a:ea typeface="+mn-ea"/>
              <a:cs typeface="+mn-cs"/>
            </a:endParaRPr>
          </a:p>
        </p:txBody>
      </p:sp>
      <p:sp>
        <p:nvSpPr>
          <p:cNvPr id="182" name="Rectangle 181">
            <a:extLst>
              <a:ext uri="{FF2B5EF4-FFF2-40B4-BE49-F238E27FC236}">
                <a16:creationId xmlns:a16="http://schemas.microsoft.com/office/drawing/2014/main" id="{99AE6384-F3BD-6105-9FF6-3DBD6460D786}"/>
              </a:ext>
            </a:extLst>
          </p:cNvPr>
          <p:cNvSpPr/>
          <p:nvPr/>
        </p:nvSpPr>
        <p:spPr>
          <a:xfrm>
            <a:off x="7365339" y="5994695"/>
            <a:ext cx="397669" cy="494822"/>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Arial"/>
              </a:rPr>
              <a:t>Ingestion</a:t>
            </a:r>
            <a:endParaRPr kumimoji="0" lang="en-US" sz="800" i="0" u="none" strike="noStrike" kern="1200" cap="none" spc="0" normalizeH="0" baseline="0" noProof="0">
              <a:ln>
                <a:noFill/>
              </a:ln>
              <a:solidFill>
                <a:prstClr val="black"/>
              </a:solidFill>
              <a:effectLst/>
              <a:uLnTx/>
              <a:uFillTx/>
              <a:ea typeface="+mn-ea"/>
              <a:cs typeface="Arial"/>
            </a:endParaRPr>
          </a:p>
        </p:txBody>
      </p:sp>
      <p:sp>
        <p:nvSpPr>
          <p:cNvPr id="183" name="TextBox 182">
            <a:extLst>
              <a:ext uri="{FF2B5EF4-FFF2-40B4-BE49-F238E27FC236}">
                <a16:creationId xmlns:a16="http://schemas.microsoft.com/office/drawing/2014/main" id="{B2DEBD96-9BEE-587A-90CB-63970BE01941}"/>
              </a:ext>
            </a:extLst>
          </p:cNvPr>
          <p:cNvSpPr txBox="1"/>
          <p:nvPr/>
        </p:nvSpPr>
        <p:spPr>
          <a:xfrm>
            <a:off x="9971146" y="5772533"/>
            <a:ext cx="500969" cy="2308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Azure</a:t>
            </a:r>
            <a:endParaRPr kumimoji="0" lang="en-CA" sz="700" b="1"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84" name="TextBox 183">
            <a:extLst>
              <a:ext uri="{FF2B5EF4-FFF2-40B4-BE49-F238E27FC236}">
                <a16:creationId xmlns:a16="http://schemas.microsoft.com/office/drawing/2014/main" id="{3979D8D1-7DE1-E240-B1F4-E5B7A48CE1EC}"/>
              </a:ext>
            </a:extLst>
          </p:cNvPr>
          <p:cNvSpPr txBox="1"/>
          <p:nvPr/>
        </p:nvSpPr>
        <p:spPr>
          <a:xfrm>
            <a:off x="9109740" y="5878914"/>
            <a:ext cx="551724" cy="123111"/>
          </a:xfrm>
          <a:prstGeom prst="rect">
            <a:avLst/>
          </a:prstGeom>
          <a:solidFill>
            <a:schemeClr val="bg1"/>
          </a:solidFill>
          <a:ln>
            <a:noFill/>
          </a:ln>
        </p:spPr>
        <p:txBody>
          <a:bodyPr wrap="square" lIns="36000" tIns="0" rIns="0" bIns="0" rtlCol="0" anchor="ctr">
            <a:spAutoFit/>
          </a:bodyPr>
          <a:lstStyle>
            <a:defPPr>
              <a:defRPr lang="en-US"/>
            </a:defPPr>
            <a:lvl1pPr marR="0" lvl="0" indent="0" eaLnBrk="0" fontAlgn="base" hangingPunct="0">
              <a:lnSpc>
                <a:spcPct val="100000"/>
              </a:lnSpc>
              <a:spcBef>
                <a:spcPct val="0"/>
              </a:spcBef>
              <a:spcAft>
                <a:spcPct val="0"/>
              </a:spcAft>
              <a:buClrTx/>
              <a:buSzTx/>
              <a:buFontTx/>
              <a:buNone/>
              <a:tabLst/>
              <a:defRPr kumimoji="0" sz="900" b="1" i="0" u="none" strike="noStrike" cap="none" spc="0" normalizeH="0" baseline="0">
                <a:ln>
                  <a:noFill/>
                </a:ln>
                <a:effectLst/>
                <a:uLnTx/>
                <a:uFillTx/>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mn-lt"/>
                <a:ea typeface="+mn-ea"/>
                <a:cs typeface="+mn-cs"/>
              </a:rPr>
              <a:t>Delivery</a:t>
            </a:r>
          </a:p>
        </p:txBody>
      </p:sp>
      <p:sp>
        <p:nvSpPr>
          <p:cNvPr id="185" name="Rectangle: Rounded Corners 184">
            <a:extLst>
              <a:ext uri="{FF2B5EF4-FFF2-40B4-BE49-F238E27FC236}">
                <a16:creationId xmlns:a16="http://schemas.microsoft.com/office/drawing/2014/main" id="{1B474451-376F-C03E-12B2-312B31FF175C}"/>
              </a:ext>
            </a:extLst>
          </p:cNvPr>
          <p:cNvSpPr/>
          <p:nvPr/>
        </p:nvSpPr>
        <p:spPr>
          <a:xfrm>
            <a:off x="8058799" y="5292165"/>
            <a:ext cx="2407496" cy="269241"/>
          </a:xfrm>
          <a:prstGeom prst="roundRect">
            <a:avLst>
              <a:gd name="adj" fmla="val 10822"/>
            </a:avLst>
          </a:prstGeom>
          <a:noFill/>
          <a:ln w="12700">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86" name="Rectangle: Rounded Corners 185">
            <a:extLst>
              <a:ext uri="{FF2B5EF4-FFF2-40B4-BE49-F238E27FC236}">
                <a16:creationId xmlns:a16="http://schemas.microsoft.com/office/drawing/2014/main" id="{639B6C12-11FC-7259-C10B-BD4C2DA233BA}"/>
              </a:ext>
            </a:extLst>
          </p:cNvPr>
          <p:cNvSpPr/>
          <p:nvPr/>
        </p:nvSpPr>
        <p:spPr>
          <a:xfrm>
            <a:off x="8086767" y="5377016"/>
            <a:ext cx="406341" cy="145754"/>
          </a:xfrm>
          <a:prstGeom prst="roundRect">
            <a:avLst/>
          </a:prstGeom>
          <a:solidFill>
            <a:srgbClr val="BF9000"/>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ACP</a:t>
            </a:r>
          </a:p>
        </p:txBody>
      </p:sp>
      <p:sp>
        <p:nvSpPr>
          <p:cNvPr id="187" name="Rectangle: Rounded Corners 186">
            <a:extLst>
              <a:ext uri="{FF2B5EF4-FFF2-40B4-BE49-F238E27FC236}">
                <a16:creationId xmlns:a16="http://schemas.microsoft.com/office/drawing/2014/main" id="{9AAD9550-B74A-7C27-5386-52D172429E3C}"/>
              </a:ext>
            </a:extLst>
          </p:cNvPr>
          <p:cNvSpPr/>
          <p:nvPr/>
        </p:nvSpPr>
        <p:spPr>
          <a:xfrm>
            <a:off x="9080819" y="5368925"/>
            <a:ext cx="406341" cy="145425"/>
          </a:xfrm>
          <a:prstGeom prst="roundRect">
            <a:avLst/>
          </a:prstGeom>
          <a:solidFill>
            <a:srgbClr val="BF9000"/>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CA" sz="800">
                <a:solidFill>
                  <a:prstClr val="black"/>
                </a:solidFill>
                <a:cs typeface="Arial" panose="020B0604020202020204" pitchFamily="34" charset="0"/>
              </a:rPr>
              <a:t>NWS</a:t>
            </a:r>
          </a:p>
        </p:txBody>
      </p:sp>
      <p:sp>
        <p:nvSpPr>
          <p:cNvPr id="188" name="Rectangle: Rounded Corners 187">
            <a:extLst>
              <a:ext uri="{FF2B5EF4-FFF2-40B4-BE49-F238E27FC236}">
                <a16:creationId xmlns:a16="http://schemas.microsoft.com/office/drawing/2014/main" id="{934C23DB-DAB1-6C85-3167-A6B43BE5E797}"/>
              </a:ext>
            </a:extLst>
          </p:cNvPr>
          <p:cNvSpPr/>
          <p:nvPr/>
        </p:nvSpPr>
        <p:spPr>
          <a:xfrm>
            <a:off x="8526970" y="5377016"/>
            <a:ext cx="519987" cy="145754"/>
          </a:xfrm>
          <a:prstGeom prst="roundRect">
            <a:avLst/>
          </a:prstGeom>
          <a:solidFill>
            <a:srgbClr val="BF9000"/>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CA" sz="800" err="1">
                <a:solidFill>
                  <a:prstClr val="black"/>
                </a:solidFill>
                <a:cs typeface="Arial" panose="020B0604020202020204" pitchFamily="34" charset="0"/>
              </a:rPr>
              <a:t>BenPay</a:t>
            </a:r>
            <a:endParaRPr lang="en-CA" sz="800">
              <a:solidFill>
                <a:prstClr val="black"/>
              </a:solidFill>
              <a:cs typeface="Arial" panose="020B0604020202020204" pitchFamily="34" charset="0"/>
            </a:endParaRPr>
          </a:p>
        </p:txBody>
      </p:sp>
      <p:sp>
        <p:nvSpPr>
          <p:cNvPr id="189" name="Rectangle: Rounded Corners 188">
            <a:extLst>
              <a:ext uri="{FF2B5EF4-FFF2-40B4-BE49-F238E27FC236}">
                <a16:creationId xmlns:a16="http://schemas.microsoft.com/office/drawing/2014/main" id="{339EEDF5-12B2-5DC9-532E-799517F9164C}"/>
              </a:ext>
            </a:extLst>
          </p:cNvPr>
          <p:cNvSpPr/>
          <p:nvPr/>
        </p:nvSpPr>
        <p:spPr>
          <a:xfrm>
            <a:off x="9528201" y="5358899"/>
            <a:ext cx="406341" cy="145425"/>
          </a:xfrm>
          <a:prstGeom prst="roundRect">
            <a:avLst/>
          </a:prstGeom>
          <a:solidFill>
            <a:srgbClr val="BF9000"/>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CA" sz="800">
                <a:solidFill>
                  <a:prstClr val="black"/>
                </a:solidFill>
                <a:cs typeface="Arial" panose="020B0604020202020204" pitchFamily="34" charset="0"/>
              </a:rPr>
              <a:t>DAF</a:t>
            </a:r>
          </a:p>
        </p:txBody>
      </p:sp>
      <p:sp>
        <p:nvSpPr>
          <p:cNvPr id="190" name="Rectangle: Rounded Corners 189">
            <a:extLst>
              <a:ext uri="{FF2B5EF4-FFF2-40B4-BE49-F238E27FC236}">
                <a16:creationId xmlns:a16="http://schemas.microsoft.com/office/drawing/2014/main" id="{F3A16B27-9420-D8CC-DA30-EC1B63D2C4B3}"/>
              </a:ext>
            </a:extLst>
          </p:cNvPr>
          <p:cNvSpPr/>
          <p:nvPr/>
        </p:nvSpPr>
        <p:spPr>
          <a:xfrm>
            <a:off x="9971146" y="5354951"/>
            <a:ext cx="406341" cy="147146"/>
          </a:xfrm>
          <a:prstGeom prst="roundRect">
            <a:avLst/>
          </a:prstGeom>
          <a:solidFill>
            <a:srgbClr val="BF9000"/>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CA" sz="800">
                <a:solidFill>
                  <a:prstClr val="black"/>
                </a:solidFill>
                <a:cs typeface="Arial" panose="020B0604020202020204" pitchFamily="34" charset="0"/>
              </a:rPr>
              <a:t>More…</a:t>
            </a:r>
          </a:p>
        </p:txBody>
      </p:sp>
      <p:sp>
        <p:nvSpPr>
          <p:cNvPr id="191" name="Rectangle 41">
            <a:extLst>
              <a:ext uri="{FF2B5EF4-FFF2-40B4-BE49-F238E27FC236}">
                <a16:creationId xmlns:a16="http://schemas.microsoft.com/office/drawing/2014/main" id="{AA328D84-2727-5360-8748-F8EC7B3CA3B3}"/>
              </a:ext>
            </a:extLst>
          </p:cNvPr>
          <p:cNvSpPr>
            <a:spLocks noChangeArrowheads="1"/>
          </p:cNvSpPr>
          <p:nvPr/>
        </p:nvSpPr>
        <p:spPr bwMode="auto">
          <a:xfrm>
            <a:off x="8083733" y="5225860"/>
            <a:ext cx="521544" cy="123111"/>
          </a:xfrm>
          <a:prstGeom prst="rect">
            <a:avLst/>
          </a:prstGeom>
          <a:solidFill>
            <a:schemeClr val="bg1"/>
          </a:solidFill>
          <a:ln>
            <a:noFill/>
          </a:ln>
        </p:spPr>
        <p:txBody>
          <a:bodyPr vert="horz" wrap="none" lIns="36000" tIns="0" rIns="3600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C0C0C"/>
                </a:solidFill>
                <a:effectLst/>
                <a:uLnTx/>
                <a:uFillTx/>
                <a:latin typeface="+mn-lt"/>
                <a:ea typeface="+mn-ea"/>
                <a:cs typeface="Arial" panose="020B0604020202020204" pitchFamily="34" charset="0"/>
              </a:rPr>
              <a:t>EI Systems</a:t>
            </a:r>
            <a:endParaRPr kumimoji="0" lang="en-US" altLang="en-US" sz="800" b="1"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p:txBody>
      </p:sp>
      <p:grpSp>
        <p:nvGrpSpPr>
          <p:cNvPr id="192" name="Group 191">
            <a:extLst>
              <a:ext uri="{FF2B5EF4-FFF2-40B4-BE49-F238E27FC236}">
                <a16:creationId xmlns:a16="http://schemas.microsoft.com/office/drawing/2014/main" id="{DF556BFA-38B5-E3B8-3487-2096BD9C7DE5}"/>
              </a:ext>
            </a:extLst>
          </p:cNvPr>
          <p:cNvGrpSpPr>
            <a:grpSpLocks noChangeAspect="1"/>
          </p:cNvGrpSpPr>
          <p:nvPr/>
        </p:nvGrpSpPr>
        <p:grpSpPr>
          <a:xfrm>
            <a:off x="10404650" y="5269256"/>
            <a:ext cx="98935" cy="120578"/>
            <a:chOff x="2577832" y="3724408"/>
            <a:chExt cx="124278" cy="153473"/>
          </a:xfrm>
        </p:grpSpPr>
        <p:sp>
          <p:nvSpPr>
            <p:cNvPr id="193" name="Rectangle 192">
              <a:extLst>
                <a:ext uri="{FF2B5EF4-FFF2-40B4-BE49-F238E27FC236}">
                  <a16:creationId xmlns:a16="http://schemas.microsoft.com/office/drawing/2014/main" id="{C1E73770-68D8-4B7C-8942-B7078F30CBD0}"/>
                </a:ext>
              </a:extLst>
            </p:cNvPr>
            <p:cNvSpPr/>
            <p:nvPr/>
          </p:nvSpPr>
          <p:spPr>
            <a:xfrm>
              <a:off x="2577832" y="3724408"/>
              <a:ext cx="124278" cy="153473"/>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94" name="Rectangle 193">
              <a:extLst>
                <a:ext uri="{FF2B5EF4-FFF2-40B4-BE49-F238E27FC236}">
                  <a16:creationId xmlns:a16="http://schemas.microsoft.com/office/drawing/2014/main" id="{A9DF9E9E-53A1-4C20-399F-3A59FD3344FC}"/>
                </a:ext>
              </a:extLst>
            </p:cNvPr>
            <p:cNvSpPr/>
            <p:nvPr/>
          </p:nvSpPr>
          <p:spPr>
            <a:xfrm>
              <a:off x="2577832" y="3777859"/>
              <a:ext cx="124278" cy="46571"/>
            </a:xfrm>
            <a:prstGeom prst="rect">
              <a:avLst/>
            </a:prstGeom>
            <a:solidFill>
              <a:srgbClr val="BF9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95" name="Rectangle 194">
              <a:extLst>
                <a:ext uri="{FF2B5EF4-FFF2-40B4-BE49-F238E27FC236}">
                  <a16:creationId xmlns:a16="http://schemas.microsoft.com/office/drawing/2014/main" id="{EFE0F5FA-0D78-54B1-06B4-75B806B1146E}"/>
                </a:ext>
              </a:extLst>
            </p:cNvPr>
            <p:cNvSpPr/>
            <p:nvPr/>
          </p:nvSpPr>
          <p:spPr>
            <a:xfrm>
              <a:off x="2577832" y="3831310"/>
              <a:ext cx="124278" cy="46571"/>
            </a:xfrm>
            <a:prstGeom prst="rect">
              <a:avLst/>
            </a:prstGeom>
            <a:solidFill>
              <a:srgbClr val="BF9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nvGrpSpPr>
            <p:cNvPr id="196" name="Group 195">
              <a:extLst>
                <a:ext uri="{FF2B5EF4-FFF2-40B4-BE49-F238E27FC236}">
                  <a16:creationId xmlns:a16="http://schemas.microsoft.com/office/drawing/2014/main" id="{6995DCA8-3DDE-0748-154B-99BD663FC503}"/>
                </a:ext>
              </a:extLst>
            </p:cNvPr>
            <p:cNvGrpSpPr/>
            <p:nvPr/>
          </p:nvGrpSpPr>
          <p:grpSpPr>
            <a:xfrm>
              <a:off x="2577832" y="3724408"/>
              <a:ext cx="124278" cy="46571"/>
              <a:chOff x="2577832" y="3724408"/>
              <a:chExt cx="124278" cy="46571"/>
            </a:xfrm>
          </p:grpSpPr>
          <p:sp>
            <p:nvSpPr>
              <p:cNvPr id="197" name="Rectangle 196">
                <a:extLst>
                  <a:ext uri="{FF2B5EF4-FFF2-40B4-BE49-F238E27FC236}">
                    <a16:creationId xmlns:a16="http://schemas.microsoft.com/office/drawing/2014/main" id="{297020C6-0B54-A6B6-7D7C-0BB70503BAD0}"/>
                  </a:ext>
                </a:extLst>
              </p:cNvPr>
              <p:cNvSpPr/>
              <p:nvPr/>
            </p:nvSpPr>
            <p:spPr>
              <a:xfrm>
                <a:off x="2577832" y="3724408"/>
                <a:ext cx="124278" cy="46571"/>
              </a:xfrm>
              <a:prstGeom prst="rect">
                <a:avLst/>
              </a:prstGeom>
              <a:solidFill>
                <a:srgbClr val="BF9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198" name="Oval 197">
                <a:extLst>
                  <a:ext uri="{FF2B5EF4-FFF2-40B4-BE49-F238E27FC236}">
                    <a16:creationId xmlns:a16="http://schemas.microsoft.com/office/drawing/2014/main" id="{7FC2CF1E-2182-C256-1C33-62E1963612E2}"/>
                  </a:ext>
                </a:extLst>
              </p:cNvPr>
              <p:cNvSpPr/>
              <p:nvPr/>
            </p:nvSpPr>
            <p:spPr>
              <a:xfrm>
                <a:off x="2591483" y="3736025"/>
                <a:ext cx="22374" cy="22374"/>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grpSp>
      <p:cxnSp>
        <p:nvCxnSpPr>
          <p:cNvPr id="199" name="Straight Arrow Connector 198">
            <a:extLst>
              <a:ext uri="{FF2B5EF4-FFF2-40B4-BE49-F238E27FC236}">
                <a16:creationId xmlns:a16="http://schemas.microsoft.com/office/drawing/2014/main" id="{783D2D90-5264-297F-52ED-78A3B4C9FC05}"/>
              </a:ext>
            </a:extLst>
          </p:cNvPr>
          <p:cNvCxnSpPr>
            <a:cxnSpLocks/>
          </p:cNvCxnSpPr>
          <p:nvPr/>
        </p:nvCxnSpPr>
        <p:spPr>
          <a:xfrm>
            <a:off x="9262100" y="3434773"/>
            <a:ext cx="216000" cy="0"/>
          </a:xfrm>
          <a:prstGeom prst="straightConnector1">
            <a:avLst/>
          </a:prstGeom>
          <a:ln w="9525">
            <a:headEnd type="none"/>
            <a:tailEnd type="triangle"/>
          </a:ln>
        </p:spPr>
        <p:style>
          <a:lnRef idx="1">
            <a:schemeClr val="dk1"/>
          </a:lnRef>
          <a:fillRef idx="0">
            <a:schemeClr val="dk1"/>
          </a:fillRef>
          <a:effectRef idx="0">
            <a:schemeClr val="dk1"/>
          </a:effectRef>
          <a:fontRef idx="minor">
            <a:schemeClr val="tx1"/>
          </a:fontRef>
        </p:style>
      </p:cxnSp>
      <p:sp>
        <p:nvSpPr>
          <p:cNvPr id="200" name="Rectangle: Rounded Corners 199">
            <a:extLst>
              <a:ext uri="{FF2B5EF4-FFF2-40B4-BE49-F238E27FC236}">
                <a16:creationId xmlns:a16="http://schemas.microsoft.com/office/drawing/2014/main" id="{748C622F-4B8E-6F7E-53C8-B04B11D3500D}"/>
              </a:ext>
            </a:extLst>
          </p:cNvPr>
          <p:cNvSpPr/>
          <p:nvPr/>
        </p:nvSpPr>
        <p:spPr>
          <a:xfrm>
            <a:off x="8017566" y="3121532"/>
            <a:ext cx="1368000" cy="178245"/>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Financial Management (SAP)</a:t>
            </a:r>
          </a:p>
        </p:txBody>
      </p:sp>
      <p:sp>
        <p:nvSpPr>
          <p:cNvPr id="201" name="Rectangle: Rounded Corners 200">
            <a:extLst>
              <a:ext uri="{FF2B5EF4-FFF2-40B4-BE49-F238E27FC236}">
                <a16:creationId xmlns:a16="http://schemas.microsoft.com/office/drawing/2014/main" id="{1ADDABE0-9751-4B80-0A81-5563F3D39182}"/>
              </a:ext>
            </a:extLst>
          </p:cNvPr>
          <p:cNvSpPr/>
          <p:nvPr/>
        </p:nvSpPr>
        <p:spPr>
          <a:xfrm>
            <a:off x="8050331" y="2721483"/>
            <a:ext cx="1073006" cy="268516"/>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Standard Payment System (PSPC)</a:t>
            </a:r>
          </a:p>
        </p:txBody>
      </p:sp>
      <p:sp>
        <p:nvSpPr>
          <p:cNvPr id="202" name="Rectangle: Rounded Corners 201">
            <a:extLst>
              <a:ext uri="{FF2B5EF4-FFF2-40B4-BE49-F238E27FC236}">
                <a16:creationId xmlns:a16="http://schemas.microsoft.com/office/drawing/2014/main" id="{A9D70635-E624-06A1-9705-36C0934CE901}"/>
              </a:ext>
            </a:extLst>
          </p:cNvPr>
          <p:cNvSpPr/>
          <p:nvPr/>
        </p:nvSpPr>
        <p:spPr>
          <a:xfrm>
            <a:off x="7732598" y="3800203"/>
            <a:ext cx="1296000" cy="147292"/>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Social Insurance Register</a:t>
            </a:r>
          </a:p>
        </p:txBody>
      </p:sp>
      <p:sp>
        <p:nvSpPr>
          <p:cNvPr id="203" name="Rectangle: Rounded Corners 202">
            <a:extLst>
              <a:ext uri="{FF2B5EF4-FFF2-40B4-BE49-F238E27FC236}">
                <a16:creationId xmlns:a16="http://schemas.microsoft.com/office/drawing/2014/main" id="{ED9534D8-497B-87C5-20EF-2E184B8E4330}"/>
              </a:ext>
            </a:extLst>
          </p:cNvPr>
          <p:cNvSpPr/>
          <p:nvPr/>
        </p:nvSpPr>
        <p:spPr>
          <a:xfrm>
            <a:off x="9475759" y="3347988"/>
            <a:ext cx="1296000" cy="192900"/>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Print and Mail Centre</a:t>
            </a:r>
          </a:p>
        </p:txBody>
      </p:sp>
      <p:sp>
        <p:nvSpPr>
          <p:cNvPr id="204" name="Rectangle: Rounded Corners 203">
            <a:extLst>
              <a:ext uri="{FF2B5EF4-FFF2-40B4-BE49-F238E27FC236}">
                <a16:creationId xmlns:a16="http://schemas.microsoft.com/office/drawing/2014/main" id="{541934B8-652C-A561-7576-202AAE0E1F2B}"/>
              </a:ext>
            </a:extLst>
          </p:cNvPr>
          <p:cNvSpPr/>
          <p:nvPr/>
        </p:nvSpPr>
        <p:spPr>
          <a:xfrm>
            <a:off x="9443882" y="2892089"/>
            <a:ext cx="989880" cy="2880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GC Imaging Centre (PSPC)</a:t>
            </a:r>
          </a:p>
        </p:txBody>
      </p:sp>
      <p:sp>
        <p:nvSpPr>
          <p:cNvPr id="205" name="Rectangle: Rounded Corners 204">
            <a:extLst>
              <a:ext uri="{FF2B5EF4-FFF2-40B4-BE49-F238E27FC236}">
                <a16:creationId xmlns:a16="http://schemas.microsoft.com/office/drawing/2014/main" id="{D05EBBD1-0063-7C3A-D5AE-B7BD873104FC}"/>
              </a:ext>
            </a:extLst>
          </p:cNvPr>
          <p:cNvSpPr/>
          <p:nvPr/>
        </p:nvSpPr>
        <p:spPr>
          <a:xfrm>
            <a:off x="9376852" y="3625505"/>
            <a:ext cx="1296000" cy="213300"/>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defTabSz="457200">
              <a:defRPr/>
            </a:pPr>
            <a:r>
              <a:rPr kumimoji="0" lang="en-US" sz="800" b="0" i="0" u="none" strike="noStrike" kern="1200" cap="none" spc="0" normalizeH="0" baseline="0" noProof="0">
                <a:ln>
                  <a:noFill/>
                </a:ln>
                <a:solidFill>
                  <a:prstClr val="black"/>
                </a:solidFill>
                <a:effectLst/>
                <a:uLnTx/>
                <a:uFillTx/>
                <a:cs typeface="Arial" panose="020B0604020202020204" pitchFamily="34" charset="0"/>
              </a:rPr>
              <a:t>Canada </a:t>
            </a:r>
            <a:r>
              <a:rPr lang="en-US" sz="800">
                <a:solidFill>
                  <a:prstClr val="black"/>
                </a:solidFill>
                <a:cs typeface="Arial" panose="020B0604020202020204" pitchFamily="34" charset="0"/>
              </a:rPr>
              <a:t>Revenue Agency </a:t>
            </a:r>
            <a:endParaRPr kumimoji="0" lang="en-US" sz="800" b="0" i="0" u="none" strike="noStrike" kern="1200" cap="none" spc="0" normalizeH="0" baseline="0" noProof="0">
              <a:ln>
                <a:noFill/>
              </a:ln>
              <a:solidFill>
                <a:prstClr val="black"/>
              </a:solidFill>
              <a:effectLst/>
              <a:uLnTx/>
              <a:uFillTx/>
              <a:cs typeface="Arial" panose="020B0604020202020204" pitchFamily="34" charset="0"/>
            </a:endParaRPr>
          </a:p>
        </p:txBody>
      </p:sp>
      <p:sp>
        <p:nvSpPr>
          <p:cNvPr id="206" name="Rectangle: Rounded Corners 205">
            <a:extLst>
              <a:ext uri="{FF2B5EF4-FFF2-40B4-BE49-F238E27FC236}">
                <a16:creationId xmlns:a16="http://schemas.microsoft.com/office/drawing/2014/main" id="{380CBFCF-814F-C606-427F-2520C5B6886B}"/>
              </a:ext>
            </a:extLst>
          </p:cNvPr>
          <p:cNvSpPr/>
          <p:nvPr/>
        </p:nvSpPr>
        <p:spPr>
          <a:xfrm>
            <a:off x="9143022" y="3888353"/>
            <a:ext cx="983145" cy="219998"/>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Investigations (NIIS)</a:t>
            </a:r>
          </a:p>
        </p:txBody>
      </p:sp>
      <p:sp>
        <p:nvSpPr>
          <p:cNvPr id="207" name="Rectangle: Rounded Corners 206">
            <a:extLst>
              <a:ext uri="{FF2B5EF4-FFF2-40B4-BE49-F238E27FC236}">
                <a16:creationId xmlns:a16="http://schemas.microsoft.com/office/drawing/2014/main" id="{FFEF76EA-28D0-6D59-BB9A-E8F5C7A6A88F}"/>
              </a:ext>
            </a:extLst>
          </p:cNvPr>
          <p:cNvSpPr/>
          <p:nvPr/>
        </p:nvSpPr>
        <p:spPr>
          <a:xfrm>
            <a:off x="9513814" y="2586371"/>
            <a:ext cx="619873" cy="195922"/>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GC Notify</a:t>
            </a:r>
          </a:p>
        </p:txBody>
      </p:sp>
      <p:sp>
        <p:nvSpPr>
          <p:cNvPr id="208" name="Rectangle: Rounded Corners 207">
            <a:extLst>
              <a:ext uri="{FF2B5EF4-FFF2-40B4-BE49-F238E27FC236}">
                <a16:creationId xmlns:a16="http://schemas.microsoft.com/office/drawing/2014/main" id="{B775CB14-F4F3-EC55-F78E-067E2CA08AC8}"/>
              </a:ext>
            </a:extLst>
          </p:cNvPr>
          <p:cNvSpPr/>
          <p:nvPr/>
        </p:nvSpPr>
        <p:spPr>
          <a:xfrm>
            <a:off x="7883896" y="4992281"/>
            <a:ext cx="3049670" cy="211398"/>
          </a:xfrm>
          <a:prstGeom prst="roundRect">
            <a:avLst/>
          </a:prstGeom>
          <a:solidFill>
            <a:srgbClr val="BF9000"/>
          </a:solidFill>
          <a:ln>
            <a:noFill/>
          </a:ln>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GC and P/T Partners’ Systems (QPIP, Statistic Canada, CBSA)</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209" name="Rectangle: Rounded Corners 208">
            <a:extLst>
              <a:ext uri="{FF2B5EF4-FFF2-40B4-BE49-F238E27FC236}">
                <a16:creationId xmlns:a16="http://schemas.microsoft.com/office/drawing/2014/main" id="{2B4DCBC9-8CD4-0CC8-2485-3C4E3EE4081C}"/>
              </a:ext>
            </a:extLst>
          </p:cNvPr>
          <p:cNvSpPr/>
          <p:nvPr/>
        </p:nvSpPr>
        <p:spPr>
          <a:xfrm>
            <a:off x="8758100" y="3320824"/>
            <a:ext cx="504000" cy="195777"/>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CCT</a:t>
            </a:r>
          </a:p>
        </p:txBody>
      </p:sp>
      <p:sp>
        <p:nvSpPr>
          <p:cNvPr id="210" name="Rectangle: Rounded Corners 209">
            <a:extLst>
              <a:ext uri="{FF2B5EF4-FFF2-40B4-BE49-F238E27FC236}">
                <a16:creationId xmlns:a16="http://schemas.microsoft.com/office/drawing/2014/main" id="{82D869CA-B6EF-2A99-8EC3-85B767109A53}"/>
              </a:ext>
            </a:extLst>
          </p:cNvPr>
          <p:cNvSpPr/>
          <p:nvPr/>
        </p:nvSpPr>
        <p:spPr>
          <a:xfrm>
            <a:off x="7963759" y="3334033"/>
            <a:ext cx="504000" cy="168757"/>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ACS</a:t>
            </a:r>
          </a:p>
        </p:txBody>
      </p:sp>
      <p:cxnSp>
        <p:nvCxnSpPr>
          <p:cNvPr id="211" name="Straight Arrow Connector 210">
            <a:extLst>
              <a:ext uri="{FF2B5EF4-FFF2-40B4-BE49-F238E27FC236}">
                <a16:creationId xmlns:a16="http://schemas.microsoft.com/office/drawing/2014/main" id="{857455C7-C2F4-CA97-CEF4-28B67F8C00DF}"/>
              </a:ext>
            </a:extLst>
          </p:cNvPr>
          <p:cNvCxnSpPr>
            <a:cxnSpLocks/>
          </p:cNvCxnSpPr>
          <p:nvPr/>
        </p:nvCxnSpPr>
        <p:spPr>
          <a:xfrm>
            <a:off x="8469213" y="3426064"/>
            <a:ext cx="288000" cy="0"/>
          </a:xfrm>
          <a:prstGeom prst="straightConnector1">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F2C0F0E6-7A48-2F6B-D7F0-E4D935D84172}"/>
              </a:ext>
            </a:extLst>
          </p:cNvPr>
          <p:cNvCxnSpPr>
            <a:cxnSpLocks/>
          </p:cNvCxnSpPr>
          <p:nvPr/>
        </p:nvCxnSpPr>
        <p:spPr>
          <a:xfrm flipH="1">
            <a:off x="7466129" y="3035468"/>
            <a:ext cx="1963485"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D190B473-D789-6B54-952B-E6D7661EC442}"/>
              </a:ext>
            </a:extLst>
          </p:cNvPr>
          <p:cNvCxnSpPr>
            <a:cxnSpLocks/>
          </p:cNvCxnSpPr>
          <p:nvPr/>
        </p:nvCxnSpPr>
        <p:spPr>
          <a:xfrm flipH="1">
            <a:off x="7466129" y="4023447"/>
            <a:ext cx="1645771"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0C092843-3914-9E51-4B14-300B183D197E}"/>
              </a:ext>
            </a:extLst>
          </p:cNvPr>
          <p:cNvCxnSpPr>
            <a:cxnSpLocks/>
          </p:cNvCxnSpPr>
          <p:nvPr/>
        </p:nvCxnSpPr>
        <p:spPr>
          <a:xfrm flipH="1">
            <a:off x="7460905" y="3209635"/>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5D8C65A0-A2E3-93E2-6893-23C41F1A4B31}"/>
              </a:ext>
            </a:extLst>
          </p:cNvPr>
          <p:cNvCxnSpPr>
            <a:cxnSpLocks/>
          </p:cNvCxnSpPr>
          <p:nvPr/>
        </p:nvCxnSpPr>
        <p:spPr>
          <a:xfrm flipH="1">
            <a:off x="7457420" y="3438970"/>
            <a:ext cx="488921" cy="216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7C0C2607-9E28-A003-9E1E-B55EABB38BAE}"/>
              </a:ext>
            </a:extLst>
          </p:cNvPr>
          <p:cNvCxnSpPr>
            <a:cxnSpLocks/>
          </p:cNvCxnSpPr>
          <p:nvPr/>
        </p:nvCxnSpPr>
        <p:spPr>
          <a:xfrm flipH="1">
            <a:off x="7443487" y="3884968"/>
            <a:ext cx="28499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14255D3F-7EAF-BE9E-46B9-F52CBFC32885}"/>
              </a:ext>
            </a:extLst>
          </p:cNvPr>
          <p:cNvCxnSpPr>
            <a:cxnSpLocks/>
          </p:cNvCxnSpPr>
          <p:nvPr/>
        </p:nvCxnSpPr>
        <p:spPr>
          <a:xfrm flipH="1">
            <a:off x="7460146" y="2871596"/>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8A962BE9-66BB-9DDF-C869-133247696489}"/>
              </a:ext>
            </a:extLst>
          </p:cNvPr>
          <p:cNvCxnSpPr>
            <a:cxnSpLocks/>
          </p:cNvCxnSpPr>
          <p:nvPr/>
        </p:nvCxnSpPr>
        <p:spPr>
          <a:xfrm flipH="1">
            <a:off x="7485050" y="4580275"/>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9CF336BF-2BF7-95FE-ED35-D7B4CD7CC151}"/>
              </a:ext>
            </a:extLst>
          </p:cNvPr>
          <p:cNvCxnSpPr>
            <a:cxnSpLocks/>
          </p:cNvCxnSpPr>
          <p:nvPr/>
        </p:nvCxnSpPr>
        <p:spPr>
          <a:xfrm flipH="1">
            <a:off x="7440201" y="2658205"/>
            <a:ext cx="2088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20" name="Group 219">
            <a:extLst>
              <a:ext uri="{FF2B5EF4-FFF2-40B4-BE49-F238E27FC236}">
                <a16:creationId xmlns:a16="http://schemas.microsoft.com/office/drawing/2014/main" id="{384C7B2A-646B-09AF-E118-8CA0EDD408CB}"/>
              </a:ext>
            </a:extLst>
          </p:cNvPr>
          <p:cNvGrpSpPr/>
          <p:nvPr/>
        </p:nvGrpSpPr>
        <p:grpSpPr>
          <a:xfrm>
            <a:off x="10123343" y="645081"/>
            <a:ext cx="1114416" cy="678730"/>
            <a:chOff x="4752000" y="795531"/>
            <a:chExt cx="1114416" cy="678730"/>
          </a:xfrm>
        </p:grpSpPr>
        <p:grpSp>
          <p:nvGrpSpPr>
            <p:cNvPr id="221" name="Group 220">
              <a:extLst>
                <a:ext uri="{FF2B5EF4-FFF2-40B4-BE49-F238E27FC236}">
                  <a16:creationId xmlns:a16="http://schemas.microsoft.com/office/drawing/2014/main" id="{D4D26F1C-89A3-0600-3FC8-41D7CA1A3CA6}"/>
                </a:ext>
              </a:extLst>
            </p:cNvPr>
            <p:cNvGrpSpPr/>
            <p:nvPr/>
          </p:nvGrpSpPr>
          <p:grpSpPr>
            <a:xfrm>
              <a:off x="4752000" y="795531"/>
              <a:ext cx="886789" cy="123111"/>
              <a:chOff x="4752000" y="795531"/>
              <a:chExt cx="886789" cy="123111"/>
            </a:xfrm>
          </p:grpSpPr>
          <p:sp>
            <p:nvSpPr>
              <p:cNvPr id="234" name="Rectangle 233">
                <a:extLst>
                  <a:ext uri="{FF2B5EF4-FFF2-40B4-BE49-F238E27FC236}">
                    <a16:creationId xmlns:a16="http://schemas.microsoft.com/office/drawing/2014/main" id="{9EA9419A-A38E-E6E9-9C9D-579A1ED55022}"/>
                  </a:ext>
                </a:extLst>
              </p:cNvPr>
              <p:cNvSpPr>
                <a:spLocks noChangeArrowheads="1"/>
              </p:cNvSpPr>
              <p:nvPr/>
            </p:nvSpPr>
            <p:spPr bwMode="auto">
              <a:xfrm>
                <a:off x="5004000" y="795531"/>
                <a:ext cx="634789"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GC Component</a:t>
                </a:r>
                <a:endParaRPr kumimoji="0" lang="en-US" altLang="en-US" sz="1800" b="0" i="0" u="none" strike="noStrike" cap="none" normalizeH="0" baseline="0">
                  <a:ln>
                    <a:noFill/>
                  </a:ln>
                  <a:solidFill>
                    <a:schemeClr val="tx1"/>
                  </a:solidFill>
                  <a:effectLst/>
                  <a:latin typeface="+mn-lt"/>
                </a:endParaRPr>
              </a:p>
            </p:txBody>
          </p:sp>
          <p:sp>
            <p:nvSpPr>
              <p:cNvPr id="235" name="Rectangle 234">
                <a:extLst>
                  <a:ext uri="{FF2B5EF4-FFF2-40B4-BE49-F238E27FC236}">
                    <a16:creationId xmlns:a16="http://schemas.microsoft.com/office/drawing/2014/main" id="{8C0ABCAA-3134-EFBC-D84F-7980EFE43338}"/>
                  </a:ext>
                </a:extLst>
              </p:cNvPr>
              <p:cNvSpPr/>
              <p:nvPr/>
            </p:nvSpPr>
            <p:spPr>
              <a:xfrm>
                <a:off x="4752000" y="803086"/>
                <a:ext cx="216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222" name="Group 221">
              <a:extLst>
                <a:ext uri="{FF2B5EF4-FFF2-40B4-BE49-F238E27FC236}">
                  <a16:creationId xmlns:a16="http://schemas.microsoft.com/office/drawing/2014/main" id="{84C21C4D-266F-7E3D-8AD5-9F5C6187D26A}"/>
                </a:ext>
              </a:extLst>
            </p:cNvPr>
            <p:cNvGrpSpPr/>
            <p:nvPr/>
          </p:nvGrpSpPr>
          <p:grpSpPr>
            <a:xfrm>
              <a:off x="4752000" y="934436"/>
              <a:ext cx="917247" cy="123111"/>
              <a:chOff x="4752000" y="937773"/>
              <a:chExt cx="917247" cy="123111"/>
            </a:xfrm>
          </p:grpSpPr>
          <p:sp>
            <p:nvSpPr>
              <p:cNvPr id="232" name="Rectangle 231">
                <a:extLst>
                  <a:ext uri="{FF2B5EF4-FFF2-40B4-BE49-F238E27FC236}">
                    <a16:creationId xmlns:a16="http://schemas.microsoft.com/office/drawing/2014/main" id="{DFFF44C4-8D02-8B1F-EBD8-35BB88A0A339}"/>
                  </a:ext>
                </a:extLst>
              </p:cNvPr>
              <p:cNvSpPr>
                <a:spLocks noChangeArrowheads="1"/>
              </p:cNvSpPr>
              <p:nvPr/>
            </p:nvSpPr>
            <p:spPr bwMode="auto">
              <a:xfrm>
                <a:off x="5004000" y="937773"/>
                <a:ext cx="66524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External System</a:t>
                </a:r>
                <a:endParaRPr kumimoji="0" lang="en-US" altLang="en-US" sz="1800" b="0" i="0" u="none" strike="noStrike" cap="none" normalizeH="0" baseline="0">
                  <a:ln>
                    <a:noFill/>
                  </a:ln>
                  <a:solidFill>
                    <a:schemeClr val="tx1"/>
                  </a:solidFill>
                  <a:effectLst/>
                  <a:latin typeface="+mn-lt"/>
                </a:endParaRPr>
              </a:p>
            </p:txBody>
          </p:sp>
          <p:sp>
            <p:nvSpPr>
              <p:cNvPr id="233" name="Rectangle 232">
                <a:extLst>
                  <a:ext uri="{FF2B5EF4-FFF2-40B4-BE49-F238E27FC236}">
                    <a16:creationId xmlns:a16="http://schemas.microsoft.com/office/drawing/2014/main" id="{42F56506-7C99-A77C-7265-15D9E44E4DEF}"/>
                  </a:ext>
                </a:extLst>
              </p:cNvPr>
              <p:cNvSpPr/>
              <p:nvPr/>
            </p:nvSpPr>
            <p:spPr>
              <a:xfrm>
                <a:off x="4752000" y="945328"/>
                <a:ext cx="216000" cy="108000"/>
              </a:xfrm>
              <a:prstGeom prst="rect">
                <a:avLst/>
              </a:prstGeom>
              <a:solidFill>
                <a:srgbClr val="BF9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223" name="Group 222">
              <a:extLst>
                <a:ext uri="{FF2B5EF4-FFF2-40B4-BE49-F238E27FC236}">
                  <a16:creationId xmlns:a16="http://schemas.microsoft.com/office/drawing/2014/main" id="{BD6B542D-3C21-32AF-C79D-0A4A0CDD9FAC}"/>
                </a:ext>
              </a:extLst>
            </p:cNvPr>
            <p:cNvGrpSpPr/>
            <p:nvPr/>
          </p:nvGrpSpPr>
          <p:grpSpPr>
            <a:xfrm>
              <a:off x="4752000" y="1073341"/>
              <a:ext cx="816257" cy="123111"/>
              <a:chOff x="4752000" y="1073541"/>
              <a:chExt cx="816257" cy="123111"/>
            </a:xfrm>
          </p:grpSpPr>
          <p:sp>
            <p:nvSpPr>
              <p:cNvPr id="230" name="Rectangle 229">
                <a:extLst>
                  <a:ext uri="{FF2B5EF4-FFF2-40B4-BE49-F238E27FC236}">
                    <a16:creationId xmlns:a16="http://schemas.microsoft.com/office/drawing/2014/main" id="{1C441DE8-F5A6-8BF6-49D8-5954F03DCA27}"/>
                  </a:ext>
                </a:extLst>
              </p:cNvPr>
              <p:cNvSpPr>
                <a:spLocks noChangeArrowheads="1"/>
              </p:cNvSpPr>
              <p:nvPr/>
            </p:nvSpPr>
            <p:spPr bwMode="auto">
              <a:xfrm>
                <a:off x="5004000" y="1073541"/>
                <a:ext cx="56425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Solution Data</a:t>
                </a:r>
                <a:endParaRPr kumimoji="0" lang="en-US" altLang="en-US" sz="1800" b="0" i="0" u="none" strike="noStrike" cap="none" normalizeH="0" baseline="0">
                  <a:ln>
                    <a:noFill/>
                  </a:ln>
                  <a:solidFill>
                    <a:schemeClr val="tx1"/>
                  </a:solidFill>
                  <a:effectLst/>
                  <a:latin typeface="+mn-lt"/>
                </a:endParaRPr>
              </a:p>
            </p:txBody>
          </p:sp>
          <p:sp>
            <p:nvSpPr>
              <p:cNvPr id="231" name="Rectangle 230">
                <a:extLst>
                  <a:ext uri="{FF2B5EF4-FFF2-40B4-BE49-F238E27FC236}">
                    <a16:creationId xmlns:a16="http://schemas.microsoft.com/office/drawing/2014/main" id="{A0805D26-5677-3636-B084-6B998F56F7EA}"/>
                  </a:ext>
                </a:extLst>
              </p:cNvPr>
              <p:cNvSpPr/>
              <p:nvPr/>
            </p:nvSpPr>
            <p:spPr>
              <a:xfrm>
                <a:off x="4752000" y="1081096"/>
                <a:ext cx="216000" cy="108000"/>
              </a:xfrm>
              <a:prstGeom prst="rect">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224" name="Group 223">
              <a:extLst>
                <a:ext uri="{FF2B5EF4-FFF2-40B4-BE49-F238E27FC236}">
                  <a16:creationId xmlns:a16="http://schemas.microsoft.com/office/drawing/2014/main" id="{A6AAF70B-EB89-E647-BE4F-FBC15C208EC5}"/>
                </a:ext>
              </a:extLst>
            </p:cNvPr>
            <p:cNvGrpSpPr/>
            <p:nvPr/>
          </p:nvGrpSpPr>
          <p:grpSpPr>
            <a:xfrm>
              <a:off x="4752000" y="1212246"/>
              <a:ext cx="1114416" cy="123111"/>
              <a:chOff x="4752000" y="1234967"/>
              <a:chExt cx="1114416" cy="123111"/>
            </a:xfrm>
          </p:grpSpPr>
          <p:sp>
            <p:nvSpPr>
              <p:cNvPr id="228" name="Rectangle 227">
                <a:extLst>
                  <a:ext uri="{FF2B5EF4-FFF2-40B4-BE49-F238E27FC236}">
                    <a16:creationId xmlns:a16="http://schemas.microsoft.com/office/drawing/2014/main" id="{5ECB8F50-983C-871C-BBC4-CBDE706734D6}"/>
                  </a:ext>
                </a:extLst>
              </p:cNvPr>
              <p:cNvSpPr>
                <a:spLocks noChangeArrowheads="1"/>
              </p:cNvSpPr>
              <p:nvPr/>
            </p:nvSpPr>
            <p:spPr bwMode="auto">
              <a:xfrm>
                <a:off x="5004000" y="1234967"/>
                <a:ext cx="862416"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Solution Component</a:t>
                </a:r>
                <a:endParaRPr kumimoji="0" lang="en-US" altLang="en-US" sz="1800" b="0" i="0" u="none" strike="noStrike" cap="none" normalizeH="0" baseline="0">
                  <a:ln>
                    <a:noFill/>
                  </a:ln>
                  <a:solidFill>
                    <a:schemeClr val="tx1"/>
                  </a:solidFill>
                  <a:effectLst/>
                  <a:latin typeface="+mn-lt"/>
                </a:endParaRPr>
              </a:p>
            </p:txBody>
          </p:sp>
          <p:sp>
            <p:nvSpPr>
              <p:cNvPr id="229" name="Rectangle 228">
                <a:extLst>
                  <a:ext uri="{FF2B5EF4-FFF2-40B4-BE49-F238E27FC236}">
                    <a16:creationId xmlns:a16="http://schemas.microsoft.com/office/drawing/2014/main" id="{6518FEAB-FC60-9EC6-A2D9-89BD651D642D}"/>
                  </a:ext>
                </a:extLst>
              </p:cNvPr>
              <p:cNvSpPr/>
              <p:nvPr/>
            </p:nvSpPr>
            <p:spPr>
              <a:xfrm>
                <a:off x="4752000" y="1242522"/>
                <a:ext cx="216000" cy="108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225" name="Group 224">
              <a:extLst>
                <a:ext uri="{FF2B5EF4-FFF2-40B4-BE49-F238E27FC236}">
                  <a16:creationId xmlns:a16="http://schemas.microsoft.com/office/drawing/2014/main" id="{54776A2E-5597-7BEB-67FD-40CDC6D6F173}"/>
                </a:ext>
              </a:extLst>
            </p:cNvPr>
            <p:cNvGrpSpPr/>
            <p:nvPr/>
          </p:nvGrpSpPr>
          <p:grpSpPr>
            <a:xfrm>
              <a:off x="4752000" y="1351150"/>
              <a:ext cx="801831" cy="123111"/>
              <a:chOff x="4752000" y="1351150"/>
              <a:chExt cx="801831" cy="123111"/>
            </a:xfrm>
          </p:grpSpPr>
          <p:sp>
            <p:nvSpPr>
              <p:cNvPr id="226" name="Rectangle 225">
                <a:extLst>
                  <a:ext uri="{FF2B5EF4-FFF2-40B4-BE49-F238E27FC236}">
                    <a16:creationId xmlns:a16="http://schemas.microsoft.com/office/drawing/2014/main" id="{37BCD380-11D7-E8CA-8A97-F6F48D622DBB}"/>
                  </a:ext>
                </a:extLst>
              </p:cNvPr>
              <p:cNvSpPr>
                <a:spLocks noChangeArrowheads="1"/>
              </p:cNvSpPr>
              <p:nvPr/>
            </p:nvSpPr>
            <p:spPr bwMode="auto">
              <a:xfrm>
                <a:off x="5004000" y="1351150"/>
                <a:ext cx="549831"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Out-of</a:t>
                </a:r>
                <a:r>
                  <a:rPr lang="en-US" altLang="en-US" sz="800">
                    <a:solidFill>
                      <a:srgbClr val="000000"/>
                    </a:solidFill>
                    <a:latin typeface="+mn-lt"/>
                  </a:rPr>
                  <a:t>-</a:t>
                </a:r>
                <a:r>
                  <a:rPr kumimoji="0" lang="en-US" altLang="en-US" sz="800" b="0" i="0" u="none" strike="noStrike" cap="none" normalizeH="0" baseline="0">
                    <a:ln>
                      <a:noFill/>
                    </a:ln>
                    <a:solidFill>
                      <a:srgbClr val="000000"/>
                    </a:solidFill>
                    <a:effectLst/>
                    <a:latin typeface="+mn-lt"/>
                  </a:rPr>
                  <a:t>scope</a:t>
                </a:r>
                <a:endParaRPr kumimoji="0" lang="en-US" altLang="en-US" sz="1800" b="0" i="0" u="none" strike="noStrike" cap="none" normalizeH="0" baseline="0">
                  <a:ln>
                    <a:noFill/>
                  </a:ln>
                  <a:solidFill>
                    <a:schemeClr val="tx1"/>
                  </a:solidFill>
                  <a:effectLst/>
                  <a:latin typeface="+mn-lt"/>
                </a:endParaRPr>
              </a:p>
            </p:txBody>
          </p:sp>
          <p:sp>
            <p:nvSpPr>
              <p:cNvPr id="227" name="Rectangle 226">
                <a:extLst>
                  <a:ext uri="{FF2B5EF4-FFF2-40B4-BE49-F238E27FC236}">
                    <a16:creationId xmlns:a16="http://schemas.microsoft.com/office/drawing/2014/main" id="{FFB2BBD2-B31F-EB87-0647-111DC89619D8}"/>
                  </a:ext>
                </a:extLst>
              </p:cNvPr>
              <p:cNvSpPr/>
              <p:nvPr/>
            </p:nvSpPr>
            <p:spPr>
              <a:xfrm>
                <a:off x="4752000" y="1358705"/>
                <a:ext cx="216000" cy="108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236" name="Freeform 18">
            <a:extLst>
              <a:ext uri="{FF2B5EF4-FFF2-40B4-BE49-F238E27FC236}">
                <a16:creationId xmlns:a16="http://schemas.microsoft.com/office/drawing/2014/main" id="{14083331-5F50-0929-E74E-4574DD930B4B}"/>
              </a:ext>
            </a:extLst>
          </p:cNvPr>
          <p:cNvSpPr>
            <a:spLocks/>
          </p:cNvSpPr>
          <p:nvPr/>
        </p:nvSpPr>
        <p:spPr bwMode="auto">
          <a:xfrm>
            <a:off x="4020933" y="1818722"/>
            <a:ext cx="684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algn="ctr"/>
            <a:r>
              <a:rPr lang="en-CA" sz="800" err="1">
                <a:cs typeface="Arial" panose="020B0604020202020204" pitchFamily="34" charset="0"/>
              </a:rPr>
              <a:t>AppliWeb</a:t>
            </a:r>
            <a:endParaRPr lang="en-CA" sz="800">
              <a:cs typeface="Arial" panose="020B0604020202020204" pitchFamily="34" charset="0"/>
            </a:endParaRPr>
          </a:p>
        </p:txBody>
      </p:sp>
      <p:sp>
        <p:nvSpPr>
          <p:cNvPr id="237" name="Rectangle 236">
            <a:extLst>
              <a:ext uri="{FF2B5EF4-FFF2-40B4-BE49-F238E27FC236}">
                <a16:creationId xmlns:a16="http://schemas.microsoft.com/office/drawing/2014/main" id="{5A9B6673-0A88-EDE9-CBCA-92F156211B11}"/>
              </a:ext>
            </a:extLst>
          </p:cNvPr>
          <p:cNvSpPr/>
          <p:nvPr/>
        </p:nvSpPr>
        <p:spPr>
          <a:xfrm>
            <a:off x="6566884" y="1289651"/>
            <a:ext cx="972000" cy="144000"/>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Access Management</a:t>
            </a:r>
          </a:p>
        </p:txBody>
      </p:sp>
      <p:sp>
        <p:nvSpPr>
          <p:cNvPr id="238" name="Freeform 18">
            <a:extLst>
              <a:ext uri="{FF2B5EF4-FFF2-40B4-BE49-F238E27FC236}">
                <a16:creationId xmlns:a16="http://schemas.microsoft.com/office/drawing/2014/main" id="{6A0E8936-5F9A-5E05-B791-69B48128BFFF}"/>
              </a:ext>
            </a:extLst>
          </p:cNvPr>
          <p:cNvSpPr>
            <a:spLocks/>
          </p:cNvSpPr>
          <p:nvPr/>
        </p:nvSpPr>
        <p:spPr bwMode="auto">
          <a:xfrm>
            <a:off x="2886934" y="1814309"/>
            <a:ext cx="1101561" cy="130189"/>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solidFill>
              <a:srgbClr val="A6A6A6"/>
            </a:solidFill>
            <a:prstDash val="solid"/>
            <a:round/>
            <a:headEnd/>
            <a:tailEnd/>
          </a:ln>
        </p:spPr>
        <p:txBody>
          <a:bodyPr vert="horz" wrap="square" lIns="91440" tIns="45720" rIns="91440" bIns="45720" numCol="1" anchor="ctr" anchorCtr="0" compatLnSpc="1">
            <a:prstTxWarp prst="textNoShape">
              <a:avLst/>
            </a:prstTxWarp>
          </a:bodyPr>
          <a:lstStyle/>
          <a:p>
            <a:pPr algn="ctr"/>
            <a:r>
              <a:rPr lang="en-CA" sz="800">
                <a:cs typeface="Arial" panose="020B0604020202020204" pitchFamily="34" charset="0"/>
              </a:rPr>
              <a:t>EI Benefit Estimator</a:t>
            </a:r>
          </a:p>
        </p:txBody>
      </p:sp>
      <p:sp>
        <p:nvSpPr>
          <p:cNvPr id="239" name="Rectangle: Rounded Corners 238">
            <a:extLst>
              <a:ext uri="{FF2B5EF4-FFF2-40B4-BE49-F238E27FC236}">
                <a16:creationId xmlns:a16="http://schemas.microsoft.com/office/drawing/2014/main" id="{FA4AE932-0503-B4A3-6810-16F9ED0AC8A9}"/>
              </a:ext>
            </a:extLst>
          </p:cNvPr>
          <p:cNvSpPr/>
          <p:nvPr/>
        </p:nvSpPr>
        <p:spPr>
          <a:xfrm>
            <a:off x="7963759" y="3557605"/>
            <a:ext cx="713943" cy="142289"/>
          </a:xfrm>
          <a:prstGeom prst="round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WS Address</a:t>
            </a:r>
          </a:p>
        </p:txBody>
      </p:sp>
      <p:cxnSp>
        <p:nvCxnSpPr>
          <p:cNvPr id="240" name="Straight Arrow Connector 239">
            <a:extLst>
              <a:ext uri="{FF2B5EF4-FFF2-40B4-BE49-F238E27FC236}">
                <a16:creationId xmlns:a16="http://schemas.microsoft.com/office/drawing/2014/main" id="{E8BA2087-76F2-1BB3-EFB5-DB19A7769343}"/>
              </a:ext>
            </a:extLst>
          </p:cNvPr>
          <p:cNvCxnSpPr>
            <a:cxnSpLocks/>
          </p:cNvCxnSpPr>
          <p:nvPr/>
        </p:nvCxnSpPr>
        <p:spPr>
          <a:xfrm flipH="1">
            <a:off x="7452010" y="3614731"/>
            <a:ext cx="502854" cy="6244"/>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id="{A54D060F-F8B3-84FE-4256-A21DA82EA9BA}"/>
              </a:ext>
            </a:extLst>
          </p:cNvPr>
          <p:cNvCxnSpPr>
            <a:cxnSpLocks/>
          </p:cNvCxnSpPr>
          <p:nvPr/>
        </p:nvCxnSpPr>
        <p:spPr>
          <a:xfrm flipH="1" flipV="1">
            <a:off x="7458923" y="3730763"/>
            <a:ext cx="1917929" cy="1392"/>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4B00F53F-A784-7BA7-63A7-3AFC7963DEB9}"/>
              </a:ext>
            </a:extLst>
          </p:cNvPr>
          <p:cNvCxnSpPr>
            <a:cxnSpLocks/>
          </p:cNvCxnSpPr>
          <p:nvPr/>
        </p:nvCxnSpPr>
        <p:spPr>
          <a:xfrm>
            <a:off x="9334061" y="4854226"/>
            <a:ext cx="0" cy="15114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A3C97895-2937-11CA-CC26-9887F439935A}"/>
              </a:ext>
            </a:extLst>
          </p:cNvPr>
          <p:cNvCxnSpPr>
            <a:cxnSpLocks/>
          </p:cNvCxnSpPr>
          <p:nvPr/>
        </p:nvCxnSpPr>
        <p:spPr>
          <a:xfrm flipH="1">
            <a:off x="7477564" y="5461867"/>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46FDD5BE-BC70-AD61-CD36-036FBFCA5B42}"/>
              </a:ext>
            </a:extLst>
          </p:cNvPr>
          <p:cNvCxnSpPr>
            <a:cxnSpLocks/>
          </p:cNvCxnSpPr>
          <p:nvPr/>
        </p:nvCxnSpPr>
        <p:spPr>
          <a:xfrm>
            <a:off x="1015390" y="6317392"/>
            <a:ext cx="6324329" cy="1108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TextBox 244">
            <a:extLst>
              <a:ext uri="{FF2B5EF4-FFF2-40B4-BE49-F238E27FC236}">
                <a16:creationId xmlns:a16="http://schemas.microsoft.com/office/drawing/2014/main" id="{52CE3900-BC98-B5A6-6B67-F1DB6C6FA004}"/>
              </a:ext>
            </a:extLst>
          </p:cNvPr>
          <p:cNvSpPr txBox="1"/>
          <p:nvPr/>
        </p:nvSpPr>
        <p:spPr>
          <a:xfrm>
            <a:off x="3539061" y="2632763"/>
            <a:ext cx="429926" cy="21544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prstClr val="black"/>
                </a:solidFill>
                <a:effectLst/>
                <a:uLnTx/>
                <a:uFillTx/>
                <a:ea typeface="+mn-ea"/>
                <a:cs typeface="Arial" panose="020B0604020202020204" pitchFamily="34" charset="0"/>
              </a:rPr>
              <a:t>Azure</a:t>
            </a:r>
          </a:p>
        </p:txBody>
      </p:sp>
      <p:sp>
        <p:nvSpPr>
          <p:cNvPr id="246" name="TextBox 245">
            <a:extLst>
              <a:ext uri="{FF2B5EF4-FFF2-40B4-BE49-F238E27FC236}">
                <a16:creationId xmlns:a16="http://schemas.microsoft.com/office/drawing/2014/main" id="{EF53E63C-D23A-B0EF-EFCA-8EDA7C046CF6}"/>
              </a:ext>
            </a:extLst>
          </p:cNvPr>
          <p:cNvSpPr txBox="1"/>
          <p:nvPr/>
        </p:nvSpPr>
        <p:spPr>
          <a:xfrm>
            <a:off x="2233229" y="2637808"/>
            <a:ext cx="388248" cy="21544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prstClr val="black"/>
                </a:solidFill>
                <a:effectLst/>
                <a:uLnTx/>
                <a:uFillTx/>
                <a:ea typeface="+mn-ea"/>
                <a:cs typeface="Arial" panose="020B0604020202020204" pitchFamily="34" charset="0"/>
              </a:rPr>
              <a:t>AWS</a:t>
            </a:r>
          </a:p>
        </p:txBody>
      </p:sp>
      <p:cxnSp>
        <p:nvCxnSpPr>
          <p:cNvPr id="247" name="Straight Arrow Connector 246">
            <a:extLst>
              <a:ext uri="{FF2B5EF4-FFF2-40B4-BE49-F238E27FC236}">
                <a16:creationId xmlns:a16="http://schemas.microsoft.com/office/drawing/2014/main" id="{AF5109CB-8989-62AA-E70E-42A915D29091}"/>
              </a:ext>
            </a:extLst>
          </p:cNvPr>
          <p:cNvCxnSpPr>
            <a:cxnSpLocks/>
          </p:cNvCxnSpPr>
          <p:nvPr/>
        </p:nvCxnSpPr>
        <p:spPr>
          <a:xfrm flipH="1">
            <a:off x="6152729" y="2765028"/>
            <a:ext cx="252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33B6B141-D7D8-6902-E1D5-3D7C57338D96}"/>
              </a:ext>
            </a:extLst>
          </p:cNvPr>
          <p:cNvCxnSpPr>
            <a:cxnSpLocks/>
          </p:cNvCxnSpPr>
          <p:nvPr/>
        </p:nvCxnSpPr>
        <p:spPr>
          <a:xfrm>
            <a:off x="6525814" y="2161125"/>
            <a:ext cx="0" cy="25200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9" name="TextBox 248">
            <a:extLst>
              <a:ext uri="{FF2B5EF4-FFF2-40B4-BE49-F238E27FC236}">
                <a16:creationId xmlns:a16="http://schemas.microsoft.com/office/drawing/2014/main" id="{C1B0234D-66CA-796A-A234-94A7A33CDA6C}"/>
              </a:ext>
            </a:extLst>
          </p:cNvPr>
          <p:cNvSpPr txBox="1"/>
          <p:nvPr/>
        </p:nvSpPr>
        <p:spPr>
          <a:xfrm>
            <a:off x="2244246" y="6373374"/>
            <a:ext cx="1024959" cy="230832"/>
          </a:xfrm>
          <a:prstGeom prst="rect">
            <a:avLst/>
          </a:prstGeom>
          <a:noFill/>
        </p:spPr>
        <p:txBody>
          <a:bodyPr wrap="square" rtlCol="0">
            <a:spAutoFit/>
          </a:bodyPr>
          <a:lstStyle/>
          <a:p>
            <a:r>
              <a:rPr lang="en-CA" sz="900" b="1"/>
              <a:t>Version 10.3.5</a:t>
            </a:r>
          </a:p>
        </p:txBody>
      </p:sp>
      <p:sp>
        <p:nvSpPr>
          <p:cNvPr id="250" name="TextBox 249">
            <a:extLst>
              <a:ext uri="{FF2B5EF4-FFF2-40B4-BE49-F238E27FC236}">
                <a16:creationId xmlns:a16="http://schemas.microsoft.com/office/drawing/2014/main" id="{44244200-3591-E59F-DA68-E3EF264185A0}"/>
              </a:ext>
            </a:extLst>
          </p:cNvPr>
          <p:cNvSpPr txBox="1"/>
          <p:nvPr/>
        </p:nvSpPr>
        <p:spPr>
          <a:xfrm>
            <a:off x="7429682" y="6493899"/>
            <a:ext cx="680648" cy="107722"/>
          </a:xfrm>
          <a:prstGeom prst="rect">
            <a:avLst/>
          </a:prstGeom>
          <a:solidFill>
            <a:schemeClr val="bg1"/>
          </a:solidFill>
          <a:ln>
            <a:noFill/>
          </a:ln>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70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51" name="Rectangle 250">
            <a:extLst>
              <a:ext uri="{FF2B5EF4-FFF2-40B4-BE49-F238E27FC236}">
                <a16:creationId xmlns:a16="http://schemas.microsoft.com/office/drawing/2014/main" id="{A9ACD630-3ED1-9438-FA8C-38F8C5384DB2}"/>
              </a:ext>
            </a:extLst>
          </p:cNvPr>
          <p:cNvSpPr/>
          <p:nvPr/>
        </p:nvSpPr>
        <p:spPr>
          <a:xfrm>
            <a:off x="2101446" y="3817649"/>
            <a:ext cx="849447" cy="405239"/>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rPr>
              <a:t>EI Processing Systems</a:t>
            </a:r>
          </a:p>
        </p:txBody>
      </p:sp>
      <p:sp>
        <p:nvSpPr>
          <p:cNvPr id="252" name="Cylinder 251">
            <a:extLst>
              <a:ext uri="{FF2B5EF4-FFF2-40B4-BE49-F238E27FC236}">
                <a16:creationId xmlns:a16="http://schemas.microsoft.com/office/drawing/2014/main" id="{E31B52FF-0D3D-9B0E-3B18-C862859260E4}"/>
              </a:ext>
            </a:extLst>
          </p:cNvPr>
          <p:cNvSpPr/>
          <p:nvPr/>
        </p:nvSpPr>
        <p:spPr>
          <a:xfrm>
            <a:off x="4481777" y="4239995"/>
            <a:ext cx="1379980" cy="313281"/>
          </a:xfrm>
          <a:prstGeom prst="can">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prstClr val="black"/>
                </a:solidFill>
                <a:effectLst/>
                <a:uLnTx/>
                <a:uFillTx/>
                <a:ea typeface="+mn-ea"/>
                <a:cs typeface="Arial" panose="020B0604020202020204" pitchFamily="34" charset="0"/>
              </a:rPr>
              <a:t>Knowledge Repository</a:t>
            </a:r>
          </a:p>
        </p:txBody>
      </p:sp>
      <p:sp>
        <p:nvSpPr>
          <p:cNvPr id="253" name="Rectangle 252">
            <a:extLst>
              <a:ext uri="{FF2B5EF4-FFF2-40B4-BE49-F238E27FC236}">
                <a16:creationId xmlns:a16="http://schemas.microsoft.com/office/drawing/2014/main" id="{82DB25C9-C1D7-6434-E53D-A26E2E03BCF2}"/>
              </a:ext>
            </a:extLst>
          </p:cNvPr>
          <p:cNvSpPr/>
          <p:nvPr/>
        </p:nvSpPr>
        <p:spPr>
          <a:xfrm>
            <a:off x="7403896" y="6591519"/>
            <a:ext cx="1066629" cy="175685"/>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1200" cap="none" spc="0" normalizeH="0" baseline="0" noProof="0">
                <a:ln>
                  <a:noFill/>
                </a:ln>
                <a:solidFill>
                  <a:prstClr val="black"/>
                </a:solidFill>
                <a:effectLst/>
                <a:uLnTx/>
                <a:uFillTx/>
                <a:ea typeface="+mn-ea"/>
                <a:cs typeface="Arial"/>
              </a:rPr>
              <a:t>Master Data Management</a:t>
            </a:r>
          </a:p>
        </p:txBody>
      </p:sp>
      <p:sp>
        <p:nvSpPr>
          <p:cNvPr id="254" name="Rectangle 253">
            <a:extLst>
              <a:ext uri="{FF2B5EF4-FFF2-40B4-BE49-F238E27FC236}">
                <a16:creationId xmlns:a16="http://schemas.microsoft.com/office/drawing/2014/main" id="{90D2C673-A294-D85B-EE94-FF5C5301AD84}"/>
              </a:ext>
            </a:extLst>
          </p:cNvPr>
          <p:cNvSpPr/>
          <p:nvPr/>
        </p:nvSpPr>
        <p:spPr>
          <a:xfrm>
            <a:off x="8497846" y="6591519"/>
            <a:ext cx="1141352" cy="175685"/>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1200" cap="none" spc="0" normalizeH="0" baseline="0" noProof="0">
                <a:ln>
                  <a:noFill/>
                </a:ln>
                <a:solidFill>
                  <a:prstClr val="black"/>
                </a:solidFill>
                <a:effectLst/>
                <a:uLnTx/>
                <a:uFillTx/>
                <a:ea typeface="+mn-ea"/>
                <a:cs typeface="Arial"/>
              </a:rPr>
              <a:t>Enterprise </a:t>
            </a:r>
            <a:r>
              <a:rPr kumimoji="0" lang="en-US" sz="700" i="0" u="none" strike="noStrike" kern="1200" cap="none" spc="0" normalizeH="0" baseline="0" noProof="0">
                <a:ln>
                  <a:noFill/>
                </a:ln>
                <a:solidFill>
                  <a:prstClr val="black"/>
                </a:solidFill>
                <a:effectLst/>
                <a:uLnTx/>
                <a:uFillTx/>
                <a:ea typeface="+mn-ea"/>
                <a:cs typeface="Arial"/>
              </a:rPr>
              <a:t>Data</a:t>
            </a:r>
            <a:r>
              <a:rPr kumimoji="0" lang="en-US" sz="600" i="0" u="none" strike="noStrike" kern="1200" cap="none" spc="0" normalizeH="0" baseline="0" noProof="0">
                <a:ln>
                  <a:noFill/>
                </a:ln>
                <a:solidFill>
                  <a:prstClr val="black"/>
                </a:solidFill>
                <a:effectLst/>
                <a:uLnTx/>
                <a:uFillTx/>
                <a:ea typeface="+mn-ea"/>
                <a:cs typeface="Arial"/>
              </a:rPr>
              <a:t> Catalogue</a:t>
            </a:r>
          </a:p>
        </p:txBody>
      </p:sp>
      <p:sp>
        <p:nvSpPr>
          <p:cNvPr id="255" name="Rectangle 254">
            <a:extLst>
              <a:ext uri="{FF2B5EF4-FFF2-40B4-BE49-F238E27FC236}">
                <a16:creationId xmlns:a16="http://schemas.microsoft.com/office/drawing/2014/main" id="{6A74D4AE-278B-EF4A-2E91-741568CCCFF6}"/>
              </a:ext>
            </a:extLst>
          </p:cNvPr>
          <p:cNvSpPr/>
          <p:nvPr/>
        </p:nvSpPr>
        <p:spPr>
          <a:xfrm>
            <a:off x="9660127" y="6591520"/>
            <a:ext cx="856900" cy="164790"/>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Arial"/>
              </a:rPr>
              <a:t>Reference</a:t>
            </a:r>
            <a:r>
              <a:rPr kumimoji="0" lang="en-US" sz="600" i="0" u="none" strike="noStrike" kern="1200" cap="none" spc="0" normalizeH="0" baseline="0" noProof="0">
                <a:ln>
                  <a:noFill/>
                </a:ln>
                <a:solidFill>
                  <a:prstClr val="black"/>
                </a:solidFill>
                <a:effectLst/>
                <a:uLnTx/>
                <a:uFillTx/>
                <a:ea typeface="+mn-ea"/>
                <a:cs typeface="Arial"/>
              </a:rPr>
              <a:t> Data</a:t>
            </a:r>
          </a:p>
        </p:txBody>
      </p:sp>
      <p:sp>
        <p:nvSpPr>
          <p:cNvPr id="256" name="Title 1">
            <a:extLst>
              <a:ext uri="{FF2B5EF4-FFF2-40B4-BE49-F238E27FC236}">
                <a16:creationId xmlns:a16="http://schemas.microsoft.com/office/drawing/2014/main" id="{1AB691D3-740F-E802-2241-64117BEABC7F}"/>
              </a:ext>
            </a:extLst>
          </p:cNvPr>
          <p:cNvSpPr txBox="1">
            <a:spLocks/>
          </p:cNvSpPr>
          <p:nvPr/>
        </p:nvSpPr>
        <p:spPr>
          <a:xfrm>
            <a:off x="0" y="-125854"/>
            <a:ext cx="12191999" cy="456250"/>
          </a:xfrm>
          <a:prstGeom prst="rect">
            <a:avLst/>
          </a:prstGeom>
        </p:spPr>
        <p:txBody>
          <a:bodyPr vert="horz" lIns="91440" tIns="42120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latin typeface="Arial"/>
                <a:cs typeface="Arial"/>
              </a:rPr>
              <a:t>BDM Knowledge Management Capability</a:t>
            </a:r>
            <a:br>
              <a:rPr lang="en-US" sz="1800" b="1">
                <a:latin typeface="+mn-lt"/>
                <a:cs typeface="Verdana"/>
              </a:rPr>
            </a:br>
            <a:r>
              <a:rPr lang="en-CA" sz="1400" b="1">
                <a:latin typeface="Arial"/>
                <a:ea typeface="Verdana"/>
                <a:cs typeface="Arial"/>
              </a:rPr>
              <a:t>Architecture State: Interim State – Knowledge Management within the BDM ecosystem </a:t>
            </a:r>
            <a:endParaRPr lang="en-US" sz="1800">
              <a:latin typeface="Arial"/>
              <a:ea typeface="Verdana"/>
              <a:cs typeface="Arial"/>
            </a:endParaRPr>
          </a:p>
        </p:txBody>
      </p:sp>
      <p:cxnSp>
        <p:nvCxnSpPr>
          <p:cNvPr id="153" name="Straight Arrow Connector 152">
            <a:extLst>
              <a:ext uri="{FF2B5EF4-FFF2-40B4-BE49-F238E27FC236}">
                <a16:creationId xmlns:a16="http://schemas.microsoft.com/office/drawing/2014/main" id="{304AEB43-E4AC-10C1-F1A4-D64635CAC848}"/>
              </a:ext>
            </a:extLst>
          </p:cNvPr>
          <p:cNvCxnSpPr>
            <a:cxnSpLocks/>
          </p:cNvCxnSpPr>
          <p:nvPr/>
        </p:nvCxnSpPr>
        <p:spPr>
          <a:xfrm>
            <a:off x="3801907" y="5395245"/>
            <a:ext cx="0" cy="318622"/>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02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itle 1">
            <a:extLst>
              <a:ext uri="{FF2B5EF4-FFF2-40B4-BE49-F238E27FC236}">
                <a16:creationId xmlns:a16="http://schemas.microsoft.com/office/drawing/2014/main" id="{1AB691D3-740F-E802-2241-64117BEABC7F}"/>
              </a:ext>
            </a:extLst>
          </p:cNvPr>
          <p:cNvSpPr txBox="1">
            <a:spLocks/>
          </p:cNvSpPr>
          <p:nvPr/>
        </p:nvSpPr>
        <p:spPr>
          <a:xfrm>
            <a:off x="0" y="-125854"/>
            <a:ext cx="12191999" cy="456250"/>
          </a:xfrm>
          <a:prstGeom prst="rect">
            <a:avLst/>
          </a:prstGeom>
        </p:spPr>
        <p:txBody>
          <a:bodyPr vert="horz" lIns="91440" tIns="42120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latin typeface="Arial"/>
                <a:cs typeface="Arial"/>
              </a:rPr>
              <a:t>BDM Knowledge Management Capability</a:t>
            </a:r>
            <a:br>
              <a:rPr lang="en-US" sz="1800" b="1">
                <a:latin typeface="+mn-lt"/>
                <a:cs typeface="Verdana"/>
              </a:rPr>
            </a:br>
            <a:r>
              <a:rPr lang="en-CA" sz="1400" b="1">
                <a:latin typeface="Arial"/>
                <a:ea typeface="Verdana"/>
                <a:cs typeface="Arial"/>
              </a:rPr>
              <a:t>Architecture State: Target State – Knowledge Management within the BDM ecosystem </a:t>
            </a:r>
            <a:endParaRPr lang="en-US" sz="1800">
              <a:latin typeface="Arial"/>
              <a:ea typeface="Verdana"/>
              <a:cs typeface="Arial"/>
            </a:endParaRPr>
          </a:p>
        </p:txBody>
      </p:sp>
      <p:sp>
        <p:nvSpPr>
          <p:cNvPr id="2" name="Cloud 1">
            <a:extLst>
              <a:ext uri="{FF2B5EF4-FFF2-40B4-BE49-F238E27FC236}">
                <a16:creationId xmlns:a16="http://schemas.microsoft.com/office/drawing/2014/main" id="{23851C48-BB84-D2ED-D24E-5312F86F6754}"/>
              </a:ext>
            </a:extLst>
          </p:cNvPr>
          <p:cNvSpPr/>
          <p:nvPr/>
        </p:nvSpPr>
        <p:spPr>
          <a:xfrm>
            <a:off x="6677025" y="2981943"/>
            <a:ext cx="249444" cy="178919"/>
          </a:xfrm>
          <a:prstGeom prst="cloud">
            <a:avLst/>
          </a:prstGeom>
          <a:solidFill>
            <a:srgbClr val="6895BE"/>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srgbClr val="000000"/>
              </a:solidFill>
              <a:effectLst/>
              <a:uLnTx/>
              <a:uFillTx/>
              <a:ea typeface="+mn-ea"/>
              <a:cs typeface="+mn-cs"/>
            </a:endParaRPr>
          </a:p>
        </p:txBody>
      </p:sp>
      <p:sp>
        <p:nvSpPr>
          <p:cNvPr id="3" name="Rectangle: Rounded Corners 2">
            <a:extLst>
              <a:ext uri="{FF2B5EF4-FFF2-40B4-BE49-F238E27FC236}">
                <a16:creationId xmlns:a16="http://schemas.microsoft.com/office/drawing/2014/main" id="{5411F624-936B-CAC9-E525-1CDE493E662A}"/>
              </a:ext>
            </a:extLst>
          </p:cNvPr>
          <p:cNvSpPr/>
          <p:nvPr/>
        </p:nvSpPr>
        <p:spPr>
          <a:xfrm>
            <a:off x="1655734" y="3126592"/>
            <a:ext cx="936000" cy="2255481"/>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4" name="TextBox 256">
            <a:extLst>
              <a:ext uri="{FF2B5EF4-FFF2-40B4-BE49-F238E27FC236}">
                <a16:creationId xmlns:a16="http://schemas.microsoft.com/office/drawing/2014/main" id="{D74C0E70-42D4-1D8A-2BFE-A33184CB52DA}"/>
              </a:ext>
            </a:extLst>
          </p:cNvPr>
          <p:cNvSpPr txBox="1"/>
          <p:nvPr/>
        </p:nvSpPr>
        <p:spPr>
          <a:xfrm>
            <a:off x="1724301" y="3058009"/>
            <a:ext cx="798864" cy="153888"/>
          </a:xfrm>
          <a:prstGeom prst="rect">
            <a:avLst/>
          </a:prstGeom>
          <a:solidFill>
            <a:schemeClr val="bg1"/>
          </a:solidFill>
        </p:spPr>
        <p:txBody>
          <a:bodyPr wrap="squar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ea typeface="+mn-ea"/>
                <a:cs typeface="Arial" panose="020B0604020202020204" pitchFamily="34" charset="0"/>
              </a:rPr>
              <a:t>ESDC User UX</a:t>
            </a:r>
          </a:p>
        </p:txBody>
      </p:sp>
      <p:grpSp>
        <p:nvGrpSpPr>
          <p:cNvPr id="5" name="Group 4">
            <a:extLst>
              <a:ext uri="{FF2B5EF4-FFF2-40B4-BE49-F238E27FC236}">
                <a16:creationId xmlns:a16="http://schemas.microsoft.com/office/drawing/2014/main" id="{0B92889B-5C26-7A1B-1B9D-9CCD311DF0EC}"/>
              </a:ext>
            </a:extLst>
          </p:cNvPr>
          <p:cNvGrpSpPr/>
          <p:nvPr/>
        </p:nvGrpSpPr>
        <p:grpSpPr>
          <a:xfrm>
            <a:off x="1724301" y="3223833"/>
            <a:ext cx="812377" cy="2103770"/>
            <a:chOff x="968567" y="3223527"/>
            <a:chExt cx="812377" cy="2103770"/>
          </a:xfrm>
        </p:grpSpPr>
        <p:sp>
          <p:nvSpPr>
            <p:cNvPr id="819" name="Rectangle 818">
              <a:extLst>
                <a:ext uri="{FF2B5EF4-FFF2-40B4-BE49-F238E27FC236}">
                  <a16:creationId xmlns:a16="http://schemas.microsoft.com/office/drawing/2014/main" id="{5F3AE835-B4EF-5915-6D9A-A7AE662A51D7}"/>
                </a:ext>
              </a:extLst>
            </p:cNvPr>
            <p:cNvSpPr/>
            <p:nvPr/>
          </p:nvSpPr>
          <p:spPr>
            <a:xfrm>
              <a:off x="968567" y="3223527"/>
              <a:ext cx="812377" cy="153888"/>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Virtual Assistant</a:t>
              </a:r>
            </a:p>
          </p:txBody>
        </p:sp>
        <p:sp>
          <p:nvSpPr>
            <p:cNvPr id="820" name="Rectangle 819">
              <a:extLst>
                <a:ext uri="{FF2B5EF4-FFF2-40B4-BE49-F238E27FC236}">
                  <a16:creationId xmlns:a16="http://schemas.microsoft.com/office/drawing/2014/main" id="{E1ED0BE2-7D0B-AA4C-DDA9-233CC994329D}"/>
                </a:ext>
              </a:extLst>
            </p:cNvPr>
            <p:cNvSpPr/>
            <p:nvPr/>
          </p:nvSpPr>
          <p:spPr>
            <a:xfrm>
              <a:off x="974469" y="3755330"/>
              <a:ext cx="79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Cúram EI UI</a:t>
              </a:r>
            </a:p>
          </p:txBody>
        </p:sp>
        <p:sp>
          <p:nvSpPr>
            <p:cNvPr id="821" name="Rectangle 820">
              <a:extLst>
                <a:ext uri="{FF2B5EF4-FFF2-40B4-BE49-F238E27FC236}">
                  <a16:creationId xmlns:a16="http://schemas.microsoft.com/office/drawing/2014/main" id="{E05B40D5-2CFC-1140-198F-E726145655E4}"/>
                </a:ext>
              </a:extLst>
            </p:cNvPr>
            <p:cNvSpPr/>
            <p:nvPr/>
          </p:nvSpPr>
          <p:spPr>
            <a:xfrm>
              <a:off x="974469" y="3934627"/>
              <a:ext cx="792000" cy="144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Knowledge UI</a:t>
              </a:r>
            </a:p>
          </p:txBody>
        </p:sp>
        <p:sp>
          <p:nvSpPr>
            <p:cNvPr id="822" name="Rectangle 821">
              <a:extLst>
                <a:ext uri="{FF2B5EF4-FFF2-40B4-BE49-F238E27FC236}">
                  <a16:creationId xmlns:a16="http://schemas.microsoft.com/office/drawing/2014/main" id="{5040A7A6-E563-77CE-F6AE-2C2F117EDE43}"/>
                </a:ext>
              </a:extLst>
            </p:cNvPr>
            <p:cNvSpPr/>
            <p:nvPr/>
          </p:nvSpPr>
          <p:spPr>
            <a:xfrm>
              <a:off x="972000" y="4104000"/>
              <a:ext cx="792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Scanning Capture App</a:t>
              </a:r>
            </a:p>
          </p:txBody>
        </p:sp>
        <p:grpSp>
          <p:nvGrpSpPr>
            <p:cNvPr id="823" name="Group 822">
              <a:extLst>
                <a:ext uri="{FF2B5EF4-FFF2-40B4-BE49-F238E27FC236}">
                  <a16:creationId xmlns:a16="http://schemas.microsoft.com/office/drawing/2014/main" id="{5FE05557-805E-7F66-4395-94C644E7E7A4}"/>
                </a:ext>
              </a:extLst>
            </p:cNvPr>
            <p:cNvGrpSpPr/>
            <p:nvPr/>
          </p:nvGrpSpPr>
          <p:grpSpPr>
            <a:xfrm>
              <a:off x="981115" y="4355297"/>
              <a:ext cx="792000" cy="972000"/>
              <a:chOff x="981115" y="3851297"/>
              <a:chExt cx="792000" cy="972000"/>
            </a:xfrm>
          </p:grpSpPr>
          <p:sp>
            <p:nvSpPr>
              <p:cNvPr id="824" name="Rectangle 823">
                <a:extLst>
                  <a:ext uri="{FF2B5EF4-FFF2-40B4-BE49-F238E27FC236}">
                    <a16:creationId xmlns:a16="http://schemas.microsoft.com/office/drawing/2014/main" id="{5597FEAD-5786-EBC0-D820-002849568E2F}"/>
                  </a:ext>
                </a:extLst>
              </p:cNvPr>
              <p:cNvSpPr/>
              <p:nvPr/>
            </p:nvSpPr>
            <p:spPr>
              <a:xfrm>
                <a:off x="981115" y="3851297"/>
                <a:ext cx="792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Training Content Editor</a:t>
                </a:r>
              </a:p>
            </p:txBody>
          </p:sp>
          <p:sp>
            <p:nvSpPr>
              <p:cNvPr id="825" name="Rectangle 824">
                <a:extLst>
                  <a:ext uri="{FF2B5EF4-FFF2-40B4-BE49-F238E27FC236}">
                    <a16:creationId xmlns:a16="http://schemas.microsoft.com/office/drawing/2014/main" id="{43D85F2F-98A1-5BB8-FB2D-51689CE751E2}"/>
                  </a:ext>
                </a:extLst>
              </p:cNvPr>
              <p:cNvSpPr/>
              <p:nvPr/>
            </p:nvSpPr>
            <p:spPr>
              <a:xfrm>
                <a:off x="981115" y="4103297"/>
                <a:ext cx="792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CA" sz="800">
                    <a:solidFill>
                      <a:prstClr val="black"/>
                    </a:solidFill>
                    <a:cs typeface="Arial" panose="020B0604020202020204" pitchFamily="34" charset="0"/>
                  </a:rPr>
                  <a:t>Feedback Management UI</a:t>
                </a:r>
              </a:p>
            </p:txBody>
          </p:sp>
          <p:sp>
            <p:nvSpPr>
              <p:cNvPr id="826" name="Rectangle 825">
                <a:extLst>
                  <a:ext uri="{FF2B5EF4-FFF2-40B4-BE49-F238E27FC236}">
                    <a16:creationId xmlns:a16="http://schemas.microsoft.com/office/drawing/2014/main" id="{34978D71-DB91-C81F-211B-E8ED7AFE8692}"/>
                  </a:ext>
                </a:extLst>
              </p:cNvPr>
              <p:cNvSpPr/>
              <p:nvPr/>
            </p:nvSpPr>
            <p:spPr>
              <a:xfrm>
                <a:off x="981115" y="4355297"/>
                <a:ext cx="792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CA" sz="800">
                    <a:solidFill>
                      <a:prstClr val="black"/>
                    </a:solidFill>
                    <a:cs typeface="Arial" panose="020B0604020202020204" pitchFamily="34" charset="0"/>
                  </a:rPr>
                  <a:t>Analytics Dashboard</a:t>
                </a:r>
              </a:p>
            </p:txBody>
          </p:sp>
          <p:sp>
            <p:nvSpPr>
              <p:cNvPr id="827" name="Rectangle 826">
                <a:extLst>
                  <a:ext uri="{FF2B5EF4-FFF2-40B4-BE49-F238E27FC236}">
                    <a16:creationId xmlns:a16="http://schemas.microsoft.com/office/drawing/2014/main" id="{A4C442E0-8A8B-A7FC-E602-78434F01F089}"/>
                  </a:ext>
                </a:extLst>
              </p:cNvPr>
              <p:cNvSpPr/>
              <p:nvPr/>
            </p:nvSpPr>
            <p:spPr>
              <a:xfrm>
                <a:off x="981115" y="4607297"/>
                <a:ext cx="792000" cy="216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Single Sign-On</a:t>
                </a:r>
              </a:p>
            </p:txBody>
          </p:sp>
        </p:grpSp>
      </p:grpSp>
      <p:grpSp>
        <p:nvGrpSpPr>
          <p:cNvPr id="6" name="Group 5">
            <a:extLst>
              <a:ext uri="{FF2B5EF4-FFF2-40B4-BE49-F238E27FC236}">
                <a16:creationId xmlns:a16="http://schemas.microsoft.com/office/drawing/2014/main" id="{AC0ECBFE-E4DD-2DC3-3A2B-1C6D16112237}"/>
              </a:ext>
            </a:extLst>
          </p:cNvPr>
          <p:cNvGrpSpPr/>
          <p:nvPr/>
        </p:nvGrpSpPr>
        <p:grpSpPr>
          <a:xfrm>
            <a:off x="8537884" y="493218"/>
            <a:ext cx="1944000" cy="1892625"/>
            <a:chOff x="3238071" y="411375"/>
            <a:chExt cx="1944000" cy="1892625"/>
          </a:xfrm>
        </p:grpSpPr>
        <p:sp>
          <p:nvSpPr>
            <p:cNvPr id="798" name="Freeform 39">
              <a:extLst>
                <a:ext uri="{FF2B5EF4-FFF2-40B4-BE49-F238E27FC236}">
                  <a16:creationId xmlns:a16="http://schemas.microsoft.com/office/drawing/2014/main" id="{D1711FA8-4DD2-00E7-24B0-C0DF86A0363E}"/>
                </a:ext>
              </a:extLst>
            </p:cNvPr>
            <p:cNvSpPr>
              <a:spLocks/>
            </p:cNvSpPr>
            <p:nvPr/>
          </p:nvSpPr>
          <p:spPr bwMode="auto">
            <a:xfrm>
              <a:off x="3238071" y="468000"/>
              <a:ext cx="1944000" cy="1836000"/>
            </a:xfrm>
            <a:custGeom>
              <a:avLst/>
              <a:gdLst>
                <a:gd name="T0" fmla="*/ 192 w 4946"/>
                <a:gd name="T1" fmla="*/ 4386 h 4386"/>
                <a:gd name="T2" fmla="*/ 4754 w 4946"/>
                <a:gd name="T3" fmla="*/ 4386 h 4386"/>
                <a:gd name="T4" fmla="*/ 4946 w 4946"/>
                <a:gd name="T5" fmla="*/ 4194 h 4386"/>
                <a:gd name="T6" fmla="*/ 4946 w 4946"/>
                <a:gd name="T7" fmla="*/ 192 h 4386"/>
                <a:gd name="T8" fmla="*/ 4754 w 4946"/>
                <a:gd name="T9" fmla="*/ 0 h 4386"/>
                <a:gd name="T10" fmla="*/ 192 w 4946"/>
                <a:gd name="T11" fmla="*/ 0 h 4386"/>
                <a:gd name="T12" fmla="*/ 0 w 4946"/>
                <a:gd name="T13" fmla="*/ 192 h 4386"/>
                <a:gd name="T14" fmla="*/ 0 w 4946"/>
                <a:gd name="T15" fmla="*/ 4194 h 4386"/>
                <a:gd name="T16" fmla="*/ 192 w 4946"/>
                <a:gd name="T17" fmla="*/ 4386 h 4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46" h="4386">
                  <a:moveTo>
                    <a:pt x="192" y="4386"/>
                  </a:moveTo>
                  <a:lnTo>
                    <a:pt x="4754" y="4386"/>
                  </a:lnTo>
                  <a:cubicBezTo>
                    <a:pt x="4860" y="4386"/>
                    <a:pt x="4946" y="4300"/>
                    <a:pt x="4946" y="4194"/>
                  </a:cubicBezTo>
                  <a:lnTo>
                    <a:pt x="4946" y="192"/>
                  </a:lnTo>
                  <a:cubicBezTo>
                    <a:pt x="4946" y="86"/>
                    <a:pt x="4860" y="0"/>
                    <a:pt x="4754" y="0"/>
                  </a:cubicBezTo>
                  <a:lnTo>
                    <a:pt x="192" y="0"/>
                  </a:lnTo>
                  <a:cubicBezTo>
                    <a:pt x="86" y="0"/>
                    <a:pt x="0" y="86"/>
                    <a:pt x="0" y="192"/>
                  </a:cubicBezTo>
                  <a:lnTo>
                    <a:pt x="0" y="4194"/>
                  </a:lnTo>
                  <a:cubicBezTo>
                    <a:pt x="0" y="4300"/>
                    <a:pt x="86" y="4386"/>
                    <a:pt x="192" y="4386"/>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99" name="Rectangle 798">
              <a:extLst>
                <a:ext uri="{FF2B5EF4-FFF2-40B4-BE49-F238E27FC236}">
                  <a16:creationId xmlns:a16="http://schemas.microsoft.com/office/drawing/2014/main" id="{0904F5FA-3AE2-BD23-6804-07AE3CDBEF0A}"/>
                </a:ext>
              </a:extLst>
            </p:cNvPr>
            <p:cNvSpPr>
              <a:spLocks noChangeArrowheads="1"/>
            </p:cNvSpPr>
            <p:nvPr/>
          </p:nvSpPr>
          <p:spPr bwMode="auto">
            <a:xfrm>
              <a:off x="3274071" y="411375"/>
              <a:ext cx="1797534" cy="123111"/>
            </a:xfrm>
            <a:prstGeom prst="rect">
              <a:avLst/>
            </a:prstGeom>
            <a:solidFill>
              <a:schemeClr val="bg1"/>
            </a:solidFill>
            <a:ln>
              <a:noFill/>
            </a:ln>
          </p:spPr>
          <p:txBody>
            <a:bodyPr vert="horz" wrap="none" lIns="36000" tIns="0" rIns="36000" bIns="0" numCol="1" anchor="t"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C0C0C"/>
                  </a:solidFill>
                  <a:effectLst/>
                  <a:uLnTx/>
                  <a:uFillTx/>
                  <a:latin typeface="+mn-lt"/>
                  <a:ea typeface="+mn-ea"/>
                  <a:cs typeface="Arial" panose="020B0604020202020204" pitchFamily="34" charset="0"/>
                </a:rPr>
                <a:t>Credential, Identity, and MFA Providers  </a:t>
              </a:r>
              <a:endParaRPr kumimoji="0" lang="en-US" altLang="en-US" sz="800" b="1"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p:txBody>
        </p:sp>
        <p:grpSp>
          <p:nvGrpSpPr>
            <p:cNvPr id="800" name="Group 799">
              <a:extLst>
                <a:ext uri="{FF2B5EF4-FFF2-40B4-BE49-F238E27FC236}">
                  <a16:creationId xmlns:a16="http://schemas.microsoft.com/office/drawing/2014/main" id="{C92DC60D-E3C3-FE9D-3B9C-45261A9B581F}"/>
                </a:ext>
              </a:extLst>
            </p:cNvPr>
            <p:cNvGrpSpPr/>
            <p:nvPr/>
          </p:nvGrpSpPr>
          <p:grpSpPr>
            <a:xfrm>
              <a:off x="3310071" y="1728000"/>
              <a:ext cx="1833874" cy="504000"/>
              <a:chOff x="3310071" y="1534330"/>
              <a:chExt cx="1833874" cy="504000"/>
            </a:xfrm>
          </p:grpSpPr>
          <p:grpSp>
            <p:nvGrpSpPr>
              <p:cNvPr id="811" name="Group 810">
                <a:extLst>
                  <a:ext uri="{FF2B5EF4-FFF2-40B4-BE49-F238E27FC236}">
                    <a16:creationId xmlns:a16="http://schemas.microsoft.com/office/drawing/2014/main" id="{1BE8FE9B-5D5A-B514-FF9E-C0FD1224755A}"/>
                  </a:ext>
                </a:extLst>
              </p:cNvPr>
              <p:cNvGrpSpPr/>
              <p:nvPr/>
            </p:nvGrpSpPr>
            <p:grpSpPr>
              <a:xfrm>
                <a:off x="3310071" y="1534330"/>
                <a:ext cx="967442" cy="504000"/>
                <a:chOff x="3310071" y="1534330"/>
                <a:chExt cx="967442" cy="504000"/>
              </a:xfrm>
            </p:grpSpPr>
            <p:sp>
              <p:nvSpPr>
                <p:cNvPr id="816" name="Freeform 14">
                  <a:extLst>
                    <a:ext uri="{FF2B5EF4-FFF2-40B4-BE49-F238E27FC236}">
                      <a16:creationId xmlns:a16="http://schemas.microsoft.com/office/drawing/2014/main" id="{11AD9561-08C1-5BD0-1CC6-3842009057E7}"/>
                    </a:ext>
                  </a:extLst>
                </p:cNvPr>
                <p:cNvSpPr>
                  <a:spLocks/>
                </p:cNvSpPr>
                <p:nvPr/>
              </p:nvSpPr>
              <p:spPr bwMode="auto">
                <a:xfrm>
                  <a:off x="3310071" y="1678330"/>
                  <a:ext cx="864000" cy="360000"/>
                </a:xfrm>
                <a:custGeom>
                  <a:avLst/>
                  <a:gdLst>
                    <a:gd name="T0" fmla="*/ 192 w 4324"/>
                    <a:gd name="T1" fmla="*/ 1134 h 1134"/>
                    <a:gd name="T2" fmla="*/ 4132 w 4324"/>
                    <a:gd name="T3" fmla="*/ 1134 h 1134"/>
                    <a:gd name="T4" fmla="*/ 4324 w 4324"/>
                    <a:gd name="T5" fmla="*/ 942 h 1134"/>
                    <a:gd name="T6" fmla="*/ 4324 w 4324"/>
                    <a:gd name="T7" fmla="*/ 192 h 1134"/>
                    <a:gd name="T8" fmla="*/ 4132 w 4324"/>
                    <a:gd name="T9" fmla="*/ 0 h 1134"/>
                    <a:gd name="T10" fmla="*/ 192 w 4324"/>
                    <a:gd name="T11" fmla="*/ 0 h 1134"/>
                    <a:gd name="T12" fmla="*/ 0 w 4324"/>
                    <a:gd name="T13" fmla="*/ 192 h 1134"/>
                    <a:gd name="T14" fmla="*/ 0 w 4324"/>
                    <a:gd name="T15" fmla="*/ 942 h 1134"/>
                    <a:gd name="T16" fmla="*/ 192 w 4324"/>
                    <a:gd name="T17" fmla="*/ 1134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4" h="1134">
                      <a:moveTo>
                        <a:pt x="192" y="1134"/>
                      </a:moveTo>
                      <a:lnTo>
                        <a:pt x="4132" y="1134"/>
                      </a:lnTo>
                      <a:cubicBezTo>
                        <a:pt x="4238" y="1134"/>
                        <a:pt x="4324" y="1048"/>
                        <a:pt x="4324" y="942"/>
                      </a:cubicBezTo>
                      <a:lnTo>
                        <a:pt x="4324" y="192"/>
                      </a:lnTo>
                      <a:cubicBezTo>
                        <a:pt x="4324" y="86"/>
                        <a:pt x="4238" y="0"/>
                        <a:pt x="4132" y="0"/>
                      </a:cubicBezTo>
                      <a:lnTo>
                        <a:pt x="192" y="0"/>
                      </a:lnTo>
                      <a:cubicBezTo>
                        <a:pt x="86" y="0"/>
                        <a:pt x="0" y="86"/>
                        <a:pt x="0" y="192"/>
                      </a:cubicBezTo>
                      <a:lnTo>
                        <a:pt x="0" y="942"/>
                      </a:lnTo>
                      <a:cubicBezTo>
                        <a:pt x="0" y="1048"/>
                        <a:pt x="86" y="1134"/>
                        <a:pt x="192" y="1134"/>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17" name="Freeform 18">
                  <a:extLst>
                    <a:ext uri="{FF2B5EF4-FFF2-40B4-BE49-F238E27FC236}">
                      <a16:creationId xmlns:a16="http://schemas.microsoft.com/office/drawing/2014/main" id="{8EA77040-C3E3-8BD3-2D97-6F14E8BD3D0A}"/>
                    </a:ext>
                  </a:extLst>
                </p:cNvPr>
                <p:cNvSpPr>
                  <a:spLocks/>
                </p:cNvSpPr>
                <p:nvPr/>
              </p:nvSpPr>
              <p:spPr bwMode="auto">
                <a:xfrm>
                  <a:off x="3382071" y="1822330"/>
                  <a:ext cx="720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no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IDPaaS</a:t>
                  </a:r>
                  <a:endParaRPr kumimoji="0" lang="en-CA"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18" name="Rectangle 817">
                  <a:extLst>
                    <a:ext uri="{FF2B5EF4-FFF2-40B4-BE49-F238E27FC236}">
                      <a16:creationId xmlns:a16="http://schemas.microsoft.com/office/drawing/2014/main" id="{EC411177-A7B2-803D-28EB-3C36E06B9FF1}"/>
                    </a:ext>
                  </a:extLst>
                </p:cNvPr>
                <p:cNvSpPr>
                  <a:spLocks noChangeArrowheads="1"/>
                </p:cNvSpPr>
                <p:nvPr/>
              </p:nvSpPr>
              <p:spPr bwMode="auto">
                <a:xfrm>
                  <a:off x="3384000" y="1534330"/>
                  <a:ext cx="893513" cy="265670"/>
                </a:xfrm>
                <a:prstGeom prst="rect">
                  <a:avLst/>
                </a:prstGeom>
                <a:solidFill>
                  <a:schemeClr val="bg1"/>
                </a:solidFill>
                <a:ln>
                  <a:noFill/>
                </a:ln>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3</a:t>
                  </a:r>
                  <a:r>
                    <a:rPr kumimoji="0" lang="en-CA" sz="800" b="0" i="0" u="none" strike="noStrike" kern="1200" cap="none" spc="0" normalizeH="0" baseline="30000" noProof="0">
                      <a:ln>
                        <a:noFill/>
                      </a:ln>
                      <a:solidFill>
                        <a:prstClr val="black"/>
                      </a:solidFill>
                      <a:effectLst/>
                      <a:uLnTx/>
                      <a:uFillTx/>
                      <a:ea typeface="+mn-ea"/>
                      <a:cs typeface="Arial" panose="020B0604020202020204" pitchFamily="34" charset="0"/>
                    </a:rPr>
                    <a:t>rd</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 Party Identity Providers</a:t>
                  </a:r>
                </a:p>
              </p:txBody>
            </p:sp>
          </p:grpSp>
          <p:grpSp>
            <p:nvGrpSpPr>
              <p:cNvPr id="812" name="Group 811">
                <a:extLst>
                  <a:ext uri="{FF2B5EF4-FFF2-40B4-BE49-F238E27FC236}">
                    <a16:creationId xmlns:a16="http://schemas.microsoft.com/office/drawing/2014/main" id="{B5581875-2FCB-06CB-F56C-F153D0F254B3}"/>
                  </a:ext>
                </a:extLst>
              </p:cNvPr>
              <p:cNvGrpSpPr/>
              <p:nvPr/>
            </p:nvGrpSpPr>
            <p:grpSpPr>
              <a:xfrm>
                <a:off x="4246071" y="1549625"/>
                <a:ext cx="897874" cy="488705"/>
                <a:chOff x="4246071" y="1549625"/>
                <a:chExt cx="897874" cy="488705"/>
              </a:xfrm>
            </p:grpSpPr>
            <p:sp>
              <p:nvSpPr>
                <p:cNvPr id="813" name="Freeform 14">
                  <a:extLst>
                    <a:ext uri="{FF2B5EF4-FFF2-40B4-BE49-F238E27FC236}">
                      <a16:creationId xmlns:a16="http://schemas.microsoft.com/office/drawing/2014/main" id="{24F87EA1-FA3E-C5EF-113B-391A127B86CF}"/>
                    </a:ext>
                  </a:extLst>
                </p:cNvPr>
                <p:cNvSpPr>
                  <a:spLocks/>
                </p:cNvSpPr>
                <p:nvPr/>
              </p:nvSpPr>
              <p:spPr bwMode="auto">
                <a:xfrm>
                  <a:off x="4246071" y="1678330"/>
                  <a:ext cx="864000" cy="360000"/>
                </a:xfrm>
                <a:custGeom>
                  <a:avLst/>
                  <a:gdLst>
                    <a:gd name="T0" fmla="*/ 192 w 4324"/>
                    <a:gd name="T1" fmla="*/ 1134 h 1134"/>
                    <a:gd name="T2" fmla="*/ 4132 w 4324"/>
                    <a:gd name="T3" fmla="*/ 1134 h 1134"/>
                    <a:gd name="T4" fmla="*/ 4324 w 4324"/>
                    <a:gd name="T5" fmla="*/ 942 h 1134"/>
                    <a:gd name="T6" fmla="*/ 4324 w 4324"/>
                    <a:gd name="T7" fmla="*/ 192 h 1134"/>
                    <a:gd name="T8" fmla="*/ 4132 w 4324"/>
                    <a:gd name="T9" fmla="*/ 0 h 1134"/>
                    <a:gd name="T10" fmla="*/ 192 w 4324"/>
                    <a:gd name="T11" fmla="*/ 0 h 1134"/>
                    <a:gd name="T12" fmla="*/ 0 w 4324"/>
                    <a:gd name="T13" fmla="*/ 192 h 1134"/>
                    <a:gd name="T14" fmla="*/ 0 w 4324"/>
                    <a:gd name="T15" fmla="*/ 942 h 1134"/>
                    <a:gd name="T16" fmla="*/ 192 w 4324"/>
                    <a:gd name="T17" fmla="*/ 1134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4" h="1134">
                      <a:moveTo>
                        <a:pt x="192" y="1134"/>
                      </a:moveTo>
                      <a:lnTo>
                        <a:pt x="4132" y="1134"/>
                      </a:lnTo>
                      <a:cubicBezTo>
                        <a:pt x="4238" y="1134"/>
                        <a:pt x="4324" y="1048"/>
                        <a:pt x="4324" y="942"/>
                      </a:cubicBezTo>
                      <a:lnTo>
                        <a:pt x="4324" y="192"/>
                      </a:lnTo>
                      <a:cubicBezTo>
                        <a:pt x="4324" y="86"/>
                        <a:pt x="4238" y="0"/>
                        <a:pt x="4132" y="0"/>
                      </a:cubicBezTo>
                      <a:lnTo>
                        <a:pt x="192" y="0"/>
                      </a:lnTo>
                      <a:cubicBezTo>
                        <a:pt x="86" y="0"/>
                        <a:pt x="0" y="86"/>
                        <a:pt x="0" y="192"/>
                      </a:cubicBezTo>
                      <a:lnTo>
                        <a:pt x="0" y="942"/>
                      </a:lnTo>
                      <a:cubicBezTo>
                        <a:pt x="0" y="1048"/>
                        <a:pt x="86" y="1134"/>
                        <a:pt x="192" y="1134"/>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14" name="Freeform 18">
                  <a:extLst>
                    <a:ext uri="{FF2B5EF4-FFF2-40B4-BE49-F238E27FC236}">
                      <a16:creationId xmlns:a16="http://schemas.microsoft.com/office/drawing/2014/main" id="{4E0F11AE-02E6-03A6-A9B9-529379FA649E}"/>
                    </a:ext>
                  </a:extLst>
                </p:cNvPr>
                <p:cNvSpPr>
                  <a:spLocks/>
                </p:cNvSpPr>
                <p:nvPr/>
              </p:nvSpPr>
              <p:spPr bwMode="auto">
                <a:xfrm>
                  <a:off x="4318071" y="1822330"/>
                  <a:ext cx="720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no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MFAaaS</a:t>
                  </a:r>
                  <a:endParaRPr kumimoji="0" lang="en-CA" sz="7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15" name="Rectangle 814">
                  <a:extLst>
                    <a:ext uri="{FF2B5EF4-FFF2-40B4-BE49-F238E27FC236}">
                      <a16:creationId xmlns:a16="http://schemas.microsoft.com/office/drawing/2014/main" id="{E524F549-A0D6-2A2C-0B09-53502A6164A0}"/>
                    </a:ext>
                  </a:extLst>
                </p:cNvPr>
                <p:cNvSpPr>
                  <a:spLocks noChangeArrowheads="1"/>
                </p:cNvSpPr>
                <p:nvPr/>
              </p:nvSpPr>
              <p:spPr bwMode="auto">
                <a:xfrm>
                  <a:off x="4320000" y="1549625"/>
                  <a:ext cx="823945" cy="2240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3</a:t>
                  </a:r>
                  <a:r>
                    <a:rPr kumimoji="0" lang="en-CA" sz="800" b="0" i="0" u="none" strike="noStrike" kern="1200" cap="none" spc="0" normalizeH="0" baseline="30000" noProof="0">
                      <a:ln>
                        <a:noFill/>
                      </a:ln>
                      <a:solidFill>
                        <a:prstClr val="black"/>
                      </a:solidFill>
                      <a:effectLst/>
                      <a:uLnTx/>
                      <a:uFillTx/>
                      <a:ea typeface="+mn-ea"/>
                      <a:cs typeface="Arial" panose="020B0604020202020204" pitchFamily="34" charset="0"/>
                    </a:rPr>
                    <a:t>rd</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 Party MFA Providers</a:t>
                  </a:r>
                </a:p>
              </p:txBody>
            </p:sp>
          </p:grpSp>
        </p:grpSp>
        <p:grpSp>
          <p:nvGrpSpPr>
            <p:cNvPr id="801" name="Group 800">
              <a:extLst>
                <a:ext uri="{FF2B5EF4-FFF2-40B4-BE49-F238E27FC236}">
                  <a16:creationId xmlns:a16="http://schemas.microsoft.com/office/drawing/2014/main" id="{8FC9FF93-9FFF-0A2C-64D8-91CDE20E3C28}"/>
                </a:ext>
              </a:extLst>
            </p:cNvPr>
            <p:cNvGrpSpPr/>
            <p:nvPr/>
          </p:nvGrpSpPr>
          <p:grpSpPr>
            <a:xfrm>
              <a:off x="3310071" y="611802"/>
              <a:ext cx="1800000" cy="432198"/>
              <a:chOff x="3310071" y="611802"/>
              <a:chExt cx="1800000" cy="432198"/>
            </a:xfrm>
          </p:grpSpPr>
          <p:sp>
            <p:nvSpPr>
              <p:cNvPr id="807" name="Freeform 5">
                <a:extLst>
                  <a:ext uri="{FF2B5EF4-FFF2-40B4-BE49-F238E27FC236}">
                    <a16:creationId xmlns:a16="http://schemas.microsoft.com/office/drawing/2014/main" id="{DE77C76E-D49A-6CB3-1E0B-7453FC05E05B}"/>
                  </a:ext>
                </a:extLst>
              </p:cNvPr>
              <p:cNvSpPr>
                <a:spLocks/>
              </p:cNvSpPr>
              <p:nvPr/>
            </p:nvSpPr>
            <p:spPr bwMode="auto">
              <a:xfrm>
                <a:off x="3310071" y="684000"/>
                <a:ext cx="1800000" cy="360000"/>
              </a:xfrm>
              <a:custGeom>
                <a:avLst/>
                <a:gdLst>
                  <a:gd name="T0" fmla="*/ 192 w 3931"/>
                  <a:gd name="T1" fmla="*/ 877 h 877"/>
                  <a:gd name="T2" fmla="*/ 3739 w 3931"/>
                  <a:gd name="T3" fmla="*/ 877 h 877"/>
                  <a:gd name="T4" fmla="*/ 3931 w 3931"/>
                  <a:gd name="T5" fmla="*/ 685 h 877"/>
                  <a:gd name="T6" fmla="*/ 3931 w 3931"/>
                  <a:gd name="T7" fmla="*/ 192 h 877"/>
                  <a:gd name="T8" fmla="*/ 3739 w 3931"/>
                  <a:gd name="T9" fmla="*/ 0 h 877"/>
                  <a:gd name="T10" fmla="*/ 192 w 3931"/>
                  <a:gd name="T11" fmla="*/ 0 h 877"/>
                  <a:gd name="T12" fmla="*/ 0 w 3931"/>
                  <a:gd name="T13" fmla="*/ 192 h 877"/>
                  <a:gd name="T14" fmla="*/ 0 w 3931"/>
                  <a:gd name="T15" fmla="*/ 685 h 877"/>
                  <a:gd name="T16" fmla="*/ 192 w 3931"/>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1" h="877">
                    <a:moveTo>
                      <a:pt x="192" y="877"/>
                    </a:moveTo>
                    <a:lnTo>
                      <a:pt x="3739" y="877"/>
                    </a:lnTo>
                    <a:cubicBezTo>
                      <a:pt x="3845" y="877"/>
                      <a:pt x="3931" y="791"/>
                      <a:pt x="3931" y="685"/>
                    </a:cubicBezTo>
                    <a:lnTo>
                      <a:pt x="3931" y="192"/>
                    </a:lnTo>
                    <a:cubicBezTo>
                      <a:pt x="3931" y="86"/>
                      <a:pt x="3845" y="0"/>
                      <a:pt x="3739" y="0"/>
                    </a:cubicBezTo>
                    <a:lnTo>
                      <a:pt x="192" y="0"/>
                    </a:lnTo>
                    <a:cubicBezTo>
                      <a:pt x="86" y="0"/>
                      <a:pt x="0" y="86"/>
                      <a:pt x="0" y="192"/>
                    </a:cubicBezTo>
                    <a:lnTo>
                      <a:pt x="0" y="685"/>
                    </a:lnTo>
                    <a:cubicBezTo>
                      <a:pt x="0" y="791"/>
                      <a:pt x="86" y="877"/>
                      <a:pt x="192" y="877"/>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08" name="Freeform 8">
                <a:extLst>
                  <a:ext uri="{FF2B5EF4-FFF2-40B4-BE49-F238E27FC236}">
                    <a16:creationId xmlns:a16="http://schemas.microsoft.com/office/drawing/2014/main" id="{B372B3CF-AF46-6562-F1B5-6DFCCA03BED6}"/>
                  </a:ext>
                </a:extLst>
              </p:cNvPr>
              <p:cNvSpPr>
                <a:spLocks/>
              </p:cNvSpPr>
              <p:nvPr/>
            </p:nvSpPr>
            <p:spPr bwMode="auto">
              <a:xfrm>
                <a:off x="3384000" y="828000"/>
                <a:ext cx="792000" cy="144000"/>
              </a:xfrm>
              <a:custGeom>
                <a:avLst/>
                <a:gdLst>
                  <a:gd name="T0" fmla="*/ 181 w 1756"/>
                  <a:gd name="T1" fmla="*/ 515 h 515"/>
                  <a:gd name="T2" fmla="*/ 1574 w 1756"/>
                  <a:gd name="T3" fmla="*/ 515 h 515"/>
                  <a:gd name="T4" fmla="*/ 1756 w 1756"/>
                  <a:gd name="T5" fmla="*/ 334 h 515"/>
                  <a:gd name="T6" fmla="*/ 1756 w 1756"/>
                  <a:gd name="T7" fmla="*/ 182 h 515"/>
                  <a:gd name="T8" fmla="*/ 1574 w 1756"/>
                  <a:gd name="T9" fmla="*/ 0 h 515"/>
                  <a:gd name="T10" fmla="*/ 181 w 1756"/>
                  <a:gd name="T11" fmla="*/ 0 h 515"/>
                  <a:gd name="T12" fmla="*/ 0 w 1756"/>
                  <a:gd name="T13" fmla="*/ 182 h 515"/>
                  <a:gd name="T14" fmla="*/ 0 w 1756"/>
                  <a:gd name="T15" fmla="*/ 334 h 515"/>
                  <a:gd name="T16" fmla="*/ 181 w 1756"/>
                  <a:gd name="T17" fmla="*/ 515 h 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6" h="515">
                    <a:moveTo>
                      <a:pt x="181" y="515"/>
                    </a:moveTo>
                    <a:lnTo>
                      <a:pt x="1574" y="515"/>
                    </a:lnTo>
                    <a:cubicBezTo>
                      <a:pt x="1674" y="515"/>
                      <a:pt x="1756" y="434"/>
                      <a:pt x="1756" y="334"/>
                    </a:cubicBezTo>
                    <a:lnTo>
                      <a:pt x="1756" y="182"/>
                    </a:lnTo>
                    <a:cubicBezTo>
                      <a:pt x="1756" y="81"/>
                      <a:pt x="1674" y="0"/>
                      <a:pt x="1574" y="0"/>
                    </a:cubicBezTo>
                    <a:lnTo>
                      <a:pt x="181" y="0"/>
                    </a:lnTo>
                    <a:cubicBezTo>
                      <a:pt x="81" y="0"/>
                      <a:pt x="0" y="81"/>
                      <a:pt x="0" y="182"/>
                    </a:cubicBezTo>
                    <a:lnTo>
                      <a:pt x="0" y="334"/>
                    </a:lnTo>
                    <a:cubicBezTo>
                      <a:pt x="0" y="434"/>
                      <a:pt x="81" y="515"/>
                      <a:pt x="181" y="515"/>
                    </a:cubicBezTo>
                    <a:close/>
                  </a:path>
                </a:pathLst>
              </a:custGeom>
              <a:solidFill>
                <a:srgbClr val="A6A6A6"/>
              </a:solidFill>
              <a:ln w="0">
                <a:no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GC Sign In</a:t>
                </a:r>
              </a:p>
            </p:txBody>
          </p:sp>
          <p:sp>
            <p:nvSpPr>
              <p:cNvPr id="809" name="Freeform 11">
                <a:extLst>
                  <a:ext uri="{FF2B5EF4-FFF2-40B4-BE49-F238E27FC236}">
                    <a16:creationId xmlns:a16="http://schemas.microsoft.com/office/drawing/2014/main" id="{F188321E-5530-DA78-8200-713B0A498E2A}"/>
                  </a:ext>
                </a:extLst>
              </p:cNvPr>
              <p:cNvSpPr>
                <a:spLocks/>
              </p:cNvSpPr>
              <p:nvPr/>
            </p:nvSpPr>
            <p:spPr bwMode="auto">
              <a:xfrm>
                <a:off x="4248000" y="828000"/>
                <a:ext cx="792000" cy="144000"/>
              </a:xfrm>
              <a:custGeom>
                <a:avLst/>
                <a:gdLst>
                  <a:gd name="T0" fmla="*/ 181 w 1814"/>
                  <a:gd name="T1" fmla="*/ 529 h 529"/>
                  <a:gd name="T2" fmla="*/ 1632 w 1814"/>
                  <a:gd name="T3" fmla="*/ 529 h 529"/>
                  <a:gd name="T4" fmla="*/ 1814 w 1814"/>
                  <a:gd name="T5" fmla="*/ 348 h 529"/>
                  <a:gd name="T6" fmla="*/ 1814 w 1814"/>
                  <a:gd name="T7" fmla="*/ 182 h 529"/>
                  <a:gd name="T8" fmla="*/ 1632 w 1814"/>
                  <a:gd name="T9" fmla="*/ 0 h 529"/>
                  <a:gd name="T10" fmla="*/ 181 w 1814"/>
                  <a:gd name="T11" fmla="*/ 0 h 529"/>
                  <a:gd name="T12" fmla="*/ 0 w 1814"/>
                  <a:gd name="T13" fmla="*/ 182 h 529"/>
                  <a:gd name="T14" fmla="*/ 0 w 1814"/>
                  <a:gd name="T15" fmla="*/ 348 h 529"/>
                  <a:gd name="T16" fmla="*/ 181 w 1814"/>
                  <a:gd name="T17" fmla="*/ 529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4" h="529">
                    <a:moveTo>
                      <a:pt x="181" y="529"/>
                    </a:moveTo>
                    <a:lnTo>
                      <a:pt x="1632" y="529"/>
                    </a:lnTo>
                    <a:cubicBezTo>
                      <a:pt x="1733" y="529"/>
                      <a:pt x="1814" y="448"/>
                      <a:pt x="1814" y="348"/>
                    </a:cubicBezTo>
                    <a:lnTo>
                      <a:pt x="1814" y="182"/>
                    </a:lnTo>
                    <a:cubicBezTo>
                      <a:pt x="1814" y="81"/>
                      <a:pt x="1733" y="0"/>
                      <a:pt x="1632" y="0"/>
                    </a:cubicBezTo>
                    <a:lnTo>
                      <a:pt x="181" y="0"/>
                    </a:lnTo>
                    <a:cubicBezTo>
                      <a:pt x="81" y="0"/>
                      <a:pt x="0" y="81"/>
                      <a:pt x="0" y="182"/>
                    </a:cubicBezTo>
                    <a:lnTo>
                      <a:pt x="0" y="348"/>
                    </a:lnTo>
                    <a:cubicBezTo>
                      <a:pt x="0" y="448"/>
                      <a:pt x="81" y="529"/>
                      <a:pt x="181" y="529"/>
                    </a:cubicBezTo>
                    <a:close/>
                  </a:path>
                </a:pathLst>
              </a:custGeom>
              <a:solidFill>
                <a:srgbClr val="A6A6A6"/>
              </a:solidFill>
              <a:ln w="0">
                <a:no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GC </a:t>
                </a: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MFAaaS</a:t>
                </a:r>
                <a:endParaRPr kumimoji="0" lang="en-CA"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10" name="Rectangle 809">
                <a:extLst>
                  <a:ext uri="{FF2B5EF4-FFF2-40B4-BE49-F238E27FC236}">
                    <a16:creationId xmlns:a16="http://schemas.microsoft.com/office/drawing/2014/main" id="{C54DA2EC-FA35-4FA1-6ACC-76CB5FA6355F}"/>
                  </a:ext>
                </a:extLst>
              </p:cNvPr>
              <p:cNvSpPr>
                <a:spLocks noChangeArrowheads="1"/>
              </p:cNvSpPr>
              <p:nvPr/>
            </p:nvSpPr>
            <p:spPr bwMode="auto">
              <a:xfrm>
                <a:off x="3384000" y="611802"/>
                <a:ext cx="1276559" cy="123111"/>
              </a:xfrm>
              <a:prstGeom prst="rect">
                <a:avLst/>
              </a:prstGeom>
              <a:solidFill>
                <a:schemeClr val="bg1"/>
              </a:solidFill>
              <a:ln>
                <a:noFill/>
              </a:ln>
            </p:spPr>
            <p:txBody>
              <a:bodyPr vert="horz" wrap="none" lIns="36000" tIns="0" rIns="36000" bIns="0" numCol="1" anchor="t"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latin typeface="+mn-lt"/>
                    <a:ea typeface="+mn-ea"/>
                    <a:cs typeface="Arial" panose="020B0604020202020204" pitchFamily="34" charset="0"/>
                  </a:rPr>
                  <a:t>GC Credential Service &amp; MFA</a:t>
                </a:r>
                <a:endParaRPr kumimoji="0" lang="en-US" altLang="en-US" sz="80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p:txBody>
          </p:sp>
        </p:grpSp>
        <p:grpSp>
          <p:nvGrpSpPr>
            <p:cNvPr id="802" name="Group 801">
              <a:extLst>
                <a:ext uri="{FF2B5EF4-FFF2-40B4-BE49-F238E27FC236}">
                  <a16:creationId xmlns:a16="http://schemas.microsoft.com/office/drawing/2014/main" id="{2A55BD00-0123-D448-D020-611792945F0B}"/>
                </a:ext>
              </a:extLst>
            </p:cNvPr>
            <p:cNvGrpSpPr/>
            <p:nvPr/>
          </p:nvGrpSpPr>
          <p:grpSpPr>
            <a:xfrm>
              <a:off x="3310071" y="1051002"/>
              <a:ext cx="1837929" cy="641773"/>
              <a:chOff x="3310071" y="1051002"/>
              <a:chExt cx="1837929" cy="641773"/>
            </a:xfrm>
          </p:grpSpPr>
          <p:sp>
            <p:nvSpPr>
              <p:cNvPr id="803" name="Freeform 18">
                <a:extLst>
                  <a:ext uri="{FF2B5EF4-FFF2-40B4-BE49-F238E27FC236}">
                    <a16:creationId xmlns:a16="http://schemas.microsoft.com/office/drawing/2014/main" id="{9952DAC2-6C7C-E884-775A-C4B287E3045D}"/>
                  </a:ext>
                </a:extLst>
              </p:cNvPr>
              <p:cNvSpPr>
                <a:spLocks/>
              </p:cNvSpPr>
              <p:nvPr/>
            </p:nvSpPr>
            <p:spPr bwMode="auto">
              <a:xfrm>
                <a:off x="3384000" y="1296000"/>
                <a:ext cx="1260000" cy="144000"/>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no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Provinces/Territories</a:t>
                </a:r>
              </a:p>
            </p:txBody>
          </p:sp>
          <p:sp>
            <p:nvSpPr>
              <p:cNvPr id="804" name="Freeform 21">
                <a:extLst>
                  <a:ext uri="{FF2B5EF4-FFF2-40B4-BE49-F238E27FC236}">
                    <a16:creationId xmlns:a16="http://schemas.microsoft.com/office/drawing/2014/main" id="{4964DA4E-8C76-8558-1812-D968FA74C784}"/>
                  </a:ext>
                </a:extLst>
              </p:cNvPr>
              <p:cNvSpPr>
                <a:spLocks/>
              </p:cNvSpPr>
              <p:nvPr/>
            </p:nvSpPr>
            <p:spPr bwMode="auto">
              <a:xfrm>
                <a:off x="3384000" y="1476000"/>
                <a:ext cx="1260000" cy="144000"/>
              </a:xfrm>
              <a:custGeom>
                <a:avLst/>
                <a:gdLst>
                  <a:gd name="T0" fmla="*/ 181 w 3707"/>
                  <a:gd name="T1" fmla="*/ 420 h 420"/>
                  <a:gd name="T2" fmla="*/ 3525 w 3707"/>
                  <a:gd name="T3" fmla="*/ 420 h 420"/>
                  <a:gd name="T4" fmla="*/ 3707 w 3707"/>
                  <a:gd name="T5" fmla="*/ 239 h 420"/>
                  <a:gd name="T6" fmla="*/ 3707 w 3707"/>
                  <a:gd name="T7" fmla="*/ 182 h 420"/>
                  <a:gd name="T8" fmla="*/ 3525 w 3707"/>
                  <a:gd name="T9" fmla="*/ 0 h 420"/>
                  <a:gd name="T10" fmla="*/ 181 w 3707"/>
                  <a:gd name="T11" fmla="*/ 0 h 420"/>
                  <a:gd name="T12" fmla="*/ 0 w 3707"/>
                  <a:gd name="T13" fmla="*/ 182 h 420"/>
                  <a:gd name="T14" fmla="*/ 0 w 3707"/>
                  <a:gd name="T15" fmla="*/ 239 h 420"/>
                  <a:gd name="T16" fmla="*/ 181 w 3707"/>
                  <a:gd name="T17" fmla="*/ 42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7" h="420">
                    <a:moveTo>
                      <a:pt x="181" y="420"/>
                    </a:moveTo>
                    <a:lnTo>
                      <a:pt x="3525" y="420"/>
                    </a:lnTo>
                    <a:cubicBezTo>
                      <a:pt x="3625" y="420"/>
                      <a:pt x="3707" y="339"/>
                      <a:pt x="3707" y="239"/>
                    </a:cubicBezTo>
                    <a:lnTo>
                      <a:pt x="3707" y="182"/>
                    </a:lnTo>
                    <a:cubicBezTo>
                      <a:pt x="3707" y="81"/>
                      <a:pt x="3625" y="0"/>
                      <a:pt x="3525" y="0"/>
                    </a:cubicBezTo>
                    <a:lnTo>
                      <a:pt x="181" y="0"/>
                    </a:lnTo>
                    <a:cubicBezTo>
                      <a:pt x="81" y="0"/>
                      <a:pt x="0" y="81"/>
                      <a:pt x="0" y="182"/>
                    </a:cubicBezTo>
                    <a:lnTo>
                      <a:pt x="0" y="239"/>
                    </a:lnTo>
                    <a:cubicBezTo>
                      <a:pt x="0" y="339"/>
                      <a:pt x="81" y="420"/>
                      <a:pt x="181" y="420"/>
                    </a:cubicBezTo>
                    <a:close/>
                  </a:path>
                </a:pathLst>
              </a:custGeom>
              <a:solidFill>
                <a:srgbClr val="A6A6A6"/>
              </a:solidFill>
              <a:ln w="0">
                <a:noFill/>
                <a:prstDash val="solid"/>
                <a:round/>
                <a:headEnd/>
                <a:tailEnd/>
              </a:ln>
            </p:spPr>
            <p:txBody>
              <a:bodyPr vert="horz" wrap="square" lIns="91440" tIns="0" rIns="9144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Interac Sign-In Service</a:t>
                </a:r>
              </a:p>
            </p:txBody>
          </p:sp>
          <p:sp>
            <p:nvSpPr>
              <p:cNvPr id="805" name="Freeform 14">
                <a:extLst>
                  <a:ext uri="{FF2B5EF4-FFF2-40B4-BE49-F238E27FC236}">
                    <a16:creationId xmlns:a16="http://schemas.microsoft.com/office/drawing/2014/main" id="{40F85B1B-271F-FB12-1C99-415B067CECFC}"/>
                  </a:ext>
                </a:extLst>
              </p:cNvPr>
              <p:cNvSpPr>
                <a:spLocks/>
              </p:cNvSpPr>
              <p:nvPr/>
            </p:nvSpPr>
            <p:spPr bwMode="auto">
              <a:xfrm>
                <a:off x="3310071" y="1152000"/>
                <a:ext cx="1800000" cy="540775"/>
              </a:xfrm>
              <a:custGeom>
                <a:avLst/>
                <a:gdLst>
                  <a:gd name="T0" fmla="*/ 192 w 4324"/>
                  <a:gd name="T1" fmla="*/ 1134 h 1134"/>
                  <a:gd name="T2" fmla="*/ 4132 w 4324"/>
                  <a:gd name="T3" fmla="*/ 1134 h 1134"/>
                  <a:gd name="T4" fmla="*/ 4324 w 4324"/>
                  <a:gd name="T5" fmla="*/ 942 h 1134"/>
                  <a:gd name="T6" fmla="*/ 4324 w 4324"/>
                  <a:gd name="T7" fmla="*/ 192 h 1134"/>
                  <a:gd name="T8" fmla="*/ 4132 w 4324"/>
                  <a:gd name="T9" fmla="*/ 0 h 1134"/>
                  <a:gd name="T10" fmla="*/ 192 w 4324"/>
                  <a:gd name="T11" fmla="*/ 0 h 1134"/>
                  <a:gd name="T12" fmla="*/ 0 w 4324"/>
                  <a:gd name="T13" fmla="*/ 192 h 1134"/>
                  <a:gd name="T14" fmla="*/ 0 w 4324"/>
                  <a:gd name="T15" fmla="*/ 942 h 1134"/>
                  <a:gd name="T16" fmla="*/ 192 w 4324"/>
                  <a:gd name="T17" fmla="*/ 1134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4" h="1134">
                    <a:moveTo>
                      <a:pt x="192" y="1134"/>
                    </a:moveTo>
                    <a:lnTo>
                      <a:pt x="4132" y="1134"/>
                    </a:lnTo>
                    <a:cubicBezTo>
                      <a:pt x="4238" y="1134"/>
                      <a:pt x="4324" y="1048"/>
                      <a:pt x="4324" y="942"/>
                    </a:cubicBezTo>
                    <a:lnTo>
                      <a:pt x="4324" y="192"/>
                    </a:lnTo>
                    <a:cubicBezTo>
                      <a:pt x="4324" y="86"/>
                      <a:pt x="4238" y="0"/>
                      <a:pt x="4132" y="0"/>
                    </a:cubicBezTo>
                    <a:lnTo>
                      <a:pt x="192" y="0"/>
                    </a:lnTo>
                    <a:cubicBezTo>
                      <a:pt x="86" y="0"/>
                      <a:pt x="0" y="86"/>
                      <a:pt x="0" y="192"/>
                    </a:cubicBezTo>
                    <a:lnTo>
                      <a:pt x="0" y="942"/>
                    </a:lnTo>
                    <a:cubicBezTo>
                      <a:pt x="0" y="1048"/>
                      <a:pt x="86" y="1134"/>
                      <a:pt x="192" y="1134"/>
                    </a:cubicBezTo>
                    <a:close/>
                  </a:path>
                </a:pathLst>
              </a:custGeom>
              <a:noFill/>
              <a:ln w="12700" cap="flat">
                <a:solidFill>
                  <a:srgbClr val="A6A6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806" name="Rectangle 805">
                <a:extLst>
                  <a:ext uri="{FF2B5EF4-FFF2-40B4-BE49-F238E27FC236}">
                    <a16:creationId xmlns:a16="http://schemas.microsoft.com/office/drawing/2014/main" id="{929BA65C-0D01-7249-CF61-D4647A91B493}"/>
                  </a:ext>
                </a:extLst>
              </p:cNvPr>
              <p:cNvSpPr>
                <a:spLocks noChangeArrowheads="1"/>
              </p:cNvSpPr>
              <p:nvPr/>
            </p:nvSpPr>
            <p:spPr bwMode="auto">
              <a:xfrm>
                <a:off x="3384000" y="1051002"/>
                <a:ext cx="1764000" cy="197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ESDC Credential &amp; Identity providers  </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grpSp>
      <p:sp>
        <p:nvSpPr>
          <p:cNvPr id="7" name="Freeform 10">
            <a:extLst>
              <a:ext uri="{FF2B5EF4-FFF2-40B4-BE49-F238E27FC236}">
                <a16:creationId xmlns:a16="http://schemas.microsoft.com/office/drawing/2014/main" id="{DCE6B094-FA95-62A3-5F8B-C707539DB310}"/>
              </a:ext>
            </a:extLst>
          </p:cNvPr>
          <p:cNvSpPr>
            <a:spLocks/>
          </p:cNvSpPr>
          <p:nvPr/>
        </p:nvSpPr>
        <p:spPr bwMode="auto">
          <a:xfrm>
            <a:off x="8876318" y="4124517"/>
            <a:ext cx="2188939" cy="650777"/>
          </a:xfrm>
          <a:prstGeom prst="roundRect">
            <a:avLst>
              <a:gd name="adj" fmla="val 7092"/>
            </a:avLst>
          </a:prstGeom>
          <a:noFill/>
          <a:ln w="12700" cap="rnd">
            <a:solidFill>
              <a:srgbClr val="BF9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ea typeface="+mn-ea"/>
              <a:cs typeface="+mn-cs"/>
            </a:endParaRPr>
          </a:p>
        </p:txBody>
      </p:sp>
      <p:sp>
        <p:nvSpPr>
          <p:cNvPr id="8" name="Rectangle: Rounded Corners 7">
            <a:extLst>
              <a:ext uri="{FF2B5EF4-FFF2-40B4-BE49-F238E27FC236}">
                <a16:creationId xmlns:a16="http://schemas.microsoft.com/office/drawing/2014/main" id="{F206EBB7-A868-13DD-CE1A-F3C51786654C}"/>
              </a:ext>
            </a:extLst>
          </p:cNvPr>
          <p:cNvSpPr/>
          <p:nvPr/>
        </p:nvSpPr>
        <p:spPr>
          <a:xfrm>
            <a:off x="10161798" y="4190038"/>
            <a:ext cx="842367" cy="573262"/>
          </a:xfrm>
          <a:prstGeom prst="roundRect">
            <a:avLst/>
          </a:prstGeom>
          <a:solidFill>
            <a:schemeClr val="accent4">
              <a:lumMod val="40000"/>
              <a:lumOff val="60000"/>
            </a:schemeClr>
          </a:solidFill>
          <a:ln>
            <a:noFill/>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Partner and Employer Services</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9" name="Rectangle: Rounded Corners 8">
            <a:extLst>
              <a:ext uri="{FF2B5EF4-FFF2-40B4-BE49-F238E27FC236}">
                <a16:creationId xmlns:a16="http://schemas.microsoft.com/office/drawing/2014/main" id="{73A69F1D-E819-7E52-35B7-A4313CCE0F1F}"/>
              </a:ext>
            </a:extLst>
          </p:cNvPr>
          <p:cNvSpPr/>
          <p:nvPr/>
        </p:nvSpPr>
        <p:spPr>
          <a:xfrm>
            <a:off x="8988249" y="4579360"/>
            <a:ext cx="708701" cy="163588"/>
          </a:xfrm>
          <a:prstGeom prst="roundRect">
            <a:avLst/>
          </a:prstGeom>
          <a:solidFill>
            <a:schemeClr val="accent4">
              <a:lumMod val="40000"/>
              <a:lumOff val="60000"/>
            </a:schemeClr>
          </a:solidFill>
          <a:ln>
            <a:noFill/>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Financials</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0" name="Rectangle: Rounded Corners 9">
            <a:extLst>
              <a:ext uri="{FF2B5EF4-FFF2-40B4-BE49-F238E27FC236}">
                <a16:creationId xmlns:a16="http://schemas.microsoft.com/office/drawing/2014/main" id="{E423F0ED-73D9-C1C3-D0C9-CDC77D93F4F1}"/>
              </a:ext>
            </a:extLst>
          </p:cNvPr>
          <p:cNvSpPr/>
          <p:nvPr/>
        </p:nvSpPr>
        <p:spPr>
          <a:xfrm>
            <a:off x="9735360" y="4203231"/>
            <a:ext cx="283504" cy="123960"/>
          </a:xfrm>
          <a:prstGeom prst="roundRect">
            <a:avLst/>
          </a:prstGeom>
          <a:solidFill>
            <a:schemeClr val="accent4">
              <a:lumMod val="40000"/>
              <a:lumOff val="60000"/>
            </a:schemeClr>
          </a:solidFill>
          <a:ln>
            <a:noFill/>
          </a:ln>
        </p:spPr>
        <p:txBody>
          <a:bodyPr vert="horz" wrap="square" lIns="0" tIns="45720" rIns="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ROE</a:t>
            </a:r>
            <a:endParaRPr kumimoji="0" lang="en-US" sz="7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1" name="Rectangle: Rounded Corners 10">
            <a:extLst>
              <a:ext uri="{FF2B5EF4-FFF2-40B4-BE49-F238E27FC236}">
                <a16:creationId xmlns:a16="http://schemas.microsoft.com/office/drawing/2014/main" id="{A5307940-E9B4-3738-771C-934E6A3FEEFE}"/>
              </a:ext>
            </a:extLst>
          </p:cNvPr>
          <p:cNvSpPr/>
          <p:nvPr/>
        </p:nvSpPr>
        <p:spPr>
          <a:xfrm>
            <a:off x="8977488" y="4354489"/>
            <a:ext cx="757872" cy="193555"/>
          </a:xfrm>
          <a:prstGeom prst="roundRect">
            <a:avLst/>
          </a:prstGeom>
          <a:solidFill>
            <a:schemeClr val="accent4">
              <a:lumMod val="40000"/>
              <a:lumOff val="60000"/>
            </a:schemeClr>
          </a:solidFill>
          <a:ln>
            <a:noFill/>
          </a:ln>
        </p:spPr>
        <p:txBody>
          <a:bodyPr vert="horz" wrap="square" lIns="0" tIns="45720" rIns="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Apps Scheduler</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12" name="TextBox 152">
            <a:extLst>
              <a:ext uri="{FF2B5EF4-FFF2-40B4-BE49-F238E27FC236}">
                <a16:creationId xmlns:a16="http://schemas.microsoft.com/office/drawing/2014/main" id="{75370D99-EB72-7064-128A-3515F3668B32}"/>
              </a:ext>
            </a:extLst>
          </p:cNvPr>
          <p:cNvSpPr txBox="1"/>
          <p:nvPr/>
        </p:nvSpPr>
        <p:spPr>
          <a:xfrm>
            <a:off x="8937922" y="4062130"/>
            <a:ext cx="1632650" cy="138499"/>
          </a:xfrm>
          <a:prstGeom prst="rect">
            <a:avLst/>
          </a:prstGeom>
          <a:solidFill>
            <a:schemeClr val="bg1"/>
          </a:solidFill>
          <a:ln>
            <a:solidFill>
              <a:schemeClr val="bg1"/>
            </a:solidFill>
          </a:ln>
        </p:spPr>
        <p:txBody>
          <a:bodyPr wrap="square" lIns="3600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Arial" panose="020B0604020202020204" pitchFamily="34" charset="0"/>
              </a:rPr>
              <a:t>EI Partner Services &amp; Systems</a:t>
            </a:r>
          </a:p>
        </p:txBody>
      </p:sp>
      <p:grpSp>
        <p:nvGrpSpPr>
          <p:cNvPr id="13" name="Group 12">
            <a:extLst>
              <a:ext uri="{FF2B5EF4-FFF2-40B4-BE49-F238E27FC236}">
                <a16:creationId xmlns:a16="http://schemas.microsoft.com/office/drawing/2014/main" id="{428651E4-1C0E-BE08-18C0-55F193A15592}"/>
              </a:ext>
            </a:extLst>
          </p:cNvPr>
          <p:cNvGrpSpPr>
            <a:grpSpLocks noChangeAspect="1"/>
          </p:cNvGrpSpPr>
          <p:nvPr/>
        </p:nvGrpSpPr>
        <p:grpSpPr>
          <a:xfrm>
            <a:off x="10639018" y="4000155"/>
            <a:ext cx="212663" cy="153473"/>
            <a:chOff x="2577832" y="3724408"/>
            <a:chExt cx="124278" cy="153473"/>
          </a:xfrm>
          <a:solidFill>
            <a:schemeClr val="accent4">
              <a:lumMod val="40000"/>
              <a:lumOff val="60000"/>
            </a:schemeClr>
          </a:solidFill>
        </p:grpSpPr>
        <p:sp>
          <p:nvSpPr>
            <p:cNvPr id="792" name="Rectangle 791">
              <a:extLst>
                <a:ext uri="{FF2B5EF4-FFF2-40B4-BE49-F238E27FC236}">
                  <a16:creationId xmlns:a16="http://schemas.microsoft.com/office/drawing/2014/main" id="{B9403766-607D-A290-4552-838130642BC4}"/>
                </a:ext>
              </a:extLst>
            </p:cNvPr>
            <p:cNvSpPr/>
            <p:nvPr/>
          </p:nvSpPr>
          <p:spPr>
            <a:xfrm>
              <a:off x="2577832" y="3724408"/>
              <a:ext cx="124278" cy="153473"/>
            </a:xfrm>
            <a:prstGeom prst="rect">
              <a:avLst/>
            </a:prstGeom>
            <a:grp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93" name="Rectangle 792">
              <a:extLst>
                <a:ext uri="{FF2B5EF4-FFF2-40B4-BE49-F238E27FC236}">
                  <a16:creationId xmlns:a16="http://schemas.microsoft.com/office/drawing/2014/main" id="{01D3006E-F8F8-DFD1-C16D-4D43E72621AE}"/>
                </a:ext>
              </a:extLst>
            </p:cNvPr>
            <p:cNvSpPr/>
            <p:nvPr/>
          </p:nvSpPr>
          <p:spPr>
            <a:xfrm>
              <a:off x="2577832" y="3777859"/>
              <a:ext cx="124278" cy="46571"/>
            </a:xfrm>
            <a:prstGeom prst="rect">
              <a:avLst/>
            </a:prstGeom>
            <a:grp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94" name="Rectangle 793">
              <a:extLst>
                <a:ext uri="{FF2B5EF4-FFF2-40B4-BE49-F238E27FC236}">
                  <a16:creationId xmlns:a16="http://schemas.microsoft.com/office/drawing/2014/main" id="{C658FC9F-C59D-1845-56DA-9311BFA37EE6}"/>
                </a:ext>
              </a:extLst>
            </p:cNvPr>
            <p:cNvSpPr/>
            <p:nvPr/>
          </p:nvSpPr>
          <p:spPr>
            <a:xfrm>
              <a:off x="2577832" y="3831310"/>
              <a:ext cx="124278" cy="46571"/>
            </a:xfrm>
            <a:prstGeom prst="rect">
              <a:avLst/>
            </a:prstGeom>
            <a:grp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nvGrpSpPr>
            <p:cNvPr id="795" name="Group 794">
              <a:extLst>
                <a:ext uri="{FF2B5EF4-FFF2-40B4-BE49-F238E27FC236}">
                  <a16:creationId xmlns:a16="http://schemas.microsoft.com/office/drawing/2014/main" id="{676B1DC7-804C-8535-8894-7AB4D3D3602A}"/>
                </a:ext>
              </a:extLst>
            </p:cNvPr>
            <p:cNvGrpSpPr/>
            <p:nvPr/>
          </p:nvGrpSpPr>
          <p:grpSpPr>
            <a:xfrm>
              <a:off x="2577832" y="3724408"/>
              <a:ext cx="124278" cy="46571"/>
              <a:chOff x="2577832" y="3724408"/>
              <a:chExt cx="124278" cy="46571"/>
            </a:xfrm>
            <a:grpFill/>
          </p:grpSpPr>
          <p:sp>
            <p:nvSpPr>
              <p:cNvPr id="796" name="Rectangle 795">
                <a:extLst>
                  <a:ext uri="{FF2B5EF4-FFF2-40B4-BE49-F238E27FC236}">
                    <a16:creationId xmlns:a16="http://schemas.microsoft.com/office/drawing/2014/main" id="{A00045E1-E539-FBE5-88F6-5F3340FB43DE}"/>
                  </a:ext>
                </a:extLst>
              </p:cNvPr>
              <p:cNvSpPr/>
              <p:nvPr/>
            </p:nvSpPr>
            <p:spPr>
              <a:xfrm>
                <a:off x="2577832" y="3724408"/>
                <a:ext cx="124278" cy="46571"/>
              </a:xfrm>
              <a:prstGeom prst="rect">
                <a:avLst/>
              </a:prstGeom>
              <a:grp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97" name="Oval 796">
                <a:extLst>
                  <a:ext uri="{FF2B5EF4-FFF2-40B4-BE49-F238E27FC236}">
                    <a16:creationId xmlns:a16="http://schemas.microsoft.com/office/drawing/2014/main" id="{EC3B5F02-12ED-9726-BD84-8DE776BED1C1}"/>
                  </a:ext>
                </a:extLst>
              </p:cNvPr>
              <p:cNvSpPr/>
              <p:nvPr/>
            </p:nvSpPr>
            <p:spPr>
              <a:xfrm>
                <a:off x="2591483" y="3736025"/>
                <a:ext cx="22374" cy="22374"/>
              </a:xfrm>
              <a:prstGeom prst="ellipse">
                <a:avLst/>
              </a:prstGeom>
              <a:grp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grpSp>
      <p:sp>
        <p:nvSpPr>
          <p:cNvPr id="14" name="Rectangle: Rounded Corners 13">
            <a:extLst>
              <a:ext uri="{FF2B5EF4-FFF2-40B4-BE49-F238E27FC236}">
                <a16:creationId xmlns:a16="http://schemas.microsoft.com/office/drawing/2014/main" id="{347315FC-120D-17E6-1D1E-5F5622A75058}"/>
              </a:ext>
            </a:extLst>
          </p:cNvPr>
          <p:cNvSpPr/>
          <p:nvPr/>
        </p:nvSpPr>
        <p:spPr>
          <a:xfrm>
            <a:off x="8999523" y="4200713"/>
            <a:ext cx="674236" cy="129027"/>
          </a:xfrm>
          <a:prstGeom prst="roundRect">
            <a:avLst/>
          </a:prstGeom>
          <a:solidFill>
            <a:srgbClr val="A6A6A6"/>
          </a:solidFill>
          <a:ln>
            <a:noFill/>
          </a:ln>
        </p:spPr>
        <p:txBody>
          <a:bodyPr vert="horz" wrap="square" lIns="0" tIns="45720" rIns="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Appeals</a:t>
            </a:r>
          </a:p>
        </p:txBody>
      </p:sp>
      <p:grpSp>
        <p:nvGrpSpPr>
          <p:cNvPr id="15" name="Group 14">
            <a:extLst>
              <a:ext uri="{FF2B5EF4-FFF2-40B4-BE49-F238E27FC236}">
                <a16:creationId xmlns:a16="http://schemas.microsoft.com/office/drawing/2014/main" id="{ACADCBED-471B-9735-EC97-06B8DA382F2F}"/>
              </a:ext>
            </a:extLst>
          </p:cNvPr>
          <p:cNvGrpSpPr/>
          <p:nvPr/>
        </p:nvGrpSpPr>
        <p:grpSpPr>
          <a:xfrm>
            <a:off x="1967268" y="797941"/>
            <a:ext cx="5004000" cy="2061425"/>
            <a:chOff x="1619999" y="530575"/>
            <a:chExt cx="5004000" cy="2061425"/>
          </a:xfrm>
        </p:grpSpPr>
        <p:sp>
          <p:nvSpPr>
            <p:cNvPr id="754" name="Rectangle 753">
              <a:extLst>
                <a:ext uri="{FF2B5EF4-FFF2-40B4-BE49-F238E27FC236}">
                  <a16:creationId xmlns:a16="http://schemas.microsoft.com/office/drawing/2014/main" id="{B587C37D-BF99-8DF1-1FFB-C142493D51CE}"/>
                </a:ext>
              </a:extLst>
            </p:cNvPr>
            <p:cNvSpPr/>
            <p:nvPr/>
          </p:nvSpPr>
          <p:spPr>
            <a:xfrm>
              <a:off x="3132000" y="864000"/>
              <a:ext cx="1368000" cy="18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Service Canada Lab</a:t>
              </a:r>
            </a:p>
          </p:txBody>
        </p:sp>
        <p:sp>
          <p:nvSpPr>
            <p:cNvPr id="755" name="Rectangle 754">
              <a:extLst>
                <a:ext uri="{FF2B5EF4-FFF2-40B4-BE49-F238E27FC236}">
                  <a16:creationId xmlns:a16="http://schemas.microsoft.com/office/drawing/2014/main" id="{9DCE1CE7-4038-BB71-6EF1-3B3F7D64EC57}"/>
                </a:ext>
              </a:extLst>
            </p:cNvPr>
            <p:cNvSpPr/>
            <p:nvPr/>
          </p:nvSpPr>
          <p:spPr>
            <a:xfrm>
              <a:off x="3132000" y="1080000"/>
              <a:ext cx="1368000" cy="180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Virtual Assistant</a:t>
              </a:r>
            </a:p>
          </p:txBody>
        </p:sp>
        <p:sp>
          <p:nvSpPr>
            <p:cNvPr id="756" name="Rectangle: Rounded Corners 755">
              <a:extLst>
                <a:ext uri="{FF2B5EF4-FFF2-40B4-BE49-F238E27FC236}">
                  <a16:creationId xmlns:a16="http://schemas.microsoft.com/office/drawing/2014/main" id="{04B4D2CB-F901-6B9B-FB77-8C08F93224B7}"/>
                </a:ext>
              </a:extLst>
            </p:cNvPr>
            <p:cNvSpPr/>
            <p:nvPr/>
          </p:nvSpPr>
          <p:spPr>
            <a:xfrm>
              <a:off x="1619999" y="612000"/>
              <a:ext cx="5004000" cy="1980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57" name="TextBox 382">
              <a:extLst>
                <a:ext uri="{FF2B5EF4-FFF2-40B4-BE49-F238E27FC236}">
                  <a16:creationId xmlns:a16="http://schemas.microsoft.com/office/drawing/2014/main" id="{6577A5D3-BE1A-90D3-0A8F-E65ADD9CEFF3}"/>
                </a:ext>
              </a:extLst>
            </p:cNvPr>
            <p:cNvSpPr txBox="1"/>
            <p:nvPr/>
          </p:nvSpPr>
          <p:spPr>
            <a:xfrm>
              <a:off x="1692000" y="530575"/>
              <a:ext cx="2547740" cy="153888"/>
            </a:xfrm>
            <a:prstGeom prst="rect">
              <a:avLst/>
            </a:prstGeom>
            <a:solidFill>
              <a:schemeClr val="bg1"/>
            </a:solidFill>
          </p:spPr>
          <p:txBody>
            <a:bodyPr wrap="non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ea typeface="+mn-ea"/>
                  <a:cs typeface="Arial" panose="020B0604020202020204" pitchFamily="34" charset="0"/>
                </a:rPr>
                <a:t>Service Canada Client and Partner UX Platform</a:t>
              </a:r>
            </a:p>
          </p:txBody>
        </p:sp>
        <p:sp>
          <p:nvSpPr>
            <p:cNvPr id="758" name="Rectangle: Rounded Corners 757">
              <a:extLst>
                <a:ext uri="{FF2B5EF4-FFF2-40B4-BE49-F238E27FC236}">
                  <a16:creationId xmlns:a16="http://schemas.microsoft.com/office/drawing/2014/main" id="{A36DFE9A-1849-DC64-E98E-8076E9AEC576}"/>
                </a:ext>
              </a:extLst>
            </p:cNvPr>
            <p:cNvSpPr/>
            <p:nvPr/>
          </p:nvSpPr>
          <p:spPr>
            <a:xfrm>
              <a:off x="1656000" y="755999"/>
              <a:ext cx="3672000" cy="1800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59" name="Rectangle 758">
              <a:extLst>
                <a:ext uri="{FF2B5EF4-FFF2-40B4-BE49-F238E27FC236}">
                  <a16:creationId xmlns:a16="http://schemas.microsoft.com/office/drawing/2014/main" id="{9FCF4D1A-9BAD-3147-8EB1-FBA8A85422B7}"/>
                </a:ext>
              </a:extLst>
            </p:cNvPr>
            <p:cNvSpPr>
              <a:spLocks noChangeArrowheads="1"/>
            </p:cNvSpPr>
            <p:nvPr/>
          </p:nvSpPr>
          <p:spPr bwMode="auto">
            <a:xfrm>
              <a:off x="1832925" y="660063"/>
              <a:ext cx="936000" cy="1538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C0C0C"/>
                  </a:solidFill>
                  <a:effectLst/>
                  <a:uLnTx/>
                  <a:uFillTx/>
                  <a:ea typeface="+mn-ea"/>
                  <a:cs typeface="Arial" panose="020B0604020202020204" pitchFamily="34" charset="0"/>
                </a:rPr>
                <a:t>Online Channel</a:t>
              </a:r>
              <a:endParaRPr kumimoji="0" lang="en-US" altLang="en-US" sz="1000" b="1"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60" name="Rectangle 759">
              <a:extLst>
                <a:ext uri="{FF2B5EF4-FFF2-40B4-BE49-F238E27FC236}">
                  <a16:creationId xmlns:a16="http://schemas.microsoft.com/office/drawing/2014/main" id="{03B9BEBE-126F-3844-BD71-911ED40E63BF}"/>
                </a:ext>
              </a:extLst>
            </p:cNvPr>
            <p:cNvSpPr/>
            <p:nvPr/>
          </p:nvSpPr>
          <p:spPr>
            <a:xfrm>
              <a:off x="1728000" y="864000"/>
              <a:ext cx="1368000" cy="18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Web Content</a:t>
              </a:r>
            </a:p>
          </p:txBody>
        </p:sp>
        <p:grpSp>
          <p:nvGrpSpPr>
            <p:cNvPr id="761" name="Group 760">
              <a:extLst>
                <a:ext uri="{FF2B5EF4-FFF2-40B4-BE49-F238E27FC236}">
                  <a16:creationId xmlns:a16="http://schemas.microsoft.com/office/drawing/2014/main" id="{1FA76F3E-AAE2-59EA-1DF1-3D34C45FC868}"/>
                </a:ext>
              </a:extLst>
            </p:cNvPr>
            <p:cNvGrpSpPr/>
            <p:nvPr/>
          </p:nvGrpSpPr>
          <p:grpSpPr>
            <a:xfrm>
              <a:off x="5364000" y="660158"/>
              <a:ext cx="1224000" cy="959841"/>
              <a:chOff x="5364000" y="660158"/>
              <a:chExt cx="1224000" cy="959841"/>
            </a:xfrm>
          </p:grpSpPr>
          <p:sp>
            <p:nvSpPr>
              <p:cNvPr id="786" name="Rectangle 785">
                <a:extLst>
                  <a:ext uri="{FF2B5EF4-FFF2-40B4-BE49-F238E27FC236}">
                    <a16:creationId xmlns:a16="http://schemas.microsoft.com/office/drawing/2014/main" id="{EE3F4334-6044-C8AB-1F0A-DB9208D48A83}"/>
                  </a:ext>
                </a:extLst>
              </p:cNvPr>
              <p:cNvSpPr/>
              <p:nvPr/>
            </p:nvSpPr>
            <p:spPr>
              <a:xfrm>
                <a:off x="5408704" y="864000"/>
                <a:ext cx="1140630" cy="130189"/>
              </a:xfrm>
              <a:prstGeom prst="rect">
                <a:avLst/>
              </a:prstGeom>
              <a:solidFill>
                <a:srgbClr val="A6A6A6"/>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Scheduled  Call Back</a:t>
                </a:r>
              </a:p>
            </p:txBody>
          </p:sp>
          <p:sp>
            <p:nvSpPr>
              <p:cNvPr id="787" name="Rectangle 786">
                <a:extLst>
                  <a:ext uri="{FF2B5EF4-FFF2-40B4-BE49-F238E27FC236}">
                    <a16:creationId xmlns:a16="http://schemas.microsoft.com/office/drawing/2014/main" id="{ABED79DD-6E14-6E36-CB18-75D170DE2950}"/>
                  </a:ext>
                </a:extLst>
              </p:cNvPr>
              <p:cNvSpPr/>
              <p:nvPr/>
            </p:nvSpPr>
            <p:spPr>
              <a:xfrm>
                <a:off x="5404094" y="1044000"/>
                <a:ext cx="1140630" cy="130189"/>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IVR &amp; CTI</a:t>
                </a:r>
              </a:p>
            </p:txBody>
          </p:sp>
          <p:sp>
            <p:nvSpPr>
              <p:cNvPr id="788" name="Rectangle 787">
                <a:extLst>
                  <a:ext uri="{FF2B5EF4-FFF2-40B4-BE49-F238E27FC236}">
                    <a16:creationId xmlns:a16="http://schemas.microsoft.com/office/drawing/2014/main" id="{B6338835-A7AC-61DF-5139-6849726DF11E}"/>
                  </a:ext>
                </a:extLst>
              </p:cNvPr>
              <p:cNvSpPr/>
              <p:nvPr/>
            </p:nvSpPr>
            <p:spPr>
              <a:xfrm>
                <a:off x="5404094" y="1224000"/>
                <a:ext cx="1140630" cy="130189"/>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Workforce Management</a:t>
                </a:r>
              </a:p>
            </p:txBody>
          </p:sp>
          <p:sp>
            <p:nvSpPr>
              <p:cNvPr id="789" name="Rectangle 788">
                <a:extLst>
                  <a:ext uri="{FF2B5EF4-FFF2-40B4-BE49-F238E27FC236}">
                    <a16:creationId xmlns:a16="http://schemas.microsoft.com/office/drawing/2014/main" id="{AF11EA26-927B-E33D-9071-85B2A331D53C}"/>
                  </a:ext>
                </a:extLst>
              </p:cNvPr>
              <p:cNvSpPr/>
              <p:nvPr/>
            </p:nvSpPr>
            <p:spPr>
              <a:xfrm>
                <a:off x="5396073" y="1404000"/>
                <a:ext cx="1140630" cy="130189"/>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Omni Channel Routing</a:t>
                </a:r>
              </a:p>
            </p:txBody>
          </p:sp>
          <p:sp>
            <p:nvSpPr>
              <p:cNvPr id="790" name="Rectangle: Rounded Corners 789">
                <a:extLst>
                  <a:ext uri="{FF2B5EF4-FFF2-40B4-BE49-F238E27FC236}">
                    <a16:creationId xmlns:a16="http://schemas.microsoft.com/office/drawing/2014/main" id="{CFB22261-D7CB-90DF-390F-CF33BEC07EC5}"/>
                  </a:ext>
                </a:extLst>
              </p:cNvPr>
              <p:cNvSpPr/>
              <p:nvPr/>
            </p:nvSpPr>
            <p:spPr>
              <a:xfrm>
                <a:off x="5364000" y="755999"/>
                <a:ext cx="1224000" cy="864000"/>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91" name="Rectangle 790">
                <a:extLst>
                  <a:ext uri="{FF2B5EF4-FFF2-40B4-BE49-F238E27FC236}">
                    <a16:creationId xmlns:a16="http://schemas.microsoft.com/office/drawing/2014/main" id="{F1FD82D6-5715-079C-85CC-EC1B7330CF0B}"/>
                  </a:ext>
                </a:extLst>
              </p:cNvPr>
              <p:cNvSpPr>
                <a:spLocks noChangeArrowheads="1"/>
              </p:cNvSpPr>
              <p:nvPr/>
            </p:nvSpPr>
            <p:spPr bwMode="auto">
              <a:xfrm>
                <a:off x="5436000" y="660158"/>
                <a:ext cx="722306" cy="186431"/>
              </a:xfrm>
              <a:prstGeom prst="rect">
                <a:avLst/>
              </a:prstGeom>
              <a:solidFill>
                <a:schemeClr val="bg1"/>
              </a:solidFill>
              <a:ln w="9525">
                <a:noFill/>
                <a:miter lim="800000"/>
                <a:headEnd/>
                <a:tailEnd/>
              </a:ln>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Contact Centre</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sp>
          <p:nvSpPr>
            <p:cNvPr id="762" name="Rectangle: Rounded Corners 761">
              <a:extLst>
                <a:ext uri="{FF2B5EF4-FFF2-40B4-BE49-F238E27FC236}">
                  <a16:creationId xmlns:a16="http://schemas.microsoft.com/office/drawing/2014/main" id="{C3152B71-7A24-6CB6-9926-BCA60AD8E291}"/>
                </a:ext>
              </a:extLst>
            </p:cNvPr>
            <p:cNvSpPr/>
            <p:nvPr/>
          </p:nvSpPr>
          <p:spPr>
            <a:xfrm>
              <a:off x="1692000" y="1332000"/>
              <a:ext cx="3600000" cy="1188000"/>
            </a:xfrm>
            <a:prstGeom prst="roundRect">
              <a:avLst>
                <a:gd name="adj" fmla="val 4617"/>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63" name="Rectangle 762">
              <a:extLst>
                <a:ext uri="{FF2B5EF4-FFF2-40B4-BE49-F238E27FC236}">
                  <a16:creationId xmlns:a16="http://schemas.microsoft.com/office/drawing/2014/main" id="{DFEA4BAD-F706-3259-73FE-CA6448CCD530}"/>
                </a:ext>
              </a:extLst>
            </p:cNvPr>
            <p:cNvSpPr>
              <a:spLocks noChangeArrowheads="1"/>
            </p:cNvSpPr>
            <p:nvPr/>
          </p:nvSpPr>
          <p:spPr bwMode="auto">
            <a:xfrm>
              <a:off x="1764000" y="1238430"/>
              <a:ext cx="828000" cy="197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C0C0C"/>
                  </a:solidFill>
                  <a:effectLst/>
                  <a:uLnTx/>
                  <a:uFillTx/>
                  <a:ea typeface="+mn-ea"/>
                  <a:cs typeface="Arial" panose="020B0604020202020204" pitchFamily="34" charset="0"/>
                </a:rPr>
                <a:t>Digital Centre</a:t>
              </a:r>
              <a:endParaRPr kumimoji="0" lang="en-US" altLang="en-US" sz="800" b="1"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64" name="Rectangle: Rounded Corners 763">
              <a:extLst>
                <a:ext uri="{FF2B5EF4-FFF2-40B4-BE49-F238E27FC236}">
                  <a16:creationId xmlns:a16="http://schemas.microsoft.com/office/drawing/2014/main" id="{E74172A5-BEAB-9E3C-A3DF-CA980AD6D91E}"/>
                </a:ext>
              </a:extLst>
            </p:cNvPr>
            <p:cNvSpPr/>
            <p:nvPr/>
          </p:nvSpPr>
          <p:spPr>
            <a:xfrm>
              <a:off x="1728000" y="1692000"/>
              <a:ext cx="2736000" cy="792000"/>
            </a:xfrm>
            <a:prstGeom prst="roundRect">
              <a:avLst>
                <a:gd name="adj" fmla="val 6583"/>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65" name="Rectangle: Rounded Corners 764">
              <a:extLst>
                <a:ext uri="{FF2B5EF4-FFF2-40B4-BE49-F238E27FC236}">
                  <a16:creationId xmlns:a16="http://schemas.microsoft.com/office/drawing/2014/main" id="{2CA843BE-09B5-0430-88DC-CB9371A57E0B}"/>
                </a:ext>
              </a:extLst>
            </p:cNvPr>
            <p:cNvSpPr/>
            <p:nvPr/>
          </p:nvSpPr>
          <p:spPr>
            <a:xfrm>
              <a:off x="1764000" y="2088000"/>
              <a:ext cx="2592000" cy="360000"/>
            </a:xfrm>
            <a:prstGeom prst="roundRect">
              <a:avLst>
                <a:gd name="adj" fmla="val 12661"/>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66" name="Rectangle 765">
              <a:extLst>
                <a:ext uri="{FF2B5EF4-FFF2-40B4-BE49-F238E27FC236}">
                  <a16:creationId xmlns:a16="http://schemas.microsoft.com/office/drawing/2014/main" id="{A1C8691E-D794-2078-908B-5C49B275EE13}"/>
                </a:ext>
              </a:extLst>
            </p:cNvPr>
            <p:cNvSpPr/>
            <p:nvPr/>
          </p:nvSpPr>
          <p:spPr>
            <a:xfrm>
              <a:off x="3312000" y="1764000"/>
              <a:ext cx="1080000" cy="10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Message Centre</a:t>
              </a:r>
            </a:p>
          </p:txBody>
        </p:sp>
        <p:sp>
          <p:nvSpPr>
            <p:cNvPr id="767" name="Rectangle 766">
              <a:extLst>
                <a:ext uri="{FF2B5EF4-FFF2-40B4-BE49-F238E27FC236}">
                  <a16:creationId xmlns:a16="http://schemas.microsoft.com/office/drawing/2014/main" id="{C2BE117E-DE10-9774-05BD-852C5FC10C0A}"/>
                </a:ext>
              </a:extLst>
            </p:cNvPr>
            <p:cNvSpPr>
              <a:spLocks noChangeArrowheads="1"/>
            </p:cNvSpPr>
            <p:nvPr/>
          </p:nvSpPr>
          <p:spPr bwMode="auto">
            <a:xfrm>
              <a:off x="1836000" y="1990520"/>
              <a:ext cx="1692000" cy="197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Benefit Delivery Client Engagement</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68" name="Rectangle 767">
              <a:extLst>
                <a:ext uri="{FF2B5EF4-FFF2-40B4-BE49-F238E27FC236}">
                  <a16:creationId xmlns:a16="http://schemas.microsoft.com/office/drawing/2014/main" id="{D5C016B9-1484-2B26-BBCA-EF24F9828EE1}"/>
                </a:ext>
              </a:extLst>
            </p:cNvPr>
            <p:cNvSpPr/>
            <p:nvPr/>
          </p:nvSpPr>
          <p:spPr>
            <a:xfrm>
              <a:off x="1800000" y="1908000"/>
              <a:ext cx="720000" cy="10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Life Events</a:t>
              </a:r>
            </a:p>
          </p:txBody>
        </p:sp>
        <p:sp>
          <p:nvSpPr>
            <p:cNvPr id="769" name="Rectangle 768">
              <a:extLst>
                <a:ext uri="{FF2B5EF4-FFF2-40B4-BE49-F238E27FC236}">
                  <a16:creationId xmlns:a16="http://schemas.microsoft.com/office/drawing/2014/main" id="{0CD2F730-855B-E625-F622-3DB7EED6F55D}"/>
                </a:ext>
              </a:extLst>
            </p:cNvPr>
            <p:cNvSpPr/>
            <p:nvPr/>
          </p:nvSpPr>
          <p:spPr>
            <a:xfrm>
              <a:off x="2537776" y="1908000"/>
              <a:ext cx="720000" cy="108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Tell-Us-Once</a:t>
              </a:r>
            </a:p>
          </p:txBody>
        </p:sp>
        <p:sp>
          <p:nvSpPr>
            <p:cNvPr id="770" name="Rectangle 769">
              <a:extLst>
                <a:ext uri="{FF2B5EF4-FFF2-40B4-BE49-F238E27FC236}">
                  <a16:creationId xmlns:a16="http://schemas.microsoft.com/office/drawing/2014/main" id="{93833279-D7F2-2D53-50FD-614D255D8A0A}"/>
                </a:ext>
              </a:extLst>
            </p:cNvPr>
            <p:cNvSpPr/>
            <p:nvPr/>
          </p:nvSpPr>
          <p:spPr>
            <a:xfrm>
              <a:off x="3293776" y="1908000"/>
              <a:ext cx="1080000" cy="10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Rep-a-Client</a:t>
              </a:r>
            </a:p>
          </p:txBody>
        </p:sp>
        <p:sp>
          <p:nvSpPr>
            <p:cNvPr id="771" name="Rectangle 770">
              <a:extLst>
                <a:ext uri="{FF2B5EF4-FFF2-40B4-BE49-F238E27FC236}">
                  <a16:creationId xmlns:a16="http://schemas.microsoft.com/office/drawing/2014/main" id="{93EE6A09-070C-A8F2-9523-2D61E60F1C17}"/>
                </a:ext>
              </a:extLst>
            </p:cNvPr>
            <p:cNvSpPr/>
            <p:nvPr/>
          </p:nvSpPr>
          <p:spPr>
            <a:xfrm>
              <a:off x="1836000" y="2160000"/>
              <a:ext cx="1188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EI Benefits Management</a:t>
              </a:r>
            </a:p>
          </p:txBody>
        </p:sp>
        <p:sp>
          <p:nvSpPr>
            <p:cNvPr id="772" name="Rectangle 771">
              <a:extLst>
                <a:ext uri="{FF2B5EF4-FFF2-40B4-BE49-F238E27FC236}">
                  <a16:creationId xmlns:a16="http://schemas.microsoft.com/office/drawing/2014/main" id="{C83FC5EE-3056-BFCE-B170-A76BC2E710FE}"/>
                </a:ext>
              </a:extLst>
            </p:cNvPr>
            <p:cNvSpPr/>
            <p:nvPr/>
          </p:nvSpPr>
          <p:spPr>
            <a:xfrm>
              <a:off x="3060000" y="2160000"/>
              <a:ext cx="1224000" cy="216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Pensions Benefit Management</a:t>
              </a:r>
            </a:p>
          </p:txBody>
        </p:sp>
        <p:grpSp>
          <p:nvGrpSpPr>
            <p:cNvPr id="773" name="Group 772">
              <a:extLst>
                <a:ext uri="{FF2B5EF4-FFF2-40B4-BE49-F238E27FC236}">
                  <a16:creationId xmlns:a16="http://schemas.microsoft.com/office/drawing/2014/main" id="{0B35C03E-C123-AF77-7624-41F99E67DB04}"/>
                </a:ext>
              </a:extLst>
            </p:cNvPr>
            <p:cNvGrpSpPr/>
            <p:nvPr/>
          </p:nvGrpSpPr>
          <p:grpSpPr>
            <a:xfrm>
              <a:off x="4536000" y="1692000"/>
              <a:ext cx="684000" cy="756000"/>
              <a:chOff x="4536000" y="1692000"/>
              <a:chExt cx="684000" cy="756000"/>
            </a:xfrm>
          </p:grpSpPr>
          <p:sp>
            <p:nvSpPr>
              <p:cNvPr id="784" name="Rectangle 783">
                <a:extLst>
                  <a:ext uri="{FF2B5EF4-FFF2-40B4-BE49-F238E27FC236}">
                    <a16:creationId xmlns:a16="http://schemas.microsoft.com/office/drawing/2014/main" id="{E96F0F70-01E6-3477-C6DC-C4A0D7897E7C}"/>
                  </a:ext>
                </a:extLst>
              </p:cNvPr>
              <p:cNvSpPr/>
              <p:nvPr/>
            </p:nvSpPr>
            <p:spPr>
              <a:xfrm>
                <a:off x="4536000" y="1692000"/>
                <a:ext cx="684000" cy="36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ea typeface="+mn-ea"/>
                    <a:cs typeface="Arial" panose="020B0604020202020204" pitchFamily="34" charset="0"/>
                  </a:rPr>
                  <a:t>Service Canada Business Account</a:t>
                </a:r>
              </a:p>
            </p:txBody>
          </p:sp>
          <p:sp>
            <p:nvSpPr>
              <p:cNvPr id="785" name="Rectangle 784">
                <a:extLst>
                  <a:ext uri="{FF2B5EF4-FFF2-40B4-BE49-F238E27FC236}">
                    <a16:creationId xmlns:a16="http://schemas.microsoft.com/office/drawing/2014/main" id="{68E22910-18E1-4E77-B71C-732E5BC7462D}"/>
                  </a:ext>
                </a:extLst>
              </p:cNvPr>
              <p:cNvSpPr/>
              <p:nvPr/>
            </p:nvSpPr>
            <p:spPr>
              <a:xfrm>
                <a:off x="4536000" y="2088000"/>
                <a:ext cx="684000" cy="36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Partner Portal</a:t>
                </a:r>
              </a:p>
            </p:txBody>
          </p:sp>
        </p:grpSp>
        <p:sp>
          <p:nvSpPr>
            <p:cNvPr id="774" name="Rectangle 773">
              <a:extLst>
                <a:ext uri="{FF2B5EF4-FFF2-40B4-BE49-F238E27FC236}">
                  <a16:creationId xmlns:a16="http://schemas.microsoft.com/office/drawing/2014/main" id="{89C60460-D172-B509-58A4-A96CA991A08B}"/>
                </a:ext>
              </a:extLst>
            </p:cNvPr>
            <p:cNvSpPr>
              <a:spLocks noChangeArrowheads="1"/>
            </p:cNvSpPr>
            <p:nvPr/>
          </p:nvSpPr>
          <p:spPr bwMode="auto">
            <a:xfrm>
              <a:off x="1800000" y="1590471"/>
              <a:ext cx="1224000" cy="197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Service Canada Account</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nvGrpSpPr>
            <p:cNvPr id="775" name="Group 774">
              <a:extLst>
                <a:ext uri="{FF2B5EF4-FFF2-40B4-BE49-F238E27FC236}">
                  <a16:creationId xmlns:a16="http://schemas.microsoft.com/office/drawing/2014/main" id="{AD9166AA-A76E-D263-A8DD-466ACFF533B5}"/>
                </a:ext>
              </a:extLst>
            </p:cNvPr>
            <p:cNvGrpSpPr/>
            <p:nvPr/>
          </p:nvGrpSpPr>
          <p:grpSpPr>
            <a:xfrm>
              <a:off x="5364000" y="1728000"/>
              <a:ext cx="1224000" cy="828000"/>
              <a:chOff x="5364000" y="1728000"/>
              <a:chExt cx="1224000" cy="828000"/>
            </a:xfrm>
          </p:grpSpPr>
          <p:sp>
            <p:nvSpPr>
              <p:cNvPr id="780" name="Rectangle 779">
                <a:extLst>
                  <a:ext uri="{FF2B5EF4-FFF2-40B4-BE49-F238E27FC236}">
                    <a16:creationId xmlns:a16="http://schemas.microsoft.com/office/drawing/2014/main" id="{8C57511F-212D-3122-2CD2-D05D15D9E78F}"/>
                  </a:ext>
                </a:extLst>
              </p:cNvPr>
              <p:cNvSpPr/>
              <p:nvPr/>
            </p:nvSpPr>
            <p:spPr>
              <a:xfrm>
                <a:off x="5436000" y="1836000"/>
                <a:ext cx="1080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Feedback Capture</a:t>
                </a:r>
              </a:p>
            </p:txBody>
          </p:sp>
          <p:sp>
            <p:nvSpPr>
              <p:cNvPr id="781" name="Rectangle 780">
                <a:extLst>
                  <a:ext uri="{FF2B5EF4-FFF2-40B4-BE49-F238E27FC236}">
                    <a16:creationId xmlns:a16="http://schemas.microsoft.com/office/drawing/2014/main" id="{D3DDAC9B-2A29-5439-9F8E-5BE05DCB8D88}"/>
                  </a:ext>
                </a:extLst>
              </p:cNvPr>
              <p:cNvSpPr/>
              <p:nvPr/>
            </p:nvSpPr>
            <p:spPr>
              <a:xfrm>
                <a:off x="5436000" y="2016000"/>
                <a:ext cx="1080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Feedback Analysis</a:t>
                </a:r>
              </a:p>
            </p:txBody>
          </p:sp>
          <p:sp>
            <p:nvSpPr>
              <p:cNvPr id="782" name="Rectangle: Rounded Corners 781">
                <a:extLst>
                  <a:ext uri="{FF2B5EF4-FFF2-40B4-BE49-F238E27FC236}">
                    <a16:creationId xmlns:a16="http://schemas.microsoft.com/office/drawing/2014/main" id="{F1C2F434-1C0D-9BD5-6CC1-0425317C07DF}"/>
                  </a:ext>
                </a:extLst>
              </p:cNvPr>
              <p:cNvSpPr/>
              <p:nvPr/>
            </p:nvSpPr>
            <p:spPr>
              <a:xfrm>
                <a:off x="5364000" y="1728000"/>
                <a:ext cx="1224000" cy="828000"/>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83" name="Cylinder 782">
                <a:extLst>
                  <a:ext uri="{FF2B5EF4-FFF2-40B4-BE49-F238E27FC236}">
                    <a16:creationId xmlns:a16="http://schemas.microsoft.com/office/drawing/2014/main" id="{62F96C5D-43C5-09E5-777B-B816F51B19CF}"/>
                  </a:ext>
                </a:extLst>
              </p:cNvPr>
              <p:cNvSpPr/>
              <p:nvPr/>
            </p:nvSpPr>
            <p:spPr>
              <a:xfrm>
                <a:off x="5436000" y="2250000"/>
                <a:ext cx="1080000" cy="21600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Feedback Repository</a:t>
                </a:r>
              </a:p>
            </p:txBody>
          </p:sp>
        </p:grpSp>
        <p:sp>
          <p:nvSpPr>
            <p:cNvPr id="776" name="Rectangle 775">
              <a:extLst>
                <a:ext uri="{FF2B5EF4-FFF2-40B4-BE49-F238E27FC236}">
                  <a16:creationId xmlns:a16="http://schemas.microsoft.com/office/drawing/2014/main" id="{35C77456-92CC-13BB-E28F-320907D4698A}"/>
                </a:ext>
              </a:extLst>
            </p:cNvPr>
            <p:cNvSpPr>
              <a:spLocks noChangeArrowheads="1"/>
            </p:cNvSpPr>
            <p:nvPr/>
          </p:nvSpPr>
          <p:spPr bwMode="auto">
            <a:xfrm>
              <a:off x="5436000" y="1634068"/>
              <a:ext cx="1134000" cy="197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C0C0C"/>
                  </a:solidFill>
                  <a:effectLst/>
                  <a:uLnTx/>
                  <a:uFillTx/>
                  <a:ea typeface="+mn-ea"/>
                  <a:cs typeface="Arial" panose="020B0604020202020204" pitchFamily="34" charset="0"/>
                </a:rPr>
                <a:t>Feedback Management</a:t>
              </a:r>
              <a:endParaRPr kumimoji="0" lang="en-US" alt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777" name="Rectangle 776">
              <a:extLst>
                <a:ext uri="{FF2B5EF4-FFF2-40B4-BE49-F238E27FC236}">
                  <a16:creationId xmlns:a16="http://schemas.microsoft.com/office/drawing/2014/main" id="{CB5ABF4D-BFCF-F221-3C5E-C264C9A1BCAE}"/>
                </a:ext>
              </a:extLst>
            </p:cNvPr>
            <p:cNvSpPr/>
            <p:nvPr/>
          </p:nvSpPr>
          <p:spPr>
            <a:xfrm>
              <a:off x="1728000" y="1080000"/>
              <a:ext cx="1368000" cy="18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Web Analytics</a:t>
              </a:r>
            </a:p>
          </p:txBody>
        </p:sp>
        <p:sp>
          <p:nvSpPr>
            <p:cNvPr id="778" name="Rectangle 777">
              <a:extLst>
                <a:ext uri="{FF2B5EF4-FFF2-40B4-BE49-F238E27FC236}">
                  <a16:creationId xmlns:a16="http://schemas.microsoft.com/office/drawing/2014/main" id="{B59954AB-97BE-9B1D-46B5-EDC573191D9B}"/>
                </a:ext>
              </a:extLst>
            </p:cNvPr>
            <p:cNvSpPr/>
            <p:nvPr/>
          </p:nvSpPr>
          <p:spPr>
            <a:xfrm>
              <a:off x="1765734" y="1764000"/>
              <a:ext cx="1476000" cy="10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Client Account Overview</a:t>
              </a:r>
            </a:p>
          </p:txBody>
        </p:sp>
        <p:sp>
          <p:nvSpPr>
            <p:cNvPr id="779" name="Rectangle 778">
              <a:extLst>
                <a:ext uri="{FF2B5EF4-FFF2-40B4-BE49-F238E27FC236}">
                  <a16:creationId xmlns:a16="http://schemas.microsoft.com/office/drawing/2014/main" id="{75D17922-D456-F8A7-6335-1CC850FC51F4}"/>
                </a:ext>
              </a:extLst>
            </p:cNvPr>
            <p:cNvSpPr/>
            <p:nvPr/>
          </p:nvSpPr>
          <p:spPr>
            <a:xfrm>
              <a:off x="1764000" y="1440000"/>
              <a:ext cx="3456000" cy="180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Unauthenticated Digital Service</a:t>
              </a:r>
            </a:p>
          </p:txBody>
        </p:sp>
      </p:grpSp>
      <p:grpSp>
        <p:nvGrpSpPr>
          <p:cNvPr id="16" name="Group 15">
            <a:extLst>
              <a:ext uri="{FF2B5EF4-FFF2-40B4-BE49-F238E27FC236}">
                <a16:creationId xmlns:a16="http://schemas.microsoft.com/office/drawing/2014/main" id="{27CD80A9-F20F-8AC6-DC50-B97C1A702129}"/>
              </a:ext>
            </a:extLst>
          </p:cNvPr>
          <p:cNvGrpSpPr/>
          <p:nvPr/>
        </p:nvGrpSpPr>
        <p:grpSpPr>
          <a:xfrm>
            <a:off x="4485606" y="5486511"/>
            <a:ext cx="2592000" cy="551069"/>
            <a:chOff x="3240000" y="5532931"/>
            <a:chExt cx="2592000" cy="551069"/>
          </a:xfrm>
        </p:grpSpPr>
        <p:sp>
          <p:nvSpPr>
            <p:cNvPr id="749" name="Rectangle: Rounded Corners 748">
              <a:extLst>
                <a:ext uri="{FF2B5EF4-FFF2-40B4-BE49-F238E27FC236}">
                  <a16:creationId xmlns:a16="http://schemas.microsoft.com/office/drawing/2014/main" id="{B6583D46-6C89-F3A2-78F3-5D5042ADC742}"/>
                </a:ext>
              </a:extLst>
            </p:cNvPr>
            <p:cNvSpPr/>
            <p:nvPr/>
          </p:nvSpPr>
          <p:spPr>
            <a:xfrm>
              <a:off x="3240000" y="5616000"/>
              <a:ext cx="2592000" cy="468000"/>
            </a:xfrm>
            <a:prstGeom prst="roundRect">
              <a:avLst>
                <a:gd name="adj" fmla="val 18174"/>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750" name="TextBox 422">
              <a:extLst>
                <a:ext uri="{FF2B5EF4-FFF2-40B4-BE49-F238E27FC236}">
                  <a16:creationId xmlns:a16="http://schemas.microsoft.com/office/drawing/2014/main" id="{979E3ADA-D01B-538A-8EE8-B4FCE7EE5784}"/>
                </a:ext>
              </a:extLst>
            </p:cNvPr>
            <p:cNvSpPr txBox="1"/>
            <p:nvPr/>
          </p:nvSpPr>
          <p:spPr>
            <a:xfrm>
              <a:off x="3312000" y="5532931"/>
              <a:ext cx="2052000" cy="153888"/>
            </a:xfrm>
            <a:prstGeom prst="rect">
              <a:avLst/>
            </a:prstGeom>
            <a:solidFill>
              <a:schemeClr val="bg1"/>
            </a:solidFill>
          </p:spPr>
          <p:txBody>
            <a:bodyPr wrap="square" lIns="36000" tIns="0" rIns="3600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prstClr val="black"/>
                  </a:solidFill>
                  <a:effectLst/>
                  <a:uLnTx/>
                  <a:uFillTx/>
                  <a:ea typeface="+mn-ea"/>
                  <a:cs typeface="+mn-cs"/>
                </a:rPr>
                <a:t>Trusted Digital Repository (TDR)</a:t>
              </a:r>
            </a:p>
          </p:txBody>
        </p:sp>
        <p:sp>
          <p:nvSpPr>
            <p:cNvPr id="751" name="Rectangle 750">
              <a:extLst>
                <a:ext uri="{FF2B5EF4-FFF2-40B4-BE49-F238E27FC236}">
                  <a16:creationId xmlns:a16="http://schemas.microsoft.com/office/drawing/2014/main" id="{4F9EC330-4A50-5DFF-C14C-1DD4EA62E672}"/>
                </a:ext>
              </a:extLst>
            </p:cNvPr>
            <p:cNvSpPr/>
            <p:nvPr/>
          </p:nvSpPr>
          <p:spPr>
            <a:xfrm>
              <a:off x="3312000" y="5724000"/>
              <a:ext cx="792000" cy="28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Scanning</a:t>
              </a:r>
            </a:p>
          </p:txBody>
        </p:sp>
        <p:sp>
          <p:nvSpPr>
            <p:cNvPr id="752" name="Rectangle 751">
              <a:extLst>
                <a:ext uri="{FF2B5EF4-FFF2-40B4-BE49-F238E27FC236}">
                  <a16:creationId xmlns:a16="http://schemas.microsoft.com/office/drawing/2014/main" id="{AED5EC55-6F21-6C11-7589-E804386374FB}"/>
                </a:ext>
              </a:extLst>
            </p:cNvPr>
            <p:cNvSpPr/>
            <p:nvPr/>
          </p:nvSpPr>
          <p:spPr>
            <a:xfrm>
              <a:off x="4140000" y="5724000"/>
              <a:ext cx="792000" cy="28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Management</a:t>
              </a:r>
            </a:p>
          </p:txBody>
        </p:sp>
        <p:sp>
          <p:nvSpPr>
            <p:cNvPr id="753" name="Cylinder 752">
              <a:extLst>
                <a:ext uri="{FF2B5EF4-FFF2-40B4-BE49-F238E27FC236}">
                  <a16:creationId xmlns:a16="http://schemas.microsoft.com/office/drawing/2014/main" id="{9DCBF9D7-1D51-ED53-BDFE-1552137C4445}"/>
                </a:ext>
              </a:extLst>
            </p:cNvPr>
            <p:cNvSpPr/>
            <p:nvPr/>
          </p:nvSpPr>
          <p:spPr>
            <a:xfrm>
              <a:off x="4968000" y="5724000"/>
              <a:ext cx="792000" cy="28800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Doc Repository</a:t>
              </a:r>
            </a:p>
          </p:txBody>
        </p:sp>
      </p:grpSp>
      <p:sp>
        <p:nvSpPr>
          <p:cNvPr id="17" name="Rectangle: Rounded Corners 16">
            <a:extLst>
              <a:ext uri="{FF2B5EF4-FFF2-40B4-BE49-F238E27FC236}">
                <a16:creationId xmlns:a16="http://schemas.microsoft.com/office/drawing/2014/main" id="{0D9075BF-BD7E-0B57-F79F-C816A4C7500E}"/>
              </a:ext>
            </a:extLst>
          </p:cNvPr>
          <p:cNvSpPr/>
          <p:nvPr/>
        </p:nvSpPr>
        <p:spPr>
          <a:xfrm>
            <a:off x="2965249" y="5685019"/>
            <a:ext cx="1080000" cy="2880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ESDC User Directory</a:t>
            </a:r>
          </a:p>
        </p:txBody>
      </p:sp>
      <p:grpSp>
        <p:nvGrpSpPr>
          <p:cNvPr id="18" name="Group 17">
            <a:extLst>
              <a:ext uri="{FF2B5EF4-FFF2-40B4-BE49-F238E27FC236}">
                <a16:creationId xmlns:a16="http://schemas.microsoft.com/office/drawing/2014/main" id="{D31C1904-909B-3C8A-2B87-A745B64D970D}"/>
              </a:ext>
            </a:extLst>
          </p:cNvPr>
          <p:cNvGrpSpPr/>
          <p:nvPr/>
        </p:nvGrpSpPr>
        <p:grpSpPr>
          <a:xfrm>
            <a:off x="1144970" y="3668794"/>
            <a:ext cx="538233" cy="692780"/>
            <a:chOff x="95616" y="3714246"/>
            <a:chExt cx="538233" cy="692780"/>
          </a:xfrm>
        </p:grpSpPr>
        <p:pic>
          <p:nvPicPr>
            <p:cNvPr id="747" name="Picture 746" descr="Icon&#10;&#10;Description automatically generated">
              <a:extLst>
                <a:ext uri="{FF2B5EF4-FFF2-40B4-BE49-F238E27FC236}">
                  <a16:creationId xmlns:a16="http://schemas.microsoft.com/office/drawing/2014/main" id="{617FAC0A-0488-E746-ED15-B86188BD3B8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04692" y="3714246"/>
              <a:ext cx="320080" cy="313923"/>
            </a:xfrm>
            <a:prstGeom prst="rect">
              <a:avLst/>
            </a:prstGeom>
          </p:spPr>
        </p:pic>
        <p:sp>
          <p:nvSpPr>
            <p:cNvPr id="748" name="TextBox 429">
              <a:extLst>
                <a:ext uri="{FF2B5EF4-FFF2-40B4-BE49-F238E27FC236}">
                  <a16:creationId xmlns:a16="http://schemas.microsoft.com/office/drawing/2014/main" id="{87124AEF-1240-B901-D814-907ED264F812}"/>
                </a:ext>
              </a:extLst>
            </p:cNvPr>
            <p:cNvSpPr txBox="1"/>
            <p:nvPr/>
          </p:nvSpPr>
          <p:spPr>
            <a:xfrm>
              <a:off x="95616" y="4037694"/>
              <a:ext cx="53823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Arial" panose="020B0604020202020204" pitchFamily="34" charset="0"/>
                </a:rPr>
                <a:t>ESDC Users</a:t>
              </a:r>
            </a:p>
          </p:txBody>
        </p:sp>
      </p:grpSp>
      <p:grpSp>
        <p:nvGrpSpPr>
          <p:cNvPr id="19" name="Group 18">
            <a:extLst>
              <a:ext uri="{FF2B5EF4-FFF2-40B4-BE49-F238E27FC236}">
                <a16:creationId xmlns:a16="http://schemas.microsoft.com/office/drawing/2014/main" id="{A104EE5F-8004-5777-508D-9881D925E063}"/>
              </a:ext>
            </a:extLst>
          </p:cNvPr>
          <p:cNvGrpSpPr/>
          <p:nvPr/>
        </p:nvGrpSpPr>
        <p:grpSpPr>
          <a:xfrm>
            <a:off x="1272545" y="5877519"/>
            <a:ext cx="648000" cy="831279"/>
            <a:chOff x="253857" y="5227258"/>
            <a:chExt cx="648000" cy="831279"/>
          </a:xfrm>
        </p:grpSpPr>
        <p:pic>
          <p:nvPicPr>
            <p:cNvPr id="318" name="Picture 317" descr="Icon&#10;&#10;Description automatically generated">
              <a:extLst>
                <a:ext uri="{FF2B5EF4-FFF2-40B4-BE49-F238E27FC236}">
                  <a16:creationId xmlns:a16="http://schemas.microsoft.com/office/drawing/2014/main" id="{621B83AC-A103-95D4-AE2E-1A348D75D20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17817" y="5227258"/>
              <a:ext cx="320080" cy="313923"/>
            </a:xfrm>
            <a:prstGeom prst="rect">
              <a:avLst/>
            </a:prstGeom>
          </p:spPr>
        </p:pic>
        <p:sp>
          <p:nvSpPr>
            <p:cNvPr id="319" name="TextBox 432">
              <a:extLst>
                <a:ext uri="{FF2B5EF4-FFF2-40B4-BE49-F238E27FC236}">
                  <a16:creationId xmlns:a16="http://schemas.microsoft.com/office/drawing/2014/main" id="{40A347DE-D942-2AEF-8D89-A36E2A2E273E}"/>
                </a:ext>
              </a:extLst>
            </p:cNvPr>
            <p:cNvSpPr txBox="1"/>
            <p:nvPr/>
          </p:nvSpPr>
          <p:spPr>
            <a:xfrm>
              <a:off x="253857" y="5550706"/>
              <a:ext cx="648000" cy="5078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Arial" panose="020B0604020202020204" pitchFamily="34" charset="0"/>
                </a:rPr>
                <a:t>ESDC Analytics Users</a:t>
              </a:r>
            </a:p>
          </p:txBody>
        </p:sp>
      </p:grpSp>
      <p:cxnSp>
        <p:nvCxnSpPr>
          <p:cNvPr id="20" name="Straight Arrow Connector 19">
            <a:extLst>
              <a:ext uri="{FF2B5EF4-FFF2-40B4-BE49-F238E27FC236}">
                <a16:creationId xmlns:a16="http://schemas.microsoft.com/office/drawing/2014/main" id="{4B7A3D16-2790-1C17-B9F7-9C2EC5CADCEF}"/>
              </a:ext>
            </a:extLst>
          </p:cNvPr>
          <p:cNvCxnSpPr>
            <a:cxnSpLocks/>
          </p:cNvCxnSpPr>
          <p:nvPr/>
        </p:nvCxnSpPr>
        <p:spPr>
          <a:xfrm flipH="1">
            <a:off x="1411601" y="4403437"/>
            <a:ext cx="252000" cy="0"/>
          </a:xfrm>
          <a:prstGeom prst="straightConnector1">
            <a:avLst/>
          </a:prstGeom>
          <a:ln w="952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CEB0B701-4D4B-530B-8D5F-5686F9B451C2}"/>
              </a:ext>
            </a:extLst>
          </p:cNvPr>
          <p:cNvGrpSpPr/>
          <p:nvPr/>
        </p:nvGrpSpPr>
        <p:grpSpPr>
          <a:xfrm>
            <a:off x="3228835" y="334658"/>
            <a:ext cx="807071" cy="337959"/>
            <a:chOff x="-255090" y="1448224"/>
            <a:chExt cx="807071" cy="337959"/>
          </a:xfrm>
        </p:grpSpPr>
        <p:pic>
          <p:nvPicPr>
            <p:cNvPr id="316" name="Picture 315" descr="Icon&#10;&#10;Description automatically generated">
              <a:extLst>
                <a:ext uri="{FF2B5EF4-FFF2-40B4-BE49-F238E27FC236}">
                  <a16:creationId xmlns:a16="http://schemas.microsoft.com/office/drawing/2014/main" id="{3E27D7AC-5013-7E5E-1ED5-3139AD77D86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31901" y="1448224"/>
              <a:ext cx="320080" cy="313923"/>
            </a:xfrm>
            <a:prstGeom prst="rect">
              <a:avLst/>
            </a:prstGeom>
          </p:spPr>
        </p:pic>
        <p:sp>
          <p:nvSpPr>
            <p:cNvPr id="317" name="TextBox 438">
              <a:extLst>
                <a:ext uri="{FF2B5EF4-FFF2-40B4-BE49-F238E27FC236}">
                  <a16:creationId xmlns:a16="http://schemas.microsoft.com/office/drawing/2014/main" id="{473B6B4E-BB90-1E59-C914-412B1E1FA35E}"/>
                </a:ext>
              </a:extLst>
            </p:cNvPr>
            <p:cNvSpPr txBox="1"/>
            <p:nvPr/>
          </p:nvSpPr>
          <p:spPr>
            <a:xfrm>
              <a:off x="-255090" y="1555351"/>
              <a:ext cx="537327"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Clients</a:t>
              </a:r>
            </a:p>
          </p:txBody>
        </p:sp>
      </p:grpSp>
      <p:cxnSp>
        <p:nvCxnSpPr>
          <p:cNvPr id="22" name="Straight Arrow Connector 21">
            <a:extLst>
              <a:ext uri="{FF2B5EF4-FFF2-40B4-BE49-F238E27FC236}">
                <a16:creationId xmlns:a16="http://schemas.microsoft.com/office/drawing/2014/main" id="{4E166FE5-1445-3328-45B4-4256700DC3CB}"/>
              </a:ext>
            </a:extLst>
          </p:cNvPr>
          <p:cNvCxnSpPr>
            <a:cxnSpLocks/>
          </p:cNvCxnSpPr>
          <p:nvPr/>
        </p:nvCxnSpPr>
        <p:spPr>
          <a:xfrm flipH="1" flipV="1">
            <a:off x="3833197" y="651376"/>
            <a:ext cx="6296" cy="167584"/>
          </a:xfrm>
          <a:prstGeom prst="straightConnector1">
            <a:avLst/>
          </a:prstGeom>
          <a:ln w="952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350E083-72FB-3147-BBD9-99F7070DF34B}"/>
              </a:ext>
            </a:extLst>
          </p:cNvPr>
          <p:cNvCxnSpPr>
            <a:cxnSpLocks/>
          </p:cNvCxnSpPr>
          <p:nvPr/>
        </p:nvCxnSpPr>
        <p:spPr>
          <a:xfrm>
            <a:off x="5354865" y="2851880"/>
            <a:ext cx="0" cy="25200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4668406-076D-2C7E-5BEE-84ED8A7D1163}"/>
              </a:ext>
            </a:extLst>
          </p:cNvPr>
          <p:cNvCxnSpPr>
            <a:cxnSpLocks/>
          </p:cNvCxnSpPr>
          <p:nvPr/>
        </p:nvCxnSpPr>
        <p:spPr>
          <a:xfrm>
            <a:off x="3442312" y="5411015"/>
            <a:ext cx="0" cy="254811"/>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76F7514B-1704-74EF-4E05-E786D8B40022}"/>
              </a:ext>
            </a:extLst>
          </p:cNvPr>
          <p:cNvCxnSpPr>
            <a:cxnSpLocks/>
            <a:stCxn id="3" idx="2"/>
            <a:endCxn id="17" idx="1"/>
          </p:cNvCxnSpPr>
          <p:nvPr/>
        </p:nvCxnSpPr>
        <p:spPr>
          <a:xfrm rot="16200000" flipH="1">
            <a:off x="2321018" y="5184788"/>
            <a:ext cx="446946" cy="841515"/>
          </a:xfrm>
          <a:prstGeom prst="bentConnector2">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069F10D-1466-019C-D80F-74BF1F73895D}"/>
              </a:ext>
            </a:extLst>
          </p:cNvPr>
          <p:cNvCxnSpPr>
            <a:cxnSpLocks/>
          </p:cNvCxnSpPr>
          <p:nvPr/>
        </p:nvCxnSpPr>
        <p:spPr>
          <a:xfrm>
            <a:off x="6784904" y="5359488"/>
            <a:ext cx="3116" cy="214133"/>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B7B844B1-3EE3-6694-5D4C-44AA5EB8F69B}"/>
              </a:ext>
            </a:extLst>
          </p:cNvPr>
          <p:cNvGrpSpPr/>
          <p:nvPr/>
        </p:nvGrpSpPr>
        <p:grpSpPr>
          <a:xfrm>
            <a:off x="7369274" y="4220453"/>
            <a:ext cx="834480" cy="1316054"/>
            <a:chOff x="3023998" y="3846321"/>
            <a:chExt cx="1011614" cy="970944"/>
          </a:xfrm>
        </p:grpSpPr>
        <p:sp>
          <p:nvSpPr>
            <p:cNvPr id="311" name="Rectangle 310">
              <a:extLst>
                <a:ext uri="{FF2B5EF4-FFF2-40B4-BE49-F238E27FC236}">
                  <a16:creationId xmlns:a16="http://schemas.microsoft.com/office/drawing/2014/main" id="{33AA58F4-F032-CA0A-6584-4DDCE36F5569}"/>
                </a:ext>
              </a:extLst>
            </p:cNvPr>
            <p:cNvSpPr/>
            <p:nvPr/>
          </p:nvSpPr>
          <p:spPr>
            <a:xfrm>
              <a:off x="3096000" y="4561797"/>
              <a:ext cx="908859" cy="222017"/>
            </a:xfrm>
            <a:prstGeom prst="rect">
              <a:avLst/>
            </a:prstGeom>
            <a:solidFill>
              <a:srgbClr val="A6A6A6"/>
            </a:solidFill>
            <a:ln w="9525">
              <a:solidFill>
                <a:srgbClr val="A6A6A6"/>
              </a:solidFill>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cs typeface="Arial"/>
                </a:rPr>
                <a:t>Replication/</a:t>
              </a:r>
            </a:p>
            <a:p>
              <a:pPr marL="0" marR="0" lvl="0" indent="0" algn="ctr" defTabSz="457200" rtl="0" eaLnBrk="1" fontAlgn="auto" latinLnBrk="0" hangingPunct="1">
                <a:lnSpc>
                  <a:spcPct val="100000"/>
                </a:lnSpc>
                <a:spcBef>
                  <a:spcPts val="0"/>
                </a:spcBef>
                <a:spcAft>
                  <a:spcPts val="0"/>
                </a:spcAft>
                <a:buClrTx/>
                <a:buSzTx/>
                <a:buFontTx/>
                <a:buNone/>
                <a:tabLst/>
                <a:defRPr/>
              </a:pPr>
              <a:r>
                <a:rPr lang="en-CA" sz="800">
                  <a:solidFill>
                    <a:prstClr val="black"/>
                  </a:solidFill>
                  <a:cs typeface="Arial"/>
                </a:rPr>
                <a:t>S</a:t>
              </a:r>
              <a:r>
                <a:rPr kumimoji="0" lang="en-CA" sz="800" b="0" i="0" u="none" strike="noStrike" kern="1200" cap="none" spc="0" normalizeH="0" baseline="0" noProof="0" err="1">
                  <a:ln>
                    <a:noFill/>
                  </a:ln>
                  <a:solidFill>
                    <a:prstClr val="black"/>
                  </a:solidFill>
                  <a:effectLst/>
                  <a:uLnTx/>
                  <a:uFillTx/>
                  <a:cs typeface="Arial"/>
                </a:rPr>
                <a:t>ync</a:t>
              </a:r>
              <a:endParaRPr kumimoji="0" lang="en-US" sz="800" b="0" i="0" u="none" strike="noStrike" kern="1200" cap="none" spc="0" normalizeH="0" baseline="0" noProof="0">
                <a:ln>
                  <a:noFill/>
                </a:ln>
                <a:solidFill>
                  <a:prstClr val="black"/>
                </a:solidFill>
                <a:effectLst/>
                <a:uLnTx/>
                <a:uFillTx/>
                <a:cs typeface="Arial"/>
              </a:endParaRPr>
            </a:p>
          </p:txBody>
        </p:sp>
        <p:sp>
          <p:nvSpPr>
            <p:cNvPr id="312" name="Rectangle 311">
              <a:extLst>
                <a:ext uri="{FF2B5EF4-FFF2-40B4-BE49-F238E27FC236}">
                  <a16:creationId xmlns:a16="http://schemas.microsoft.com/office/drawing/2014/main" id="{8AD36FED-052D-BE0D-42CE-EF589C7F3536}"/>
                </a:ext>
              </a:extLst>
            </p:cNvPr>
            <p:cNvSpPr/>
            <p:nvPr/>
          </p:nvSpPr>
          <p:spPr>
            <a:xfrm>
              <a:off x="3096000" y="4139688"/>
              <a:ext cx="908859" cy="180000"/>
            </a:xfrm>
            <a:prstGeom prst="rect">
              <a:avLst/>
            </a:prstGeom>
            <a:solidFill>
              <a:srgbClr val="A6A6A6"/>
            </a:solidFill>
            <a:ln w="9525">
              <a:solidFill>
                <a:srgbClr val="A6A6A6"/>
              </a:solidFill>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CDC</a:t>
              </a:r>
            </a:p>
          </p:txBody>
        </p:sp>
        <p:sp>
          <p:nvSpPr>
            <p:cNvPr id="313" name="Rectangle 312">
              <a:extLst>
                <a:ext uri="{FF2B5EF4-FFF2-40B4-BE49-F238E27FC236}">
                  <a16:creationId xmlns:a16="http://schemas.microsoft.com/office/drawing/2014/main" id="{A5F1E0F3-642A-F4B8-3257-860ED33EB784}"/>
                </a:ext>
              </a:extLst>
            </p:cNvPr>
            <p:cNvSpPr/>
            <p:nvPr/>
          </p:nvSpPr>
          <p:spPr>
            <a:xfrm>
              <a:off x="3096000" y="4355693"/>
              <a:ext cx="908859" cy="180000"/>
            </a:xfrm>
            <a:prstGeom prst="rect">
              <a:avLst/>
            </a:prstGeom>
            <a:solidFill>
              <a:srgbClr val="A6A6A6"/>
            </a:solidFill>
            <a:ln w="9525">
              <a:solidFill>
                <a:srgbClr val="A6A6A6"/>
              </a:solidFill>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a:rPr>
                <a:t>ETL/ELT</a:t>
              </a:r>
              <a:endParaRPr kumimoji="0" lang="en-US" sz="800" b="0" i="0" u="none" strike="noStrike" kern="1200" cap="none" spc="0" normalizeH="0" baseline="0" noProof="0">
                <a:ln>
                  <a:noFill/>
                </a:ln>
                <a:solidFill>
                  <a:prstClr val="black"/>
                </a:solidFill>
                <a:effectLst/>
                <a:uLnTx/>
                <a:uFillTx/>
                <a:ea typeface="+mn-ea"/>
                <a:cs typeface="Arial"/>
              </a:endParaRPr>
            </a:p>
          </p:txBody>
        </p:sp>
        <p:sp>
          <p:nvSpPr>
            <p:cNvPr id="314" name="Freeform 10">
              <a:extLst>
                <a:ext uri="{FF2B5EF4-FFF2-40B4-BE49-F238E27FC236}">
                  <a16:creationId xmlns:a16="http://schemas.microsoft.com/office/drawing/2014/main" id="{FC085763-CE89-D027-A84A-5DA30F3B8B84}"/>
                </a:ext>
              </a:extLst>
            </p:cNvPr>
            <p:cNvSpPr>
              <a:spLocks/>
            </p:cNvSpPr>
            <p:nvPr/>
          </p:nvSpPr>
          <p:spPr bwMode="auto">
            <a:xfrm>
              <a:off x="3023998" y="3989265"/>
              <a:ext cx="1011614" cy="828000"/>
            </a:xfrm>
            <a:prstGeom prst="roundRect">
              <a:avLst>
                <a:gd name="adj" fmla="val 9905"/>
              </a:avLst>
            </a:prstGeom>
            <a:noFill/>
            <a:ln w="12700" cap="rnd">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ea typeface="+mn-ea"/>
                <a:cs typeface="+mn-cs"/>
              </a:endParaRPr>
            </a:p>
          </p:txBody>
        </p:sp>
        <p:sp>
          <p:nvSpPr>
            <p:cNvPr id="315" name="TextBox 129">
              <a:extLst>
                <a:ext uri="{FF2B5EF4-FFF2-40B4-BE49-F238E27FC236}">
                  <a16:creationId xmlns:a16="http://schemas.microsoft.com/office/drawing/2014/main" id="{C1ABD5F4-DF0B-7E6A-A9EB-6415C456EEBF}"/>
                </a:ext>
              </a:extLst>
            </p:cNvPr>
            <p:cNvSpPr txBox="1"/>
            <p:nvPr/>
          </p:nvSpPr>
          <p:spPr>
            <a:xfrm>
              <a:off x="3088075" y="3846321"/>
              <a:ext cx="800061" cy="272482"/>
            </a:xfrm>
            <a:prstGeom prst="rect">
              <a:avLst/>
            </a:prstGeom>
            <a:solidFill>
              <a:schemeClr val="bg1"/>
            </a:solidFill>
            <a:ln>
              <a:noFill/>
            </a:ln>
          </p:spPr>
          <p:txBody>
            <a:bodyPr wrap="square" lIns="0" tIns="0" rIns="0" bIns="0" rtlCol="0" anchor="ctr">
              <a:spAutoFit/>
            </a:bodyPr>
            <a:lstStyle>
              <a:defPPr>
                <a:defRPr lang="en-US"/>
              </a:defPPr>
              <a:lvl1pPr marL="0" algn="l" defTabSz="342900" rtl="0" eaLnBrk="1" latinLnBrk="0" hangingPunct="1">
                <a:defRPr sz="800" kern="1200">
                  <a:solidFill>
                    <a:srgbClr val="6895BE"/>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black"/>
                  </a:solidFill>
                  <a:effectLst/>
                  <a:uLnTx/>
                  <a:uFillTx/>
                  <a:latin typeface="+mn-lt"/>
                  <a:ea typeface="+mn-ea"/>
                  <a:cs typeface="Arial" panose="020B0604020202020204" pitchFamily="34" charset="0"/>
                </a:rPr>
                <a:t>ESDC Data Integration Services</a:t>
              </a:r>
            </a:p>
          </p:txBody>
        </p:sp>
      </p:grpSp>
      <p:sp>
        <p:nvSpPr>
          <p:cNvPr id="28" name="Freeform 10">
            <a:extLst>
              <a:ext uri="{FF2B5EF4-FFF2-40B4-BE49-F238E27FC236}">
                <a16:creationId xmlns:a16="http://schemas.microsoft.com/office/drawing/2014/main" id="{51245B41-D69F-458F-31D0-A332A1674823}"/>
              </a:ext>
            </a:extLst>
          </p:cNvPr>
          <p:cNvSpPr>
            <a:spLocks/>
          </p:cNvSpPr>
          <p:nvPr/>
        </p:nvSpPr>
        <p:spPr bwMode="auto">
          <a:xfrm>
            <a:off x="7302262" y="2315991"/>
            <a:ext cx="967451" cy="3318102"/>
          </a:xfrm>
          <a:prstGeom prst="roundRect">
            <a:avLst>
              <a:gd name="adj" fmla="val 5918"/>
            </a:avLst>
          </a:prstGeom>
          <a:noFill/>
          <a:ln w="12700" cap="rnd">
            <a:solidFill>
              <a:srgbClr val="6895BE"/>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ea typeface="+mn-ea"/>
              <a:cs typeface="+mn-cs"/>
            </a:endParaRPr>
          </a:p>
        </p:txBody>
      </p:sp>
      <p:sp>
        <p:nvSpPr>
          <p:cNvPr id="29" name="TextBox 118">
            <a:extLst>
              <a:ext uri="{FF2B5EF4-FFF2-40B4-BE49-F238E27FC236}">
                <a16:creationId xmlns:a16="http://schemas.microsoft.com/office/drawing/2014/main" id="{2E06248D-D476-8500-A854-7739C0BAED86}"/>
              </a:ext>
            </a:extLst>
          </p:cNvPr>
          <p:cNvSpPr txBox="1"/>
          <p:nvPr/>
        </p:nvSpPr>
        <p:spPr>
          <a:xfrm>
            <a:off x="7427591" y="2194581"/>
            <a:ext cx="804961" cy="553999"/>
          </a:xfrm>
          <a:prstGeom prst="rect">
            <a:avLst/>
          </a:prstGeom>
          <a:solidFill>
            <a:schemeClr val="bg1"/>
          </a:solidFill>
          <a:ln>
            <a:solidFill>
              <a:schemeClr val="bg1"/>
            </a:solidFill>
          </a:ln>
        </p:spPr>
        <p:txBody>
          <a:bodyPr wrap="square" lIns="36000" tIns="45720" rIns="3600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ea typeface="+mn-ea"/>
                <a:cs typeface="Arial"/>
              </a:rPr>
              <a:t>ESDC Data Exchange Platforms</a:t>
            </a:r>
            <a:endParaRPr kumimoji="0" lang="en-US" sz="1000" b="1" i="0" u="none" strike="noStrike" kern="1200" cap="none" spc="0" normalizeH="0" baseline="0" noProof="0">
              <a:ln>
                <a:noFill/>
              </a:ln>
              <a:solidFill>
                <a:prstClr val="black"/>
              </a:solidFill>
              <a:effectLst/>
              <a:uLnTx/>
              <a:uFillTx/>
              <a:ea typeface="+mn-ea"/>
              <a:cs typeface="Arial" panose="020B0604020202020204" pitchFamily="34" charset="0"/>
            </a:endParaRPr>
          </a:p>
        </p:txBody>
      </p:sp>
      <p:grpSp>
        <p:nvGrpSpPr>
          <p:cNvPr id="30" name="Group 29">
            <a:extLst>
              <a:ext uri="{FF2B5EF4-FFF2-40B4-BE49-F238E27FC236}">
                <a16:creationId xmlns:a16="http://schemas.microsoft.com/office/drawing/2014/main" id="{FC31C139-01E8-84A1-93B4-AE7536525F3F}"/>
              </a:ext>
            </a:extLst>
          </p:cNvPr>
          <p:cNvGrpSpPr/>
          <p:nvPr/>
        </p:nvGrpSpPr>
        <p:grpSpPr>
          <a:xfrm>
            <a:off x="7369274" y="2724684"/>
            <a:ext cx="826903" cy="1319676"/>
            <a:chOff x="3024000" y="2562495"/>
            <a:chExt cx="1003243" cy="973619"/>
          </a:xfrm>
        </p:grpSpPr>
        <p:sp>
          <p:nvSpPr>
            <p:cNvPr id="306" name="Rectangle 305">
              <a:extLst>
                <a:ext uri="{FF2B5EF4-FFF2-40B4-BE49-F238E27FC236}">
                  <a16:creationId xmlns:a16="http://schemas.microsoft.com/office/drawing/2014/main" id="{C1742428-B292-6DCE-57A3-B2495C6D2F25}"/>
                </a:ext>
              </a:extLst>
            </p:cNvPr>
            <p:cNvSpPr/>
            <p:nvPr/>
          </p:nvSpPr>
          <p:spPr>
            <a:xfrm>
              <a:off x="3096000" y="3111404"/>
              <a:ext cx="908857" cy="180000"/>
            </a:xfrm>
            <a:prstGeom prst="rect">
              <a:avLst/>
            </a:prstGeom>
            <a:solidFill>
              <a:srgbClr val="A6A6A6"/>
            </a:solidFill>
            <a:ln w="9525">
              <a:solidFill>
                <a:srgbClr val="000000"/>
              </a:solidFill>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a:rPr>
                <a:t>Message Broker</a:t>
              </a:r>
              <a:endParaRPr kumimoji="0" lang="en-US" sz="800" b="0" i="0" u="none" strike="noStrike" kern="1200" cap="none" spc="0" normalizeH="0" baseline="0" noProof="0">
                <a:ln>
                  <a:noFill/>
                </a:ln>
                <a:solidFill>
                  <a:prstClr val="black"/>
                </a:solidFill>
                <a:effectLst/>
                <a:uLnTx/>
                <a:uFillTx/>
                <a:ea typeface="+mn-ea"/>
                <a:cs typeface="Arial"/>
              </a:endParaRPr>
            </a:p>
          </p:txBody>
        </p:sp>
        <p:sp>
          <p:nvSpPr>
            <p:cNvPr id="307" name="Rectangle 306">
              <a:extLst>
                <a:ext uri="{FF2B5EF4-FFF2-40B4-BE49-F238E27FC236}">
                  <a16:creationId xmlns:a16="http://schemas.microsoft.com/office/drawing/2014/main" id="{D640E4C4-DCB2-CBE1-03B3-CD6C3752549B}"/>
                </a:ext>
              </a:extLst>
            </p:cNvPr>
            <p:cNvSpPr/>
            <p:nvPr/>
          </p:nvSpPr>
          <p:spPr>
            <a:xfrm>
              <a:off x="3096000" y="3327402"/>
              <a:ext cx="885781" cy="180000"/>
            </a:xfrm>
            <a:prstGeom prst="rect">
              <a:avLst/>
            </a:prstGeom>
            <a:solidFill>
              <a:srgbClr val="A6A6A6"/>
            </a:solidFill>
            <a:ln w="9525">
              <a:solidFill>
                <a:srgbClr val="000000"/>
              </a:solidFill>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File Transfer</a:t>
              </a:r>
            </a:p>
          </p:txBody>
        </p:sp>
        <p:sp>
          <p:nvSpPr>
            <p:cNvPr id="308" name="Freeform 10">
              <a:extLst>
                <a:ext uri="{FF2B5EF4-FFF2-40B4-BE49-F238E27FC236}">
                  <a16:creationId xmlns:a16="http://schemas.microsoft.com/office/drawing/2014/main" id="{9E93EA3C-B1D4-8E9F-E020-06F4081C9139}"/>
                </a:ext>
              </a:extLst>
            </p:cNvPr>
            <p:cNvSpPr>
              <a:spLocks/>
            </p:cNvSpPr>
            <p:nvPr/>
          </p:nvSpPr>
          <p:spPr bwMode="auto">
            <a:xfrm>
              <a:off x="3024000" y="2708114"/>
              <a:ext cx="1003243" cy="828000"/>
            </a:xfrm>
            <a:prstGeom prst="roundRect">
              <a:avLst>
                <a:gd name="adj" fmla="val 10517"/>
              </a:avLst>
            </a:prstGeom>
            <a:noFill/>
            <a:ln w="12700" cap="rnd">
              <a:solidFill>
                <a:srgbClr val="6895BE"/>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ea typeface="+mn-ea"/>
                <a:cs typeface="+mn-cs"/>
              </a:endParaRPr>
            </a:p>
          </p:txBody>
        </p:sp>
        <p:sp>
          <p:nvSpPr>
            <p:cNvPr id="309" name="TextBox 124">
              <a:extLst>
                <a:ext uri="{FF2B5EF4-FFF2-40B4-BE49-F238E27FC236}">
                  <a16:creationId xmlns:a16="http://schemas.microsoft.com/office/drawing/2014/main" id="{2930C2CA-BE35-A686-46D4-76D4443B05BA}"/>
                </a:ext>
              </a:extLst>
            </p:cNvPr>
            <p:cNvSpPr txBox="1"/>
            <p:nvPr/>
          </p:nvSpPr>
          <p:spPr>
            <a:xfrm>
              <a:off x="3096000" y="2562495"/>
              <a:ext cx="899573" cy="272482"/>
            </a:xfrm>
            <a:prstGeom prst="rect">
              <a:avLst/>
            </a:prstGeom>
            <a:solidFill>
              <a:schemeClr val="bg1"/>
            </a:solidFill>
            <a:ln>
              <a:solidFill>
                <a:schemeClr val="bg1"/>
              </a:solidFill>
            </a:ln>
          </p:spPr>
          <p:txBody>
            <a:bodyPr wrap="square" lIns="0" tIns="0" rIns="0" bIns="0" rtlCol="0" anchor="ctr">
              <a:spAutoFit/>
            </a:bodyPr>
            <a:lstStyle>
              <a:defPPr>
                <a:defRPr lang="en-US"/>
              </a:defPPr>
              <a:lvl1pPr marL="0" algn="l" defTabSz="342900" rtl="0" eaLnBrk="1" latinLnBrk="0" hangingPunct="1">
                <a:defRPr sz="800" kern="1200">
                  <a:solidFill>
                    <a:srgbClr val="6895BE"/>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mn-lt"/>
                  <a:ea typeface="+mn-ea"/>
                  <a:cs typeface="Arial" panose="020B0604020202020204" pitchFamily="34" charset="0"/>
                </a:rPr>
                <a:t>ESDC Interoperability Platform</a:t>
              </a:r>
            </a:p>
          </p:txBody>
        </p:sp>
        <p:sp>
          <p:nvSpPr>
            <p:cNvPr id="310" name="Rectangle 309">
              <a:extLst>
                <a:ext uri="{FF2B5EF4-FFF2-40B4-BE49-F238E27FC236}">
                  <a16:creationId xmlns:a16="http://schemas.microsoft.com/office/drawing/2014/main" id="{C7628C1D-95B2-2E0C-FEF3-5F14AC9F4BC2}"/>
                </a:ext>
              </a:extLst>
            </p:cNvPr>
            <p:cNvSpPr/>
            <p:nvPr/>
          </p:nvSpPr>
          <p:spPr>
            <a:xfrm>
              <a:off x="3095999" y="2895406"/>
              <a:ext cx="908858" cy="18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a:rPr>
                <a:t>API Management</a:t>
              </a:r>
              <a:endParaRPr kumimoji="0" lang="en-US" sz="800" b="0" i="0" u="none" strike="noStrike" kern="1200" cap="none" spc="0" normalizeH="0" baseline="0" noProof="0">
                <a:ln>
                  <a:noFill/>
                </a:ln>
                <a:solidFill>
                  <a:prstClr val="black"/>
                </a:solidFill>
                <a:effectLst/>
                <a:uLnTx/>
                <a:uFillTx/>
                <a:ea typeface="+mn-ea"/>
                <a:cs typeface="Arial"/>
              </a:endParaRPr>
            </a:p>
          </p:txBody>
        </p:sp>
      </p:grpSp>
      <p:cxnSp>
        <p:nvCxnSpPr>
          <p:cNvPr id="31" name="Connector: Elbow 30">
            <a:extLst>
              <a:ext uri="{FF2B5EF4-FFF2-40B4-BE49-F238E27FC236}">
                <a16:creationId xmlns:a16="http://schemas.microsoft.com/office/drawing/2014/main" id="{C1EB3484-AF49-2B76-9115-7DA4E57E8C24}"/>
              </a:ext>
            </a:extLst>
          </p:cNvPr>
          <p:cNvCxnSpPr>
            <a:cxnSpLocks/>
          </p:cNvCxnSpPr>
          <p:nvPr/>
        </p:nvCxnSpPr>
        <p:spPr>
          <a:xfrm rot="16200000" flipV="1">
            <a:off x="7821615" y="5731188"/>
            <a:ext cx="399888" cy="205699"/>
          </a:xfrm>
          <a:prstGeom prst="bentConnector3">
            <a:avLst>
              <a:gd name="adj1" fmla="val 2278"/>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29EB4AD-A88F-4241-BFDC-D07F824B5362}"/>
              </a:ext>
            </a:extLst>
          </p:cNvPr>
          <p:cNvCxnSpPr>
            <a:cxnSpLocks/>
          </p:cNvCxnSpPr>
          <p:nvPr/>
        </p:nvCxnSpPr>
        <p:spPr>
          <a:xfrm flipH="1">
            <a:off x="7096798" y="3483211"/>
            <a:ext cx="200917" cy="0"/>
          </a:xfrm>
          <a:prstGeom prst="straightConnector1">
            <a:avLst/>
          </a:prstGeom>
          <a:ln w="952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2BB8679-8638-2696-2109-043625B79F51}"/>
              </a:ext>
            </a:extLst>
          </p:cNvPr>
          <p:cNvCxnSpPr>
            <a:cxnSpLocks/>
          </p:cNvCxnSpPr>
          <p:nvPr/>
        </p:nvCxnSpPr>
        <p:spPr>
          <a:xfrm flipH="1">
            <a:off x="8281397" y="5075945"/>
            <a:ext cx="40633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ounded Rectangle 292">
            <a:extLst>
              <a:ext uri="{FF2B5EF4-FFF2-40B4-BE49-F238E27FC236}">
                <a16:creationId xmlns:a16="http://schemas.microsoft.com/office/drawing/2014/main" id="{31AD8D50-B019-47C8-07AF-E594EA95BFE5}"/>
              </a:ext>
            </a:extLst>
          </p:cNvPr>
          <p:cNvSpPr/>
          <p:nvPr/>
        </p:nvSpPr>
        <p:spPr>
          <a:xfrm>
            <a:off x="8138031" y="5739020"/>
            <a:ext cx="3281157" cy="1089576"/>
          </a:xfrm>
          <a:prstGeom prst="roundRect">
            <a:avLst>
              <a:gd name="adj" fmla="val 3494"/>
            </a:avLst>
          </a:prstGeom>
          <a:ln w="12700">
            <a:solidFill>
              <a:srgbClr val="A6A6A6"/>
            </a:solidFill>
          </a:ln>
        </p:spPr>
        <p:style>
          <a:lnRef idx="1">
            <a:schemeClr val="accent1"/>
          </a:lnRef>
          <a:fillRef idx="0">
            <a:schemeClr val="accent1"/>
          </a:fillRef>
          <a:effectRef idx="0">
            <a:schemeClr val="accent1"/>
          </a:effectRef>
          <a:fontRef idx="minor">
            <a:schemeClr val="tx1"/>
          </a:fontRef>
        </p:style>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35" name="Can 293">
            <a:extLst>
              <a:ext uri="{FF2B5EF4-FFF2-40B4-BE49-F238E27FC236}">
                <a16:creationId xmlns:a16="http://schemas.microsoft.com/office/drawing/2014/main" id="{7CF60377-79C6-9887-BFF7-AD5669D02022}"/>
              </a:ext>
            </a:extLst>
          </p:cNvPr>
          <p:cNvSpPr/>
          <p:nvPr/>
        </p:nvSpPr>
        <p:spPr>
          <a:xfrm>
            <a:off x="8693914" y="5877519"/>
            <a:ext cx="882712" cy="282083"/>
          </a:xfrm>
          <a:prstGeom prst="ca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Enterprise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 Data Warehouse</a:t>
            </a:r>
          </a:p>
        </p:txBody>
      </p:sp>
      <p:sp>
        <p:nvSpPr>
          <p:cNvPr id="36" name="Can 299">
            <a:extLst>
              <a:ext uri="{FF2B5EF4-FFF2-40B4-BE49-F238E27FC236}">
                <a16:creationId xmlns:a16="http://schemas.microsoft.com/office/drawing/2014/main" id="{23E9197F-30B9-0E06-9CDE-D4D3248F582C}"/>
              </a:ext>
            </a:extLst>
          </p:cNvPr>
          <p:cNvSpPr/>
          <p:nvPr/>
        </p:nvSpPr>
        <p:spPr>
          <a:xfrm>
            <a:off x="8701866" y="6179644"/>
            <a:ext cx="866806" cy="301461"/>
          </a:xfrm>
          <a:prstGeom prst="ca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Enterprise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 Data Lake</a:t>
            </a:r>
          </a:p>
        </p:txBody>
      </p:sp>
      <p:sp>
        <p:nvSpPr>
          <p:cNvPr id="37" name="Rounded Rectangle 292">
            <a:extLst>
              <a:ext uri="{FF2B5EF4-FFF2-40B4-BE49-F238E27FC236}">
                <a16:creationId xmlns:a16="http://schemas.microsoft.com/office/drawing/2014/main" id="{E3BEA2E0-6465-30D1-7E42-4CB4D12F7B17}"/>
              </a:ext>
            </a:extLst>
          </p:cNvPr>
          <p:cNvSpPr/>
          <p:nvPr/>
        </p:nvSpPr>
        <p:spPr>
          <a:xfrm>
            <a:off x="8175894" y="6566240"/>
            <a:ext cx="3182270" cy="222962"/>
          </a:xfrm>
          <a:prstGeom prst="roundRect">
            <a:avLst>
              <a:gd name="adj" fmla="val 13945"/>
            </a:avLst>
          </a:prstGeom>
          <a:ln w="12700">
            <a:solidFill>
              <a:srgbClr val="A6A6A6"/>
            </a:solidFill>
          </a:ln>
        </p:spPr>
        <p:style>
          <a:lnRef idx="1">
            <a:schemeClr val="accent1"/>
          </a:lnRef>
          <a:fillRef idx="0">
            <a:schemeClr val="accent1"/>
          </a:fillRef>
          <a:effectRef idx="0">
            <a:schemeClr val="accent1"/>
          </a:effectRef>
          <a:fontRef idx="minor">
            <a:schemeClr val="tx1"/>
          </a:fontRef>
        </p:style>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prstClr val="black"/>
              </a:solidFill>
              <a:effectLst/>
              <a:uLnTx/>
              <a:uFillTx/>
              <a:ea typeface="+mn-ea"/>
              <a:cs typeface="+mn-cs"/>
            </a:endParaRPr>
          </a:p>
        </p:txBody>
      </p:sp>
      <p:sp>
        <p:nvSpPr>
          <p:cNvPr id="38" name="Rectangle 37">
            <a:extLst>
              <a:ext uri="{FF2B5EF4-FFF2-40B4-BE49-F238E27FC236}">
                <a16:creationId xmlns:a16="http://schemas.microsoft.com/office/drawing/2014/main" id="{22EE9267-5A51-D4C2-4AE8-54D07274B064}"/>
              </a:ext>
            </a:extLst>
          </p:cNvPr>
          <p:cNvSpPr/>
          <p:nvPr/>
        </p:nvSpPr>
        <p:spPr>
          <a:xfrm>
            <a:off x="8197265" y="6592227"/>
            <a:ext cx="1066629" cy="175685"/>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Arial"/>
              </a:rPr>
              <a:t>Master Data Management</a:t>
            </a:r>
          </a:p>
        </p:txBody>
      </p:sp>
      <p:sp>
        <p:nvSpPr>
          <p:cNvPr id="39" name="Rectangle 38">
            <a:extLst>
              <a:ext uri="{FF2B5EF4-FFF2-40B4-BE49-F238E27FC236}">
                <a16:creationId xmlns:a16="http://schemas.microsoft.com/office/drawing/2014/main" id="{5FC1BD3C-DD78-F11F-70FD-D56949601A33}"/>
              </a:ext>
            </a:extLst>
          </p:cNvPr>
          <p:cNvSpPr/>
          <p:nvPr/>
        </p:nvSpPr>
        <p:spPr>
          <a:xfrm>
            <a:off x="9673758" y="6277681"/>
            <a:ext cx="1587273" cy="131599"/>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Arial"/>
              </a:rPr>
              <a:t> </a:t>
            </a:r>
            <a:r>
              <a:rPr kumimoji="0" lang="en-US" sz="800" i="0" u="none" strike="noStrike" kern="1200" cap="none" spc="0" normalizeH="0" baseline="0" noProof="0">
                <a:ln>
                  <a:noFill/>
                </a:ln>
                <a:solidFill>
                  <a:prstClr val="black"/>
                </a:solidFill>
                <a:effectLst/>
                <a:uLnTx/>
                <a:uFillTx/>
                <a:ea typeface="+mn-ea"/>
                <a:cs typeface="Arial"/>
              </a:rPr>
              <a:t>Data Science &amp; Machine Learning</a:t>
            </a:r>
          </a:p>
        </p:txBody>
      </p:sp>
      <p:sp>
        <p:nvSpPr>
          <p:cNvPr id="40" name="Rounded Rectangle 292">
            <a:extLst>
              <a:ext uri="{FF2B5EF4-FFF2-40B4-BE49-F238E27FC236}">
                <a16:creationId xmlns:a16="http://schemas.microsoft.com/office/drawing/2014/main" id="{EE94C13D-B5E4-AD03-C7C2-9BB33C308402}"/>
              </a:ext>
            </a:extLst>
          </p:cNvPr>
          <p:cNvSpPr/>
          <p:nvPr/>
        </p:nvSpPr>
        <p:spPr>
          <a:xfrm>
            <a:off x="9616556" y="5868131"/>
            <a:ext cx="1741608" cy="606136"/>
          </a:xfrm>
          <a:prstGeom prst="roundRect">
            <a:avLst>
              <a:gd name="adj" fmla="val 5251"/>
            </a:avLst>
          </a:prstGeom>
          <a:ln w="12700">
            <a:solidFill>
              <a:srgbClr val="A6A6A6"/>
            </a:solidFill>
          </a:ln>
        </p:spPr>
        <p:style>
          <a:lnRef idx="1">
            <a:schemeClr val="accent1"/>
          </a:lnRef>
          <a:fillRef idx="0">
            <a:schemeClr val="accent1"/>
          </a:fillRef>
          <a:effectRef idx="0">
            <a:schemeClr val="accent1"/>
          </a:effectRef>
          <a:fontRef idx="minor">
            <a:schemeClr val="tx1"/>
          </a:fontRef>
        </p:style>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prstClr val="black"/>
              </a:solidFill>
              <a:effectLst/>
              <a:uLnTx/>
              <a:uFillTx/>
              <a:ea typeface="+mn-ea"/>
              <a:cs typeface="+mn-cs"/>
            </a:endParaRPr>
          </a:p>
        </p:txBody>
      </p:sp>
      <p:sp>
        <p:nvSpPr>
          <p:cNvPr id="41" name="Rectangle 40">
            <a:extLst>
              <a:ext uri="{FF2B5EF4-FFF2-40B4-BE49-F238E27FC236}">
                <a16:creationId xmlns:a16="http://schemas.microsoft.com/office/drawing/2014/main" id="{7B5BF8BD-A62F-05A6-960B-01DD79F4FC93}"/>
              </a:ext>
            </a:extLst>
          </p:cNvPr>
          <p:cNvSpPr/>
          <p:nvPr/>
        </p:nvSpPr>
        <p:spPr>
          <a:xfrm>
            <a:off x="9673759" y="5937510"/>
            <a:ext cx="1587272" cy="138499"/>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Ad-hoc Reporting &amp; Analytics</a:t>
            </a:r>
          </a:p>
        </p:txBody>
      </p:sp>
      <p:sp>
        <p:nvSpPr>
          <p:cNvPr id="42" name="Rectangle 41">
            <a:extLst>
              <a:ext uri="{FF2B5EF4-FFF2-40B4-BE49-F238E27FC236}">
                <a16:creationId xmlns:a16="http://schemas.microsoft.com/office/drawing/2014/main" id="{6734F093-8260-8E12-1190-A56297D13D4A}"/>
              </a:ext>
            </a:extLst>
          </p:cNvPr>
          <p:cNvSpPr/>
          <p:nvPr/>
        </p:nvSpPr>
        <p:spPr>
          <a:xfrm>
            <a:off x="9655255" y="6111342"/>
            <a:ext cx="1587271" cy="131598"/>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Certified Reporting</a:t>
            </a:r>
          </a:p>
        </p:txBody>
      </p:sp>
      <p:sp>
        <p:nvSpPr>
          <p:cNvPr id="43" name="TextBox 265">
            <a:extLst>
              <a:ext uri="{FF2B5EF4-FFF2-40B4-BE49-F238E27FC236}">
                <a16:creationId xmlns:a16="http://schemas.microsoft.com/office/drawing/2014/main" id="{09204DB7-A482-7F07-B4CC-65B0A9159658}"/>
              </a:ext>
            </a:extLst>
          </p:cNvPr>
          <p:cNvSpPr txBox="1"/>
          <p:nvPr/>
        </p:nvSpPr>
        <p:spPr>
          <a:xfrm>
            <a:off x="8167484" y="5644541"/>
            <a:ext cx="2175985" cy="153888"/>
          </a:xfrm>
          <a:prstGeom prst="rect">
            <a:avLst/>
          </a:prstGeom>
          <a:solidFill>
            <a:schemeClr val="bg1"/>
          </a:solidFill>
        </p:spPr>
        <p:txBody>
          <a:bodyPr wrap="square" lIns="3600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prstClr val="black"/>
                </a:solidFill>
                <a:effectLst/>
                <a:uLnTx/>
                <a:uFillTx/>
                <a:ea typeface="+mn-ea"/>
                <a:cs typeface="+mn-cs"/>
              </a:rPr>
              <a:t>Data Foundation Platform for Analytics</a:t>
            </a:r>
          </a:p>
        </p:txBody>
      </p:sp>
      <p:sp>
        <p:nvSpPr>
          <p:cNvPr id="44" name="Cloud 43">
            <a:extLst>
              <a:ext uri="{FF2B5EF4-FFF2-40B4-BE49-F238E27FC236}">
                <a16:creationId xmlns:a16="http://schemas.microsoft.com/office/drawing/2014/main" id="{13B3E5D4-D2CF-399E-AD2A-84C81F72AAC8}"/>
              </a:ext>
            </a:extLst>
          </p:cNvPr>
          <p:cNvSpPr/>
          <p:nvPr/>
        </p:nvSpPr>
        <p:spPr>
          <a:xfrm>
            <a:off x="11174688" y="5672005"/>
            <a:ext cx="277663" cy="135620"/>
          </a:xfrm>
          <a:prstGeom prst="cloud">
            <a:avLst/>
          </a:prstGeom>
          <a:solidFill>
            <a:srgbClr val="A6A6A6"/>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srgbClr val="000000"/>
              </a:solidFill>
              <a:effectLst/>
              <a:uLnTx/>
              <a:uFillTx/>
              <a:ea typeface="+mn-ea"/>
              <a:cs typeface="+mn-cs"/>
            </a:endParaRPr>
          </a:p>
        </p:txBody>
      </p:sp>
      <p:sp>
        <p:nvSpPr>
          <p:cNvPr id="45" name="Rectangle 44">
            <a:extLst>
              <a:ext uri="{FF2B5EF4-FFF2-40B4-BE49-F238E27FC236}">
                <a16:creationId xmlns:a16="http://schemas.microsoft.com/office/drawing/2014/main" id="{D7A4CA6B-5B5F-2A71-EB75-D73A1E988020}"/>
              </a:ext>
            </a:extLst>
          </p:cNvPr>
          <p:cNvSpPr/>
          <p:nvPr/>
        </p:nvSpPr>
        <p:spPr>
          <a:xfrm>
            <a:off x="8180607" y="5906814"/>
            <a:ext cx="478086" cy="561237"/>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a:rPr>
              <a:t>Ingestion</a:t>
            </a:r>
            <a:endParaRPr kumimoji="0" lang="en-US" sz="900" b="0" i="0" u="none" strike="noStrike" kern="1200" cap="none" spc="0" normalizeH="0" baseline="0" noProof="0">
              <a:ln>
                <a:noFill/>
              </a:ln>
              <a:solidFill>
                <a:prstClr val="black"/>
              </a:solidFill>
              <a:effectLst/>
              <a:uLnTx/>
              <a:uFillTx/>
              <a:ea typeface="+mn-ea"/>
              <a:cs typeface="Arial"/>
            </a:endParaRPr>
          </a:p>
        </p:txBody>
      </p:sp>
      <p:sp>
        <p:nvSpPr>
          <p:cNvPr id="46" name="TextBox 294">
            <a:extLst>
              <a:ext uri="{FF2B5EF4-FFF2-40B4-BE49-F238E27FC236}">
                <a16:creationId xmlns:a16="http://schemas.microsoft.com/office/drawing/2014/main" id="{33CBDF40-CCA7-630F-522D-490B336B57A3}"/>
              </a:ext>
            </a:extLst>
          </p:cNvPr>
          <p:cNvSpPr txBox="1"/>
          <p:nvPr/>
        </p:nvSpPr>
        <p:spPr>
          <a:xfrm>
            <a:off x="9658308" y="5783340"/>
            <a:ext cx="551724" cy="138499"/>
          </a:xfrm>
          <a:prstGeom prst="rect">
            <a:avLst/>
          </a:prstGeom>
          <a:solidFill>
            <a:schemeClr val="bg1"/>
          </a:solidFill>
        </p:spPr>
        <p:txBody>
          <a:bodyPr wrap="square" lIns="36000" tIns="0" rIns="0" bIns="0" rtlCol="0" anchor="ctr">
            <a:spAutoFit/>
          </a:bodyPr>
          <a:lstStyle>
            <a:defPPr>
              <a:defRPr lang="en-US"/>
            </a:defPPr>
            <a:lvl1pPr marL="0" marR="0" lvl="0" indent="0" algn="l" defTabSz="914400" rtl="0" eaLnBrk="0" fontAlgn="base" latinLnBrk="0" hangingPunct="0">
              <a:lnSpc>
                <a:spcPct val="100000"/>
              </a:lnSpc>
              <a:spcBef>
                <a:spcPct val="0"/>
              </a:spcBef>
              <a:spcAft>
                <a:spcPct val="0"/>
              </a:spcAft>
              <a:buClrTx/>
              <a:buSzTx/>
              <a:buFontTx/>
              <a:buNone/>
              <a:tabLst/>
              <a:defRPr kumimoji="0" sz="900" b="1" i="0" u="none" strike="noStrike" kern="1200" cap="none" spc="0" normalizeH="0" baseline="0">
                <a:ln>
                  <a:noFill/>
                </a:ln>
                <a:solidFill>
                  <a:schemeClr val="tx1"/>
                </a:solidFill>
                <a:effectLst/>
                <a:uLnTx/>
                <a:uFillTx/>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mn-ea"/>
                <a:cs typeface="+mn-cs"/>
              </a:rPr>
              <a:t>Delivery</a:t>
            </a:r>
          </a:p>
        </p:txBody>
      </p:sp>
      <p:cxnSp>
        <p:nvCxnSpPr>
          <p:cNvPr id="47" name="Straight Arrow Connector 46">
            <a:extLst>
              <a:ext uri="{FF2B5EF4-FFF2-40B4-BE49-F238E27FC236}">
                <a16:creationId xmlns:a16="http://schemas.microsoft.com/office/drawing/2014/main" id="{CD0792B2-C933-A5B4-632C-C252B7572252}"/>
              </a:ext>
            </a:extLst>
          </p:cNvPr>
          <p:cNvCxnSpPr>
            <a:cxnSpLocks/>
          </p:cNvCxnSpPr>
          <p:nvPr/>
        </p:nvCxnSpPr>
        <p:spPr>
          <a:xfrm>
            <a:off x="10077368" y="3346893"/>
            <a:ext cx="216000" cy="0"/>
          </a:xfrm>
          <a:prstGeom prst="straightConnector1">
            <a:avLst/>
          </a:prstGeom>
          <a:ln w="9525">
            <a:headEnd type="none"/>
            <a:tailEnd type="triangle"/>
          </a:ln>
        </p:spPr>
        <p:style>
          <a:lnRef idx="1">
            <a:schemeClr val="dk1"/>
          </a:lnRef>
          <a:fillRef idx="0">
            <a:schemeClr val="dk1"/>
          </a:fillRef>
          <a:effectRef idx="0">
            <a:schemeClr val="dk1"/>
          </a:effectRef>
          <a:fontRef idx="minor">
            <a:schemeClr val="tx1"/>
          </a:fontRef>
        </p:style>
      </p:cxnSp>
      <p:sp>
        <p:nvSpPr>
          <p:cNvPr id="48" name="Rectangle: Rounded Corners 47">
            <a:extLst>
              <a:ext uri="{FF2B5EF4-FFF2-40B4-BE49-F238E27FC236}">
                <a16:creationId xmlns:a16="http://schemas.microsoft.com/office/drawing/2014/main" id="{503BA4F7-38AA-8C15-FF80-A190129565E9}"/>
              </a:ext>
            </a:extLst>
          </p:cNvPr>
          <p:cNvSpPr/>
          <p:nvPr/>
        </p:nvSpPr>
        <p:spPr>
          <a:xfrm>
            <a:off x="8832834" y="3012315"/>
            <a:ext cx="1368000" cy="178245"/>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Financial Management (SAP)</a:t>
            </a:r>
          </a:p>
        </p:txBody>
      </p:sp>
      <p:sp>
        <p:nvSpPr>
          <p:cNvPr id="49" name="Rectangle: Rounded Corners 48">
            <a:extLst>
              <a:ext uri="{FF2B5EF4-FFF2-40B4-BE49-F238E27FC236}">
                <a16:creationId xmlns:a16="http://schemas.microsoft.com/office/drawing/2014/main" id="{A74A4383-A9CF-C12B-C7EC-1DB6EBFDCF88}"/>
              </a:ext>
            </a:extLst>
          </p:cNvPr>
          <p:cNvSpPr/>
          <p:nvPr/>
        </p:nvSpPr>
        <p:spPr>
          <a:xfrm>
            <a:off x="8865599" y="2633603"/>
            <a:ext cx="1073006" cy="268516"/>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Standard Payment System (PSPC)</a:t>
            </a:r>
          </a:p>
        </p:txBody>
      </p:sp>
      <p:sp>
        <p:nvSpPr>
          <p:cNvPr id="50" name="Rectangle: Rounded Corners 49">
            <a:extLst>
              <a:ext uri="{FF2B5EF4-FFF2-40B4-BE49-F238E27FC236}">
                <a16:creationId xmlns:a16="http://schemas.microsoft.com/office/drawing/2014/main" id="{68AE69E5-4481-903D-C65B-BA552DCA27ED}"/>
              </a:ext>
            </a:extLst>
          </p:cNvPr>
          <p:cNvSpPr/>
          <p:nvPr/>
        </p:nvSpPr>
        <p:spPr>
          <a:xfrm>
            <a:off x="8547866" y="3712323"/>
            <a:ext cx="1296000" cy="14729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Social Insurance Register</a:t>
            </a:r>
          </a:p>
        </p:txBody>
      </p:sp>
      <p:sp>
        <p:nvSpPr>
          <p:cNvPr id="51" name="Rectangle: Rounded Corners 50">
            <a:extLst>
              <a:ext uri="{FF2B5EF4-FFF2-40B4-BE49-F238E27FC236}">
                <a16:creationId xmlns:a16="http://schemas.microsoft.com/office/drawing/2014/main" id="{3920478E-5848-7B00-6512-8B86CE254655}"/>
              </a:ext>
            </a:extLst>
          </p:cNvPr>
          <p:cNvSpPr/>
          <p:nvPr/>
        </p:nvSpPr>
        <p:spPr>
          <a:xfrm>
            <a:off x="10291027" y="3238771"/>
            <a:ext cx="1296000" cy="192900"/>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Print and Mail Centre</a:t>
            </a:r>
          </a:p>
        </p:txBody>
      </p:sp>
      <p:sp>
        <p:nvSpPr>
          <p:cNvPr id="52" name="Rectangle: Rounded Corners 51">
            <a:extLst>
              <a:ext uri="{FF2B5EF4-FFF2-40B4-BE49-F238E27FC236}">
                <a16:creationId xmlns:a16="http://schemas.microsoft.com/office/drawing/2014/main" id="{61C90051-ED07-48ED-856D-A16A9D70C0E4}"/>
              </a:ext>
            </a:extLst>
          </p:cNvPr>
          <p:cNvSpPr/>
          <p:nvPr/>
        </p:nvSpPr>
        <p:spPr>
          <a:xfrm>
            <a:off x="10259150" y="2804209"/>
            <a:ext cx="989880" cy="2880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GC Imaging Centre (PSPC)</a:t>
            </a:r>
          </a:p>
        </p:txBody>
      </p:sp>
      <p:sp>
        <p:nvSpPr>
          <p:cNvPr id="53" name="Rectangle: Rounded Corners 52">
            <a:extLst>
              <a:ext uri="{FF2B5EF4-FFF2-40B4-BE49-F238E27FC236}">
                <a16:creationId xmlns:a16="http://schemas.microsoft.com/office/drawing/2014/main" id="{8F49EA92-7388-86E7-2488-F8666527ECDA}"/>
              </a:ext>
            </a:extLst>
          </p:cNvPr>
          <p:cNvSpPr/>
          <p:nvPr/>
        </p:nvSpPr>
        <p:spPr>
          <a:xfrm>
            <a:off x="10192120" y="3537625"/>
            <a:ext cx="1296000" cy="213300"/>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457200">
              <a:defRPr/>
            </a:pPr>
            <a:r>
              <a:rPr kumimoji="0" lang="en-US" sz="800" b="0" i="0" u="none" strike="noStrike" kern="1200" cap="none" spc="0" normalizeH="0" baseline="0" noProof="0">
                <a:ln>
                  <a:noFill/>
                </a:ln>
                <a:solidFill>
                  <a:prstClr val="black"/>
                </a:solidFill>
                <a:effectLst/>
                <a:uLnTx/>
                <a:uFillTx/>
                <a:cs typeface="Arial" panose="020B0604020202020204" pitchFamily="34" charset="0"/>
              </a:rPr>
              <a:t>Canada </a:t>
            </a:r>
            <a:r>
              <a:rPr lang="en-US" sz="800">
                <a:solidFill>
                  <a:prstClr val="black"/>
                </a:solidFill>
                <a:cs typeface="Arial" panose="020B0604020202020204" pitchFamily="34" charset="0"/>
              </a:rPr>
              <a:t>Revenue Agency </a:t>
            </a:r>
            <a:endParaRPr kumimoji="0" lang="en-US" sz="800" b="0" i="0" u="none" strike="noStrike" kern="1200" cap="none" spc="0" normalizeH="0" baseline="0" noProof="0">
              <a:ln>
                <a:noFill/>
              </a:ln>
              <a:solidFill>
                <a:prstClr val="black"/>
              </a:solidFill>
              <a:effectLst/>
              <a:uLnTx/>
              <a:uFillTx/>
              <a:cs typeface="Arial" panose="020B0604020202020204" pitchFamily="34" charset="0"/>
            </a:endParaRPr>
          </a:p>
        </p:txBody>
      </p:sp>
      <p:sp>
        <p:nvSpPr>
          <p:cNvPr id="54" name="Rectangle: Rounded Corners 53">
            <a:extLst>
              <a:ext uri="{FF2B5EF4-FFF2-40B4-BE49-F238E27FC236}">
                <a16:creationId xmlns:a16="http://schemas.microsoft.com/office/drawing/2014/main" id="{45D5CBFA-52BC-20AF-3667-CE73247DED3F}"/>
              </a:ext>
            </a:extLst>
          </p:cNvPr>
          <p:cNvSpPr/>
          <p:nvPr/>
        </p:nvSpPr>
        <p:spPr>
          <a:xfrm>
            <a:off x="9914317" y="3818259"/>
            <a:ext cx="393793" cy="219998"/>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IAAM</a:t>
            </a:r>
          </a:p>
        </p:txBody>
      </p:sp>
      <p:sp>
        <p:nvSpPr>
          <p:cNvPr id="55" name="Rectangle: Rounded Corners 54">
            <a:extLst>
              <a:ext uri="{FF2B5EF4-FFF2-40B4-BE49-F238E27FC236}">
                <a16:creationId xmlns:a16="http://schemas.microsoft.com/office/drawing/2014/main" id="{B1740C4C-0F1B-D0CC-144E-698CAD6C4BD8}"/>
              </a:ext>
            </a:extLst>
          </p:cNvPr>
          <p:cNvSpPr/>
          <p:nvPr/>
        </p:nvSpPr>
        <p:spPr>
          <a:xfrm>
            <a:off x="10329082" y="2498491"/>
            <a:ext cx="619873" cy="195922"/>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GC Notify</a:t>
            </a:r>
          </a:p>
        </p:txBody>
      </p:sp>
      <p:sp>
        <p:nvSpPr>
          <p:cNvPr id="56" name="Rectangle: Rounded Corners 55">
            <a:extLst>
              <a:ext uri="{FF2B5EF4-FFF2-40B4-BE49-F238E27FC236}">
                <a16:creationId xmlns:a16="http://schemas.microsoft.com/office/drawing/2014/main" id="{01DED64B-42BA-3EC3-845F-1ADF22845F06}"/>
              </a:ext>
            </a:extLst>
          </p:cNvPr>
          <p:cNvSpPr/>
          <p:nvPr/>
        </p:nvSpPr>
        <p:spPr>
          <a:xfrm>
            <a:off x="8699165" y="4913390"/>
            <a:ext cx="2659000" cy="411228"/>
          </a:xfrm>
          <a:prstGeom prst="roundRect">
            <a:avLst/>
          </a:prstGeom>
          <a:solidFill>
            <a:schemeClr val="accent4">
              <a:lumMod val="40000"/>
              <a:lumOff val="60000"/>
            </a:schemeClr>
          </a:solidFill>
          <a:ln>
            <a:noFill/>
          </a:ln>
        </p:spPr>
        <p:txBody>
          <a:bodyPr vert="horz" wrap="square" lIns="0" tIns="45720" rIns="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GC and P/T Partners’ Systems (QPIP, Statistic Canada, CBSA)</a:t>
            </a:r>
            <a:endParaRPr kumimoji="0" lang="en-US"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57" name="Rectangle: Rounded Corners 56">
            <a:extLst>
              <a:ext uri="{FF2B5EF4-FFF2-40B4-BE49-F238E27FC236}">
                <a16:creationId xmlns:a16="http://schemas.microsoft.com/office/drawing/2014/main" id="{7133AD89-CA8F-C491-6537-F26A91A885AF}"/>
              </a:ext>
            </a:extLst>
          </p:cNvPr>
          <p:cNvSpPr/>
          <p:nvPr/>
        </p:nvSpPr>
        <p:spPr>
          <a:xfrm>
            <a:off x="8779026" y="3246153"/>
            <a:ext cx="1295999" cy="138437"/>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Client Communication Management</a:t>
            </a:r>
          </a:p>
        </p:txBody>
      </p:sp>
      <p:cxnSp>
        <p:nvCxnSpPr>
          <p:cNvPr id="58" name="Straight Arrow Connector 57">
            <a:extLst>
              <a:ext uri="{FF2B5EF4-FFF2-40B4-BE49-F238E27FC236}">
                <a16:creationId xmlns:a16="http://schemas.microsoft.com/office/drawing/2014/main" id="{7EAEA18A-0433-4341-E724-79EF7506D7E5}"/>
              </a:ext>
            </a:extLst>
          </p:cNvPr>
          <p:cNvCxnSpPr>
            <a:cxnSpLocks/>
          </p:cNvCxnSpPr>
          <p:nvPr/>
        </p:nvCxnSpPr>
        <p:spPr>
          <a:xfrm flipH="1">
            <a:off x="8281397" y="2947588"/>
            <a:ext cx="1963485"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1298531-813D-B64F-4402-623682AFC585}"/>
              </a:ext>
            </a:extLst>
          </p:cNvPr>
          <p:cNvCxnSpPr>
            <a:cxnSpLocks/>
          </p:cNvCxnSpPr>
          <p:nvPr/>
        </p:nvCxnSpPr>
        <p:spPr>
          <a:xfrm flipH="1">
            <a:off x="8281397" y="3935567"/>
            <a:ext cx="1645771"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D7E9691-7F3F-9F3C-FF6E-E4D70E9FCBB6}"/>
              </a:ext>
            </a:extLst>
          </p:cNvPr>
          <p:cNvCxnSpPr>
            <a:cxnSpLocks/>
          </p:cNvCxnSpPr>
          <p:nvPr/>
        </p:nvCxnSpPr>
        <p:spPr>
          <a:xfrm flipH="1">
            <a:off x="8276173" y="3121755"/>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4A420C8-ECD2-1005-FC63-71B46F69A299}"/>
              </a:ext>
            </a:extLst>
          </p:cNvPr>
          <p:cNvCxnSpPr>
            <a:cxnSpLocks/>
          </p:cNvCxnSpPr>
          <p:nvPr/>
        </p:nvCxnSpPr>
        <p:spPr>
          <a:xfrm flipH="1">
            <a:off x="8272688" y="3351090"/>
            <a:ext cx="488921" cy="216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CAE4FFE-F771-33A2-CDE5-4D9B15944BFA}"/>
              </a:ext>
            </a:extLst>
          </p:cNvPr>
          <p:cNvCxnSpPr>
            <a:cxnSpLocks/>
          </p:cNvCxnSpPr>
          <p:nvPr/>
        </p:nvCxnSpPr>
        <p:spPr>
          <a:xfrm flipH="1">
            <a:off x="8258755" y="3797088"/>
            <a:ext cx="28499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34D1748-0CD6-A3A5-EA52-A18935268501}"/>
              </a:ext>
            </a:extLst>
          </p:cNvPr>
          <p:cNvCxnSpPr>
            <a:cxnSpLocks/>
          </p:cNvCxnSpPr>
          <p:nvPr/>
        </p:nvCxnSpPr>
        <p:spPr>
          <a:xfrm flipH="1">
            <a:off x="8275414" y="2783716"/>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7D152086-F017-BCE7-1798-ABB44B2319FE}"/>
              </a:ext>
            </a:extLst>
          </p:cNvPr>
          <p:cNvCxnSpPr>
            <a:cxnSpLocks/>
          </p:cNvCxnSpPr>
          <p:nvPr/>
        </p:nvCxnSpPr>
        <p:spPr>
          <a:xfrm flipH="1">
            <a:off x="8300318" y="4492395"/>
            <a:ext cx="576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9" name="Straight Arrow Connector 448">
            <a:extLst>
              <a:ext uri="{FF2B5EF4-FFF2-40B4-BE49-F238E27FC236}">
                <a16:creationId xmlns:a16="http://schemas.microsoft.com/office/drawing/2014/main" id="{0F1A2DDB-06C6-584A-DD8B-5941D120A4E4}"/>
              </a:ext>
            </a:extLst>
          </p:cNvPr>
          <p:cNvCxnSpPr>
            <a:cxnSpLocks/>
          </p:cNvCxnSpPr>
          <p:nvPr/>
        </p:nvCxnSpPr>
        <p:spPr>
          <a:xfrm flipH="1">
            <a:off x="8255469" y="2570325"/>
            <a:ext cx="2088000"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50" name="Group 449">
            <a:extLst>
              <a:ext uri="{FF2B5EF4-FFF2-40B4-BE49-F238E27FC236}">
                <a16:creationId xmlns:a16="http://schemas.microsoft.com/office/drawing/2014/main" id="{9FD887B9-CD75-7BCD-2932-8E33866FF027}"/>
              </a:ext>
            </a:extLst>
          </p:cNvPr>
          <p:cNvGrpSpPr/>
          <p:nvPr/>
        </p:nvGrpSpPr>
        <p:grpSpPr>
          <a:xfrm>
            <a:off x="10840120" y="553573"/>
            <a:ext cx="1114416" cy="678730"/>
            <a:chOff x="4752000" y="795531"/>
            <a:chExt cx="1114416" cy="678730"/>
          </a:xfrm>
        </p:grpSpPr>
        <p:grpSp>
          <p:nvGrpSpPr>
            <p:cNvPr id="291" name="Group 290">
              <a:extLst>
                <a:ext uri="{FF2B5EF4-FFF2-40B4-BE49-F238E27FC236}">
                  <a16:creationId xmlns:a16="http://schemas.microsoft.com/office/drawing/2014/main" id="{052E69FE-42E8-DD87-DF83-4F9901488272}"/>
                </a:ext>
              </a:extLst>
            </p:cNvPr>
            <p:cNvGrpSpPr/>
            <p:nvPr/>
          </p:nvGrpSpPr>
          <p:grpSpPr>
            <a:xfrm>
              <a:off x="4752000" y="795531"/>
              <a:ext cx="886789" cy="123111"/>
              <a:chOff x="4752000" y="795531"/>
              <a:chExt cx="886789" cy="123111"/>
            </a:xfrm>
          </p:grpSpPr>
          <p:sp>
            <p:nvSpPr>
              <p:cNvPr id="304" name="Rectangle 303">
                <a:extLst>
                  <a:ext uri="{FF2B5EF4-FFF2-40B4-BE49-F238E27FC236}">
                    <a16:creationId xmlns:a16="http://schemas.microsoft.com/office/drawing/2014/main" id="{167C2452-B616-4A05-F3F3-1DC9CF48BB4F}"/>
                  </a:ext>
                </a:extLst>
              </p:cNvPr>
              <p:cNvSpPr>
                <a:spLocks noChangeArrowheads="1"/>
              </p:cNvSpPr>
              <p:nvPr/>
            </p:nvSpPr>
            <p:spPr bwMode="auto">
              <a:xfrm>
                <a:off x="5004000" y="795531"/>
                <a:ext cx="634789"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GC Component</a:t>
                </a:r>
                <a:endParaRPr kumimoji="0" lang="en-US" altLang="en-US" sz="1800" b="0" i="0" u="none" strike="noStrike" cap="none" normalizeH="0" baseline="0">
                  <a:ln>
                    <a:noFill/>
                  </a:ln>
                  <a:solidFill>
                    <a:schemeClr val="tx1"/>
                  </a:solidFill>
                  <a:effectLst/>
                  <a:latin typeface="+mn-lt"/>
                </a:endParaRPr>
              </a:p>
            </p:txBody>
          </p:sp>
          <p:sp>
            <p:nvSpPr>
              <p:cNvPr id="305" name="Rectangle 304">
                <a:extLst>
                  <a:ext uri="{FF2B5EF4-FFF2-40B4-BE49-F238E27FC236}">
                    <a16:creationId xmlns:a16="http://schemas.microsoft.com/office/drawing/2014/main" id="{6D28755A-7A60-8367-8508-D38EE85ADAD1}"/>
                  </a:ext>
                </a:extLst>
              </p:cNvPr>
              <p:cNvSpPr/>
              <p:nvPr/>
            </p:nvSpPr>
            <p:spPr>
              <a:xfrm>
                <a:off x="4752000" y="803086"/>
                <a:ext cx="216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grpSp>
          <p:nvGrpSpPr>
            <p:cNvPr id="292" name="Group 291">
              <a:extLst>
                <a:ext uri="{FF2B5EF4-FFF2-40B4-BE49-F238E27FC236}">
                  <a16:creationId xmlns:a16="http://schemas.microsoft.com/office/drawing/2014/main" id="{BC1C0FF6-2C5B-5A88-CD2D-DE9A3FAE141F}"/>
                </a:ext>
              </a:extLst>
            </p:cNvPr>
            <p:cNvGrpSpPr/>
            <p:nvPr/>
          </p:nvGrpSpPr>
          <p:grpSpPr>
            <a:xfrm>
              <a:off x="4752000" y="934436"/>
              <a:ext cx="917247" cy="123111"/>
              <a:chOff x="4752000" y="937773"/>
              <a:chExt cx="917247" cy="123111"/>
            </a:xfrm>
          </p:grpSpPr>
          <p:sp>
            <p:nvSpPr>
              <p:cNvPr id="302" name="Rectangle 301">
                <a:extLst>
                  <a:ext uri="{FF2B5EF4-FFF2-40B4-BE49-F238E27FC236}">
                    <a16:creationId xmlns:a16="http://schemas.microsoft.com/office/drawing/2014/main" id="{F84AE350-D1CC-D62B-3F3F-50CCBE66FE86}"/>
                  </a:ext>
                </a:extLst>
              </p:cNvPr>
              <p:cNvSpPr>
                <a:spLocks noChangeArrowheads="1"/>
              </p:cNvSpPr>
              <p:nvPr/>
            </p:nvSpPr>
            <p:spPr bwMode="auto">
              <a:xfrm>
                <a:off x="5004000" y="937773"/>
                <a:ext cx="66524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External System</a:t>
                </a:r>
                <a:endParaRPr kumimoji="0" lang="en-US" altLang="en-US" sz="1800" b="0" i="0" u="none" strike="noStrike" cap="none" normalizeH="0" baseline="0">
                  <a:ln>
                    <a:noFill/>
                  </a:ln>
                  <a:solidFill>
                    <a:schemeClr val="tx1"/>
                  </a:solidFill>
                  <a:effectLst/>
                  <a:latin typeface="+mn-lt"/>
                </a:endParaRPr>
              </a:p>
            </p:txBody>
          </p:sp>
          <p:sp>
            <p:nvSpPr>
              <p:cNvPr id="303" name="Rectangle 302">
                <a:extLst>
                  <a:ext uri="{FF2B5EF4-FFF2-40B4-BE49-F238E27FC236}">
                    <a16:creationId xmlns:a16="http://schemas.microsoft.com/office/drawing/2014/main" id="{55648B76-BDE0-8B61-9037-FFB0ABB31B57}"/>
                  </a:ext>
                </a:extLst>
              </p:cNvPr>
              <p:cNvSpPr/>
              <p:nvPr/>
            </p:nvSpPr>
            <p:spPr>
              <a:xfrm>
                <a:off x="4752000" y="945328"/>
                <a:ext cx="216000" cy="10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grpSp>
          <p:nvGrpSpPr>
            <p:cNvPr id="293" name="Group 292">
              <a:extLst>
                <a:ext uri="{FF2B5EF4-FFF2-40B4-BE49-F238E27FC236}">
                  <a16:creationId xmlns:a16="http://schemas.microsoft.com/office/drawing/2014/main" id="{AA09634C-9BE3-4224-E1BC-6C2A2E36D3CD}"/>
                </a:ext>
              </a:extLst>
            </p:cNvPr>
            <p:cNvGrpSpPr/>
            <p:nvPr/>
          </p:nvGrpSpPr>
          <p:grpSpPr>
            <a:xfrm>
              <a:off x="4752000" y="1073341"/>
              <a:ext cx="816257" cy="123111"/>
              <a:chOff x="4752000" y="1073541"/>
              <a:chExt cx="816257" cy="123111"/>
            </a:xfrm>
          </p:grpSpPr>
          <p:sp>
            <p:nvSpPr>
              <p:cNvPr id="300" name="Rectangle 299">
                <a:extLst>
                  <a:ext uri="{FF2B5EF4-FFF2-40B4-BE49-F238E27FC236}">
                    <a16:creationId xmlns:a16="http://schemas.microsoft.com/office/drawing/2014/main" id="{58A1A4A5-4C7E-008D-BA5C-72573E90B136}"/>
                  </a:ext>
                </a:extLst>
              </p:cNvPr>
              <p:cNvSpPr>
                <a:spLocks noChangeArrowheads="1"/>
              </p:cNvSpPr>
              <p:nvPr/>
            </p:nvSpPr>
            <p:spPr bwMode="auto">
              <a:xfrm>
                <a:off x="5004000" y="1073541"/>
                <a:ext cx="56425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Solution Data</a:t>
                </a:r>
                <a:endParaRPr kumimoji="0" lang="en-US" altLang="en-US" sz="1800" b="0" i="0" u="none" strike="noStrike" cap="none" normalizeH="0" baseline="0">
                  <a:ln>
                    <a:noFill/>
                  </a:ln>
                  <a:solidFill>
                    <a:schemeClr val="tx1"/>
                  </a:solidFill>
                  <a:effectLst/>
                  <a:latin typeface="+mn-lt"/>
                </a:endParaRPr>
              </a:p>
            </p:txBody>
          </p:sp>
          <p:sp>
            <p:nvSpPr>
              <p:cNvPr id="301" name="Rectangle 300">
                <a:extLst>
                  <a:ext uri="{FF2B5EF4-FFF2-40B4-BE49-F238E27FC236}">
                    <a16:creationId xmlns:a16="http://schemas.microsoft.com/office/drawing/2014/main" id="{DF2D92AE-FDB2-90D1-66AB-E0F41A0CFB8E}"/>
                  </a:ext>
                </a:extLst>
              </p:cNvPr>
              <p:cNvSpPr/>
              <p:nvPr/>
            </p:nvSpPr>
            <p:spPr>
              <a:xfrm>
                <a:off x="4752000" y="1081096"/>
                <a:ext cx="216000" cy="108000"/>
              </a:xfrm>
              <a:prstGeom prst="rect">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grpSp>
          <p:nvGrpSpPr>
            <p:cNvPr id="294" name="Group 293">
              <a:extLst>
                <a:ext uri="{FF2B5EF4-FFF2-40B4-BE49-F238E27FC236}">
                  <a16:creationId xmlns:a16="http://schemas.microsoft.com/office/drawing/2014/main" id="{283A236C-B739-D40A-7957-E934C611065E}"/>
                </a:ext>
              </a:extLst>
            </p:cNvPr>
            <p:cNvGrpSpPr/>
            <p:nvPr/>
          </p:nvGrpSpPr>
          <p:grpSpPr>
            <a:xfrm>
              <a:off x="4752000" y="1212246"/>
              <a:ext cx="1114416" cy="123111"/>
              <a:chOff x="4752000" y="1234967"/>
              <a:chExt cx="1114416" cy="123111"/>
            </a:xfrm>
          </p:grpSpPr>
          <p:sp>
            <p:nvSpPr>
              <p:cNvPr id="298" name="Rectangle 297">
                <a:extLst>
                  <a:ext uri="{FF2B5EF4-FFF2-40B4-BE49-F238E27FC236}">
                    <a16:creationId xmlns:a16="http://schemas.microsoft.com/office/drawing/2014/main" id="{9970CE4E-5659-88C3-5D86-74526EE2B1D6}"/>
                  </a:ext>
                </a:extLst>
              </p:cNvPr>
              <p:cNvSpPr>
                <a:spLocks noChangeArrowheads="1"/>
              </p:cNvSpPr>
              <p:nvPr/>
            </p:nvSpPr>
            <p:spPr bwMode="auto">
              <a:xfrm>
                <a:off x="5004000" y="1234967"/>
                <a:ext cx="862416"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Solution Component</a:t>
                </a:r>
                <a:endParaRPr kumimoji="0" lang="en-US" altLang="en-US" sz="1800" b="0" i="0" u="none" strike="noStrike" cap="none" normalizeH="0" baseline="0">
                  <a:ln>
                    <a:noFill/>
                  </a:ln>
                  <a:solidFill>
                    <a:schemeClr val="tx1"/>
                  </a:solidFill>
                  <a:effectLst/>
                  <a:latin typeface="+mn-lt"/>
                </a:endParaRPr>
              </a:p>
            </p:txBody>
          </p:sp>
          <p:sp>
            <p:nvSpPr>
              <p:cNvPr id="299" name="Rectangle 298">
                <a:extLst>
                  <a:ext uri="{FF2B5EF4-FFF2-40B4-BE49-F238E27FC236}">
                    <a16:creationId xmlns:a16="http://schemas.microsoft.com/office/drawing/2014/main" id="{9930AF72-6CC3-3616-EEC0-CA19F2882339}"/>
                  </a:ext>
                </a:extLst>
              </p:cNvPr>
              <p:cNvSpPr/>
              <p:nvPr/>
            </p:nvSpPr>
            <p:spPr>
              <a:xfrm>
                <a:off x="4752000" y="1242522"/>
                <a:ext cx="216000" cy="108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grpSp>
          <p:nvGrpSpPr>
            <p:cNvPr id="295" name="Group 294">
              <a:extLst>
                <a:ext uri="{FF2B5EF4-FFF2-40B4-BE49-F238E27FC236}">
                  <a16:creationId xmlns:a16="http://schemas.microsoft.com/office/drawing/2014/main" id="{C6A4DAD4-37C8-899F-EAC9-43122BC48533}"/>
                </a:ext>
              </a:extLst>
            </p:cNvPr>
            <p:cNvGrpSpPr/>
            <p:nvPr/>
          </p:nvGrpSpPr>
          <p:grpSpPr>
            <a:xfrm>
              <a:off x="4752000" y="1351150"/>
              <a:ext cx="801831" cy="123111"/>
              <a:chOff x="4752000" y="1351150"/>
              <a:chExt cx="801831" cy="123111"/>
            </a:xfrm>
          </p:grpSpPr>
          <p:sp>
            <p:nvSpPr>
              <p:cNvPr id="296" name="Rectangle 295">
                <a:extLst>
                  <a:ext uri="{FF2B5EF4-FFF2-40B4-BE49-F238E27FC236}">
                    <a16:creationId xmlns:a16="http://schemas.microsoft.com/office/drawing/2014/main" id="{27D29EF9-1C83-2AFA-AD3C-C3B43049F6FD}"/>
                  </a:ext>
                </a:extLst>
              </p:cNvPr>
              <p:cNvSpPr>
                <a:spLocks noChangeArrowheads="1"/>
              </p:cNvSpPr>
              <p:nvPr/>
            </p:nvSpPr>
            <p:spPr bwMode="auto">
              <a:xfrm>
                <a:off x="5004000" y="1351150"/>
                <a:ext cx="549831"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mn-lt"/>
                  </a:rPr>
                  <a:t>Out-of</a:t>
                </a:r>
                <a:r>
                  <a:rPr lang="en-US" altLang="en-US" sz="800">
                    <a:solidFill>
                      <a:srgbClr val="000000"/>
                    </a:solidFill>
                    <a:latin typeface="+mn-lt"/>
                  </a:rPr>
                  <a:t>-</a:t>
                </a:r>
                <a:r>
                  <a:rPr kumimoji="0" lang="en-US" altLang="en-US" sz="800" b="0" i="0" u="none" strike="noStrike" cap="none" normalizeH="0" baseline="0">
                    <a:ln>
                      <a:noFill/>
                    </a:ln>
                    <a:solidFill>
                      <a:srgbClr val="000000"/>
                    </a:solidFill>
                    <a:effectLst/>
                    <a:latin typeface="+mn-lt"/>
                  </a:rPr>
                  <a:t>scope</a:t>
                </a:r>
                <a:endParaRPr kumimoji="0" lang="en-US" altLang="en-US" sz="1800" b="0" i="0" u="none" strike="noStrike" cap="none" normalizeH="0" baseline="0">
                  <a:ln>
                    <a:noFill/>
                  </a:ln>
                  <a:solidFill>
                    <a:schemeClr val="tx1"/>
                  </a:solidFill>
                  <a:effectLst/>
                  <a:latin typeface="+mn-lt"/>
                </a:endParaRPr>
              </a:p>
            </p:txBody>
          </p:sp>
          <p:sp>
            <p:nvSpPr>
              <p:cNvPr id="297" name="Rectangle 296">
                <a:extLst>
                  <a:ext uri="{FF2B5EF4-FFF2-40B4-BE49-F238E27FC236}">
                    <a16:creationId xmlns:a16="http://schemas.microsoft.com/office/drawing/2014/main" id="{99AA8323-2952-C981-75E5-81B88E071193}"/>
                  </a:ext>
                </a:extLst>
              </p:cNvPr>
              <p:cNvSpPr/>
              <p:nvPr/>
            </p:nvSpPr>
            <p:spPr>
              <a:xfrm>
                <a:off x="4752000" y="1358705"/>
                <a:ext cx="216000" cy="108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grpSp>
      <p:sp>
        <p:nvSpPr>
          <p:cNvPr id="451" name="Freeform 18">
            <a:extLst>
              <a:ext uri="{FF2B5EF4-FFF2-40B4-BE49-F238E27FC236}">
                <a16:creationId xmlns:a16="http://schemas.microsoft.com/office/drawing/2014/main" id="{B249A647-90E7-B032-2A57-88166774235D}"/>
              </a:ext>
            </a:extLst>
          </p:cNvPr>
          <p:cNvSpPr>
            <a:spLocks/>
          </p:cNvSpPr>
          <p:nvPr/>
        </p:nvSpPr>
        <p:spPr bwMode="auto">
          <a:xfrm>
            <a:off x="3702202" y="1726429"/>
            <a:ext cx="1101561" cy="130189"/>
          </a:xfrm>
          <a:custGeom>
            <a:avLst/>
            <a:gdLst>
              <a:gd name="T0" fmla="*/ 148 w 2590"/>
              <a:gd name="T1" fmla="*/ 295 h 295"/>
              <a:gd name="T2" fmla="*/ 2442 w 2590"/>
              <a:gd name="T3" fmla="*/ 295 h 295"/>
              <a:gd name="T4" fmla="*/ 2590 w 2590"/>
              <a:gd name="T5" fmla="*/ 147 h 295"/>
              <a:gd name="T6" fmla="*/ 2442 w 2590"/>
              <a:gd name="T7" fmla="*/ 0 h 295"/>
              <a:gd name="T8" fmla="*/ 148 w 2590"/>
              <a:gd name="T9" fmla="*/ 0 h 295"/>
              <a:gd name="T10" fmla="*/ 0 w 2590"/>
              <a:gd name="T11" fmla="*/ 147 h 295"/>
              <a:gd name="T12" fmla="*/ 148 w 2590"/>
              <a:gd name="T13" fmla="*/ 295 h 295"/>
            </a:gdLst>
            <a:ahLst/>
            <a:cxnLst>
              <a:cxn ang="0">
                <a:pos x="T0" y="T1"/>
              </a:cxn>
              <a:cxn ang="0">
                <a:pos x="T2" y="T3"/>
              </a:cxn>
              <a:cxn ang="0">
                <a:pos x="T4" y="T5"/>
              </a:cxn>
              <a:cxn ang="0">
                <a:pos x="T6" y="T7"/>
              </a:cxn>
              <a:cxn ang="0">
                <a:pos x="T8" y="T9"/>
              </a:cxn>
              <a:cxn ang="0">
                <a:pos x="T10" y="T11"/>
              </a:cxn>
              <a:cxn ang="0">
                <a:pos x="T12" y="T13"/>
              </a:cxn>
            </a:cxnLst>
            <a:rect l="0" t="0" r="r" b="b"/>
            <a:pathLst>
              <a:path w="2590" h="295">
                <a:moveTo>
                  <a:pt x="148" y="295"/>
                </a:moveTo>
                <a:lnTo>
                  <a:pt x="2442" y="295"/>
                </a:lnTo>
                <a:cubicBezTo>
                  <a:pt x="2524" y="295"/>
                  <a:pt x="2590" y="229"/>
                  <a:pt x="2590" y="147"/>
                </a:cubicBezTo>
                <a:cubicBezTo>
                  <a:pt x="2590" y="66"/>
                  <a:pt x="2524" y="0"/>
                  <a:pt x="2442" y="0"/>
                </a:cubicBezTo>
                <a:lnTo>
                  <a:pt x="148" y="0"/>
                </a:lnTo>
                <a:cubicBezTo>
                  <a:pt x="67" y="0"/>
                  <a:pt x="0" y="66"/>
                  <a:pt x="0" y="147"/>
                </a:cubicBezTo>
                <a:cubicBezTo>
                  <a:pt x="0" y="229"/>
                  <a:pt x="67" y="295"/>
                  <a:pt x="148" y="295"/>
                </a:cubicBezTo>
                <a:close/>
              </a:path>
            </a:pathLst>
          </a:custGeom>
          <a:solidFill>
            <a:srgbClr val="A6A6A6"/>
          </a:solidFill>
          <a:ln w="0">
            <a:solidFill>
              <a:schemeClr val="tx1"/>
            </a:solid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CA" sz="800">
                <a:cs typeface="Arial" panose="020B0604020202020204" pitchFamily="34" charset="0"/>
              </a:rPr>
              <a:t>EI Benefit Estimator</a:t>
            </a:r>
          </a:p>
        </p:txBody>
      </p:sp>
      <p:sp>
        <p:nvSpPr>
          <p:cNvPr id="452" name="Rectangle: Rounded Corners 451">
            <a:extLst>
              <a:ext uri="{FF2B5EF4-FFF2-40B4-BE49-F238E27FC236}">
                <a16:creationId xmlns:a16="http://schemas.microsoft.com/office/drawing/2014/main" id="{2AE31C1B-8717-068D-5341-7936A791638B}"/>
              </a:ext>
            </a:extLst>
          </p:cNvPr>
          <p:cNvSpPr/>
          <p:nvPr/>
        </p:nvSpPr>
        <p:spPr>
          <a:xfrm>
            <a:off x="8779027" y="3469725"/>
            <a:ext cx="713943" cy="142289"/>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Arial" panose="020B0604020202020204" pitchFamily="34" charset="0"/>
              </a:rPr>
              <a:t>WS Address</a:t>
            </a:r>
          </a:p>
        </p:txBody>
      </p:sp>
      <p:cxnSp>
        <p:nvCxnSpPr>
          <p:cNvPr id="453" name="Straight Arrow Connector 452">
            <a:extLst>
              <a:ext uri="{FF2B5EF4-FFF2-40B4-BE49-F238E27FC236}">
                <a16:creationId xmlns:a16="http://schemas.microsoft.com/office/drawing/2014/main" id="{9FFE5C27-E5B7-9D97-A304-6DEF5325DAC4}"/>
              </a:ext>
            </a:extLst>
          </p:cNvPr>
          <p:cNvCxnSpPr>
            <a:cxnSpLocks/>
          </p:cNvCxnSpPr>
          <p:nvPr/>
        </p:nvCxnSpPr>
        <p:spPr>
          <a:xfrm flipH="1">
            <a:off x="8267278" y="3526851"/>
            <a:ext cx="502854" cy="6244"/>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4" name="Straight Arrow Connector 453">
            <a:extLst>
              <a:ext uri="{FF2B5EF4-FFF2-40B4-BE49-F238E27FC236}">
                <a16:creationId xmlns:a16="http://schemas.microsoft.com/office/drawing/2014/main" id="{5CD49152-E643-B04C-B84A-60F274780FB7}"/>
              </a:ext>
            </a:extLst>
          </p:cNvPr>
          <p:cNvCxnSpPr>
            <a:cxnSpLocks/>
          </p:cNvCxnSpPr>
          <p:nvPr/>
        </p:nvCxnSpPr>
        <p:spPr>
          <a:xfrm flipH="1" flipV="1">
            <a:off x="8274191" y="3642883"/>
            <a:ext cx="1917929" cy="1392"/>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5" name="Rectangle 454">
            <a:extLst>
              <a:ext uri="{FF2B5EF4-FFF2-40B4-BE49-F238E27FC236}">
                <a16:creationId xmlns:a16="http://schemas.microsoft.com/office/drawing/2014/main" id="{79C7F5B7-4411-FACC-49D0-73AC62126AAA}"/>
              </a:ext>
            </a:extLst>
          </p:cNvPr>
          <p:cNvSpPr/>
          <p:nvPr/>
        </p:nvSpPr>
        <p:spPr>
          <a:xfrm>
            <a:off x="9291215" y="6592227"/>
            <a:ext cx="1141352" cy="175685"/>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prstClr val="black"/>
                </a:solidFill>
                <a:effectLst/>
                <a:uLnTx/>
                <a:uFillTx/>
                <a:ea typeface="+mn-ea"/>
                <a:cs typeface="Arial"/>
              </a:rPr>
              <a:t>Enterprise </a:t>
            </a:r>
            <a:r>
              <a:rPr kumimoji="0" lang="en-US" sz="800" i="0" u="none" strike="noStrike" kern="1200" cap="none" spc="0" normalizeH="0" baseline="0" noProof="0">
                <a:ln>
                  <a:noFill/>
                </a:ln>
                <a:solidFill>
                  <a:prstClr val="black"/>
                </a:solidFill>
                <a:effectLst/>
                <a:uLnTx/>
                <a:uFillTx/>
                <a:ea typeface="+mn-ea"/>
                <a:cs typeface="Arial"/>
              </a:rPr>
              <a:t>Data</a:t>
            </a:r>
            <a:r>
              <a:rPr kumimoji="0" lang="en-US" sz="700" i="0" u="none" strike="noStrike" kern="1200" cap="none" spc="0" normalizeH="0" baseline="0" noProof="0">
                <a:ln>
                  <a:noFill/>
                </a:ln>
                <a:solidFill>
                  <a:prstClr val="black"/>
                </a:solidFill>
                <a:effectLst/>
                <a:uLnTx/>
                <a:uFillTx/>
                <a:ea typeface="+mn-ea"/>
                <a:cs typeface="Arial"/>
              </a:rPr>
              <a:t> Catalogue</a:t>
            </a:r>
          </a:p>
        </p:txBody>
      </p:sp>
      <p:sp>
        <p:nvSpPr>
          <p:cNvPr id="456" name="Rectangle 455">
            <a:extLst>
              <a:ext uri="{FF2B5EF4-FFF2-40B4-BE49-F238E27FC236}">
                <a16:creationId xmlns:a16="http://schemas.microsoft.com/office/drawing/2014/main" id="{274A66EC-0F36-F173-1BEE-510416291E7A}"/>
              </a:ext>
            </a:extLst>
          </p:cNvPr>
          <p:cNvSpPr/>
          <p:nvPr/>
        </p:nvSpPr>
        <p:spPr>
          <a:xfrm>
            <a:off x="10453496" y="6592228"/>
            <a:ext cx="856900" cy="164790"/>
          </a:xfrm>
          <a:prstGeom prst="rect">
            <a:avLst/>
          </a:prstGeom>
          <a:solidFill>
            <a:srgbClr val="A6A6A6"/>
          </a:solidFill>
          <a:ln w="9525">
            <a:noFill/>
            <a:miter lim="800000"/>
            <a:headEnd/>
            <a:tailEnd/>
          </a:ln>
        </p:spPr>
        <p:txBody>
          <a:bodyPr vert="horz" wrap="square" lIns="0" tIns="0" rIns="0" bIns="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prstClr val="black"/>
                </a:solidFill>
                <a:effectLst/>
                <a:uLnTx/>
                <a:uFillTx/>
                <a:ea typeface="+mn-ea"/>
                <a:cs typeface="Arial"/>
              </a:rPr>
              <a:t>Reference</a:t>
            </a:r>
            <a:r>
              <a:rPr kumimoji="0" lang="en-US" sz="700" i="0" u="none" strike="noStrike" kern="1200" cap="none" spc="0" normalizeH="0" baseline="0" noProof="0">
                <a:ln>
                  <a:noFill/>
                </a:ln>
                <a:solidFill>
                  <a:prstClr val="black"/>
                </a:solidFill>
                <a:effectLst/>
                <a:uLnTx/>
                <a:uFillTx/>
                <a:ea typeface="+mn-ea"/>
                <a:cs typeface="Arial"/>
              </a:rPr>
              <a:t> Data</a:t>
            </a:r>
          </a:p>
        </p:txBody>
      </p:sp>
      <p:cxnSp>
        <p:nvCxnSpPr>
          <p:cNvPr id="457" name="Straight Arrow Connector 456">
            <a:extLst>
              <a:ext uri="{FF2B5EF4-FFF2-40B4-BE49-F238E27FC236}">
                <a16:creationId xmlns:a16="http://schemas.microsoft.com/office/drawing/2014/main" id="{DCA5C426-8E76-9BF7-0E2E-501BE91DB5AB}"/>
              </a:ext>
            </a:extLst>
          </p:cNvPr>
          <p:cNvCxnSpPr>
            <a:cxnSpLocks/>
          </p:cNvCxnSpPr>
          <p:nvPr/>
        </p:nvCxnSpPr>
        <p:spPr>
          <a:xfrm>
            <a:off x="10149329" y="4766346"/>
            <a:ext cx="0" cy="15114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6C5874F8-FFE6-1DEB-734D-2DB41CB6840D}"/>
              </a:ext>
            </a:extLst>
          </p:cNvPr>
          <p:cNvCxnSpPr>
            <a:cxnSpLocks/>
          </p:cNvCxnSpPr>
          <p:nvPr/>
        </p:nvCxnSpPr>
        <p:spPr>
          <a:xfrm>
            <a:off x="1800080" y="6572441"/>
            <a:ext cx="6324329" cy="1108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6AFFA740-C6B6-AF37-C88A-B4E70F6ADF25}"/>
              </a:ext>
            </a:extLst>
          </p:cNvPr>
          <p:cNvCxnSpPr>
            <a:cxnSpLocks/>
          </p:cNvCxnSpPr>
          <p:nvPr/>
        </p:nvCxnSpPr>
        <p:spPr>
          <a:xfrm flipH="1">
            <a:off x="6967997" y="2677148"/>
            <a:ext cx="329718"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TextBox 523">
            <a:extLst>
              <a:ext uri="{FF2B5EF4-FFF2-40B4-BE49-F238E27FC236}">
                <a16:creationId xmlns:a16="http://schemas.microsoft.com/office/drawing/2014/main" id="{0AABCE9A-53D0-26CB-01C4-214269ABA406}"/>
              </a:ext>
            </a:extLst>
          </p:cNvPr>
          <p:cNvSpPr txBox="1"/>
          <p:nvPr/>
        </p:nvSpPr>
        <p:spPr>
          <a:xfrm>
            <a:off x="2846142" y="6111342"/>
            <a:ext cx="1318213"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900" b="1"/>
              <a:t>Version 10.3.6 </a:t>
            </a:r>
          </a:p>
        </p:txBody>
      </p:sp>
      <p:sp>
        <p:nvSpPr>
          <p:cNvPr id="461" name="TextBox 4">
            <a:extLst>
              <a:ext uri="{FF2B5EF4-FFF2-40B4-BE49-F238E27FC236}">
                <a16:creationId xmlns:a16="http://schemas.microsoft.com/office/drawing/2014/main" id="{88CC36DE-64B5-03F9-C5F0-573594537AAA}"/>
              </a:ext>
            </a:extLst>
          </p:cNvPr>
          <p:cNvSpPr txBox="1"/>
          <p:nvPr/>
        </p:nvSpPr>
        <p:spPr>
          <a:xfrm>
            <a:off x="8244950" y="6478208"/>
            <a:ext cx="680648" cy="123111"/>
          </a:xfrm>
          <a:prstGeom prst="rect">
            <a:avLst/>
          </a:prstGeom>
          <a:solidFill>
            <a:schemeClr val="bg1"/>
          </a:solidFill>
        </p:spPr>
        <p:txBody>
          <a:bodyPr wrap="squar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462" name="Rectangle 461">
            <a:extLst>
              <a:ext uri="{FF2B5EF4-FFF2-40B4-BE49-F238E27FC236}">
                <a16:creationId xmlns:a16="http://schemas.microsoft.com/office/drawing/2014/main" id="{F10404F4-6E8A-AB99-3CDE-570BBDAC2059}"/>
              </a:ext>
            </a:extLst>
          </p:cNvPr>
          <p:cNvSpPr/>
          <p:nvPr/>
        </p:nvSpPr>
        <p:spPr>
          <a:xfrm>
            <a:off x="1727733" y="3589737"/>
            <a:ext cx="79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en-CA" sz="800">
                <a:solidFill>
                  <a:prstClr val="black"/>
                </a:solidFill>
                <a:cs typeface="Arial" panose="020B0604020202020204" pitchFamily="34" charset="0"/>
              </a:rPr>
              <a:t>Cúram Pensions </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UI</a:t>
            </a:r>
          </a:p>
        </p:txBody>
      </p:sp>
      <p:sp>
        <p:nvSpPr>
          <p:cNvPr id="463" name="Rectangle 462">
            <a:extLst>
              <a:ext uri="{FF2B5EF4-FFF2-40B4-BE49-F238E27FC236}">
                <a16:creationId xmlns:a16="http://schemas.microsoft.com/office/drawing/2014/main" id="{6BEE5D3C-0A0A-08F6-42A5-82F76906AF9D}"/>
              </a:ext>
            </a:extLst>
          </p:cNvPr>
          <p:cNvSpPr/>
          <p:nvPr/>
        </p:nvSpPr>
        <p:spPr>
          <a:xfrm>
            <a:off x="1717544" y="3402250"/>
            <a:ext cx="812377" cy="153888"/>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Contact Centre App</a:t>
            </a:r>
          </a:p>
        </p:txBody>
      </p:sp>
      <p:grpSp>
        <p:nvGrpSpPr>
          <p:cNvPr id="464" name="Group 463">
            <a:extLst>
              <a:ext uri="{FF2B5EF4-FFF2-40B4-BE49-F238E27FC236}">
                <a16:creationId xmlns:a16="http://schemas.microsoft.com/office/drawing/2014/main" id="{DAB9E564-6AFE-5F54-5F2D-C545CE75198C}"/>
              </a:ext>
            </a:extLst>
          </p:cNvPr>
          <p:cNvGrpSpPr/>
          <p:nvPr/>
        </p:nvGrpSpPr>
        <p:grpSpPr>
          <a:xfrm>
            <a:off x="2730942" y="3192470"/>
            <a:ext cx="1653176" cy="2139929"/>
            <a:chOff x="2808000" y="3096000"/>
            <a:chExt cx="1547787" cy="2139929"/>
          </a:xfrm>
        </p:grpSpPr>
        <p:grpSp>
          <p:nvGrpSpPr>
            <p:cNvPr id="279" name="Group 278">
              <a:extLst>
                <a:ext uri="{FF2B5EF4-FFF2-40B4-BE49-F238E27FC236}">
                  <a16:creationId xmlns:a16="http://schemas.microsoft.com/office/drawing/2014/main" id="{D894F94C-544E-DDD9-E403-5F3BC5599926}"/>
                </a:ext>
              </a:extLst>
            </p:cNvPr>
            <p:cNvGrpSpPr/>
            <p:nvPr/>
          </p:nvGrpSpPr>
          <p:grpSpPr>
            <a:xfrm>
              <a:off x="2900241" y="3274810"/>
              <a:ext cx="1386506" cy="1582947"/>
              <a:chOff x="2900241" y="2878810"/>
              <a:chExt cx="1386506" cy="1582947"/>
            </a:xfrm>
          </p:grpSpPr>
          <p:sp>
            <p:nvSpPr>
              <p:cNvPr id="282" name="Rectangle 281">
                <a:extLst>
                  <a:ext uri="{FF2B5EF4-FFF2-40B4-BE49-F238E27FC236}">
                    <a16:creationId xmlns:a16="http://schemas.microsoft.com/office/drawing/2014/main" id="{17577DB1-FAB1-68CC-20E2-3B9E83D6241D}"/>
                  </a:ext>
                </a:extLst>
              </p:cNvPr>
              <p:cNvSpPr/>
              <p:nvPr/>
            </p:nvSpPr>
            <p:spPr>
              <a:xfrm>
                <a:off x="2900242" y="287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rPr>
                  <a:t>Client </a:t>
                </a:r>
                <a:r>
                  <a:rPr kumimoji="0" lang="en-CA" sz="700" b="0" i="0" u="none" strike="noStrike" kern="1200" cap="none" spc="0" normalizeH="0" baseline="0" noProof="0">
                    <a:ln>
                      <a:noFill/>
                    </a:ln>
                    <a:solidFill>
                      <a:prstClr val="black"/>
                    </a:solidFill>
                    <a:effectLst/>
                    <a:uLnTx/>
                    <a:uFillTx/>
                    <a:ea typeface="+mn-ea"/>
                  </a:rPr>
                  <a:t>Relationship</a:t>
                </a:r>
                <a:r>
                  <a:rPr kumimoji="0" lang="en-CA" sz="800" b="0" i="0" u="none" strike="noStrike" kern="1200" cap="none" spc="0" normalizeH="0" baseline="0" noProof="0">
                    <a:ln>
                      <a:noFill/>
                    </a:ln>
                    <a:solidFill>
                      <a:prstClr val="black"/>
                    </a:solidFill>
                    <a:effectLst/>
                    <a:uLnTx/>
                    <a:uFillTx/>
                    <a:ea typeface="+mn-ea"/>
                  </a:rPr>
                  <a:t> </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83" name="Rectangle 282">
                <a:extLst>
                  <a:ext uri="{FF2B5EF4-FFF2-40B4-BE49-F238E27FC236}">
                    <a16:creationId xmlns:a16="http://schemas.microsoft.com/office/drawing/2014/main" id="{9D97713E-CF89-1917-20F1-90DB9E3990BB}"/>
                  </a:ext>
                </a:extLst>
              </p:cNvPr>
              <p:cNvSpPr/>
              <p:nvPr/>
            </p:nvSpPr>
            <p:spPr>
              <a:xfrm>
                <a:off x="2900241" y="305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Benefit Case Management</a:t>
                </a:r>
              </a:p>
            </p:txBody>
          </p:sp>
          <p:sp>
            <p:nvSpPr>
              <p:cNvPr id="284" name="Rectangle 283">
                <a:extLst>
                  <a:ext uri="{FF2B5EF4-FFF2-40B4-BE49-F238E27FC236}">
                    <a16:creationId xmlns:a16="http://schemas.microsoft.com/office/drawing/2014/main" id="{A213AA41-F930-6CEB-A3FD-08E75417EBA7}"/>
                  </a:ext>
                </a:extLst>
              </p:cNvPr>
              <p:cNvSpPr/>
              <p:nvPr/>
            </p:nvSpPr>
            <p:spPr>
              <a:xfrm>
                <a:off x="2900242" y="323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rPr>
                  <a:t>Eligibility and </a:t>
                </a: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Entitlement</a:t>
                </a:r>
              </a:p>
            </p:txBody>
          </p:sp>
          <p:sp>
            <p:nvSpPr>
              <p:cNvPr id="285" name="Rectangle 284">
                <a:extLst>
                  <a:ext uri="{FF2B5EF4-FFF2-40B4-BE49-F238E27FC236}">
                    <a16:creationId xmlns:a16="http://schemas.microsoft.com/office/drawing/2014/main" id="{4DC7EFF7-F7BF-64BA-8153-DE3DA5662142}"/>
                  </a:ext>
                </a:extLst>
              </p:cNvPr>
              <p:cNvSpPr/>
              <p:nvPr/>
            </p:nvSpPr>
            <p:spPr>
              <a:xfrm>
                <a:off x="2900242" y="341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Risk-Based Processing</a:t>
                </a:r>
              </a:p>
            </p:txBody>
          </p:sp>
          <p:sp>
            <p:nvSpPr>
              <p:cNvPr id="286" name="Rectangle 285">
                <a:extLst>
                  <a:ext uri="{FF2B5EF4-FFF2-40B4-BE49-F238E27FC236}">
                    <a16:creationId xmlns:a16="http://schemas.microsoft.com/office/drawing/2014/main" id="{AA588AF3-CF16-FF92-CF51-2FFB607ECB26}"/>
                  </a:ext>
                </a:extLst>
              </p:cNvPr>
              <p:cNvSpPr/>
              <p:nvPr/>
            </p:nvSpPr>
            <p:spPr>
              <a:xfrm>
                <a:off x="2900242" y="359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ea typeface="+mn-ea"/>
                  </a:rPr>
                  <a:t>Workload &amp; Workforce </a:t>
                </a:r>
                <a:r>
                  <a:rPr kumimoji="0" lang="en-CA" sz="7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87" name="Rectangle 286">
                <a:extLst>
                  <a:ext uri="{FF2B5EF4-FFF2-40B4-BE49-F238E27FC236}">
                    <a16:creationId xmlns:a16="http://schemas.microsoft.com/office/drawing/2014/main" id="{0181EA15-652C-E50F-71EB-0AE599310A4C}"/>
                  </a:ext>
                </a:extLst>
              </p:cNvPr>
              <p:cNvSpPr/>
              <p:nvPr/>
            </p:nvSpPr>
            <p:spPr>
              <a:xfrm>
                <a:off x="2900242" y="377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Payment Management</a:t>
                </a:r>
              </a:p>
            </p:txBody>
          </p:sp>
          <p:sp>
            <p:nvSpPr>
              <p:cNvPr id="288" name="Rectangle 287">
                <a:extLst>
                  <a:ext uri="{FF2B5EF4-FFF2-40B4-BE49-F238E27FC236}">
                    <a16:creationId xmlns:a16="http://schemas.microsoft.com/office/drawing/2014/main" id="{98F00D6F-4D88-8933-CCEF-5228EC7F45CA}"/>
                  </a:ext>
                </a:extLst>
              </p:cNvPr>
              <p:cNvSpPr/>
              <p:nvPr/>
            </p:nvSpPr>
            <p:spPr>
              <a:xfrm>
                <a:off x="2900242" y="395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rPr>
                  <a:t>Correspondence </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89" name="Rectangle 288">
                <a:extLst>
                  <a:ext uri="{FF2B5EF4-FFF2-40B4-BE49-F238E27FC236}">
                    <a16:creationId xmlns:a16="http://schemas.microsoft.com/office/drawing/2014/main" id="{A3599101-9CE2-6F78-1FAC-D8E044E6DDCA}"/>
                  </a:ext>
                </a:extLst>
              </p:cNvPr>
              <p:cNvSpPr/>
              <p:nvPr/>
            </p:nvSpPr>
            <p:spPr>
              <a:xfrm>
                <a:off x="2900242" y="413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Appeals Management</a:t>
                </a:r>
              </a:p>
            </p:txBody>
          </p:sp>
          <p:sp>
            <p:nvSpPr>
              <p:cNvPr id="290" name="Rectangle 289">
                <a:extLst>
                  <a:ext uri="{FF2B5EF4-FFF2-40B4-BE49-F238E27FC236}">
                    <a16:creationId xmlns:a16="http://schemas.microsoft.com/office/drawing/2014/main" id="{2FE568FE-D0C1-0866-318C-B253ACC81B40}"/>
                  </a:ext>
                </a:extLst>
              </p:cNvPr>
              <p:cNvSpPr/>
              <p:nvPr/>
            </p:nvSpPr>
            <p:spPr>
              <a:xfrm>
                <a:off x="2900242" y="431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Compliance Review Management</a:t>
                </a:r>
              </a:p>
            </p:txBody>
          </p:sp>
        </p:grpSp>
        <p:sp>
          <p:nvSpPr>
            <p:cNvPr id="280" name="Rectangle: Rounded Corners 279">
              <a:extLst>
                <a:ext uri="{FF2B5EF4-FFF2-40B4-BE49-F238E27FC236}">
                  <a16:creationId xmlns:a16="http://schemas.microsoft.com/office/drawing/2014/main" id="{5D2705F0-55E3-B4DC-EAE4-FA461612FE88}"/>
                </a:ext>
              </a:extLst>
            </p:cNvPr>
            <p:cNvSpPr/>
            <p:nvPr/>
          </p:nvSpPr>
          <p:spPr>
            <a:xfrm>
              <a:off x="2808000" y="3168000"/>
              <a:ext cx="1547787" cy="2067929"/>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281" name="TextBox 491">
              <a:extLst>
                <a:ext uri="{FF2B5EF4-FFF2-40B4-BE49-F238E27FC236}">
                  <a16:creationId xmlns:a16="http://schemas.microsoft.com/office/drawing/2014/main" id="{1DDEB7C0-CC94-C06E-4374-B59A5907157E}"/>
                </a:ext>
              </a:extLst>
            </p:cNvPr>
            <p:cNvSpPr txBox="1"/>
            <p:nvPr/>
          </p:nvSpPr>
          <p:spPr>
            <a:xfrm>
              <a:off x="2880000" y="3096000"/>
              <a:ext cx="1143509" cy="138499"/>
            </a:xfrm>
            <a:prstGeom prst="rect">
              <a:avLst/>
            </a:prstGeom>
            <a:solidFill>
              <a:schemeClr val="bg1"/>
            </a:solidFill>
          </p:spPr>
          <p:txBody>
            <a:bodyPr wrap="non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EI Processing Platform</a:t>
              </a:r>
            </a:p>
          </p:txBody>
        </p:sp>
      </p:grpSp>
      <p:sp>
        <p:nvSpPr>
          <p:cNvPr id="465" name="Rectangle: Rounded Corners 464">
            <a:extLst>
              <a:ext uri="{FF2B5EF4-FFF2-40B4-BE49-F238E27FC236}">
                <a16:creationId xmlns:a16="http://schemas.microsoft.com/office/drawing/2014/main" id="{9A735E37-E90B-969B-F4AB-EAEC302C25BF}"/>
              </a:ext>
            </a:extLst>
          </p:cNvPr>
          <p:cNvSpPr/>
          <p:nvPr/>
        </p:nvSpPr>
        <p:spPr>
          <a:xfrm>
            <a:off x="2664515" y="3086383"/>
            <a:ext cx="4460345" cy="2295688"/>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466" name="Cylinder 465">
            <a:extLst>
              <a:ext uri="{FF2B5EF4-FFF2-40B4-BE49-F238E27FC236}">
                <a16:creationId xmlns:a16="http://schemas.microsoft.com/office/drawing/2014/main" id="{A9216802-6985-AC53-FFF5-1C490B72EDD8}"/>
              </a:ext>
            </a:extLst>
          </p:cNvPr>
          <p:cNvSpPr/>
          <p:nvPr/>
        </p:nvSpPr>
        <p:spPr>
          <a:xfrm>
            <a:off x="2835867" y="4990161"/>
            <a:ext cx="700478" cy="27093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Cúram EI Database</a:t>
            </a:r>
          </a:p>
        </p:txBody>
      </p:sp>
      <p:sp>
        <p:nvSpPr>
          <p:cNvPr id="467" name="TextBox 84">
            <a:extLst>
              <a:ext uri="{FF2B5EF4-FFF2-40B4-BE49-F238E27FC236}">
                <a16:creationId xmlns:a16="http://schemas.microsoft.com/office/drawing/2014/main" id="{522A3BE2-8FC0-0BBF-B916-B1BE433989E2}"/>
              </a:ext>
            </a:extLst>
          </p:cNvPr>
          <p:cNvSpPr txBox="1"/>
          <p:nvPr/>
        </p:nvSpPr>
        <p:spPr>
          <a:xfrm>
            <a:off x="2730942" y="3015333"/>
            <a:ext cx="1512437" cy="153888"/>
          </a:xfrm>
          <a:prstGeom prst="rect">
            <a:avLst/>
          </a:prstGeom>
          <a:solidFill>
            <a:schemeClr val="bg1"/>
          </a:solidFill>
        </p:spPr>
        <p:txBody>
          <a:bodyPr wrap="non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ea typeface="+mn-ea"/>
                <a:cs typeface="Arial" panose="020B0604020202020204" pitchFamily="34" charset="0"/>
              </a:rPr>
              <a:t>Service Delivery Platform</a:t>
            </a:r>
          </a:p>
        </p:txBody>
      </p:sp>
      <p:grpSp>
        <p:nvGrpSpPr>
          <p:cNvPr id="468" name="Group 467">
            <a:extLst>
              <a:ext uri="{FF2B5EF4-FFF2-40B4-BE49-F238E27FC236}">
                <a16:creationId xmlns:a16="http://schemas.microsoft.com/office/drawing/2014/main" id="{2A3A5F54-A785-0B28-0D16-7897A5FE47E8}"/>
              </a:ext>
            </a:extLst>
          </p:cNvPr>
          <p:cNvGrpSpPr/>
          <p:nvPr/>
        </p:nvGrpSpPr>
        <p:grpSpPr>
          <a:xfrm>
            <a:off x="6278876" y="3141793"/>
            <a:ext cx="803250" cy="1548131"/>
            <a:chOff x="6129755" y="3045323"/>
            <a:chExt cx="752043" cy="1548131"/>
          </a:xfrm>
        </p:grpSpPr>
        <p:sp>
          <p:nvSpPr>
            <p:cNvPr id="272" name="Rectangle: Rounded Corners 271">
              <a:extLst>
                <a:ext uri="{FF2B5EF4-FFF2-40B4-BE49-F238E27FC236}">
                  <a16:creationId xmlns:a16="http://schemas.microsoft.com/office/drawing/2014/main" id="{A725A51D-5C1A-6A8A-BF67-18EA3FC5184B}"/>
                </a:ext>
              </a:extLst>
            </p:cNvPr>
            <p:cNvSpPr/>
            <p:nvPr/>
          </p:nvSpPr>
          <p:spPr>
            <a:xfrm>
              <a:off x="6136522" y="3168000"/>
              <a:ext cx="745276" cy="1425454"/>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grpSp>
          <p:nvGrpSpPr>
            <p:cNvPr id="273" name="Group 272">
              <a:extLst>
                <a:ext uri="{FF2B5EF4-FFF2-40B4-BE49-F238E27FC236}">
                  <a16:creationId xmlns:a16="http://schemas.microsoft.com/office/drawing/2014/main" id="{F472A372-E438-2E7B-FA1B-79C04B999A91}"/>
                </a:ext>
              </a:extLst>
            </p:cNvPr>
            <p:cNvGrpSpPr/>
            <p:nvPr/>
          </p:nvGrpSpPr>
          <p:grpSpPr>
            <a:xfrm>
              <a:off x="6184752" y="3330505"/>
              <a:ext cx="627449" cy="1201893"/>
              <a:chOff x="6184752" y="3482905"/>
              <a:chExt cx="627449" cy="1201893"/>
            </a:xfrm>
          </p:grpSpPr>
          <p:sp>
            <p:nvSpPr>
              <p:cNvPr id="275" name="Rectangle 274">
                <a:extLst>
                  <a:ext uri="{FF2B5EF4-FFF2-40B4-BE49-F238E27FC236}">
                    <a16:creationId xmlns:a16="http://schemas.microsoft.com/office/drawing/2014/main" id="{DDCE7A9F-FF08-C264-5FD8-BE642BCC4418}"/>
                  </a:ext>
                </a:extLst>
              </p:cNvPr>
              <p:cNvSpPr/>
              <p:nvPr/>
            </p:nvSpPr>
            <p:spPr>
              <a:xfrm>
                <a:off x="6184752" y="3482905"/>
                <a:ext cx="618696" cy="396558"/>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Knowledge Management Instance</a:t>
                </a:r>
              </a:p>
            </p:txBody>
          </p:sp>
          <p:sp>
            <p:nvSpPr>
              <p:cNvPr id="276" name="Cylinder 275">
                <a:extLst>
                  <a:ext uri="{FF2B5EF4-FFF2-40B4-BE49-F238E27FC236}">
                    <a16:creationId xmlns:a16="http://schemas.microsoft.com/office/drawing/2014/main" id="{F3FBD594-BB02-5F6C-87E0-C643DB2A55B2}"/>
                  </a:ext>
                </a:extLst>
              </p:cNvPr>
              <p:cNvSpPr/>
              <p:nvPr/>
            </p:nvSpPr>
            <p:spPr>
              <a:xfrm>
                <a:off x="6213241" y="3879007"/>
                <a:ext cx="583662" cy="212157"/>
              </a:xfrm>
              <a:prstGeom prst="can">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Knowledge Base</a:t>
                </a:r>
              </a:p>
            </p:txBody>
          </p:sp>
          <p:sp>
            <p:nvSpPr>
              <p:cNvPr id="277" name="Rectangle 276">
                <a:extLst>
                  <a:ext uri="{FF2B5EF4-FFF2-40B4-BE49-F238E27FC236}">
                    <a16:creationId xmlns:a16="http://schemas.microsoft.com/office/drawing/2014/main" id="{7FF37649-5A84-88CA-B014-059197D59E00}"/>
                  </a:ext>
                </a:extLst>
              </p:cNvPr>
              <p:cNvSpPr/>
              <p:nvPr/>
            </p:nvSpPr>
            <p:spPr>
              <a:xfrm>
                <a:off x="6231756" y="4153551"/>
                <a:ext cx="558590" cy="292986"/>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Digital Adoption Platform</a:t>
                </a:r>
              </a:p>
            </p:txBody>
          </p:sp>
          <p:sp>
            <p:nvSpPr>
              <p:cNvPr id="278" name="Cylinder 277">
                <a:extLst>
                  <a:ext uri="{FF2B5EF4-FFF2-40B4-BE49-F238E27FC236}">
                    <a16:creationId xmlns:a16="http://schemas.microsoft.com/office/drawing/2014/main" id="{09F17BAD-6A4E-DD10-CC41-4959087BDB6B}"/>
                  </a:ext>
                </a:extLst>
              </p:cNvPr>
              <p:cNvSpPr/>
              <p:nvPr/>
            </p:nvSpPr>
            <p:spPr>
              <a:xfrm>
                <a:off x="6213387" y="4472641"/>
                <a:ext cx="598814" cy="212157"/>
              </a:xfrm>
              <a:prstGeom prst="can">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Training Content</a:t>
                </a:r>
              </a:p>
            </p:txBody>
          </p:sp>
        </p:grpSp>
        <p:sp>
          <p:nvSpPr>
            <p:cNvPr id="274" name="TextBox 89">
              <a:extLst>
                <a:ext uri="{FF2B5EF4-FFF2-40B4-BE49-F238E27FC236}">
                  <a16:creationId xmlns:a16="http://schemas.microsoft.com/office/drawing/2014/main" id="{AA2CFE55-B003-AFEB-45A8-90C8DF490E85}"/>
                </a:ext>
              </a:extLst>
            </p:cNvPr>
            <p:cNvSpPr txBox="1"/>
            <p:nvPr/>
          </p:nvSpPr>
          <p:spPr>
            <a:xfrm>
              <a:off x="6129755" y="3045323"/>
              <a:ext cx="726547" cy="246221"/>
            </a:xfrm>
            <a:prstGeom prst="rect">
              <a:avLst/>
            </a:prstGeom>
            <a:solidFill>
              <a:schemeClr val="bg1"/>
            </a:solid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prstClr val="black"/>
                  </a:solidFill>
                  <a:effectLst/>
                  <a:uLnTx/>
                  <a:uFillTx/>
                  <a:ea typeface="+mn-ea"/>
                  <a:cs typeface="Arial" panose="020B0604020202020204" pitchFamily="34" charset="0"/>
                </a:rPr>
                <a:t>Digital Knowledge Platform</a:t>
              </a:r>
            </a:p>
          </p:txBody>
        </p:sp>
      </p:grpSp>
      <p:grpSp>
        <p:nvGrpSpPr>
          <p:cNvPr id="469" name="Group 468">
            <a:extLst>
              <a:ext uri="{FF2B5EF4-FFF2-40B4-BE49-F238E27FC236}">
                <a16:creationId xmlns:a16="http://schemas.microsoft.com/office/drawing/2014/main" id="{79475AF7-A76B-2FEA-8F16-6858BF1EE8FE}"/>
              </a:ext>
            </a:extLst>
          </p:cNvPr>
          <p:cNvGrpSpPr/>
          <p:nvPr/>
        </p:nvGrpSpPr>
        <p:grpSpPr>
          <a:xfrm>
            <a:off x="6221996" y="4757066"/>
            <a:ext cx="858013" cy="591972"/>
            <a:chOff x="6076501" y="4480596"/>
            <a:chExt cx="803315" cy="591972"/>
          </a:xfrm>
        </p:grpSpPr>
        <p:sp>
          <p:nvSpPr>
            <p:cNvPr id="268" name="Rectangle: Rounded Corners 267">
              <a:extLst>
                <a:ext uri="{FF2B5EF4-FFF2-40B4-BE49-F238E27FC236}">
                  <a16:creationId xmlns:a16="http://schemas.microsoft.com/office/drawing/2014/main" id="{65F0C727-8D2C-8063-00F4-4A4FDBBC2769}"/>
                </a:ext>
              </a:extLst>
            </p:cNvPr>
            <p:cNvSpPr/>
            <p:nvPr/>
          </p:nvSpPr>
          <p:spPr>
            <a:xfrm>
              <a:off x="6091946" y="4538338"/>
              <a:ext cx="787870" cy="53423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269" name="Rectangle 268">
              <a:extLst>
                <a:ext uri="{FF2B5EF4-FFF2-40B4-BE49-F238E27FC236}">
                  <a16:creationId xmlns:a16="http://schemas.microsoft.com/office/drawing/2014/main" id="{23D5891A-8E1C-0F7D-35EA-52524505F697}"/>
                </a:ext>
              </a:extLst>
            </p:cNvPr>
            <p:cNvSpPr/>
            <p:nvPr/>
          </p:nvSpPr>
          <p:spPr>
            <a:xfrm>
              <a:off x="6162172" y="4641395"/>
              <a:ext cx="637659" cy="130678"/>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mn-cs"/>
                </a:rPr>
                <a:t>NLU / NLG</a:t>
              </a:r>
            </a:p>
          </p:txBody>
        </p:sp>
        <p:sp>
          <p:nvSpPr>
            <p:cNvPr id="270" name="Rectangle 269">
              <a:extLst>
                <a:ext uri="{FF2B5EF4-FFF2-40B4-BE49-F238E27FC236}">
                  <a16:creationId xmlns:a16="http://schemas.microsoft.com/office/drawing/2014/main" id="{DAB3A814-9E33-6B90-B227-6B754A9B278E}"/>
                </a:ext>
              </a:extLst>
            </p:cNvPr>
            <p:cNvSpPr/>
            <p:nvPr/>
          </p:nvSpPr>
          <p:spPr>
            <a:xfrm>
              <a:off x="6173129" y="4808930"/>
              <a:ext cx="612683" cy="226608"/>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mn-cs"/>
                </a:rPr>
                <a:t>Decision Engine</a:t>
              </a:r>
            </a:p>
          </p:txBody>
        </p:sp>
        <p:sp>
          <p:nvSpPr>
            <p:cNvPr id="271" name="TextBox 98">
              <a:extLst>
                <a:ext uri="{FF2B5EF4-FFF2-40B4-BE49-F238E27FC236}">
                  <a16:creationId xmlns:a16="http://schemas.microsoft.com/office/drawing/2014/main" id="{2B25AFCB-B6D1-F403-0DD2-EA6C68D569A3}"/>
                </a:ext>
              </a:extLst>
            </p:cNvPr>
            <p:cNvSpPr txBox="1"/>
            <p:nvPr/>
          </p:nvSpPr>
          <p:spPr>
            <a:xfrm>
              <a:off x="6076501" y="4480596"/>
              <a:ext cx="802379" cy="124144"/>
            </a:xfrm>
            <a:prstGeom prst="rect">
              <a:avLst/>
            </a:prstGeom>
            <a:solidFill>
              <a:schemeClr val="bg1"/>
            </a:solidFill>
          </p:spPr>
          <p:txBody>
            <a:bodyPr wrap="squar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effectLst/>
                  <a:uLnTx/>
                  <a:uFillTx/>
                  <a:ea typeface="+mn-ea"/>
                  <a:cs typeface="Arial" panose="020B0604020202020204" pitchFamily="34" charset="0"/>
                </a:rPr>
                <a:t>Chatbot Platform</a:t>
              </a:r>
            </a:p>
          </p:txBody>
        </p:sp>
      </p:grpSp>
      <p:grpSp>
        <p:nvGrpSpPr>
          <p:cNvPr id="470" name="Group 469">
            <a:extLst>
              <a:ext uri="{FF2B5EF4-FFF2-40B4-BE49-F238E27FC236}">
                <a16:creationId xmlns:a16="http://schemas.microsoft.com/office/drawing/2014/main" id="{AC148A4F-2F1F-CED5-718B-B17629E9B6E5}"/>
              </a:ext>
            </a:extLst>
          </p:cNvPr>
          <p:cNvGrpSpPr/>
          <p:nvPr/>
        </p:nvGrpSpPr>
        <p:grpSpPr>
          <a:xfrm>
            <a:off x="4476469" y="3172079"/>
            <a:ext cx="1653176" cy="2139929"/>
            <a:chOff x="2808000" y="3096000"/>
            <a:chExt cx="1547787" cy="2139929"/>
          </a:xfrm>
        </p:grpSpPr>
        <p:grpSp>
          <p:nvGrpSpPr>
            <p:cNvPr id="499" name="Group 498">
              <a:extLst>
                <a:ext uri="{FF2B5EF4-FFF2-40B4-BE49-F238E27FC236}">
                  <a16:creationId xmlns:a16="http://schemas.microsoft.com/office/drawing/2014/main" id="{3899D88B-852A-B759-E890-E0AB932B596A}"/>
                </a:ext>
              </a:extLst>
            </p:cNvPr>
            <p:cNvGrpSpPr/>
            <p:nvPr/>
          </p:nvGrpSpPr>
          <p:grpSpPr>
            <a:xfrm>
              <a:off x="2900241" y="3274810"/>
              <a:ext cx="1386506" cy="1582947"/>
              <a:chOff x="2900241" y="2878810"/>
              <a:chExt cx="1386506" cy="1582947"/>
            </a:xfrm>
          </p:grpSpPr>
          <p:sp>
            <p:nvSpPr>
              <p:cNvPr id="259" name="Rectangle 258">
                <a:extLst>
                  <a:ext uri="{FF2B5EF4-FFF2-40B4-BE49-F238E27FC236}">
                    <a16:creationId xmlns:a16="http://schemas.microsoft.com/office/drawing/2014/main" id="{87E2C1A5-F478-0A00-4C3B-C43C9062E778}"/>
                  </a:ext>
                </a:extLst>
              </p:cNvPr>
              <p:cNvSpPr/>
              <p:nvPr/>
            </p:nvSpPr>
            <p:spPr>
              <a:xfrm>
                <a:off x="2900242" y="287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rPr>
                  <a:t>Client </a:t>
                </a:r>
                <a:r>
                  <a:rPr kumimoji="0" lang="en-CA" sz="700" b="0" i="0" u="none" strike="noStrike" kern="1200" cap="none" spc="0" normalizeH="0" baseline="0" noProof="0">
                    <a:ln>
                      <a:noFill/>
                    </a:ln>
                    <a:solidFill>
                      <a:prstClr val="black"/>
                    </a:solidFill>
                    <a:effectLst/>
                    <a:uLnTx/>
                    <a:uFillTx/>
                    <a:ea typeface="+mn-ea"/>
                  </a:rPr>
                  <a:t>Relationship</a:t>
                </a:r>
                <a:r>
                  <a:rPr kumimoji="0" lang="en-CA" sz="800" b="0" i="0" u="none" strike="noStrike" kern="1200" cap="none" spc="0" normalizeH="0" baseline="0" noProof="0">
                    <a:ln>
                      <a:noFill/>
                    </a:ln>
                    <a:solidFill>
                      <a:prstClr val="black"/>
                    </a:solidFill>
                    <a:effectLst/>
                    <a:uLnTx/>
                    <a:uFillTx/>
                    <a:ea typeface="+mn-ea"/>
                  </a:rPr>
                  <a:t> </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60" name="Rectangle 259">
                <a:extLst>
                  <a:ext uri="{FF2B5EF4-FFF2-40B4-BE49-F238E27FC236}">
                    <a16:creationId xmlns:a16="http://schemas.microsoft.com/office/drawing/2014/main" id="{DC9C46FD-CD4D-B57C-B351-08C9847E1EC1}"/>
                  </a:ext>
                </a:extLst>
              </p:cNvPr>
              <p:cNvSpPr/>
              <p:nvPr/>
            </p:nvSpPr>
            <p:spPr>
              <a:xfrm>
                <a:off x="2900241" y="305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Benefit Case Management</a:t>
                </a:r>
              </a:p>
            </p:txBody>
          </p:sp>
          <p:sp>
            <p:nvSpPr>
              <p:cNvPr id="261" name="Rectangle 260">
                <a:extLst>
                  <a:ext uri="{FF2B5EF4-FFF2-40B4-BE49-F238E27FC236}">
                    <a16:creationId xmlns:a16="http://schemas.microsoft.com/office/drawing/2014/main" id="{4866CD69-B4C7-BDE8-CCD6-FE02105E3430}"/>
                  </a:ext>
                </a:extLst>
              </p:cNvPr>
              <p:cNvSpPr/>
              <p:nvPr/>
            </p:nvSpPr>
            <p:spPr>
              <a:xfrm>
                <a:off x="2900242" y="323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rPr>
                  <a:t>Eligibility and </a:t>
                </a: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Entitlement</a:t>
                </a:r>
              </a:p>
            </p:txBody>
          </p:sp>
          <p:sp>
            <p:nvSpPr>
              <p:cNvPr id="262" name="Rectangle 261">
                <a:extLst>
                  <a:ext uri="{FF2B5EF4-FFF2-40B4-BE49-F238E27FC236}">
                    <a16:creationId xmlns:a16="http://schemas.microsoft.com/office/drawing/2014/main" id="{0837A446-134D-A204-114D-180AA7C5C9A1}"/>
                  </a:ext>
                </a:extLst>
              </p:cNvPr>
              <p:cNvSpPr/>
              <p:nvPr/>
            </p:nvSpPr>
            <p:spPr>
              <a:xfrm>
                <a:off x="2900242" y="341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Risk-Based Processing</a:t>
                </a:r>
              </a:p>
            </p:txBody>
          </p:sp>
          <p:sp>
            <p:nvSpPr>
              <p:cNvPr id="263" name="Rectangle 262">
                <a:extLst>
                  <a:ext uri="{FF2B5EF4-FFF2-40B4-BE49-F238E27FC236}">
                    <a16:creationId xmlns:a16="http://schemas.microsoft.com/office/drawing/2014/main" id="{20CB2FBF-3EF4-FCED-98A8-985AA3234C07}"/>
                  </a:ext>
                </a:extLst>
              </p:cNvPr>
              <p:cNvSpPr/>
              <p:nvPr/>
            </p:nvSpPr>
            <p:spPr>
              <a:xfrm>
                <a:off x="2900242" y="359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ea typeface="+mn-ea"/>
                  </a:rPr>
                  <a:t>Workload &amp; Workforce </a:t>
                </a:r>
                <a:r>
                  <a:rPr kumimoji="0" lang="en-CA" sz="7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64" name="Rectangle 263">
                <a:extLst>
                  <a:ext uri="{FF2B5EF4-FFF2-40B4-BE49-F238E27FC236}">
                    <a16:creationId xmlns:a16="http://schemas.microsoft.com/office/drawing/2014/main" id="{6DF66141-6DEE-B1E1-879B-90EED2553D42}"/>
                  </a:ext>
                </a:extLst>
              </p:cNvPr>
              <p:cNvSpPr/>
              <p:nvPr/>
            </p:nvSpPr>
            <p:spPr>
              <a:xfrm>
                <a:off x="2900242" y="377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Payment Management</a:t>
                </a:r>
              </a:p>
            </p:txBody>
          </p:sp>
          <p:sp>
            <p:nvSpPr>
              <p:cNvPr id="265" name="Rectangle 264">
                <a:extLst>
                  <a:ext uri="{FF2B5EF4-FFF2-40B4-BE49-F238E27FC236}">
                    <a16:creationId xmlns:a16="http://schemas.microsoft.com/office/drawing/2014/main" id="{F9201525-FD58-9DA1-138A-E7CCA82D1208}"/>
                  </a:ext>
                </a:extLst>
              </p:cNvPr>
              <p:cNvSpPr/>
              <p:nvPr/>
            </p:nvSpPr>
            <p:spPr>
              <a:xfrm>
                <a:off x="2900242" y="395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rPr>
                  <a:t>Correspondence </a:t>
                </a: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Management</a:t>
                </a:r>
              </a:p>
            </p:txBody>
          </p:sp>
          <p:sp>
            <p:nvSpPr>
              <p:cNvPr id="266" name="Rectangle 265">
                <a:extLst>
                  <a:ext uri="{FF2B5EF4-FFF2-40B4-BE49-F238E27FC236}">
                    <a16:creationId xmlns:a16="http://schemas.microsoft.com/office/drawing/2014/main" id="{DF821AD8-FF80-A6BB-32EA-60CADDA5220E}"/>
                  </a:ext>
                </a:extLst>
              </p:cNvPr>
              <p:cNvSpPr/>
              <p:nvPr/>
            </p:nvSpPr>
            <p:spPr>
              <a:xfrm>
                <a:off x="2900242" y="413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prstClr val="black"/>
                    </a:solidFill>
                    <a:effectLst/>
                    <a:uLnTx/>
                    <a:uFillTx/>
                    <a:ea typeface="+mn-ea"/>
                    <a:cs typeface="Arial" panose="020B0604020202020204" pitchFamily="34" charset="0"/>
                  </a:rPr>
                  <a:t>Appeals Management</a:t>
                </a:r>
              </a:p>
            </p:txBody>
          </p:sp>
          <p:sp>
            <p:nvSpPr>
              <p:cNvPr id="267" name="Rectangle 266">
                <a:extLst>
                  <a:ext uri="{FF2B5EF4-FFF2-40B4-BE49-F238E27FC236}">
                    <a16:creationId xmlns:a16="http://schemas.microsoft.com/office/drawing/2014/main" id="{CDD6FAC6-B4D8-7B55-1A14-0ED2F3A1D105}"/>
                  </a:ext>
                </a:extLst>
              </p:cNvPr>
              <p:cNvSpPr/>
              <p:nvPr/>
            </p:nvSpPr>
            <p:spPr>
              <a:xfrm>
                <a:off x="2900242" y="4318810"/>
                <a:ext cx="1386505" cy="14294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Compliance Review Management</a:t>
                </a:r>
              </a:p>
            </p:txBody>
          </p:sp>
        </p:grpSp>
        <p:sp>
          <p:nvSpPr>
            <p:cNvPr id="257" name="Rectangle: Rounded Corners 256">
              <a:extLst>
                <a:ext uri="{FF2B5EF4-FFF2-40B4-BE49-F238E27FC236}">
                  <a16:creationId xmlns:a16="http://schemas.microsoft.com/office/drawing/2014/main" id="{7484BF61-BF4F-BE05-C030-C504F23AB958}"/>
                </a:ext>
              </a:extLst>
            </p:cNvPr>
            <p:cNvSpPr/>
            <p:nvPr/>
          </p:nvSpPr>
          <p:spPr>
            <a:xfrm>
              <a:off x="2808000" y="3168000"/>
              <a:ext cx="1547787" cy="2067929"/>
            </a:xfrm>
            <a:prstGeom prst="roundRect">
              <a:avLst>
                <a:gd name="adj" fmla="val 3359"/>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258" name="TextBox 104">
              <a:extLst>
                <a:ext uri="{FF2B5EF4-FFF2-40B4-BE49-F238E27FC236}">
                  <a16:creationId xmlns:a16="http://schemas.microsoft.com/office/drawing/2014/main" id="{334165D0-1A83-E812-BDA3-96C7B960F984}"/>
                </a:ext>
              </a:extLst>
            </p:cNvPr>
            <p:cNvSpPr txBox="1"/>
            <p:nvPr/>
          </p:nvSpPr>
          <p:spPr>
            <a:xfrm>
              <a:off x="2880000" y="3096000"/>
              <a:ext cx="1390284" cy="138499"/>
            </a:xfrm>
            <a:prstGeom prst="rect">
              <a:avLst/>
            </a:prstGeom>
            <a:solidFill>
              <a:schemeClr val="bg1"/>
            </a:solidFill>
          </p:spPr>
          <p:txBody>
            <a:bodyPr wrap="none" lIns="36000" tIns="0" rIns="36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Pensions Processing Platform</a:t>
              </a:r>
            </a:p>
          </p:txBody>
        </p:sp>
      </p:grpSp>
      <p:sp>
        <p:nvSpPr>
          <p:cNvPr id="471" name="Cylinder 470">
            <a:extLst>
              <a:ext uri="{FF2B5EF4-FFF2-40B4-BE49-F238E27FC236}">
                <a16:creationId xmlns:a16="http://schemas.microsoft.com/office/drawing/2014/main" id="{DBE91971-72A1-3BE6-4F86-4B2966D912EF}"/>
              </a:ext>
            </a:extLst>
          </p:cNvPr>
          <p:cNvSpPr/>
          <p:nvPr/>
        </p:nvSpPr>
        <p:spPr>
          <a:xfrm>
            <a:off x="4613955" y="4990161"/>
            <a:ext cx="740909" cy="27093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Cúram Pensions Database</a:t>
            </a:r>
          </a:p>
        </p:txBody>
      </p:sp>
      <p:sp>
        <p:nvSpPr>
          <p:cNvPr id="472" name="Cylinder 471">
            <a:extLst>
              <a:ext uri="{FF2B5EF4-FFF2-40B4-BE49-F238E27FC236}">
                <a16:creationId xmlns:a16="http://schemas.microsoft.com/office/drawing/2014/main" id="{AC203B53-1BCD-DF6D-F1F6-721015751309}"/>
              </a:ext>
            </a:extLst>
          </p:cNvPr>
          <p:cNvSpPr/>
          <p:nvPr/>
        </p:nvSpPr>
        <p:spPr>
          <a:xfrm>
            <a:off x="3565842" y="4991470"/>
            <a:ext cx="687974" cy="27093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ODS</a:t>
            </a:r>
          </a:p>
        </p:txBody>
      </p:sp>
      <p:sp>
        <p:nvSpPr>
          <p:cNvPr id="473" name="Cylinder 472">
            <a:extLst>
              <a:ext uri="{FF2B5EF4-FFF2-40B4-BE49-F238E27FC236}">
                <a16:creationId xmlns:a16="http://schemas.microsoft.com/office/drawing/2014/main" id="{CCA7350A-3412-998B-F1C2-EC3E22CE68B7}"/>
              </a:ext>
            </a:extLst>
          </p:cNvPr>
          <p:cNvSpPr/>
          <p:nvPr/>
        </p:nvSpPr>
        <p:spPr>
          <a:xfrm>
            <a:off x="5379855" y="4980334"/>
            <a:ext cx="657607" cy="27093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ea typeface="+mn-ea"/>
                <a:cs typeface="Arial" panose="020B0604020202020204" pitchFamily="34" charset="0"/>
              </a:rPr>
              <a:t>ODS</a:t>
            </a:r>
          </a:p>
        </p:txBody>
      </p:sp>
      <p:sp>
        <p:nvSpPr>
          <p:cNvPr id="475" name="Rectangle: Rounded Corners 474">
            <a:extLst>
              <a:ext uri="{FF2B5EF4-FFF2-40B4-BE49-F238E27FC236}">
                <a16:creationId xmlns:a16="http://schemas.microsoft.com/office/drawing/2014/main" id="{7017271A-588E-EAA5-A618-05C244604FBB}"/>
              </a:ext>
            </a:extLst>
          </p:cNvPr>
          <p:cNvSpPr/>
          <p:nvPr/>
        </p:nvSpPr>
        <p:spPr>
          <a:xfrm>
            <a:off x="5077522" y="6165630"/>
            <a:ext cx="2991705" cy="324522"/>
          </a:xfrm>
          <a:prstGeom prst="roundRect">
            <a:avLst>
              <a:gd name="adj" fmla="val 18174"/>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476" name="TextBox 17">
            <a:extLst>
              <a:ext uri="{FF2B5EF4-FFF2-40B4-BE49-F238E27FC236}">
                <a16:creationId xmlns:a16="http://schemas.microsoft.com/office/drawing/2014/main" id="{EDBE7735-190F-F382-A3E4-20E6185F5856}"/>
              </a:ext>
            </a:extLst>
          </p:cNvPr>
          <p:cNvSpPr txBox="1"/>
          <p:nvPr/>
        </p:nvSpPr>
        <p:spPr>
          <a:xfrm>
            <a:off x="5168664" y="6076009"/>
            <a:ext cx="2285694" cy="153888"/>
          </a:xfrm>
          <a:prstGeom prst="rect">
            <a:avLst/>
          </a:prstGeom>
          <a:solidFill>
            <a:schemeClr val="bg1"/>
          </a:solidFill>
        </p:spPr>
        <p:txBody>
          <a:bodyPr wrap="square" lIns="36000" tIns="0" rIns="3600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prstClr val="black"/>
                </a:solidFill>
                <a:effectLst/>
                <a:uLnTx/>
                <a:uFillTx/>
                <a:ea typeface="+mn-ea"/>
                <a:cs typeface="+mn-cs"/>
              </a:rPr>
              <a:t>Data Management Platform (Operational)</a:t>
            </a:r>
          </a:p>
        </p:txBody>
      </p:sp>
      <p:sp>
        <p:nvSpPr>
          <p:cNvPr id="477" name="Rectangle 476">
            <a:extLst>
              <a:ext uri="{FF2B5EF4-FFF2-40B4-BE49-F238E27FC236}">
                <a16:creationId xmlns:a16="http://schemas.microsoft.com/office/drawing/2014/main" id="{437E6270-DAAF-25B9-EC02-C603028B0DCE}"/>
              </a:ext>
            </a:extLst>
          </p:cNvPr>
          <p:cNvSpPr/>
          <p:nvPr/>
        </p:nvSpPr>
        <p:spPr>
          <a:xfrm>
            <a:off x="5168666" y="6273629"/>
            <a:ext cx="686770" cy="14081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Data Hub</a:t>
            </a:r>
          </a:p>
        </p:txBody>
      </p:sp>
      <p:sp>
        <p:nvSpPr>
          <p:cNvPr id="478" name="Rectangle 477">
            <a:extLst>
              <a:ext uri="{FF2B5EF4-FFF2-40B4-BE49-F238E27FC236}">
                <a16:creationId xmlns:a16="http://schemas.microsoft.com/office/drawing/2014/main" id="{21653062-3D1C-84CB-4513-658AEDA90104}"/>
              </a:ext>
            </a:extLst>
          </p:cNvPr>
          <p:cNvSpPr/>
          <p:nvPr/>
        </p:nvSpPr>
        <p:spPr>
          <a:xfrm>
            <a:off x="5893299" y="6273629"/>
            <a:ext cx="1326087" cy="131863"/>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Master Data Management</a:t>
            </a:r>
          </a:p>
        </p:txBody>
      </p:sp>
      <p:sp>
        <p:nvSpPr>
          <p:cNvPr id="479" name="Rectangle 478">
            <a:extLst>
              <a:ext uri="{FF2B5EF4-FFF2-40B4-BE49-F238E27FC236}">
                <a16:creationId xmlns:a16="http://schemas.microsoft.com/office/drawing/2014/main" id="{85AC3546-999E-DF7E-D987-546A6E8DD785}"/>
              </a:ext>
            </a:extLst>
          </p:cNvPr>
          <p:cNvSpPr/>
          <p:nvPr/>
        </p:nvSpPr>
        <p:spPr>
          <a:xfrm>
            <a:off x="7255956" y="6267497"/>
            <a:ext cx="686771" cy="140817"/>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Master Data</a:t>
            </a:r>
          </a:p>
        </p:txBody>
      </p:sp>
      <p:cxnSp>
        <p:nvCxnSpPr>
          <p:cNvPr id="480" name="Straight Arrow Connector 479">
            <a:extLst>
              <a:ext uri="{FF2B5EF4-FFF2-40B4-BE49-F238E27FC236}">
                <a16:creationId xmlns:a16="http://schemas.microsoft.com/office/drawing/2014/main" id="{0D242B11-611A-9C70-BDA7-201E1DC4E132}"/>
              </a:ext>
            </a:extLst>
          </p:cNvPr>
          <p:cNvCxnSpPr>
            <a:cxnSpLocks/>
          </p:cNvCxnSpPr>
          <p:nvPr/>
        </p:nvCxnSpPr>
        <p:spPr>
          <a:xfrm>
            <a:off x="7465342" y="5644487"/>
            <a:ext cx="0" cy="542945"/>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81" name="Group 480">
            <a:extLst>
              <a:ext uri="{FF2B5EF4-FFF2-40B4-BE49-F238E27FC236}">
                <a16:creationId xmlns:a16="http://schemas.microsoft.com/office/drawing/2014/main" id="{76A302FB-664E-E505-45EB-CD29E706B482}"/>
              </a:ext>
            </a:extLst>
          </p:cNvPr>
          <p:cNvGrpSpPr/>
          <p:nvPr/>
        </p:nvGrpSpPr>
        <p:grpSpPr>
          <a:xfrm>
            <a:off x="4703269" y="390628"/>
            <a:ext cx="953413" cy="337959"/>
            <a:chOff x="-401432" y="1448224"/>
            <a:chExt cx="953413" cy="337959"/>
          </a:xfrm>
        </p:grpSpPr>
        <p:pic>
          <p:nvPicPr>
            <p:cNvPr id="497" name="Picture 496" descr="Icon&#10;&#10;Description automatically generated">
              <a:extLst>
                <a:ext uri="{FF2B5EF4-FFF2-40B4-BE49-F238E27FC236}">
                  <a16:creationId xmlns:a16="http://schemas.microsoft.com/office/drawing/2014/main" id="{7F61EA2E-8E1B-3399-106E-CFDA9B1446F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31901" y="1448224"/>
              <a:ext cx="320080" cy="313923"/>
            </a:xfrm>
            <a:prstGeom prst="rect">
              <a:avLst/>
            </a:prstGeom>
          </p:spPr>
        </p:pic>
        <p:sp>
          <p:nvSpPr>
            <p:cNvPr id="498" name="TextBox 27">
              <a:extLst>
                <a:ext uri="{FF2B5EF4-FFF2-40B4-BE49-F238E27FC236}">
                  <a16:creationId xmlns:a16="http://schemas.microsoft.com/office/drawing/2014/main" id="{7E45D230-A657-31A3-2750-C989D389E0A8}"/>
                </a:ext>
              </a:extLst>
            </p:cNvPr>
            <p:cNvSpPr txBox="1"/>
            <p:nvPr/>
          </p:nvSpPr>
          <p:spPr>
            <a:xfrm>
              <a:off x="-401432" y="1555351"/>
              <a:ext cx="683670"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Arial" panose="020B0604020202020204" pitchFamily="34" charset="0"/>
                </a:rPr>
                <a:t>Partners</a:t>
              </a:r>
            </a:p>
          </p:txBody>
        </p:sp>
      </p:grpSp>
      <p:cxnSp>
        <p:nvCxnSpPr>
          <p:cNvPr id="482" name="Straight Arrow Connector 481">
            <a:extLst>
              <a:ext uri="{FF2B5EF4-FFF2-40B4-BE49-F238E27FC236}">
                <a16:creationId xmlns:a16="http://schemas.microsoft.com/office/drawing/2014/main" id="{17B47A78-5E82-92B8-4053-65BC7470873E}"/>
              </a:ext>
            </a:extLst>
          </p:cNvPr>
          <p:cNvCxnSpPr>
            <a:cxnSpLocks/>
          </p:cNvCxnSpPr>
          <p:nvPr/>
        </p:nvCxnSpPr>
        <p:spPr>
          <a:xfrm flipH="1" flipV="1">
            <a:off x="5277006" y="708039"/>
            <a:ext cx="6296" cy="167584"/>
          </a:xfrm>
          <a:prstGeom prst="straightConnector1">
            <a:avLst/>
          </a:prstGeom>
          <a:ln w="952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83" name="Cloud 482">
            <a:extLst>
              <a:ext uri="{FF2B5EF4-FFF2-40B4-BE49-F238E27FC236}">
                <a16:creationId xmlns:a16="http://schemas.microsoft.com/office/drawing/2014/main" id="{B9338C09-53BB-666F-590F-F42069B029DD}"/>
              </a:ext>
            </a:extLst>
          </p:cNvPr>
          <p:cNvSpPr/>
          <p:nvPr/>
        </p:nvSpPr>
        <p:spPr>
          <a:xfrm>
            <a:off x="6248947" y="779248"/>
            <a:ext cx="249444" cy="124150"/>
          </a:xfrm>
          <a:prstGeom prst="cloud">
            <a:avLst/>
          </a:prstGeom>
          <a:solidFill>
            <a:srgbClr val="6895BE"/>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srgbClr val="000000"/>
              </a:solidFill>
              <a:effectLst/>
              <a:uLnTx/>
              <a:uFillTx/>
              <a:ea typeface="+mn-ea"/>
              <a:cs typeface="+mn-cs"/>
            </a:endParaRPr>
          </a:p>
        </p:txBody>
      </p:sp>
      <p:sp>
        <p:nvSpPr>
          <p:cNvPr id="484" name="Rectangle 483">
            <a:extLst>
              <a:ext uri="{FF2B5EF4-FFF2-40B4-BE49-F238E27FC236}">
                <a16:creationId xmlns:a16="http://schemas.microsoft.com/office/drawing/2014/main" id="{81E438AD-B1DD-131E-588A-E3B335E303CE}"/>
              </a:ext>
            </a:extLst>
          </p:cNvPr>
          <p:cNvSpPr/>
          <p:nvPr/>
        </p:nvSpPr>
        <p:spPr>
          <a:xfrm>
            <a:off x="7237024" y="1374726"/>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Identity Validation</a:t>
            </a:r>
          </a:p>
        </p:txBody>
      </p:sp>
      <p:sp>
        <p:nvSpPr>
          <p:cNvPr id="485" name="Rectangle 484">
            <a:extLst>
              <a:ext uri="{FF2B5EF4-FFF2-40B4-BE49-F238E27FC236}">
                <a16:creationId xmlns:a16="http://schemas.microsoft.com/office/drawing/2014/main" id="{3AE77FB8-F0CC-3FFC-30DE-263BC470DAB9}"/>
              </a:ext>
            </a:extLst>
          </p:cNvPr>
          <p:cNvSpPr/>
          <p:nvPr/>
        </p:nvSpPr>
        <p:spPr>
          <a:xfrm>
            <a:off x="7226974" y="1546775"/>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Identity Resolution</a:t>
            </a:r>
          </a:p>
        </p:txBody>
      </p:sp>
      <p:sp>
        <p:nvSpPr>
          <p:cNvPr id="486" name="Rectangle: Rounded Corners 485">
            <a:extLst>
              <a:ext uri="{FF2B5EF4-FFF2-40B4-BE49-F238E27FC236}">
                <a16:creationId xmlns:a16="http://schemas.microsoft.com/office/drawing/2014/main" id="{A29044CF-E439-702E-D86F-DDF5DC470F3A}"/>
              </a:ext>
            </a:extLst>
          </p:cNvPr>
          <p:cNvSpPr/>
          <p:nvPr/>
        </p:nvSpPr>
        <p:spPr>
          <a:xfrm>
            <a:off x="7199095" y="826011"/>
            <a:ext cx="1045855" cy="1238234"/>
          </a:xfrm>
          <a:prstGeom prst="roundRect">
            <a:avLst>
              <a:gd name="adj" fmla="val 5481"/>
            </a:avLst>
          </a:prstGeom>
          <a:no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ea typeface="+mn-ea"/>
              <a:cs typeface="+mn-cs"/>
            </a:endParaRPr>
          </a:p>
        </p:txBody>
      </p:sp>
      <p:sp>
        <p:nvSpPr>
          <p:cNvPr id="487" name="Cylinder 486">
            <a:extLst>
              <a:ext uri="{FF2B5EF4-FFF2-40B4-BE49-F238E27FC236}">
                <a16:creationId xmlns:a16="http://schemas.microsoft.com/office/drawing/2014/main" id="{EFBFA7E5-59DF-FB1B-5984-5D19A1CE0A83}"/>
              </a:ext>
            </a:extLst>
          </p:cNvPr>
          <p:cNvSpPr/>
          <p:nvPr/>
        </p:nvSpPr>
        <p:spPr>
          <a:xfrm>
            <a:off x="7346240" y="1896268"/>
            <a:ext cx="635148" cy="119830"/>
          </a:xfrm>
          <a:prstGeom prst="can">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err="1">
                <a:ln>
                  <a:noFill/>
                </a:ln>
                <a:solidFill>
                  <a:prstClr val="black"/>
                </a:solidFill>
                <a:effectLst/>
                <a:uLnTx/>
                <a:uFillTx/>
                <a:ea typeface="+mn-ea"/>
                <a:cs typeface="Arial" panose="020B0604020202020204" pitchFamily="34" charset="0"/>
              </a:rPr>
              <a:t>iSAMS</a:t>
            </a:r>
            <a:endParaRPr kumimoji="0" lang="en-CA" sz="8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488" name="Rectangle 487">
            <a:extLst>
              <a:ext uri="{FF2B5EF4-FFF2-40B4-BE49-F238E27FC236}">
                <a16:creationId xmlns:a16="http://schemas.microsoft.com/office/drawing/2014/main" id="{AFDE049E-04A0-1AFA-6475-522DDE44E0AA}"/>
              </a:ext>
            </a:extLst>
          </p:cNvPr>
          <p:cNvSpPr>
            <a:spLocks noChangeArrowheads="1"/>
          </p:cNvSpPr>
          <p:nvPr/>
        </p:nvSpPr>
        <p:spPr bwMode="auto">
          <a:xfrm>
            <a:off x="7226636" y="782976"/>
            <a:ext cx="421919" cy="1074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1" i="0" u="none" strike="noStrike" kern="1200" cap="none" spc="0" normalizeH="0" baseline="0" noProof="0" err="1">
                <a:ln>
                  <a:noFill/>
                </a:ln>
                <a:solidFill>
                  <a:srgbClr val="0C0C0C"/>
                </a:solidFill>
                <a:effectLst/>
                <a:uLnTx/>
                <a:uFillTx/>
                <a:ea typeface="+mn-ea"/>
                <a:cs typeface="Arial" panose="020B0604020202020204" pitchFamily="34" charset="0"/>
              </a:rPr>
              <a:t>iSAMS</a:t>
            </a:r>
            <a:endParaRPr kumimoji="0" lang="en-US" altLang="en-US" sz="800" b="1"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489" name="Rectangle 488">
            <a:extLst>
              <a:ext uri="{FF2B5EF4-FFF2-40B4-BE49-F238E27FC236}">
                <a16:creationId xmlns:a16="http://schemas.microsoft.com/office/drawing/2014/main" id="{B8603DCF-B420-9C7B-2E80-0313D6AECAED}"/>
              </a:ext>
            </a:extLst>
          </p:cNvPr>
          <p:cNvSpPr/>
          <p:nvPr/>
        </p:nvSpPr>
        <p:spPr>
          <a:xfrm>
            <a:off x="7226975" y="1728098"/>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Authentication</a:t>
            </a:r>
          </a:p>
        </p:txBody>
      </p:sp>
      <p:sp>
        <p:nvSpPr>
          <p:cNvPr id="490" name="Rectangle 489">
            <a:extLst>
              <a:ext uri="{FF2B5EF4-FFF2-40B4-BE49-F238E27FC236}">
                <a16:creationId xmlns:a16="http://schemas.microsoft.com/office/drawing/2014/main" id="{0F7A6B83-1F5C-1634-DB58-10D54DA1B31D}"/>
              </a:ext>
            </a:extLst>
          </p:cNvPr>
          <p:cNvSpPr/>
          <p:nvPr/>
        </p:nvSpPr>
        <p:spPr>
          <a:xfrm>
            <a:off x="7226974" y="1208813"/>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Client Identity Profile</a:t>
            </a:r>
          </a:p>
        </p:txBody>
      </p:sp>
      <p:sp>
        <p:nvSpPr>
          <p:cNvPr id="491" name="Rectangle 490">
            <a:extLst>
              <a:ext uri="{FF2B5EF4-FFF2-40B4-BE49-F238E27FC236}">
                <a16:creationId xmlns:a16="http://schemas.microsoft.com/office/drawing/2014/main" id="{6B36F27B-05AA-BEA0-F49C-AFA7AE9B7151}"/>
              </a:ext>
            </a:extLst>
          </p:cNvPr>
          <p:cNvSpPr/>
          <p:nvPr/>
        </p:nvSpPr>
        <p:spPr>
          <a:xfrm>
            <a:off x="7226636" y="1035939"/>
            <a:ext cx="972000" cy="1440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ea typeface="+mn-ea"/>
                <a:cs typeface="Arial" panose="020B0604020202020204" pitchFamily="34" charset="0"/>
              </a:rPr>
              <a:t>Access Management</a:t>
            </a:r>
          </a:p>
        </p:txBody>
      </p:sp>
      <p:cxnSp>
        <p:nvCxnSpPr>
          <p:cNvPr id="492" name="Straight Arrow Connector 491">
            <a:extLst>
              <a:ext uri="{FF2B5EF4-FFF2-40B4-BE49-F238E27FC236}">
                <a16:creationId xmlns:a16="http://schemas.microsoft.com/office/drawing/2014/main" id="{B480B4E9-CD1D-CB4E-3E13-74B4F587AD0E}"/>
              </a:ext>
            </a:extLst>
          </p:cNvPr>
          <p:cNvCxnSpPr>
            <a:cxnSpLocks/>
          </p:cNvCxnSpPr>
          <p:nvPr/>
        </p:nvCxnSpPr>
        <p:spPr>
          <a:xfrm flipH="1">
            <a:off x="8255469" y="979373"/>
            <a:ext cx="246086"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3" name="Straight Arrow Connector 492">
            <a:extLst>
              <a:ext uri="{FF2B5EF4-FFF2-40B4-BE49-F238E27FC236}">
                <a16:creationId xmlns:a16="http://schemas.microsoft.com/office/drawing/2014/main" id="{BB6B4771-2D95-C83D-0834-93E37A1CEEAC}"/>
              </a:ext>
            </a:extLst>
          </p:cNvPr>
          <p:cNvCxnSpPr>
            <a:cxnSpLocks/>
          </p:cNvCxnSpPr>
          <p:nvPr/>
        </p:nvCxnSpPr>
        <p:spPr>
          <a:xfrm flipH="1">
            <a:off x="6945580" y="1122229"/>
            <a:ext cx="302435"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4" name="Straight Arrow Connector 493">
            <a:extLst>
              <a:ext uri="{FF2B5EF4-FFF2-40B4-BE49-F238E27FC236}">
                <a16:creationId xmlns:a16="http://schemas.microsoft.com/office/drawing/2014/main" id="{585FFABC-FB81-C088-4A47-35B68A004375}"/>
              </a:ext>
            </a:extLst>
          </p:cNvPr>
          <p:cNvCxnSpPr>
            <a:cxnSpLocks/>
          </p:cNvCxnSpPr>
          <p:nvPr/>
        </p:nvCxnSpPr>
        <p:spPr>
          <a:xfrm>
            <a:off x="7322178" y="2068581"/>
            <a:ext cx="0" cy="25200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5" name="Cloud 494">
            <a:extLst>
              <a:ext uri="{FF2B5EF4-FFF2-40B4-BE49-F238E27FC236}">
                <a16:creationId xmlns:a16="http://schemas.microsoft.com/office/drawing/2014/main" id="{4087B94E-C52B-A8AA-E1E1-2A0BEBF97F46}"/>
              </a:ext>
            </a:extLst>
          </p:cNvPr>
          <p:cNvSpPr/>
          <p:nvPr/>
        </p:nvSpPr>
        <p:spPr>
          <a:xfrm>
            <a:off x="7772115" y="737754"/>
            <a:ext cx="249444" cy="124150"/>
          </a:xfrm>
          <a:prstGeom prst="cloud">
            <a:avLst/>
          </a:prstGeom>
          <a:solidFill>
            <a:srgbClr val="A6A6A6"/>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srgbClr val="000000"/>
              </a:solidFill>
              <a:effectLst/>
              <a:uLnTx/>
              <a:uFillTx/>
              <a:ea typeface="+mn-ea"/>
              <a:cs typeface="+mn-cs"/>
            </a:endParaRPr>
          </a:p>
        </p:txBody>
      </p:sp>
      <p:sp>
        <p:nvSpPr>
          <p:cNvPr id="496" name="Cloud 495">
            <a:extLst>
              <a:ext uri="{FF2B5EF4-FFF2-40B4-BE49-F238E27FC236}">
                <a16:creationId xmlns:a16="http://schemas.microsoft.com/office/drawing/2014/main" id="{DC4B2929-A9EB-8C69-234D-5F6CEBCCA284}"/>
              </a:ext>
            </a:extLst>
          </p:cNvPr>
          <p:cNvSpPr/>
          <p:nvPr/>
        </p:nvSpPr>
        <p:spPr>
          <a:xfrm>
            <a:off x="10108019" y="720422"/>
            <a:ext cx="163758" cy="106422"/>
          </a:xfrm>
          <a:prstGeom prst="cloud">
            <a:avLst/>
          </a:prstGeom>
          <a:solidFill>
            <a:srgbClr val="A6A6A6"/>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srgbClr val="000000"/>
              </a:solidFill>
              <a:effectLst/>
              <a:uLnTx/>
              <a:uFillTx/>
              <a:ea typeface="+mn-ea"/>
              <a:cs typeface="+mn-cs"/>
            </a:endParaRPr>
          </a:p>
        </p:txBody>
      </p:sp>
      <p:sp>
        <p:nvSpPr>
          <p:cNvPr id="828" name="TextBox 827">
            <a:extLst>
              <a:ext uri="{FF2B5EF4-FFF2-40B4-BE49-F238E27FC236}">
                <a16:creationId xmlns:a16="http://schemas.microsoft.com/office/drawing/2014/main" id="{05CE1D0D-EDD6-5950-55A5-749ABE25EDC9}"/>
              </a:ext>
            </a:extLst>
          </p:cNvPr>
          <p:cNvSpPr txBox="1"/>
          <p:nvPr/>
        </p:nvSpPr>
        <p:spPr>
          <a:xfrm>
            <a:off x="151136" y="1342424"/>
            <a:ext cx="738664" cy="4260320"/>
          </a:xfrm>
          <a:prstGeom prst="rect">
            <a:avLst/>
          </a:prstGeom>
          <a:noFill/>
        </p:spPr>
        <p:txBody>
          <a:bodyPr vert="vert270" wrap="square" rtlCol="0">
            <a:spAutoFit/>
          </a:bodyPr>
          <a:lstStyle/>
          <a:p>
            <a:r>
              <a:rPr lang="en-CA"/>
              <a:t>The tool is leveraging SPO, all connectivity pattern will be identical as SPO currently is.</a:t>
            </a:r>
          </a:p>
        </p:txBody>
      </p:sp>
      <p:sp>
        <p:nvSpPr>
          <p:cNvPr id="474" name="Slide Number Placeholder 3">
            <a:extLst>
              <a:ext uri="{FF2B5EF4-FFF2-40B4-BE49-F238E27FC236}">
                <a16:creationId xmlns:a16="http://schemas.microsoft.com/office/drawing/2014/main" id="{BAAB92C6-B94B-112D-B3F3-75C7594C3F26}"/>
              </a:ext>
            </a:extLst>
          </p:cNvPr>
          <p:cNvSpPr txBox="1">
            <a:spLocks/>
          </p:cNvSpPr>
          <p:nvPr/>
        </p:nvSpPr>
        <p:spPr>
          <a:xfrm>
            <a:off x="11580604" y="6394476"/>
            <a:ext cx="287418" cy="385803"/>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BCE2B6B-7FFE-FA46-BED3-31567387080B}" type="slidenum">
              <a:rPr lang="en-US" sz="800" smtClean="0"/>
              <a:pPr/>
              <a:t>9</a:t>
            </a:fld>
            <a:endParaRPr lang="en-US" sz="800"/>
          </a:p>
        </p:txBody>
      </p:sp>
    </p:spTree>
    <p:extLst>
      <p:ext uri="{BB962C8B-B14F-4D97-AF65-F5344CB8AC3E}">
        <p14:creationId xmlns:p14="http://schemas.microsoft.com/office/powerpoint/2010/main" val="1289012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C56E3CB-E3CA-156E-F586-F9D75E16E785}"/>
              </a:ext>
            </a:extLst>
          </p:cNvPr>
          <p:cNvGrpSpPr/>
          <p:nvPr/>
        </p:nvGrpSpPr>
        <p:grpSpPr>
          <a:xfrm>
            <a:off x="11016000" y="36000"/>
            <a:ext cx="1114416" cy="678730"/>
            <a:chOff x="4752000" y="795531"/>
            <a:chExt cx="1114416" cy="678730"/>
          </a:xfrm>
        </p:grpSpPr>
        <p:grpSp>
          <p:nvGrpSpPr>
            <p:cNvPr id="6" name="Group 5">
              <a:extLst>
                <a:ext uri="{FF2B5EF4-FFF2-40B4-BE49-F238E27FC236}">
                  <a16:creationId xmlns:a16="http://schemas.microsoft.com/office/drawing/2014/main" id="{EF89EFFD-3669-4065-1C87-373B03D0A7B0}"/>
                </a:ext>
              </a:extLst>
            </p:cNvPr>
            <p:cNvGrpSpPr/>
            <p:nvPr/>
          </p:nvGrpSpPr>
          <p:grpSpPr>
            <a:xfrm>
              <a:off x="4752000" y="795531"/>
              <a:ext cx="886789" cy="123111"/>
              <a:chOff x="4752000" y="795531"/>
              <a:chExt cx="886789" cy="123111"/>
            </a:xfrm>
          </p:grpSpPr>
          <p:sp>
            <p:nvSpPr>
              <p:cNvPr id="19" name="Rectangle 18">
                <a:extLst>
                  <a:ext uri="{FF2B5EF4-FFF2-40B4-BE49-F238E27FC236}">
                    <a16:creationId xmlns:a16="http://schemas.microsoft.com/office/drawing/2014/main" id="{2F58B577-873A-8A21-F8C7-FEB8898C2DD6}"/>
                  </a:ext>
                </a:extLst>
              </p:cNvPr>
              <p:cNvSpPr>
                <a:spLocks noChangeArrowheads="1"/>
              </p:cNvSpPr>
              <p:nvPr/>
            </p:nvSpPr>
            <p:spPr bwMode="auto">
              <a:xfrm>
                <a:off x="5004000" y="795531"/>
                <a:ext cx="634789"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GC Component</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Rectangle 19">
                <a:extLst>
                  <a:ext uri="{FF2B5EF4-FFF2-40B4-BE49-F238E27FC236}">
                    <a16:creationId xmlns:a16="http://schemas.microsoft.com/office/drawing/2014/main" id="{C9F967FE-11CB-1D4F-7AF9-78E6F9287CD6}"/>
                  </a:ext>
                </a:extLst>
              </p:cNvPr>
              <p:cNvSpPr/>
              <p:nvPr/>
            </p:nvSpPr>
            <p:spPr>
              <a:xfrm>
                <a:off x="4752000" y="803086"/>
                <a:ext cx="216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D0B9774D-7D07-C0AE-4C88-4C8A13C8C299}"/>
                </a:ext>
              </a:extLst>
            </p:cNvPr>
            <p:cNvGrpSpPr/>
            <p:nvPr/>
          </p:nvGrpSpPr>
          <p:grpSpPr>
            <a:xfrm>
              <a:off x="4752000" y="934436"/>
              <a:ext cx="917247" cy="123111"/>
              <a:chOff x="4752000" y="937773"/>
              <a:chExt cx="917247" cy="123111"/>
            </a:xfrm>
          </p:grpSpPr>
          <p:sp>
            <p:nvSpPr>
              <p:cNvPr id="17" name="Rectangle 16">
                <a:extLst>
                  <a:ext uri="{FF2B5EF4-FFF2-40B4-BE49-F238E27FC236}">
                    <a16:creationId xmlns:a16="http://schemas.microsoft.com/office/drawing/2014/main" id="{4C0FD801-1F49-8C9E-268F-F96E878D4FB7}"/>
                  </a:ext>
                </a:extLst>
              </p:cNvPr>
              <p:cNvSpPr>
                <a:spLocks noChangeArrowheads="1"/>
              </p:cNvSpPr>
              <p:nvPr/>
            </p:nvSpPr>
            <p:spPr bwMode="auto">
              <a:xfrm>
                <a:off x="5004000" y="937773"/>
                <a:ext cx="66524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External System</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Rectangle 17">
                <a:extLst>
                  <a:ext uri="{FF2B5EF4-FFF2-40B4-BE49-F238E27FC236}">
                    <a16:creationId xmlns:a16="http://schemas.microsoft.com/office/drawing/2014/main" id="{682356EB-F811-75F3-0BBA-87896727F7AE}"/>
                  </a:ext>
                </a:extLst>
              </p:cNvPr>
              <p:cNvSpPr/>
              <p:nvPr/>
            </p:nvSpPr>
            <p:spPr>
              <a:xfrm>
                <a:off x="4752000" y="945328"/>
                <a:ext cx="216000" cy="108000"/>
              </a:xfrm>
              <a:prstGeom prst="rect">
                <a:avLst/>
              </a:prstGeom>
              <a:solidFill>
                <a:srgbClr val="BF9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20C82CA3-A171-8350-4A33-61FA76F89CCB}"/>
                </a:ext>
              </a:extLst>
            </p:cNvPr>
            <p:cNvGrpSpPr/>
            <p:nvPr/>
          </p:nvGrpSpPr>
          <p:grpSpPr>
            <a:xfrm>
              <a:off x="4752000" y="1073341"/>
              <a:ext cx="816257" cy="123111"/>
              <a:chOff x="4752000" y="1073541"/>
              <a:chExt cx="816257" cy="123111"/>
            </a:xfrm>
          </p:grpSpPr>
          <p:sp>
            <p:nvSpPr>
              <p:cNvPr id="15" name="Rectangle 14">
                <a:extLst>
                  <a:ext uri="{FF2B5EF4-FFF2-40B4-BE49-F238E27FC236}">
                    <a16:creationId xmlns:a16="http://schemas.microsoft.com/office/drawing/2014/main" id="{FB59F306-84D8-DA8C-AF5A-6050F2EB6CDB}"/>
                  </a:ext>
                </a:extLst>
              </p:cNvPr>
              <p:cNvSpPr>
                <a:spLocks noChangeArrowheads="1"/>
              </p:cNvSpPr>
              <p:nvPr/>
            </p:nvSpPr>
            <p:spPr bwMode="auto">
              <a:xfrm>
                <a:off x="5004000" y="1073541"/>
                <a:ext cx="56425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Solution Data</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97A4CFF8-FDDF-AB0F-E433-90E8ECE9DBF6}"/>
                  </a:ext>
                </a:extLst>
              </p:cNvPr>
              <p:cNvSpPr/>
              <p:nvPr/>
            </p:nvSpPr>
            <p:spPr>
              <a:xfrm>
                <a:off x="4752000" y="1081096"/>
                <a:ext cx="216000" cy="108000"/>
              </a:xfrm>
              <a:prstGeom prst="rect">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68496358-D259-72B7-6596-81EC2421911C}"/>
                </a:ext>
              </a:extLst>
            </p:cNvPr>
            <p:cNvGrpSpPr/>
            <p:nvPr/>
          </p:nvGrpSpPr>
          <p:grpSpPr>
            <a:xfrm>
              <a:off x="4752000" y="1212246"/>
              <a:ext cx="1114416" cy="123111"/>
              <a:chOff x="4752000" y="1234967"/>
              <a:chExt cx="1114416" cy="123111"/>
            </a:xfrm>
          </p:grpSpPr>
          <p:sp>
            <p:nvSpPr>
              <p:cNvPr id="13" name="Rectangle 12">
                <a:extLst>
                  <a:ext uri="{FF2B5EF4-FFF2-40B4-BE49-F238E27FC236}">
                    <a16:creationId xmlns:a16="http://schemas.microsoft.com/office/drawing/2014/main" id="{F2E52C82-905A-1D73-9631-A775E2769FF4}"/>
                  </a:ext>
                </a:extLst>
              </p:cNvPr>
              <p:cNvSpPr>
                <a:spLocks noChangeArrowheads="1"/>
              </p:cNvSpPr>
              <p:nvPr/>
            </p:nvSpPr>
            <p:spPr bwMode="auto">
              <a:xfrm>
                <a:off x="5004000" y="1234967"/>
                <a:ext cx="862416"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Solution Component</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Rectangle 13">
                <a:extLst>
                  <a:ext uri="{FF2B5EF4-FFF2-40B4-BE49-F238E27FC236}">
                    <a16:creationId xmlns:a16="http://schemas.microsoft.com/office/drawing/2014/main" id="{7090E516-AB95-DA25-5AB0-42A403EA298D}"/>
                  </a:ext>
                </a:extLst>
              </p:cNvPr>
              <p:cNvSpPr/>
              <p:nvPr/>
            </p:nvSpPr>
            <p:spPr>
              <a:xfrm>
                <a:off x="4752000" y="1242522"/>
                <a:ext cx="216000" cy="108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FDB48012-9FB7-E58C-0FEF-80820C5A5C39}"/>
                </a:ext>
              </a:extLst>
            </p:cNvPr>
            <p:cNvGrpSpPr/>
            <p:nvPr/>
          </p:nvGrpSpPr>
          <p:grpSpPr>
            <a:xfrm>
              <a:off x="4752000" y="1351150"/>
              <a:ext cx="801831" cy="123111"/>
              <a:chOff x="4752000" y="1351150"/>
              <a:chExt cx="801831" cy="123111"/>
            </a:xfrm>
          </p:grpSpPr>
          <p:sp>
            <p:nvSpPr>
              <p:cNvPr id="11" name="Rectangle 10">
                <a:extLst>
                  <a:ext uri="{FF2B5EF4-FFF2-40B4-BE49-F238E27FC236}">
                    <a16:creationId xmlns:a16="http://schemas.microsoft.com/office/drawing/2014/main" id="{468150FB-9D30-CAE5-1C8B-CFA23DAB10AF}"/>
                  </a:ext>
                </a:extLst>
              </p:cNvPr>
              <p:cNvSpPr>
                <a:spLocks noChangeArrowheads="1"/>
              </p:cNvSpPr>
              <p:nvPr/>
            </p:nvSpPr>
            <p:spPr bwMode="auto">
              <a:xfrm>
                <a:off x="5004000" y="1351150"/>
                <a:ext cx="549831"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Out-of-scope</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 name="Rectangle 11">
                <a:extLst>
                  <a:ext uri="{FF2B5EF4-FFF2-40B4-BE49-F238E27FC236}">
                    <a16:creationId xmlns:a16="http://schemas.microsoft.com/office/drawing/2014/main" id="{10860F31-F774-E316-1CC7-692D8F04EB24}"/>
                  </a:ext>
                </a:extLst>
              </p:cNvPr>
              <p:cNvSpPr/>
              <p:nvPr/>
            </p:nvSpPr>
            <p:spPr>
              <a:xfrm>
                <a:off x="4752000" y="1358705"/>
                <a:ext cx="216000" cy="108000"/>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1" name="TextBox 20">
            <a:extLst>
              <a:ext uri="{FF2B5EF4-FFF2-40B4-BE49-F238E27FC236}">
                <a16:creationId xmlns:a16="http://schemas.microsoft.com/office/drawing/2014/main" id="{8264C30D-C4B8-3543-90A6-92A012FB03D0}"/>
              </a:ext>
            </a:extLst>
          </p:cNvPr>
          <p:cNvSpPr txBox="1"/>
          <p:nvPr/>
        </p:nvSpPr>
        <p:spPr>
          <a:xfrm>
            <a:off x="0" y="0"/>
            <a:ext cx="6374610" cy="553998"/>
          </a:xfrm>
          <a:prstGeom prst="rect">
            <a:avLst/>
          </a:prstGeom>
          <a:solidFill>
            <a:schemeClr val="accent6">
              <a:lumMod val="20000"/>
              <a:lumOff val="80000"/>
            </a:schemeClr>
          </a:solidFill>
        </p:spPr>
        <p:txBody>
          <a:bodyPr wrap="square" lIns="91440" tIns="0" rIns="9144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Arial"/>
              </a:rPr>
              <a:t>BDM Knowledge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a:latin typeface="Arial"/>
                <a:ea typeface="Verdana"/>
                <a:cs typeface="Arial"/>
              </a:rPr>
              <a:t>Architecture State: Detailed Interim Solution Capabilities – Knowledge Management</a:t>
            </a:r>
            <a:endParaRPr kumimoji="0" lang="en-CA" sz="1200" b="0" i="0" u="none" strike="noStrike" kern="1200" cap="none" spc="0" normalizeH="0" baseline="0" noProof="0">
              <a:ln>
                <a:noFill/>
              </a:ln>
              <a:solidFill>
                <a:prstClr val="black"/>
              </a:solidFill>
              <a:effectLst/>
              <a:uLnTx/>
              <a:uFillTx/>
              <a:latin typeface="Arial"/>
              <a:ea typeface="Verdana"/>
              <a:cs typeface="Arial"/>
            </a:endParaRPr>
          </a:p>
        </p:txBody>
      </p:sp>
      <p:sp>
        <p:nvSpPr>
          <p:cNvPr id="49" name="Rectangle: Rounded Corners 48">
            <a:extLst>
              <a:ext uri="{FF2B5EF4-FFF2-40B4-BE49-F238E27FC236}">
                <a16:creationId xmlns:a16="http://schemas.microsoft.com/office/drawing/2014/main" id="{15EE1C60-9B90-15F7-4404-97002925D915}"/>
              </a:ext>
            </a:extLst>
          </p:cNvPr>
          <p:cNvSpPr/>
          <p:nvPr/>
        </p:nvSpPr>
        <p:spPr>
          <a:xfrm>
            <a:off x="11016000" y="750446"/>
            <a:ext cx="216000" cy="108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12D1C70B-2F22-706B-24D2-300A111B8DB1}"/>
              </a:ext>
            </a:extLst>
          </p:cNvPr>
          <p:cNvSpPr>
            <a:spLocks noChangeArrowheads="1"/>
          </p:cNvSpPr>
          <p:nvPr/>
        </p:nvSpPr>
        <p:spPr bwMode="auto">
          <a:xfrm>
            <a:off x="11274156" y="729741"/>
            <a:ext cx="450444"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AI Assisted</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8" name="Rectangle 87">
            <a:extLst>
              <a:ext uri="{FF2B5EF4-FFF2-40B4-BE49-F238E27FC236}">
                <a16:creationId xmlns:a16="http://schemas.microsoft.com/office/drawing/2014/main" id="{8F9CD394-E212-35D5-EE6C-5FBEEED7ACC0}"/>
              </a:ext>
            </a:extLst>
          </p:cNvPr>
          <p:cNvSpPr/>
          <p:nvPr/>
        </p:nvSpPr>
        <p:spPr>
          <a:xfrm>
            <a:off x="0" y="6516000"/>
            <a:ext cx="1354412" cy="33891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black"/>
                </a:solidFill>
                <a:effectLst/>
                <a:uLnTx/>
                <a:uFillTx/>
                <a:latin typeface="Calibri" panose="020F0502020204030204"/>
                <a:ea typeface="+mn-ea"/>
                <a:cs typeface="+mn-cs"/>
              </a:rPr>
              <a:t>Draft v0.09</a:t>
            </a:r>
          </a:p>
        </p:txBody>
      </p:sp>
      <p:grpSp>
        <p:nvGrpSpPr>
          <p:cNvPr id="78" name="Group 77">
            <a:extLst>
              <a:ext uri="{FF2B5EF4-FFF2-40B4-BE49-F238E27FC236}">
                <a16:creationId xmlns:a16="http://schemas.microsoft.com/office/drawing/2014/main" id="{E561F6C3-D933-2DFF-45E3-4439A9373BC2}"/>
              </a:ext>
            </a:extLst>
          </p:cNvPr>
          <p:cNvGrpSpPr/>
          <p:nvPr/>
        </p:nvGrpSpPr>
        <p:grpSpPr>
          <a:xfrm>
            <a:off x="9273765" y="218832"/>
            <a:ext cx="521340" cy="519474"/>
            <a:chOff x="3725068" y="3536977"/>
            <a:chExt cx="600446" cy="611347"/>
          </a:xfrm>
        </p:grpSpPr>
        <p:sp>
          <p:nvSpPr>
            <p:cNvPr id="79" name="TextBox 3">
              <a:extLst>
                <a:ext uri="{FF2B5EF4-FFF2-40B4-BE49-F238E27FC236}">
                  <a16:creationId xmlns:a16="http://schemas.microsoft.com/office/drawing/2014/main" id="{0779201A-9894-206A-B421-1D4929F3BDB5}"/>
                </a:ext>
              </a:extLst>
            </p:cNvPr>
            <p:cNvSpPr txBox="1"/>
            <p:nvPr/>
          </p:nvSpPr>
          <p:spPr>
            <a:xfrm>
              <a:off x="3725068" y="3981249"/>
              <a:ext cx="600446" cy="167075"/>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Calibri" panose="020F0502020204030204"/>
                  <a:ea typeface="+mn-ea"/>
                  <a:cs typeface="Arial" panose="020B0604020202020204" pitchFamily="34" charset="0"/>
                </a:rPr>
                <a:t>Client</a:t>
              </a:r>
            </a:p>
          </p:txBody>
        </p:sp>
        <p:pic>
          <p:nvPicPr>
            <p:cNvPr id="80" name="Picture 79">
              <a:extLst>
                <a:ext uri="{FF2B5EF4-FFF2-40B4-BE49-F238E27FC236}">
                  <a16:creationId xmlns:a16="http://schemas.microsoft.com/office/drawing/2014/main" id="{6B5FE449-5CAD-287D-86E8-4CA7EE8CDA49}"/>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81246" y="3536977"/>
              <a:ext cx="488083" cy="5507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oup 80">
            <a:extLst>
              <a:ext uri="{FF2B5EF4-FFF2-40B4-BE49-F238E27FC236}">
                <a16:creationId xmlns:a16="http://schemas.microsoft.com/office/drawing/2014/main" id="{BD2E292B-AA98-53A9-B5D0-B7C1E232C968}"/>
              </a:ext>
            </a:extLst>
          </p:cNvPr>
          <p:cNvGrpSpPr/>
          <p:nvPr/>
        </p:nvGrpSpPr>
        <p:grpSpPr>
          <a:xfrm>
            <a:off x="6384957" y="218832"/>
            <a:ext cx="521340" cy="519473"/>
            <a:chOff x="3725068" y="3536978"/>
            <a:chExt cx="600446" cy="611346"/>
          </a:xfrm>
        </p:grpSpPr>
        <p:sp>
          <p:nvSpPr>
            <p:cNvPr id="82" name="TextBox 3">
              <a:extLst>
                <a:ext uri="{FF2B5EF4-FFF2-40B4-BE49-F238E27FC236}">
                  <a16:creationId xmlns:a16="http://schemas.microsoft.com/office/drawing/2014/main" id="{6704ECC4-E1DE-5E1E-7B15-AAD1760A8175}"/>
                </a:ext>
              </a:extLst>
            </p:cNvPr>
            <p:cNvSpPr txBox="1"/>
            <p:nvPr/>
          </p:nvSpPr>
          <p:spPr>
            <a:xfrm>
              <a:off x="3725068" y="3981249"/>
              <a:ext cx="600446" cy="167075"/>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User</a:t>
              </a:r>
            </a:p>
          </p:txBody>
        </p:sp>
        <p:pic>
          <p:nvPicPr>
            <p:cNvPr id="83" name="Picture 82">
              <a:extLst>
                <a:ext uri="{FF2B5EF4-FFF2-40B4-BE49-F238E27FC236}">
                  <a16:creationId xmlns:a16="http://schemas.microsoft.com/office/drawing/2014/main" id="{A7E8939D-AFB8-DE2E-8D08-2F3A8C7EA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246" y="3536977"/>
              <a:ext cx="488083" cy="55077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6" name="Connector: Elbow 85">
            <a:extLst>
              <a:ext uri="{FF2B5EF4-FFF2-40B4-BE49-F238E27FC236}">
                <a16:creationId xmlns:a16="http://schemas.microsoft.com/office/drawing/2014/main" id="{5DE03388-68F7-5561-DAB9-1BEBE0B941A7}"/>
              </a:ext>
            </a:extLst>
          </p:cNvPr>
          <p:cNvCxnSpPr>
            <a:cxnSpLocks/>
            <a:stCxn id="79" idx="2"/>
            <a:endCxn id="152" idx="0"/>
          </p:cNvCxnSpPr>
          <p:nvPr/>
        </p:nvCxnSpPr>
        <p:spPr>
          <a:xfrm rot="16200000" flipH="1">
            <a:off x="9371993" y="900748"/>
            <a:ext cx="818853" cy="493968"/>
          </a:xfrm>
          <a:prstGeom prst="bentConnector3">
            <a:avLst>
              <a:gd name="adj1" fmla="val 50000"/>
            </a:avLst>
          </a:prstGeom>
          <a:ln w="12700">
            <a:solidFill>
              <a:srgbClr val="7F7F7F"/>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6F6A2F75-2C67-A644-B8DE-60B3A38E1641}"/>
              </a:ext>
            </a:extLst>
          </p:cNvPr>
          <p:cNvGrpSpPr/>
          <p:nvPr/>
        </p:nvGrpSpPr>
        <p:grpSpPr>
          <a:xfrm>
            <a:off x="7695325" y="218832"/>
            <a:ext cx="523135" cy="701273"/>
            <a:chOff x="6683945" y="60256"/>
            <a:chExt cx="521340" cy="701273"/>
          </a:xfrm>
        </p:grpSpPr>
        <p:sp>
          <p:nvSpPr>
            <p:cNvPr id="159" name="TextBox 3">
              <a:extLst>
                <a:ext uri="{FF2B5EF4-FFF2-40B4-BE49-F238E27FC236}">
                  <a16:creationId xmlns:a16="http://schemas.microsoft.com/office/drawing/2014/main" id="{964567A7-488A-C760-E0FA-7078FBFD3949}"/>
                </a:ext>
              </a:extLst>
            </p:cNvPr>
            <p:cNvSpPr txBox="1"/>
            <p:nvPr/>
          </p:nvSpPr>
          <p:spPr>
            <a:xfrm>
              <a:off x="6683945" y="437763"/>
              <a:ext cx="521340" cy="323766"/>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Business </a:t>
              </a:r>
            </a:p>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Expert</a:t>
              </a:r>
            </a:p>
          </p:txBody>
        </p:sp>
        <p:pic>
          <p:nvPicPr>
            <p:cNvPr id="160" name="Picture 159">
              <a:extLst>
                <a:ext uri="{FF2B5EF4-FFF2-40B4-BE49-F238E27FC236}">
                  <a16:creationId xmlns:a16="http://schemas.microsoft.com/office/drawing/2014/main" id="{B8547A84-1E23-2920-8FEC-DA947518E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722" y="60256"/>
              <a:ext cx="423780" cy="468002"/>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Rounded Corners 23">
            <a:extLst>
              <a:ext uri="{FF2B5EF4-FFF2-40B4-BE49-F238E27FC236}">
                <a16:creationId xmlns:a16="http://schemas.microsoft.com/office/drawing/2014/main" id="{7957275E-F795-3D30-84A0-618620CDB5B5}"/>
              </a:ext>
            </a:extLst>
          </p:cNvPr>
          <p:cNvSpPr/>
          <p:nvPr/>
        </p:nvSpPr>
        <p:spPr>
          <a:xfrm>
            <a:off x="5047803" y="2336866"/>
            <a:ext cx="7050301" cy="4431133"/>
          </a:xfrm>
          <a:prstGeom prst="roundRect">
            <a:avLst>
              <a:gd name="adj" fmla="val 2078"/>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FE09523C-8A19-3EDA-8B0D-41EEB46CCC75}"/>
              </a:ext>
            </a:extLst>
          </p:cNvPr>
          <p:cNvSpPr txBox="1"/>
          <p:nvPr/>
        </p:nvSpPr>
        <p:spPr>
          <a:xfrm>
            <a:off x="5145937" y="2225221"/>
            <a:ext cx="1900126"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Knowledge Management Core</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39" name="Group 38">
            <a:extLst>
              <a:ext uri="{FF2B5EF4-FFF2-40B4-BE49-F238E27FC236}">
                <a16:creationId xmlns:a16="http://schemas.microsoft.com/office/drawing/2014/main" id="{98CC0B1B-94E1-9531-7A5E-A2C82D7B0990}"/>
              </a:ext>
            </a:extLst>
          </p:cNvPr>
          <p:cNvGrpSpPr/>
          <p:nvPr/>
        </p:nvGrpSpPr>
        <p:grpSpPr>
          <a:xfrm>
            <a:off x="9611304" y="2537401"/>
            <a:ext cx="2412000" cy="2357973"/>
            <a:chOff x="9468000" y="2537401"/>
            <a:chExt cx="2412000" cy="2357973"/>
          </a:xfrm>
        </p:grpSpPr>
        <p:sp>
          <p:nvSpPr>
            <p:cNvPr id="99" name="Rounded Rectangle 103">
              <a:extLst>
                <a:ext uri="{FF2B5EF4-FFF2-40B4-BE49-F238E27FC236}">
                  <a16:creationId xmlns:a16="http://schemas.microsoft.com/office/drawing/2014/main" id="{E43E4375-D70B-4D4A-E8E5-871AC785FBD6}"/>
                </a:ext>
              </a:extLst>
            </p:cNvPr>
            <p:cNvSpPr/>
            <p:nvPr/>
          </p:nvSpPr>
          <p:spPr>
            <a:xfrm>
              <a:off x="9468000" y="2664931"/>
              <a:ext cx="2412000" cy="2230443"/>
            </a:xfrm>
            <a:prstGeom prst="roundRect">
              <a:avLst>
                <a:gd name="adj" fmla="val 4126"/>
              </a:avLst>
            </a:prstGeom>
            <a:noFill/>
            <a:ln w="12700">
              <a:solidFill>
                <a:srgbClr val="6895BE"/>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0" name="TextBox 99">
              <a:extLst>
                <a:ext uri="{FF2B5EF4-FFF2-40B4-BE49-F238E27FC236}">
                  <a16:creationId xmlns:a16="http://schemas.microsoft.com/office/drawing/2014/main" id="{6397A3BF-C7D1-FE72-6365-B459D50295BB}"/>
                </a:ext>
              </a:extLst>
            </p:cNvPr>
            <p:cNvSpPr txBox="1"/>
            <p:nvPr/>
          </p:nvSpPr>
          <p:spPr>
            <a:xfrm>
              <a:off x="9579325" y="2537401"/>
              <a:ext cx="1224000" cy="253916"/>
            </a:xfrm>
            <a:prstGeom prst="rect">
              <a:avLst/>
            </a:prstGeom>
            <a:solidFill>
              <a:schemeClr val="bg1"/>
            </a:solidFill>
            <a:ln>
              <a:solidFill>
                <a:schemeClr val="bg1"/>
              </a:solidFill>
            </a:ln>
          </p:spPr>
          <p:txBody>
            <a:bodyPr wrap="square"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Chatbot Platform</a:t>
              </a:r>
            </a:p>
          </p:txBody>
        </p:sp>
        <p:sp>
          <p:nvSpPr>
            <p:cNvPr id="101" name="Rectangle 100">
              <a:extLst>
                <a:ext uri="{FF2B5EF4-FFF2-40B4-BE49-F238E27FC236}">
                  <a16:creationId xmlns:a16="http://schemas.microsoft.com/office/drawing/2014/main" id="{37ED9984-0507-D9F7-536D-23DCBBCAE623}"/>
                </a:ext>
              </a:extLst>
            </p:cNvPr>
            <p:cNvSpPr/>
            <p:nvPr/>
          </p:nvSpPr>
          <p:spPr>
            <a:xfrm>
              <a:off x="10159276" y="2814908"/>
              <a:ext cx="1656000" cy="27376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a:ea typeface="+mn-ea"/>
                  <a:cs typeface="+mn-cs"/>
                </a:rPr>
                <a:t>Natural Language Processor</a:t>
              </a:r>
            </a:p>
          </p:txBody>
        </p:sp>
        <p:sp>
          <p:nvSpPr>
            <p:cNvPr id="102" name="Rectangle 101">
              <a:extLst>
                <a:ext uri="{FF2B5EF4-FFF2-40B4-BE49-F238E27FC236}">
                  <a16:creationId xmlns:a16="http://schemas.microsoft.com/office/drawing/2014/main" id="{FE4C01EE-5666-0DDD-C8C5-BEE1D4F5226E}"/>
                </a:ext>
              </a:extLst>
            </p:cNvPr>
            <p:cNvSpPr/>
            <p:nvPr/>
          </p:nvSpPr>
          <p:spPr>
            <a:xfrm rot="16200000">
              <a:off x="8702098" y="3670268"/>
              <a:ext cx="1980637" cy="26991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a:ea typeface="+mn-ea"/>
                  <a:cs typeface="+mn-cs"/>
                </a:rPr>
                <a:t>Channel Integration</a:t>
              </a:r>
            </a:p>
          </p:txBody>
        </p:sp>
        <p:sp>
          <p:nvSpPr>
            <p:cNvPr id="103" name="Rectangle 102">
              <a:extLst>
                <a:ext uri="{FF2B5EF4-FFF2-40B4-BE49-F238E27FC236}">
                  <a16:creationId xmlns:a16="http://schemas.microsoft.com/office/drawing/2014/main" id="{9406885D-1FE5-5CCB-8BB8-774A0331CE91}"/>
                </a:ext>
              </a:extLst>
            </p:cNvPr>
            <p:cNvSpPr/>
            <p:nvPr/>
          </p:nvSpPr>
          <p:spPr>
            <a:xfrm>
              <a:off x="10159276" y="3125108"/>
              <a:ext cx="1656000" cy="41038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a:ea typeface="+mn-ea"/>
                  <a:cs typeface="+mn-cs"/>
                </a:rPr>
                <a:t>Implementation Components</a:t>
              </a:r>
              <a:br>
                <a:rPr kumimoji="0" lang="en-US" sz="1000" b="0" i="0" u="none" strike="noStrike" kern="1200" cap="none" spc="0" normalizeH="0" baseline="0" noProof="0">
                  <a:ln>
                    <a:noFill/>
                  </a:ln>
                  <a:solidFill>
                    <a:prstClr val="black"/>
                  </a:solidFill>
                  <a:effectLst/>
                  <a:uLnTx/>
                  <a:uFillTx/>
                  <a:latin typeface="Calibri"/>
                  <a:ea typeface="+mn-ea"/>
                  <a:cs typeface="+mn-cs"/>
                </a:rPr>
              </a:br>
              <a:r>
                <a:rPr kumimoji="0" lang="en-US" sz="800" b="0" i="0" u="none" strike="noStrike" kern="1200" cap="none" spc="0" normalizeH="0" baseline="0" noProof="0">
                  <a:ln>
                    <a:noFill/>
                  </a:ln>
                  <a:solidFill>
                    <a:prstClr val="black"/>
                  </a:solidFill>
                  <a:effectLst/>
                  <a:uLnTx/>
                  <a:uFillTx/>
                  <a:latin typeface="Calibri"/>
                  <a:ea typeface="+mn-ea"/>
                  <a:cs typeface="+mn-cs"/>
                </a:rPr>
                <a:t>(Dialogue Routing, Prebuilt Content &amp; Integration)</a:t>
              </a:r>
            </a:p>
          </p:txBody>
        </p:sp>
        <p:sp>
          <p:nvSpPr>
            <p:cNvPr id="104" name="Rectangle 103">
              <a:extLst>
                <a:ext uri="{FF2B5EF4-FFF2-40B4-BE49-F238E27FC236}">
                  <a16:creationId xmlns:a16="http://schemas.microsoft.com/office/drawing/2014/main" id="{331BC4E4-02B2-F31D-531A-4CED5AFE5E7E}"/>
                </a:ext>
              </a:extLst>
            </p:cNvPr>
            <p:cNvSpPr/>
            <p:nvPr/>
          </p:nvSpPr>
          <p:spPr>
            <a:xfrm>
              <a:off x="10159276" y="3588128"/>
              <a:ext cx="1656000" cy="120741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a:ea typeface="+mn-ea"/>
                  <a:cs typeface="+mn-cs"/>
                </a:rPr>
                <a:t>Management and Operational Services</a:t>
              </a:r>
            </a:p>
          </p:txBody>
        </p:sp>
        <p:sp>
          <p:nvSpPr>
            <p:cNvPr id="105" name="Rectangle 104">
              <a:extLst>
                <a:ext uri="{FF2B5EF4-FFF2-40B4-BE49-F238E27FC236}">
                  <a16:creationId xmlns:a16="http://schemas.microsoft.com/office/drawing/2014/main" id="{5EA35C9B-CED0-2C45-6701-63D5ED28A6B5}"/>
                </a:ext>
              </a:extLst>
            </p:cNvPr>
            <p:cNvSpPr/>
            <p:nvPr/>
          </p:nvSpPr>
          <p:spPr>
            <a:xfrm rot="16200000">
              <a:off x="9000976" y="3670268"/>
              <a:ext cx="1980637" cy="26991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a:ea typeface="+mn-ea"/>
                  <a:cs typeface="+mn-cs"/>
                </a:rPr>
                <a:t>Source Integration</a:t>
              </a:r>
            </a:p>
          </p:txBody>
        </p:sp>
        <p:sp>
          <p:nvSpPr>
            <p:cNvPr id="106" name="Rectangle 105">
              <a:extLst>
                <a:ext uri="{FF2B5EF4-FFF2-40B4-BE49-F238E27FC236}">
                  <a16:creationId xmlns:a16="http://schemas.microsoft.com/office/drawing/2014/main" id="{2A82296D-24AE-B5D3-77CE-AEBEFD349775}"/>
                </a:ext>
              </a:extLst>
            </p:cNvPr>
            <p:cNvSpPr/>
            <p:nvPr/>
          </p:nvSpPr>
          <p:spPr>
            <a:xfrm>
              <a:off x="10205088" y="3975937"/>
              <a:ext cx="1559749" cy="112372"/>
            </a:xfrm>
            <a:prstGeom prst="rect">
              <a:avLst/>
            </a:prstGeom>
            <a:solidFill>
              <a:schemeClr val="bg2">
                <a:lumMod val="75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Channel Management</a:t>
              </a:r>
            </a:p>
          </p:txBody>
        </p:sp>
        <p:sp>
          <p:nvSpPr>
            <p:cNvPr id="107" name="Rectangle 106">
              <a:extLst>
                <a:ext uri="{FF2B5EF4-FFF2-40B4-BE49-F238E27FC236}">
                  <a16:creationId xmlns:a16="http://schemas.microsoft.com/office/drawing/2014/main" id="{10ABEDF3-6E1B-5186-5D02-A9D82850F786}"/>
                </a:ext>
              </a:extLst>
            </p:cNvPr>
            <p:cNvSpPr/>
            <p:nvPr/>
          </p:nvSpPr>
          <p:spPr>
            <a:xfrm>
              <a:off x="10200842" y="4140948"/>
              <a:ext cx="1559749" cy="112372"/>
            </a:xfrm>
            <a:prstGeom prst="rect">
              <a:avLst/>
            </a:prstGeom>
            <a:solidFill>
              <a:schemeClr val="bg2">
                <a:lumMod val="75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Intent Management</a:t>
              </a:r>
            </a:p>
          </p:txBody>
        </p:sp>
        <p:sp>
          <p:nvSpPr>
            <p:cNvPr id="108" name="Rectangle 107">
              <a:extLst>
                <a:ext uri="{FF2B5EF4-FFF2-40B4-BE49-F238E27FC236}">
                  <a16:creationId xmlns:a16="http://schemas.microsoft.com/office/drawing/2014/main" id="{8C9B6F31-7358-718A-BF81-404B23DEB319}"/>
                </a:ext>
              </a:extLst>
            </p:cNvPr>
            <p:cNvSpPr/>
            <p:nvPr/>
          </p:nvSpPr>
          <p:spPr>
            <a:xfrm>
              <a:off x="10205088" y="4312550"/>
              <a:ext cx="1559749" cy="112372"/>
            </a:xfrm>
            <a:prstGeom prst="rect">
              <a:avLst/>
            </a:prstGeom>
            <a:solidFill>
              <a:schemeClr val="bg2">
                <a:lumMod val="75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Life Cycle Management</a:t>
              </a:r>
            </a:p>
          </p:txBody>
        </p:sp>
        <p:sp>
          <p:nvSpPr>
            <p:cNvPr id="109" name="Rectangle 108">
              <a:extLst>
                <a:ext uri="{FF2B5EF4-FFF2-40B4-BE49-F238E27FC236}">
                  <a16:creationId xmlns:a16="http://schemas.microsoft.com/office/drawing/2014/main" id="{1E8BE4D1-1AA9-1E7E-4C65-4496BB14362F}"/>
                </a:ext>
              </a:extLst>
            </p:cNvPr>
            <p:cNvSpPr/>
            <p:nvPr/>
          </p:nvSpPr>
          <p:spPr>
            <a:xfrm>
              <a:off x="10205088" y="4475951"/>
              <a:ext cx="1559749" cy="112372"/>
            </a:xfrm>
            <a:prstGeom prst="rect">
              <a:avLst/>
            </a:prstGeom>
            <a:solidFill>
              <a:schemeClr val="bg2">
                <a:lumMod val="75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Conversational Analytics</a:t>
              </a:r>
            </a:p>
          </p:txBody>
        </p:sp>
        <p:sp>
          <p:nvSpPr>
            <p:cNvPr id="110" name="Rectangle 109">
              <a:extLst>
                <a:ext uri="{FF2B5EF4-FFF2-40B4-BE49-F238E27FC236}">
                  <a16:creationId xmlns:a16="http://schemas.microsoft.com/office/drawing/2014/main" id="{8F37C539-0062-93AF-2BFD-F1C3C7D2E79E}"/>
                </a:ext>
              </a:extLst>
            </p:cNvPr>
            <p:cNvSpPr/>
            <p:nvPr/>
          </p:nvSpPr>
          <p:spPr>
            <a:xfrm>
              <a:off x="10205088" y="4626720"/>
              <a:ext cx="1559749" cy="112372"/>
            </a:xfrm>
            <a:prstGeom prst="rect">
              <a:avLst/>
            </a:prstGeom>
            <a:solidFill>
              <a:schemeClr val="bg2">
                <a:lumMod val="75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Human-in-the-Loop Support</a:t>
              </a:r>
            </a:p>
          </p:txBody>
        </p:sp>
      </p:grpSp>
      <p:grpSp>
        <p:nvGrpSpPr>
          <p:cNvPr id="34" name="Group 33">
            <a:extLst>
              <a:ext uri="{FF2B5EF4-FFF2-40B4-BE49-F238E27FC236}">
                <a16:creationId xmlns:a16="http://schemas.microsoft.com/office/drawing/2014/main" id="{AB73AF7B-3954-11BB-C114-6A7BE02C6705}"/>
              </a:ext>
            </a:extLst>
          </p:cNvPr>
          <p:cNvGrpSpPr/>
          <p:nvPr/>
        </p:nvGrpSpPr>
        <p:grpSpPr>
          <a:xfrm>
            <a:off x="5108527" y="2591053"/>
            <a:ext cx="1898071" cy="2044364"/>
            <a:chOff x="6552000" y="4141299"/>
            <a:chExt cx="1898071" cy="2044364"/>
          </a:xfrm>
        </p:grpSpPr>
        <p:sp>
          <p:nvSpPr>
            <p:cNvPr id="4" name="Rectangle: Rounded Corners 3">
              <a:extLst>
                <a:ext uri="{FF2B5EF4-FFF2-40B4-BE49-F238E27FC236}">
                  <a16:creationId xmlns:a16="http://schemas.microsoft.com/office/drawing/2014/main" id="{3F161695-43C7-E27D-DCB0-BD543BEF0A32}"/>
                </a:ext>
              </a:extLst>
            </p:cNvPr>
            <p:cNvSpPr/>
            <p:nvPr/>
          </p:nvSpPr>
          <p:spPr>
            <a:xfrm>
              <a:off x="6552000" y="4205663"/>
              <a:ext cx="1898071" cy="1980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8E4C33A4-0B0E-C723-6090-3C4088A6F419}"/>
                </a:ext>
              </a:extLst>
            </p:cNvPr>
            <p:cNvSpPr txBox="1"/>
            <p:nvPr/>
          </p:nvSpPr>
          <p:spPr>
            <a:xfrm>
              <a:off x="6642001" y="4141299"/>
              <a:ext cx="1113053"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Content Creation</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Rectangle: Rounded Corners 2">
              <a:extLst>
                <a:ext uri="{FF2B5EF4-FFF2-40B4-BE49-F238E27FC236}">
                  <a16:creationId xmlns:a16="http://schemas.microsoft.com/office/drawing/2014/main" id="{661E463F-405A-8733-0CD2-ED978F89A950}"/>
                </a:ext>
              </a:extLst>
            </p:cNvPr>
            <p:cNvSpPr/>
            <p:nvPr/>
          </p:nvSpPr>
          <p:spPr>
            <a:xfrm>
              <a:off x="6624000" y="4313663"/>
              <a:ext cx="1728000" cy="684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85989B98-0EDB-59B7-8E71-2CE0D186C705}"/>
                </a:ext>
              </a:extLst>
            </p:cNvPr>
            <p:cNvSpPr/>
            <p:nvPr/>
          </p:nvSpPr>
          <p:spPr>
            <a:xfrm>
              <a:off x="7560000" y="4385663"/>
              <a:ext cx="720000" cy="180000"/>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Revise</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252C3EB3-4C50-29BC-91ED-508229AFF42F}"/>
                </a:ext>
              </a:extLst>
            </p:cNvPr>
            <p:cNvSpPr/>
            <p:nvPr/>
          </p:nvSpPr>
          <p:spPr>
            <a:xfrm>
              <a:off x="7560000" y="4739398"/>
              <a:ext cx="720000" cy="180000"/>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Review</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4B40E2F0-FA2D-87FB-BB29-3C334E22F9F2}"/>
                </a:ext>
              </a:extLst>
            </p:cNvPr>
            <p:cNvSpPr/>
            <p:nvPr/>
          </p:nvSpPr>
          <p:spPr>
            <a:xfrm>
              <a:off x="7560000" y="5099398"/>
              <a:ext cx="720000" cy="180000"/>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Approve</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7F9BF8D2-C8B4-3480-3178-2236D96D5F6C}"/>
                </a:ext>
              </a:extLst>
            </p:cNvPr>
            <p:cNvSpPr/>
            <p:nvPr/>
          </p:nvSpPr>
          <p:spPr>
            <a:xfrm>
              <a:off x="7560000" y="5459398"/>
              <a:ext cx="720000" cy="180000"/>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Publish</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553D84A5-09D2-1352-A857-E681E43965D8}"/>
                </a:ext>
              </a:extLst>
            </p:cNvPr>
            <p:cNvSpPr/>
            <p:nvPr/>
          </p:nvSpPr>
          <p:spPr>
            <a:xfrm>
              <a:off x="6696000" y="4385663"/>
              <a:ext cx="720000" cy="180000"/>
            </a:xfrm>
            <a:prstGeom prst="rect">
              <a:avLst/>
            </a:prstGeom>
            <a:solidFill>
              <a:srgbClr val="6895BE"/>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Author</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6E568360-383E-7575-ECB2-A504F0A79923}"/>
              </a:ext>
            </a:extLst>
          </p:cNvPr>
          <p:cNvGrpSpPr/>
          <p:nvPr/>
        </p:nvGrpSpPr>
        <p:grpSpPr>
          <a:xfrm>
            <a:off x="5108527" y="5385690"/>
            <a:ext cx="6771473" cy="1283213"/>
            <a:chOff x="5108527" y="4587292"/>
            <a:chExt cx="6771473" cy="1283213"/>
          </a:xfrm>
        </p:grpSpPr>
        <p:sp>
          <p:nvSpPr>
            <p:cNvPr id="121" name="Rectangle: Rounded Corners 120">
              <a:extLst>
                <a:ext uri="{FF2B5EF4-FFF2-40B4-BE49-F238E27FC236}">
                  <a16:creationId xmlns:a16="http://schemas.microsoft.com/office/drawing/2014/main" id="{050798CB-0AEE-1C4D-E216-737B73A1BBF9}"/>
                </a:ext>
              </a:extLst>
            </p:cNvPr>
            <p:cNvSpPr/>
            <p:nvPr/>
          </p:nvSpPr>
          <p:spPr>
            <a:xfrm>
              <a:off x="5108527" y="4647296"/>
              <a:ext cx="6771473" cy="1223209"/>
            </a:xfrm>
            <a:prstGeom prst="roundRect">
              <a:avLst>
                <a:gd name="adj" fmla="val 1027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TextBox 121">
              <a:extLst>
                <a:ext uri="{FF2B5EF4-FFF2-40B4-BE49-F238E27FC236}">
                  <a16:creationId xmlns:a16="http://schemas.microsoft.com/office/drawing/2014/main" id="{D098F29A-CB6F-5C56-297A-E8675F90CC88}"/>
                </a:ext>
              </a:extLst>
            </p:cNvPr>
            <p:cNvSpPr txBox="1"/>
            <p:nvPr/>
          </p:nvSpPr>
          <p:spPr>
            <a:xfrm>
              <a:off x="5219201" y="4587292"/>
              <a:ext cx="1404799"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Supporting Functions</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3" name="Rectangle 122">
              <a:extLst>
                <a:ext uri="{FF2B5EF4-FFF2-40B4-BE49-F238E27FC236}">
                  <a16:creationId xmlns:a16="http://schemas.microsoft.com/office/drawing/2014/main" id="{017D8022-73A5-B149-0DBE-46CD4B5712DA}"/>
                </a:ext>
              </a:extLst>
            </p:cNvPr>
            <p:cNvSpPr/>
            <p:nvPr/>
          </p:nvSpPr>
          <p:spPr>
            <a:xfrm>
              <a:off x="8866903" y="4902915"/>
              <a:ext cx="1008000" cy="18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Version Control</a:t>
              </a:r>
            </a:p>
          </p:txBody>
        </p:sp>
        <p:sp>
          <p:nvSpPr>
            <p:cNvPr id="124" name="Rectangle 123">
              <a:extLst>
                <a:ext uri="{FF2B5EF4-FFF2-40B4-BE49-F238E27FC236}">
                  <a16:creationId xmlns:a16="http://schemas.microsoft.com/office/drawing/2014/main" id="{25ADBDFE-46EA-A2EE-B667-C04B5FE82628}"/>
                </a:ext>
              </a:extLst>
            </p:cNvPr>
            <p:cNvSpPr/>
            <p:nvPr/>
          </p:nvSpPr>
          <p:spPr>
            <a:xfrm>
              <a:off x="8866903" y="5205620"/>
              <a:ext cx="1008000" cy="18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Audit Logging</a:t>
              </a:r>
            </a:p>
          </p:txBody>
        </p:sp>
        <p:sp>
          <p:nvSpPr>
            <p:cNvPr id="125" name="Rectangle 124">
              <a:extLst>
                <a:ext uri="{FF2B5EF4-FFF2-40B4-BE49-F238E27FC236}">
                  <a16:creationId xmlns:a16="http://schemas.microsoft.com/office/drawing/2014/main" id="{EDE4937B-B7B1-5046-3F0D-C66423217C65}"/>
                </a:ext>
              </a:extLst>
            </p:cNvPr>
            <p:cNvSpPr/>
            <p:nvPr/>
          </p:nvSpPr>
          <p:spPr>
            <a:xfrm>
              <a:off x="8866903" y="5508324"/>
              <a:ext cx="1008000" cy="18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Archiving</a:t>
              </a:r>
            </a:p>
          </p:txBody>
        </p:sp>
        <p:sp>
          <p:nvSpPr>
            <p:cNvPr id="26" name="Rectangle: Rounded Corners 25">
              <a:extLst>
                <a:ext uri="{FF2B5EF4-FFF2-40B4-BE49-F238E27FC236}">
                  <a16:creationId xmlns:a16="http://schemas.microsoft.com/office/drawing/2014/main" id="{4066FDD5-0B51-7F55-3693-2B4ED7EC2777}"/>
                </a:ext>
              </a:extLst>
            </p:cNvPr>
            <p:cNvSpPr/>
            <p:nvPr/>
          </p:nvSpPr>
          <p:spPr>
            <a:xfrm>
              <a:off x="7651043" y="5256324"/>
              <a:ext cx="1151668" cy="504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Rounded Corners 90">
              <a:extLst>
                <a:ext uri="{FF2B5EF4-FFF2-40B4-BE49-F238E27FC236}">
                  <a16:creationId xmlns:a16="http://schemas.microsoft.com/office/drawing/2014/main" id="{83686B45-948E-3B5C-2242-AC106371AFCB}"/>
                </a:ext>
              </a:extLst>
            </p:cNvPr>
            <p:cNvSpPr/>
            <p:nvPr/>
          </p:nvSpPr>
          <p:spPr>
            <a:xfrm>
              <a:off x="5332767" y="4820091"/>
              <a:ext cx="2299233" cy="936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30BA0981-1CD8-AF34-95E8-39C7281A471A}"/>
                </a:ext>
              </a:extLst>
            </p:cNvPr>
            <p:cNvSpPr/>
            <p:nvPr/>
          </p:nvSpPr>
          <p:spPr>
            <a:xfrm>
              <a:off x="5404768" y="4892091"/>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Meta Tagging</a:t>
              </a:r>
            </a:p>
          </p:txBody>
        </p:sp>
        <p:sp>
          <p:nvSpPr>
            <p:cNvPr id="119" name="Rectangle 118">
              <a:extLst>
                <a:ext uri="{FF2B5EF4-FFF2-40B4-BE49-F238E27FC236}">
                  <a16:creationId xmlns:a16="http://schemas.microsoft.com/office/drawing/2014/main" id="{BD88F710-D579-DC38-C6AF-846B042B3C93}"/>
                </a:ext>
              </a:extLst>
            </p:cNvPr>
            <p:cNvSpPr/>
            <p:nvPr/>
          </p:nvSpPr>
          <p:spPr>
            <a:xfrm>
              <a:off x="5404768" y="5324091"/>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Language Levelling</a:t>
              </a:r>
            </a:p>
          </p:txBody>
        </p:sp>
        <p:sp>
          <p:nvSpPr>
            <p:cNvPr id="120" name="Rectangle 119">
              <a:extLst>
                <a:ext uri="{FF2B5EF4-FFF2-40B4-BE49-F238E27FC236}">
                  <a16:creationId xmlns:a16="http://schemas.microsoft.com/office/drawing/2014/main" id="{ED71B8E5-3E51-DD39-E027-D5A2493FF459}"/>
                </a:ext>
              </a:extLst>
            </p:cNvPr>
            <p:cNvSpPr/>
            <p:nvPr/>
          </p:nvSpPr>
          <p:spPr>
            <a:xfrm>
              <a:off x="6525056" y="4894813"/>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Machine Translation</a:t>
              </a:r>
            </a:p>
          </p:txBody>
        </p:sp>
        <p:sp>
          <p:nvSpPr>
            <p:cNvPr id="167" name="Rectangle 166">
              <a:extLst>
                <a:ext uri="{FF2B5EF4-FFF2-40B4-BE49-F238E27FC236}">
                  <a16:creationId xmlns:a16="http://schemas.microsoft.com/office/drawing/2014/main" id="{54C6E4D6-2F45-39FE-4493-68A36050F7EF}"/>
                </a:ext>
              </a:extLst>
            </p:cNvPr>
            <p:cNvSpPr/>
            <p:nvPr/>
          </p:nvSpPr>
          <p:spPr>
            <a:xfrm>
              <a:off x="7713281" y="4892091"/>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Human Translation</a:t>
              </a:r>
            </a:p>
          </p:txBody>
        </p:sp>
        <p:sp>
          <p:nvSpPr>
            <p:cNvPr id="2" name="Rectangle 1">
              <a:extLst>
                <a:ext uri="{FF2B5EF4-FFF2-40B4-BE49-F238E27FC236}">
                  <a16:creationId xmlns:a16="http://schemas.microsoft.com/office/drawing/2014/main" id="{8A159BC6-F86C-CAD3-F910-F07132E86616}"/>
                </a:ext>
              </a:extLst>
            </p:cNvPr>
            <p:cNvSpPr/>
            <p:nvPr/>
          </p:nvSpPr>
          <p:spPr>
            <a:xfrm>
              <a:off x="7724601" y="5328324"/>
              <a:ext cx="1008000" cy="360000"/>
            </a:xfrm>
            <a:prstGeom prst="rect">
              <a:avLst/>
            </a:prstGeom>
            <a:solidFill>
              <a:srgbClr val="7F7F7F"/>
            </a:solidFill>
            <a:ln>
              <a:noFill/>
            </a:ln>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Video Production</a:t>
              </a:r>
            </a:p>
          </p:txBody>
        </p:sp>
        <p:sp>
          <p:nvSpPr>
            <p:cNvPr id="27" name="Rectangle 26">
              <a:extLst>
                <a:ext uri="{FF2B5EF4-FFF2-40B4-BE49-F238E27FC236}">
                  <a16:creationId xmlns:a16="http://schemas.microsoft.com/office/drawing/2014/main" id="{E5922079-D087-6A36-0BBE-A79DF5B041B0}"/>
                </a:ext>
              </a:extLst>
            </p:cNvPr>
            <p:cNvSpPr/>
            <p:nvPr/>
          </p:nvSpPr>
          <p:spPr>
            <a:xfrm>
              <a:off x="6525056" y="5326813"/>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Categorization?</a:t>
              </a:r>
            </a:p>
          </p:txBody>
        </p:sp>
      </p:grpSp>
      <p:sp>
        <p:nvSpPr>
          <p:cNvPr id="28" name="Rectangle: Rounded Corners 27">
            <a:extLst>
              <a:ext uri="{FF2B5EF4-FFF2-40B4-BE49-F238E27FC236}">
                <a16:creationId xmlns:a16="http://schemas.microsoft.com/office/drawing/2014/main" id="{77FD3679-05ED-0FF8-856A-602E95A4809E}"/>
              </a:ext>
            </a:extLst>
          </p:cNvPr>
          <p:cNvSpPr/>
          <p:nvPr/>
        </p:nvSpPr>
        <p:spPr>
          <a:xfrm>
            <a:off x="7066461" y="2662505"/>
            <a:ext cx="2412000" cy="1980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A142F7CC-4E9C-A3D8-043A-C477723D5F86}"/>
              </a:ext>
            </a:extLst>
          </p:cNvPr>
          <p:cNvSpPr txBox="1"/>
          <p:nvPr/>
        </p:nvSpPr>
        <p:spPr>
          <a:xfrm>
            <a:off x="7153841" y="2584793"/>
            <a:ext cx="1420829"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Content Consumption</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Rectangle 53">
            <a:extLst>
              <a:ext uri="{FF2B5EF4-FFF2-40B4-BE49-F238E27FC236}">
                <a16:creationId xmlns:a16="http://schemas.microsoft.com/office/drawing/2014/main" id="{A34AE541-1061-9ACC-73F3-D2D12213853E}"/>
              </a:ext>
            </a:extLst>
          </p:cNvPr>
          <p:cNvSpPr/>
          <p:nvPr/>
        </p:nvSpPr>
        <p:spPr>
          <a:xfrm>
            <a:off x="7210461" y="4210505"/>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Role-based View</a:t>
            </a:r>
          </a:p>
        </p:txBody>
      </p:sp>
      <p:sp>
        <p:nvSpPr>
          <p:cNvPr id="55" name="Rectangle 54">
            <a:extLst>
              <a:ext uri="{FF2B5EF4-FFF2-40B4-BE49-F238E27FC236}">
                <a16:creationId xmlns:a16="http://schemas.microsoft.com/office/drawing/2014/main" id="{B8EC6C11-DA7E-F18B-D808-CA2342148884}"/>
              </a:ext>
            </a:extLst>
          </p:cNvPr>
          <p:cNvSpPr/>
          <p:nvPr/>
        </p:nvSpPr>
        <p:spPr>
          <a:xfrm>
            <a:off x="7210461" y="3274505"/>
            <a:ext cx="1008000" cy="18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Feedback</a:t>
            </a:r>
          </a:p>
        </p:txBody>
      </p:sp>
      <p:sp>
        <p:nvSpPr>
          <p:cNvPr id="126" name="Rectangle 125">
            <a:extLst>
              <a:ext uri="{FF2B5EF4-FFF2-40B4-BE49-F238E27FC236}">
                <a16:creationId xmlns:a16="http://schemas.microsoft.com/office/drawing/2014/main" id="{57B956A9-63AA-A1CE-EB2C-DAD3012FB696}"/>
              </a:ext>
            </a:extLst>
          </p:cNvPr>
          <p:cNvSpPr/>
          <p:nvPr/>
        </p:nvSpPr>
        <p:spPr>
          <a:xfrm>
            <a:off x="7210461" y="2914505"/>
            <a:ext cx="2160000" cy="18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Channel Integration</a:t>
            </a:r>
          </a:p>
        </p:txBody>
      </p:sp>
      <p:sp>
        <p:nvSpPr>
          <p:cNvPr id="30" name="Rectangle 29">
            <a:extLst>
              <a:ext uri="{FF2B5EF4-FFF2-40B4-BE49-F238E27FC236}">
                <a16:creationId xmlns:a16="http://schemas.microsoft.com/office/drawing/2014/main" id="{0E0CA2F9-FF58-180B-D3CC-4E446D2C62E7}"/>
              </a:ext>
            </a:extLst>
          </p:cNvPr>
          <p:cNvSpPr/>
          <p:nvPr/>
        </p:nvSpPr>
        <p:spPr>
          <a:xfrm>
            <a:off x="8362461" y="4210505"/>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Reporting and Analytics</a:t>
            </a:r>
          </a:p>
        </p:txBody>
      </p:sp>
      <p:sp>
        <p:nvSpPr>
          <p:cNvPr id="71" name="Rectangle: Rounded Corners 70">
            <a:extLst>
              <a:ext uri="{FF2B5EF4-FFF2-40B4-BE49-F238E27FC236}">
                <a16:creationId xmlns:a16="http://schemas.microsoft.com/office/drawing/2014/main" id="{977B3953-002F-5D9D-403F-7F4D691BEA63}"/>
              </a:ext>
            </a:extLst>
          </p:cNvPr>
          <p:cNvSpPr/>
          <p:nvPr/>
        </p:nvSpPr>
        <p:spPr>
          <a:xfrm>
            <a:off x="2520000" y="4892091"/>
            <a:ext cx="2232000" cy="936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Cylinder 86">
            <a:extLst>
              <a:ext uri="{FF2B5EF4-FFF2-40B4-BE49-F238E27FC236}">
                <a16:creationId xmlns:a16="http://schemas.microsoft.com/office/drawing/2014/main" id="{B0B24061-2EFC-0FD7-039C-8E2223FC4A7F}"/>
              </a:ext>
            </a:extLst>
          </p:cNvPr>
          <p:cNvSpPr/>
          <p:nvPr/>
        </p:nvSpPr>
        <p:spPr>
          <a:xfrm>
            <a:off x="1268049" y="5963500"/>
            <a:ext cx="1932469" cy="301998"/>
          </a:xfrm>
          <a:prstGeom prst="can">
            <a:avLst/>
          </a:prstGeom>
          <a:solidFill>
            <a:schemeClr val="bg2">
              <a:lumMod val="75000"/>
            </a:schemeClr>
          </a:solidFill>
          <a:ln>
            <a:solidFill>
              <a:srgbClr val="7DA6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AI Training Data Storage</a:t>
            </a:r>
          </a:p>
        </p:txBody>
      </p:sp>
      <p:sp>
        <p:nvSpPr>
          <p:cNvPr id="22" name="Rectangle: Rounded Corners 21">
            <a:extLst>
              <a:ext uri="{FF2B5EF4-FFF2-40B4-BE49-F238E27FC236}">
                <a16:creationId xmlns:a16="http://schemas.microsoft.com/office/drawing/2014/main" id="{9FEC85E2-5F16-0AF8-EF90-1A5BC25FDECB}"/>
              </a:ext>
            </a:extLst>
          </p:cNvPr>
          <p:cNvSpPr/>
          <p:nvPr/>
        </p:nvSpPr>
        <p:spPr>
          <a:xfrm>
            <a:off x="1152000" y="4748091"/>
            <a:ext cx="3806405" cy="1584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79FAC9E9-2F6E-E431-177B-C2B3B85D28FC}"/>
              </a:ext>
            </a:extLst>
          </p:cNvPr>
          <p:cNvSpPr txBox="1"/>
          <p:nvPr/>
        </p:nvSpPr>
        <p:spPr>
          <a:xfrm>
            <a:off x="1224001" y="4666666"/>
            <a:ext cx="2861928"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Content Consolidation, Conversion, and Load</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Rectangle 59">
            <a:extLst>
              <a:ext uri="{FF2B5EF4-FFF2-40B4-BE49-F238E27FC236}">
                <a16:creationId xmlns:a16="http://schemas.microsoft.com/office/drawing/2014/main" id="{5F73AAC7-9A0E-8C69-433D-D68DE038D0D7}"/>
              </a:ext>
            </a:extLst>
          </p:cNvPr>
          <p:cNvSpPr/>
          <p:nvPr/>
        </p:nvSpPr>
        <p:spPr>
          <a:xfrm>
            <a:off x="1260000" y="4964091"/>
            <a:ext cx="1008000" cy="18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Partitioning</a:t>
            </a:r>
          </a:p>
        </p:txBody>
      </p:sp>
      <p:sp>
        <p:nvSpPr>
          <p:cNvPr id="61" name="Rectangle 60">
            <a:extLst>
              <a:ext uri="{FF2B5EF4-FFF2-40B4-BE49-F238E27FC236}">
                <a16:creationId xmlns:a16="http://schemas.microsoft.com/office/drawing/2014/main" id="{A25E07D9-BA44-E9CD-188C-C7F6A7B6B2EB}"/>
              </a:ext>
            </a:extLst>
          </p:cNvPr>
          <p:cNvSpPr/>
          <p:nvPr/>
        </p:nvSpPr>
        <p:spPr>
          <a:xfrm>
            <a:off x="1260000" y="5468091"/>
            <a:ext cx="1008000" cy="18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Staging</a:t>
            </a:r>
          </a:p>
        </p:txBody>
      </p:sp>
      <p:sp>
        <p:nvSpPr>
          <p:cNvPr id="62" name="Rectangle 61">
            <a:extLst>
              <a:ext uri="{FF2B5EF4-FFF2-40B4-BE49-F238E27FC236}">
                <a16:creationId xmlns:a16="http://schemas.microsoft.com/office/drawing/2014/main" id="{E2A90F2D-CE2B-DE87-9726-DEC5CB4471AC}"/>
              </a:ext>
            </a:extLst>
          </p:cNvPr>
          <p:cNvSpPr/>
          <p:nvPr/>
        </p:nvSpPr>
        <p:spPr>
          <a:xfrm>
            <a:off x="1260000" y="5720091"/>
            <a:ext cx="1008000" cy="18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Chunking</a:t>
            </a:r>
          </a:p>
        </p:txBody>
      </p:sp>
      <p:sp>
        <p:nvSpPr>
          <p:cNvPr id="63" name="Rectangle 62">
            <a:extLst>
              <a:ext uri="{FF2B5EF4-FFF2-40B4-BE49-F238E27FC236}">
                <a16:creationId xmlns:a16="http://schemas.microsoft.com/office/drawing/2014/main" id="{C20D2CB2-DA7B-C144-7796-3D297F5BCCE0}"/>
              </a:ext>
            </a:extLst>
          </p:cNvPr>
          <p:cNvSpPr/>
          <p:nvPr/>
        </p:nvSpPr>
        <p:spPr>
          <a:xfrm>
            <a:off x="1260000" y="5216091"/>
            <a:ext cx="1008000" cy="18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Cleaning</a:t>
            </a:r>
          </a:p>
        </p:txBody>
      </p:sp>
      <p:sp>
        <p:nvSpPr>
          <p:cNvPr id="66" name="Rectangle 65">
            <a:extLst>
              <a:ext uri="{FF2B5EF4-FFF2-40B4-BE49-F238E27FC236}">
                <a16:creationId xmlns:a16="http://schemas.microsoft.com/office/drawing/2014/main" id="{E75A2993-0119-977B-2E33-117837543700}"/>
              </a:ext>
            </a:extLst>
          </p:cNvPr>
          <p:cNvSpPr/>
          <p:nvPr/>
        </p:nvSpPr>
        <p:spPr>
          <a:xfrm>
            <a:off x="2592000" y="4964091"/>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Data Extraction</a:t>
            </a:r>
          </a:p>
        </p:txBody>
      </p:sp>
      <p:sp>
        <p:nvSpPr>
          <p:cNvPr id="67" name="Rectangle 66">
            <a:extLst>
              <a:ext uri="{FF2B5EF4-FFF2-40B4-BE49-F238E27FC236}">
                <a16:creationId xmlns:a16="http://schemas.microsoft.com/office/drawing/2014/main" id="{A33D043E-3AF0-6B0C-A4F5-3E38225B72DA}"/>
              </a:ext>
            </a:extLst>
          </p:cNvPr>
          <p:cNvSpPr/>
          <p:nvPr/>
        </p:nvSpPr>
        <p:spPr>
          <a:xfrm>
            <a:off x="3672775" y="4964091"/>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Optical Character Recognition</a:t>
            </a:r>
          </a:p>
        </p:txBody>
      </p:sp>
      <p:sp>
        <p:nvSpPr>
          <p:cNvPr id="68" name="Rectangle 67">
            <a:extLst>
              <a:ext uri="{FF2B5EF4-FFF2-40B4-BE49-F238E27FC236}">
                <a16:creationId xmlns:a16="http://schemas.microsoft.com/office/drawing/2014/main" id="{33D39DC4-FC48-5C35-4286-CD8914A3C477}"/>
              </a:ext>
            </a:extLst>
          </p:cNvPr>
          <p:cNvSpPr/>
          <p:nvPr/>
        </p:nvSpPr>
        <p:spPr>
          <a:xfrm>
            <a:off x="3672775" y="5396091"/>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Layout Analysis</a:t>
            </a:r>
          </a:p>
        </p:txBody>
      </p:sp>
      <p:sp>
        <p:nvSpPr>
          <p:cNvPr id="69" name="Rectangle 68">
            <a:extLst>
              <a:ext uri="{FF2B5EF4-FFF2-40B4-BE49-F238E27FC236}">
                <a16:creationId xmlns:a16="http://schemas.microsoft.com/office/drawing/2014/main" id="{B14A9833-3AE2-C6FB-C7AC-A27B2BA058ED}"/>
              </a:ext>
            </a:extLst>
          </p:cNvPr>
          <p:cNvSpPr/>
          <p:nvPr/>
        </p:nvSpPr>
        <p:spPr>
          <a:xfrm>
            <a:off x="2592000" y="5396091"/>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Form Recognition</a:t>
            </a:r>
          </a:p>
        </p:txBody>
      </p:sp>
      <p:sp>
        <p:nvSpPr>
          <p:cNvPr id="70" name="Rectangle 69">
            <a:extLst>
              <a:ext uri="{FF2B5EF4-FFF2-40B4-BE49-F238E27FC236}">
                <a16:creationId xmlns:a16="http://schemas.microsoft.com/office/drawing/2014/main" id="{F6BB4EBC-A1EE-F879-2918-9ADAA7B1FBCC}"/>
              </a:ext>
            </a:extLst>
          </p:cNvPr>
          <p:cNvSpPr/>
          <p:nvPr/>
        </p:nvSpPr>
        <p:spPr>
          <a:xfrm>
            <a:off x="3672775" y="5899628"/>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Automated Data Processing</a:t>
            </a:r>
          </a:p>
        </p:txBody>
      </p:sp>
      <p:grpSp>
        <p:nvGrpSpPr>
          <p:cNvPr id="169" name="Group 168">
            <a:extLst>
              <a:ext uri="{FF2B5EF4-FFF2-40B4-BE49-F238E27FC236}">
                <a16:creationId xmlns:a16="http://schemas.microsoft.com/office/drawing/2014/main" id="{0F083B0C-7A64-E182-5F22-49F8B505A06A}"/>
              </a:ext>
            </a:extLst>
          </p:cNvPr>
          <p:cNvGrpSpPr/>
          <p:nvPr/>
        </p:nvGrpSpPr>
        <p:grpSpPr>
          <a:xfrm>
            <a:off x="93895" y="4876406"/>
            <a:ext cx="1039514" cy="1333012"/>
            <a:chOff x="93895" y="5030691"/>
            <a:chExt cx="1039514" cy="1333012"/>
          </a:xfrm>
        </p:grpSpPr>
        <p:grpSp>
          <p:nvGrpSpPr>
            <p:cNvPr id="115" name="Group 114">
              <a:extLst>
                <a:ext uri="{FF2B5EF4-FFF2-40B4-BE49-F238E27FC236}">
                  <a16:creationId xmlns:a16="http://schemas.microsoft.com/office/drawing/2014/main" id="{E28E44AD-9F52-87D3-569E-227240E01414}"/>
                </a:ext>
              </a:extLst>
            </p:cNvPr>
            <p:cNvGrpSpPr/>
            <p:nvPr/>
          </p:nvGrpSpPr>
          <p:grpSpPr>
            <a:xfrm>
              <a:off x="93895" y="5030691"/>
              <a:ext cx="918554" cy="1333012"/>
              <a:chOff x="89446" y="754988"/>
              <a:chExt cx="918554" cy="1333012"/>
            </a:xfrm>
          </p:grpSpPr>
          <p:sp>
            <p:nvSpPr>
              <p:cNvPr id="111" name="Cylinder 110">
                <a:extLst>
                  <a:ext uri="{FF2B5EF4-FFF2-40B4-BE49-F238E27FC236}">
                    <a16:creationId xmlns:a16="http://schemas.microsoft.com/office/drawing/2014/main" id="{D16D050D-27C3-2875-D384-90D12FD55F15}"/>
                  </a:ext>
                </a:extLst>
              </p:cNvPr>
              <p:cNvSpPr/>
              <p:nvPr/>
            </p:nvSpPr>
            <p:spPr>
              <a:xfrm>
                <a:off x="89446" y="754988"/>
                <a:ext cx="918554" cy="338913"/>
              </a:xfrm>
              <a:prstGeom prst="can">
                <a:avLst/>
              </a:prstGeom>
              <a:solidFill>
                <a:schemeClr val="bg2">
                  <a:lumMod val="75000"/>
                </a:schemeClr>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latin typeface="Calibri" panose="020F0502020204030204"/>
                    <a:ea typeface="+mn-ea"/>
                    <a:cs typeface="+mn-cs"/>
                  </a:rPr>
                  <a:t>Document Management</a:t>
                </a:r>
              </a:p>
            </p:txBody>
          </p:sp>
          <p:sp>
            <p:nvSpPr>
              <p:cNvPr id="112" name="Cylinder 111">
                <a:extLst>
                  <a:ext uri="{FF2B5EF4-FFF2-40B4-BE49-F238E27FC236}">
                    <a16:creationId xmlns:a16="http://schemas.microsoft.com/office/drawing/2014/main" id="{0915F9FB-D022-0E5C-39E4-D3D10F70BE01}"/>
                  </a:ext>
                </a:extLst>
              </p:cNvPr>
              <p:cNvSpPr/>
              <p:nvPr/>
            </p:nvSpPr>
            <p:spPr>
              <a:xfrm>
                <a:off x="89446" y="1252038"/>
                <a:ext cx="918554" cy="338913"/>
              </a:xfrm>
              <a:prstGeom prst="can">
                <a:avLst/>
              </a:prstGeom>
              <a:solidFill>
                <a:schemeClr val="bg2">
                  <a:lumMod val="75000"/>
                </a:schemeClr>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latin typeface="Calibri" panose="020F0502020204030204"/>
                    <a:ea typeface="+mn-ea"/>
                    <a:cs typeface="+mn-cs"/>
                  </a:rPr>
                  <a:t>File shares</a:t>
                </a:r>
              </a:p>
            </p:txBody>
          </p:sp>
          <p:sp>
            <p:nvSpPr>
              <p:cNvPr id="113" name="Cylinder 112">
                <a:extLst>
                  <a:ext uri="{FF2B5EF4-FFF2-40B4-BE49-F238E27FC236}">
                    <a16:creationId xmlns:a16="http://schemas.microsoft.com/office/drawing/2014/main" id="{A42134A1-9F9F-B311-E8C3-3E06DC00155F}"/>
                  </a:ext>
                </a:extLst>
              </p:cNvPr>
              <p:cNvSpPr/>
              <p:nvPr/>
            </p:nvSpPr>
            <p:spPr>
              <a:xfrm>
                <a:off x="89446" y="1749087"/>
                <a:ext cx="918554" cy="338913"/>
              </a:xfrm>
              <a:prstGeom prst="can">
                <a:avLst/>
              </a:prstGeom>
              <a:solidFill>
                <a:schemeClr val="bg2">
                  <a:lumMod val="75000"/>
                </a:schemeClr>
              </a:solidFill>
              <a:ln>
                <a:solidFill>
                  <a:srgbClr val="BF9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latin typeface="Calibri" panose="020F0502020204030204"/>
                    <a:ea typeface="+mn-ea"/>
                    <a:cs typeface="+mn-cs"/>
                  </a:rPr>
                  <a:t>Databases</a:t>
                </a:r>
              </a:p>
            </p:txBody>
          </p:sp>
        </p:grpSp>
        <p:sp>
          <p:nvSpPr>
            <p:cNvPr id="116" name="Arrow: Right 115">
              <a:extLst>
                <a:ext uri="{FF2B5EF4-FFF2-40B4-BE49-F238E27FC236}">
                  <a16:creationId xmlns:a16="http://schemas.microsoft.com/office/drawing/2014/main" id="{D20ACF08-D28D-87A4-0A38-438434A37FB2}"/>
                </a:ext>
              </a:extLst>
            </p:cNvPr>
            <p:cNvSpPr/>
            <p:nvPr/>
          </p:nvSpPr>
          <p:spPr>
            <a:xfrm>
              <a:off x="1055612" y="5578674"/>
              <a:ext cx="77797" cy="237046"/>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6" name="Group 75">
            <a:extLst>
              <a:ext uri="{FF2B5EF4-FFF2-40B4-BE49-F238E27FC236}">
                <a16:creationId xmlns:a16="http://schemas.microsoft.com/office/drawing/2014/main" id="{02C4800C-B8E8-9FA2-CC77-F93C0569E919}"/>
              </a:ext>
            </a:extLst>
          </p:cNvPr>
          <p:cNvGrpSpPr/>
          <p:nvPr/>
        </p:nvGrpSpPr>
        <p:grpSpPr>
          <a:xfrm>
            <a:off x="134405" y="2244395"/>
            <a:ext cx="2304000" cy="2255375"/>
            <a:chOff x="1152000" y="2172625"/>
            <a:chExt cx="2304000" cy="2255375"/>
          </a:xfrm>
        </p:grpSpPr>
        <p:sp>
          <p:nvSpPr>
            <p:cNvPr id="200" name="Rectangle: Rounded Corners 199">
              <a:extLst>
                <a:ext uri="{FF2B5EF4-FFF2-40B4-BE49-F238E27FC236}">
                  <a16:creationId xmlns:a16="http://schemas.microsoft.com/office/drawing/2014/main" id="{6E4DAF7D-EE7C-2F05-155A-D4B8C167C739}"/>
                </a:ext>
              </a:extLst>
            </p:cNvPr>
            <p:cNvSpPr/>
            <p:nvPr/>
          </p:nvSpPr>
          <p:spPr>
            <a:xfrm>
              <a:off x="1152000" y="2268000"/>
              <a:ext cx="2304000" cy="2160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TextBox 200">
              <a:extLst>
                <a:ext uri="{FF2B5EF4-FFF2-40B4-BE49-F238E27FC236}">
                  <a16:creationId xmlns:a16="http://schemas.microsoft.com/office/drawing/2014/main" id="{77A46757-C97E-EBF5-4924-311094CC8CDC}"/>
                </a:ext>
              </a:extLst>
            </p:cNvPr>
            <p:cNvSpPr txBox="1"/>
            <p:nvPr/>
          </p:nvSpPr>
          <p:spPr>
            <a:xfrm>
              <a:off x="1218418" y="2172625"/>
              <a:ext cx="1885700"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Information Request Tracking</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Rectangle 201">
              <a:extLst>
                <a:ext uri="{FF2B5EF4-FFF2-40B4-BE49-F238E27FC236}">
                  <a16:creationId xmlns:a16="http://schemas.microsoft.com/office/drawing/2014/main" id="{9431FAE3-FDDD-3966-17B8-5F50AAEEE20B}"/>
                </a:ext>
              </a:extLst>
            </p:cNvPr>
            <p:cNvSpPr/>
            <p:nvPr/>
          </p:nvSpPr>
          <p:spPr>
            <a:xfrm>
              <a:off x="1254760" y="2664000"/>
              <a:ext cx="1008000" cy="360000"/>
            </a:xfrm>
            <a:prstGeom prst="rect">
              <a:avLst/>
            </a:prstGeom>
            <a:solidFill>
              <a:schemeClr val="bg2">
                <a:lumMod val="75000"/>
              </a:schemeClr>
            </a:solidFill>
            <a:ln>
              <a:noFill/>
            </a:ln>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Service Catalog</a:t>
              </a:r>
            </a:p>
          </p:txBody>
        </p:sp>
        <p:sp>
          <p:nvSpPr>
            <p:cNvPr id="203" name="Rectangle 202">
              <a:extLst>
                <a:ext uri="{FF2B5EF4-FFF2-40B4-BE49-F238E27FC236}">
                  <a16:creationId xmlns:a16="http://schemas.microsoft.com/office/drawing/2014/main" id="{02D7A14C-91BE-0834-2F03-1A036600E883}"/>
                </a:ext>
              </a:extLst>
            </p:cNvPr>
            <p:cNvSpPr/>
            <p:nvPr/>
          </p:nvSpPr>
          <p:spPr>
            <a:xfrm>
              <a:off x="1254760" y="3096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Request Fulfillment</a:t>
              </a:r>
            </a:p>
          </p:txBody>
        </p:sp>
        <p:sp>
          <p:nvSpPr>
            <p:cNvPr id="204" name="Rectangle 203">
              <a:extLst>
                <a:ext uri="{FF2B5EF4-FFF2-40B4-BE49-F238E27FC236}">
                  <a16:creationId xmlns:a16="http://schemas.microsoft.com/office/drawing/2014/main" id="{BDFC9BB3-D8F0-DD2B-1787-882822A0577C}"/>
                </a:ext>
              </a:extLst>
            </p:cNvPr>
            <p:cNvSpPr/>
            <p:nvPr/>
          </p:nvSpPr>
          <p:spPr>
            <a:xfrm>
              <a:off x="2334760" y="2664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Automation and Self-Service</a:t>
              </a:r>
            </a:p>
          </p:txBody>
        </p:sp>
        <p:sp>
          <p:nvSpPr>
            <p:cNvPr id="205" name="Rectangle 204">
              <a:extLst>
                <a:ext uri="{FF2B5EF4-FFF2-40B4-BE49-F238E27FC236}">
                  <a16:creationId xmlns:a16="http://schemas.microsoft.com/office/drawing/2014/main" id="{E99F87EF-5BB4-C71A-C354-07201E15CA44}"/>
                </a:ext>
              </a:extLst>
            </p:cNvPr>
            <p:cNvSpPr/>
            <p:nvPr/>
          </p:nvSpPr>
          <p:spPr>
            <a:xfrm>
              <a:off x="2334760" y="3096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Approval Workflows</a:t>
              </a:r>
            </a:p>
          </p:txBody>
        </p:sp>
        <p:grpSp>
          <p:nvGrpSpPr>
            <p:cNvPr id="206" name="Group 205">
              <a:extLst>
                <a:ext uri="{FF2B5EF4-FFF2-40B4-BE49-F238E27FC236}">
                  <a16:creationId xmlns:a16="http://schemas.microsoft.com/office/drawing/2014/main" id="{B192723A-7F0B-D696-895C-A2D76306B618}"/>
                </a:ext>
              </a:extLst>
            </p:cNvPr>
            <p:cNvGrpSpPr/>
            <p:nvPr/>
          </p:nvGrpSpPr>
          <p:grpSpPr>
            <a:xfrm>
              <a:off x="1254760" y="3528000"/>
              <a:ext cx="2088000" cy="360000"/>
              <a:chOff x="1260000" y="2088000"/>
              <a:chExt cx="2088000" cy="360000"/>
            </a:xfrm>
          </p:grpSpPr>
          <p:sp>
            <p:nvSpPr>
              <p:cNvPr id="209" name="Rectangle 208">
                <a:extLst>
                  <a:ext uri="{FF2B5EF4-FFF2-40B4-BE49-F238E27FC236}">
                    <a16:creationId xmlns:a16="http://schemas.microsoft.com/office/drawing/2014/main" id="{1135E608-5F62-FB7C-411A-465086EB5340}"/>
                  </a:ext>
                </a:extLst>
              </p:cNvPr>
              <p:cNvSpPr/>
              <p:nvPr/>
            </p:nvSpPr>
            <p:spPr>
              <a:xfrm>
                <a:off x="1260000" y="2088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Communication and Notifications</a:t>
                </a:r>
              </a:p>
            </p:txBody>
          </p:sp>
          <p:sp>
            <p:nvSpPr>
              <p:cNvPr id="210" name="Rectangle 209">
                <a:extLst>
                  <a:ext uri="{FF2B5EF4-FFF2-40B4-BE49-F238E27FC236}">
                    <a16:creationId xmlns:a16="http://schemas.microsoft.com/office/drawing/2014/main" id="{632229F1-D601-6E11-99A5-A03BF37A0AD2}"/>
                  </a:ext>
                </a:extLst>
              </p:cNvPr>
              <p:cNvSpPr/>
              <p:nvPr/>
            </p:nvSpPr>
            <p:spPr>
              <a:xfrm>
                <a:off x="2340000" y="2088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Analytics and Reporting</a:t>
                </a:r>
              </a:p>
            </p:txBody>
          </p:sp>
        </p:grpSp>
        <p:sp>
          <p:nvSpPr>
            <p:cNvPr id="207" name="Rectangle 206">
              <a:extLst>
                <a:ext uri="{FF2B5EF4-FFF2-40B4-BE49-F238E27FC236}">
                  <a16:creationId xmlns:a16="http://schemas.microsoft.com/office/drawing/2014/main" id="{D2C7F03E-3263-DABA-D9DA-A54F6600B3D3}"/>
                </a:ext>
              </a:extLst>
            </p:cNvPr>
            <p:cNvSpPr/>
            <p:nvPr/>
          </p:nvSpPr>
          <p:spPr>
            <a:xfrm>
              <a:off x="1254760" y="2412000"/>
              <a:ext cx="2088000" cy="18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Service Request Interface</a:t>
              </a:r>
            </a:p>
          </p:txBody>
        </p:sp>
        <p:sp>
          <p:nvSpPr>
            <p:cNvPr id="208" name="Cylinder 207">
              <a:extLst>
                <a:ext uri="{FF2B5EF4-FFF2-40B4-BE49-F238E27FC236}">
                  <a16:creationId xmlns:a16="http://schemas.microsoft.com/office/drawing/2014/main" id="{BB6B8C87-63A9-1E33-B51A-00B0B861B9D0}"/>
                </a:ext>
              </a:extLst>
            </p:cNvPr>
            <p:cNvSpPr/>
            <p:nvPr/>
          </p:nvSpPr>
          <p:spPr>
            <a:xfrm>
              <a:off x="1344760" y="3996000"/>
              <a:ext cx="1908000" cy="288000"/>
            </a:xfrm>
            <a:prstGeom prst="can">
              <a:avLst/>
            </a:prstGeom>
            <a:solidFill>
              <a:schemeClr val="bg2">
                <a:lumMod val="75000"/>
              </a:schemeClr>
            </a:solidFill>
            <a:ln>
              <a:solidFill>
                <a:srgbClr val="7DA6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Database</a:t>
              </a:r>
            </a:p>
          </p:txBody>
        </p:sp>
      </p:grpSp>
      <p:grpSp>
        <p:nvGrpSpPr>
          <p:cNvPr id="77" name="Group 76">
            <a:extLst>
              <a:ext uri="{FF2B5EF4-FFF2-40B4-BE49-F238E27FC236}">
                <a16:creationId xmlns:a16="http://schemas.microsoft.com/office/drawing/2014/main" id="{02D43F0F-D5F2-D84F-104A-AA534817CDBE}"/>
              </a:ext>
            </a:extLst>
          </p:cNvPr>
          <p:cNvGrpSpPr/>
          <p:nvPr/>
        </p:nvGrpSpPr>
        <p:grpSpPr>
          <a:xfrm>
            <a:off x="2654405" y="2253343"/>
            <a:ext cx="2304000" cy="2246427"/>
            <a:chOff x="3672000" y="2181573"/>
            <a:chExt cx="2304000" cy="2246427"/>
          </a:xfrm>
        </p:grpSpPr>
        <p:sp>
          <p:nvSpPr>
            <p:cNvPr id="190" name="Rectangle: Rounded Corners 189">
              <a:extLst>
                <a:ext uri="{FF2B5EF4-FFF2-40B4-BE49-F238E27FC236}">
                  <a16:creationId xmlns:a16="http://schemas.microsoft.com/office/drawing/2014/main" id="{A84DBE22-9525-A0A3-D8C2-A92A8FF51A4D}"/>
                </a:ext>
              </a:extLst>
            </p:cNvPr>
            <p:cNvSpPr/>
            <p:nvPr/>
          </p:nvSpPr>
          <p:spPr>
            <a:xfrm>
              <a:off x="3672000" y="2268000"/>
              <a:ext cx="2304000" cy="2160000"/>
            </a:xfrm>
            <a:prstGeom prst="roundRect">
              <a:avLst>
                <a:gd name="adj" fmla="val 335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TextBox 190">
              <a:extLst>
                <a:ext uri="{FF2B5EF4-FFF2-40B4-BE49-F238E27FC236}">
                  <a16:creationId xmlns:a16="http://schemas.microsoft.com/office/drawing/2014/main" id="{F6074FE2-426D-16CF-D7BB-2B30EB9B6860}"/>
                </a:ext>
              </a:extLst>
            </p:cNvPr>
            <p:cNvSpPr txBox="1"/>
            <p:nvPr/>
          </p:nvSpPr>
          <p:spPr>
            <a:xfrm>
              <a:off x="3791015" y="2181573"/>
              <a:ext cx="1617998"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Digital Adoption Platform</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2" name="Rectangle 191">
              <a:extLst>
                <a:ext uri="{FF2B5EF4-FFF2-40B4-BE49-F238E27FC236}">
                  <a16:creationId xmlns:a16="http://schemas.microsoft.com/office/drawing/2014/main" id="{870ECB9E-B7AE-0388-3C15-1D68EF97DF1D}"/>
                </a:ext>
              </a:extLst>
            </p:cNvPr>
            <p:cNvSpPr/>
            <p:nvPr/>
          </p:nvSpPr>
          <p:spPr>
            <a:xfrm>
              <a:off x="3780000" y="2664000"/>
              <a:ext cx="1008000" cy="360000"/>
            </a:xfrm>
            <a:prstGeom prst="rect">
              <a:avLst/>
            </a:prstGeom>
            <a:solidFill>
              <a:schemeClr val="bg2">
                <a:lumMod val="75000"/>
              </a:schemeClr>
            </a:solidFill>
            <a:ln>
              <a:noFill/>
            </a:ln>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Onboarding and Training</a:t>
              </a:r>
            </a:p>
          </p:txBody>
        </p:sp>
        <p:sp>
          <p:nvSpPr>
            <p:cNvPr id="193" name="Rectangle 192">
              <a:extLst>
                <a:ext uri="{FF2B5EF4-FFF2-40B4-BE49-F238E27FC236}">
                  <a16:creationId xmlns:a16="http://schemas.microsoft.com/office/drawing/2014/main" id="{35ED8DCA-E12F-3CEE-2905-8694E6565673}"/>
                </a:ext>
              </a:extLst>
            </p:cNvPr>
            <p:cNvSpPr/>
            <p:nvPr/>
          </p:nvSpPr>
          <p:spPr>
            <a:xfrm>
              <a:off x="3780000" y="3096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User Analytics</a:t>
              </a:r>
            </a:p>
          </p:txBody>
        </p:sp>
        <p:sp>
          <p:nvSpPr>
            <p:cNvPr id="194" name="Rectangle 193">
              <a:extLst>
                <a:ext uri="{FF2B5EF4-FFF2-40B4-BE49-F238E27FC236}">
                  <a16:creationId xmlns:a16="http://schemas.microsoft.com/office/drawing/2014/main" id="{5225AE6B-9778-AE2C-CA20-6BBD7280F90C}"/>
                </a:ext>
              </a:extLst>
            </p:cNvPr>
            <p:cNvSpPr/>
            <p:nvPr/>
          </p:nvSpPr>
          <p:spPr>
            <a:xfrm>
              <a:off x="4860000" y="2664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In-App Guidance</a:t>
              </a:r>
            </a:p>
          </p:txBody>
        </p:sp>
        <p:sp>
          <p:nvSpPr>
            <p:cNvPr id="195" name="Rectangle 194">
              <a:extLst>
                <a:ext uri="{FF2B5EF4-FFF2-40B4-BE49-F238E27FC236}">
                  <a16:creationId xmlns:a16="http://schemas.microsoft.com/office/drawing/2014/main" id="{BC24F10D-F9E8-7BB5-9F24-047ECF7C0327}"/>
                </a:ext>
              </a:extLst>
            </p:cNvPr>
            <p:cNvSpPr/>
            <p:nvPr/>
          </p:nvSpPr>
          <p:spPr>
            <a:xfrm>
              <a:off x="4860000" y="3096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Resource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Calibri" panose="020F0502020204030204" pitchFamily="34" charset="0"/>
                </a:rPr>
                <a:t>Centres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196" name="Rectangle 195">
              <a:extLst>
                <a:ext uri="{FF2B5EF4-FFF2-40B4-BE49-F238E27FC236}">
                  <a16:creationId xmlns:a16="http://schemas.microsoft.com/office/drawing/2014/main" id="{0D79C776-179D-686A-A04A-BCC7BF4BE4B9}"/>
                </a:ext>
              </a:extLst>
            </p:cNvPr>
            <p:cNvSpPr/>
            <p:nvPr/>
          </p:nvSpPr>
          <p:spPr>
            <a:xfrm>
              <a:off x="3780000" y="3528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Task Automation</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197" name="Rectangle 196">
              <a:extLst>
                <a:ext uri="{FF2B5EF4-FFF2-40B4-BE49-F238E27FC236}">
                  <a16:creationId xmlns:a16="http://schemas.microsoft.com/office/drawing/2014/main" id="{193DA10C-3B20-BBCE-3CDB-516CA3F65EA1}"/>
                </a:ext>
              </a:extLst>
            </p:cNvPr>
            <p:cNvSpPr/>
            <p:nvPr/>
          </p:nvSpPr>
          <p:spPr>
            <a:xfrm>
              <a:off x="4860000" y="3528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Feedback Collection</a:t>
              </a:r>
            </a:p>
          </p:txBody>
        </p:sp>
        <p:sp>
          <p:nvSpPr>
            <p:cNvPr id="198" name="Rectangle 197">
              <a:extLst>
                <a:ext uri="{FF2B5EF4-FFF2-40B4-BE49-F238E27FC236}">
                  <a16:creationId xmlns:a16="http://schemas.microsoft.com/office/drawing/2014/main" id="{F7501300-9888-2453-8032-300299D3D99D}"/>
                </a:ext>
              </a:extLst>
            </p:cNvPr>
            <p:cNvSpPr/>
            <p:nvPr/>
          </p:nvSpPr>
          <p:spPr>
            <a:xfrm>
              <a:off x="3780000" y="2412000"/>
              <a:ext cx="2088000" cy="18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Channel Integration</a:t>
              </a:r>
            </a:p>
          </p:txBody>
        </p:sp>
        <p:sp>
          <p:nvSpPr>
            <p:cNvPr id="199" name="Cylinder 198">
              <a:extLst>
                <a:ext uri="{FF2B5EF4-FFF2-40B4-BE49-F238E27FC236}">
                  <a16:creationId xmlns:a16="http://schemas.microsoft.com/office/drawing/2014/main" id="{3E5DEB12-6C6F-3359-8FE8-8E0A8A25BD71}"/>
                </a:ext>
              </a:extLst>
            </p:cNvPr>
            <p:cNvSpPr/>
            <p:nvPr/>
          </p:nvSpPr>
          <p:spPr>
            <a:xfrm>
              <a:off x="3780000" y="3996000"/>
              <a:ext cx="1008000" cy="288000"/>
            </a:xfrm>
            <a:prstGeom prst="can">
              <a:avLst/>
            </a:prstGeom>
            <a:solidFill>
              <a:schemeClr val="bg2">
                <a:lumMod val="75000"/>
              </a:schemeClr>
            </a:solidFill>
            <a:ln>
              <a:solidFill>
                <a:srgbClr val="7DA6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Database</a:t>
              </a:r>
            </a:p>
          </p:txBody>
        </p:sp>
        <p:sp>
          <p:nvSpPr>
            <p:cNvPr id="72" name="Rectangle 71">
              <a:extLst>
                <a:ext uri="{FF2B5EF4-FFF2-40B4-BE49-F238E27FC236}">
                  <a16:creationId xmlns:a16="http://schemas.microsoft.com/office/drawing/2014/main" id="{DE385361-D8F7-DB62-A131-5A859CC8C236}"/>
                </a:ext>
              </a:extLst>
            </p:cNvPr>
            <p:cNvSpPr/>
            <p:nvPr/>
          </p:nvSpPr>
          <p:spPr>
            <a:xfrm>
              <a:off x="4860000" y="3960000"/>
              <a:ext cx="1008000" cy="3600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Content Creation</a:t>
              </a:r>
            </a:p>
          </p:txBody>
        </p:sp>
      </p:grpSp>
      <p:sp>
        <p:nvSpPr>
          <p:cNvPr id="35" name="Cylinder 34">
            <a:extLst>
              <a:ext uri="{FF2B5EF4-FFF2-40B4-BE49-F238E27FC236}">
                <a16:creationId xmlns:a16="http://schemas.microsoft.com/office/drawing/2014/main" id="{05C97C28-92E9-5C1B-D065-857BEF9B6EAF}"/>
              </a:ext>
            </a:extLst>
          </p:cNvPr>
          <p:cNvSpPr/>
          <p:nvPr/>
        </p:nvSpPr>
        <p:spPr>
          <a:xfrm>
            <a:off x="5612527" y="4955089"/>
            <a:ext cx="5619473" cy="301998"/>
          </a:xfrm>
          <a:prstGeom prst="can">
            <a:avLst/>
          </a:prstGeom>
          <a:solidFill>
            <a:srgbClr val="7DA661"/>
          </a:solidFill>
          <a:ln>
            <a:solidFill>
              <a:srgbClr val="7DA6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Knowledge Repository</a:t>
            </a:r>
          </a:p>
        </p:txBody>
      </p:sp>
      <p:sp>
        <p:nvSpPr>
          <p:cNvPr id="84" name="Rectangle: Rounded Corners 83">
            <a:extLst>
              <a:ext uri="{FF2B5EF4-FFF2-40B4-BE49-F238E27FC236}">
                <a16:creationId xmlns:a16="http://schemas.microsoft.com/office/drawing/2014/main" id="{5FB99BBC-F409-D665-3E55-F8CD8ADF2B89}"/>
              </a:ext>
            </a:extLst>
          </p:cNvPr>
          <p:cNvSpPr/>
          <p:nvPr/>
        </p:nvSpPr>
        <p:spPr>
          <a:xfrm>
            <a:off x="8284878" y="3202505"/>
            <a:ext cx="1152000" cy="936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88">
            <a:extLst>
              <a:ext uri="{FF2B5EF4-FFF2-40B4-BE49-F238E27FC236}">
                <a16:creationId xmlns:a16="http://schemas.microsoft.com/office/drawing/2014/main" id="{2AADA019-B35C-7FA9-1182-F642CD6F785A}"/>
              </a:ext>
            </a:extLst>
          </p:cNvPr>
          <p:cNvSpPr/>
          <p:nvPr/>
        </p:nvSpPr>
        <p:spPr>
          <a:xfrm>
            <a:off x="8362461" y="3706505"/>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Context Aware Search</a:t>
            </a:r>
          </a:p>
        </p:txBody>
      </p:sp>
      <p:sp>
        <p:nvSpPr>
          <p:cNvPr id="95" name="Rectangle 94">
            <a:extLst>
              <a:ext uri="{FF2B5EF4-FFF2-40B4-BE49-F238E27FC236}">
                <a16:creationId xmlns:a16="http://schemas.microsoft.com/office/drawing/2014/main" id="{36FD1B3A-EA0C-D688-539D-6941002C71D7}"/>
              </a:ext>
            </a:extLst>
          </p:cNvPr>
          <p:cNvSpPr/>
          <p:nvPr/>
        </p:nvSpPr>
        <p:spPr>
          <a:xfrm>
            <a:off x="8362461" y="3274505"/>
            <a:ext cx="1008000" cy="360000"/>
          </a:xfrm>
          <a:prstGeom prst="rect">
            <a:avLst/>
          </a:prstGeom>
          <a:solidFill>
            <a:srgbClr val="6895B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Manual Search</a:t>
            </a:r>
          </a:p>
        </p:txBody>
      </p:sp>
      <p:sp>
        <p:nvSpPr>
          <p:cNvPr id="129" name="Rectangle: Rounded Corners 128">
            <a:extLst>
              <a:ext uri="{FF2B5EF4-FFF2-40B4-BE49-F238E27FC236}">
                <a16:creationId xmlns:a16="http://schemas.microsoft.com/office/drawing/2014/main" id="{925F01E2-801F-5129-3E25-114DF1610327}"/>
              </a:ext>
            </a:extLst>
          </p:cNvPr>
          <p:cNvSpPr/>
          <p:nvPr/>
        </p:nvSpPr>
        <p:spPr>
          <a:xfrm>
            <a:off x="134406" y="1038235"/>
            <a:ext cx="11963698" cy="1079368"/>
          </a:xfrm>
          <a:prstGeom prst="roundRect">
            <a:avLst>
              <a:gd name="adj" fmla="val 10279"/>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TextBox 129">
            <a:extLst>
              <a:ext uri="{FF2B5EF4-FFF2-40B4-BE49-F238E27FC236}">
                <a16:creationId xmlns:a16="http://schemas.microsoft.com/office/drawing/2014/main" id="{9F7DF3B4-8595-306B-013F-97517D2A9F8B}"/>
              </a:ext>
            </a:extLst>
          </p:cNvPr>
          <p:cNvSpPr txBox="1"/>
          <p:nvPr/>
        </p:nvSpPr>
        <p:spPr>
          <a:xfrm>
            <a:off x="200823" y="1010395"/>
            <a:ext cx="648182"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Channels</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44" name="Group 143">
            <a:extLst>
              <a:ext uri="{FF2B5EF4-FFF2-40B4-BE49-F238E27FC236}">
                <a16:creationId xmlns:a16="http://schemas.microsoft.com/office/drawing/2014/main" id="{3FF9A171-B401-07FC-4F9A-71EB33D63B1A}"/>
              </a:ext>
            </a:extLst>
          </p:cNvPr>
          <p:cNvGrpSpPr/>
          <p:nvPr/>
        </p:nvGrpSpPr>
        <p:grpSpPr>
          <a:xfrm>
            <a:off x="1322797" y="1166390"/>
            <a:ext cx="1195502" cy="948221"/>
            <a:chOff x="1324499" y="1204244"/>
            <a:chExt cx="1195502" cy="948221"/>
          </a:xfrm>
        </p:grpSpPr>
        <p:sp>
          <p:nvSpPr>
            <p:cNvPr id="145" name="Rectangle: Rounded Corners 144">
              <a:extLst>
                <a:ext uri="{FF2B5EF4-FFF2-40B4-BE49-F238E27FC236}">
                  <a16:creationId xmlns:a16="http://schemas.microsoft.com/office/drawing/2014/main" id="{84FBFFC1-8373-200A-6AB1-D7357022665A}"/>
                </a:ext>
              </a:extLst>
            </p:cNvPr>
            <p:cNvSpPr/>
            <p:nvPr/>
          </p:nvSpPr>
          <p:spPr>
            <a:xfrm>
              <a:off x="1324499" y="1276818"/>
              <a:ext cx="1195502" cy="875647"/>
            </a:xfrm>
            <a:prstGeom prst="roundRect">
              <a:avLst>
                <a:gd name="adj" fmla="val 3359"/>
              </a:avLst>
            </a:prstGeom>
            <a:noFill/>
            <a:ln>
              <a:solidFill>
                <a:srgbClr val="6895BE"/>
              </a:solidFill>
              <a:prstDash val="dash"/>
              <a:extLst>
                <a:ext uri="{C807C97D-BFC1-408E-A445-0C87EB9F89A2}">
                  <ask:lineSketchStyleProps xmlns:ask="http://schemas.microsoft.com/office/drawing/2018/sketchyshapes" sd="1219033472">
                    <a:custGeom>
                      <a:avLst/>
                      <a:gdLst>
                        <a:gd name="connsiteX0" fmla="*/ 0 w 1728000"/>
                        <a:gd name="connsiteY0" fmla="*/ 22976 h 684000"/>
                        <a:gd name="connsiteX1" fmla="*/ 22976 w 1728000"/>
                        <a:gd name="connsiteY1" fmla="*/ 0 h 684000"/>
                        <a:gd name="connsiteX2" fmla="*/ 617300 w 1728000"/>
                        <a:gd name="connsiteY2" fmla="*/ 0 h 684000"/>
                        <a:gd name="connsiteX3" fmla="*/ 1161162 w 1728000"/>
                        <a:gd name="connsiteY3" fmla="*/ 0 h 684000"/>
                        <a:gd name="connsiteX4" fmla="*/ 1705024 w 1728000"/>
                        <a:gd name="connsiteY4" fmla="*/ 0 h 684000"/>
                        <a:gd name="connsiteX5" fmla="*/ 1728000 w 1728000"/>
                        <a:gd name="connsiteY5" fmla="*/ 22976 h 684000"/>
                        <a:gd name="connsiteX6" fmla="*/ 1728000 w 1728000"/>
                        <a:gd name="connsiteY6" fmla="*/ 661024 h 684000"/>
                        <a:gd name="connsiteX7" fmla="*/ 1705024 w 1728000"/>
                        <a:gd name="connsiteY7" fmla="*/ 684000 h 684000"/>
                        <a:gd name="connsiteX8" fmla="*/ 1177982 w 1728000"/>
                        <a:gd name="connsiteY8" fmla="*/ 684000 h 684000"/>
                        <a:gd name="connsiteX9" fmla="*/ 617300 w 1728000"/>
                        <a:gd name="connsiteY9" fmla="*/ 684000 h 684000"/>
                        <a:gd name="connsiteX10" fmla="*/ 22976 w 1728000"/>
                        <a:gd name="connsiteY10" fmla="*/ 684000 h 684000"/>
                        <a:gd name="connsiteX11" fmla="*/ 0 w 1728000"/>
                        <a:gd name="connsiteY11" fmla="*/ 661024 h 684000"/>
                        <a:gd name="connsiteX12" fmla="*/ 0 w 1728000"/>
                        <a:gd name="connsiteY12" fmla="*/ 22976 h 68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28000" h="684000" extrusionOk="0">
                          <a:moveTo>
                            <a:pt x="0" y="22976"/>
                          </a:moveTo>
                          <a:cubicBezTo>
                            <a:pt x="-1030" y="9652"/>
                            <a:pt x="8521" y="663"/>
                            <a:pt x="22976" y="0"/>
                          </a:cubicBezTo>
                          <a:cubicBezTo>
                            <a:pt x="290190" y="-16940"/>
                            <a:pt x="481123" y="-22461"/>
                            <a:pt x="617300" y="0"/>
                          </a:cubicBezTo>
                          <a:cubicBezTo>
                            <a:pt x="753477" y="22461"/>
                            <a:pt x="987855" y="-19720"/>
                            <a:pt x="1161162" y="0"/>
                          </a:cubicBezTo>
                          <a:cubicBezTo>
                            <a:pt x="1334469" y="19720"/>
                            <a:pt x="1517532" y="-21830"/>
                            <a:pt x="1705024" y="0"/>
                          </a:cubicBezTo>
                          <a:cubicBezTo>
                            <a:pt x="1717180" y="-1716"/>
                            <a:pt x="1728275" y="9271"/>
                            <a:pt x="1728000" y="22976"/>
                          </a:cubicBezTo>
                          <a:cubicBezTo>
                            <a:pt x="1703695" y="246788"/>
                            <a:pt x="1716635" y="409531"/>
                            <a:pt x="1728000" y="661024"/>
                          </a:cubicBezTo>
                          <a:cubicBezTo>
                            <a:pt x="1727853" y="672310"/>
                            <a:pt x="1717208" y="684702"/>
                            <a:pt x="1705024" y="684000"/>
                          </a:cubicBezTo>
                          <a:cubicBezTo>
                            <a:pt x="1503094" y="706508"/>
                            <a:pt x="1433949" y="665779"/>
                            <a:pt x="1177982" y="684000"/>
                          </a:cubicBezTo>
                          <a:cubicBezTo>
                            <a:pt x="922015" y="702221"/>
                            <a:pt x="813285" y="705588"/>
                            <a:pt x="617300" y="684000"/>
                          </a:cubicBezTo>
                          <a:cubicBezTo>
                            <a:pt x="421315" y="662412"/>
                            <a:pt x="239794" y="666848"/>
                            <a:pt x="22976" y="684000"/>
                          </a:cubicBezTo>
                          <a:cubicBezTo>
                            <a:pt x="11543" y="682758"/>
                            <a:pt x="1169" y="672959"/>
                            <a:pt x="0" y="661024"/>
                          </a:cubicBezTo>
                          <a:cubicBezTo>
                            <a:pt x="-16231" y="444671"/>
                            <a:pt x="21806" y="228152"/>
                            <a:pt x="0" y="2297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TextBox 145">
              <a:extLst>
                <a:ext uri="{FF2B5EF4-FFF2-40B4-BE49-F238E27FC236}">
                  <a16:creationId xmlns:a16="http://schemas.microsoft.com/office/drawing/2014/main" id="{7B46E12A-6E6A-DB40-70E5-132E9FB52B96}"/>
                </a:ext>
              </a:extLst>
            </p:cNvPr>
            <p:cNvSpPr txBox="1"/>
            <p:nvPr/>
          </p:nvSpPr>
          <p:spPr>
            <a:xfrm>
              <a:off x="1375079" y="1204244"/>
              <a:ext cx="760796" cy="153888"/>
            </a:xfrm>
            <a:prstGeom prst="rect">
              <a:avLst/>
            </a:prstGeom>
            <a:solidFill>
              <a:schemeClr val="bg1"/>
            </a:solidFill>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In Person</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47" name="Group 146">
            <a:extLst>
              <a:ext uri="{FF2B5EF4-FFF2-40B4-BE49-F238E27FC236}">
                <a16:creationId xmlns:a16="http://schemas.microsoft.com/office/drawing/2014/main" id="{A12C0A18-3E58-FB09-4823-76AAB2AA042C}"/>
              </a:ext>
            </a:extLst>
          </p:cNvPr>
          <p:cNvGrpSpPr/>
          <p:nvPr/>
        </p:nvGrpSpPr>
        <p:grpSpPr>
          <a:xfrm>
            <a:off x="2689268" y="1166390"/>
            <a:ext cx="1195502" cy="948221"/>
            <a:chOff x="1324499" y="1204244"/>
            <a:chExt cx="1195502" cy="948221"/>
          </a:xfrm>
        </p:grpSpPr>
        <p:sp>
          <p:nvSpPr>
            <p:cNvPr id="148" name="Rectangle: Rounded Corners 147">
              <a:extLst>
                <a:ext uri="{FF2B5EF4-FFF2-40B4-BE49-F238E27FC236}">
                  <a16:creationId xmlns:a16="http://schemas.microsoft.com/office/drawing/2014/main" id="{BB5EB696-5B83-2543-4F2D-FC9AEF0302BD}"/>
                </a:ext>
              </a:extLst>
            </p:cNvPr>
            <p:cNvSpPr/>
            <p:nvPr/>
          </p:nvSpPr>
          <p:spPr>
            <a:xfrm>
              <a:off x="1324499" y="1276818"/>
              <a:ext cx="1195502" cy="875647"/>
            </a:xfrm>
            <a:prstGeom prst="roundRect">
              <a:avLst>
                <a:gd name="adj" fmla="val 3359"/>
              </a:avLst>
            </a:prstGeom>
            <a:noFill/>
            <a:ln>
              <a:solidFill>
                <a:srgbClr val="6895BE"/>
              </a:solidFill>
              <a:prstDash val="dash"/>
              <a:extLst>
                <a:ext uri="{C807C97D-BFC1-408E-A445-0C87EB9F89A2}">
                  <ask:lineSketchStyleProps xmlns:ask="http://schemas.microsoft.com/office/drawing/2018/sketchyshapes" sd="1219033472">
                    <a:custGeom>
                      <a:avLst/>
                      <a:gdLst>
                        <a:gd name="connsiteX0" fmla="*/ 0 w 1728000"/>
                        <a:gd name="connsiteY0" fmla="*/ 22976 h 684000"/>
                        <a:gd name="connsiteX1" fmla="*/ 22976 w 1728000"/>
                        <a:gd name="connsiteY1" fmla="*/ 0 h 684000"/>
                        <a:gd name="connsiteX2" fmla="*/ 617300 w 1728000"/>
                        <a:gd name="connsiteY2" fmla="*/ 0 h 684000"/>
                        <a:gd name="connsiteX3" fmla="*/ 1161162 w 1728000"/>
                        <a:gd name="connsiteY3" fmla="*/ 0 h 684000"/>
                        <a:gd name="connsiteX4" fmla="*/ 1705024 w 1728000"/>
                        <a:gd name="connsiteY4" fmla="*/ 0 h 684000"/>
                        <a:gd name="connsiteX5" fmla="*/ 1728000 w 1728000"/>
                        <a:gd name="connsiteY5" fmla="*/ 22976 h 684000"/>
                        <a:gd name="connsiteX6" fmla="*/ 1728000 w 1728000"/>
                        <a:gd name="connsiteY6" fmla="*/ 661024 h 684000"/>
                        <a:gd name="connsiteX7" fmla="*/ 1705024 w 1728000"/>
                        <a:gd name="connsiteY7" fmla="*/ 684000 h 684000"/>
                        <a:gd name="connsiteX8" fmla="*/ 1177982 w 1728000"/>
                        <a:gd name="connsiteY8" fmla="*/ 684000 h 684000"/>
                        <a:gd name="connsiteX9" fmla="*/ 617300 w 1728000"/>
                        <a:gd name="connsiteY9" fmla="*/ 684000 h 684000"/>
                        <a:gd name="connsiteX10" fmla="*/ 22976 w 1728000"/>
                        <a:gd name="connsiteY10" fmla="*/ 684000 h 684000"/>
                        <a:gd name="connsiteX11" fmla="*/ 0 w 1728000"/>
                        <a:gd name="connsiteY11" fmla="*/ 661024 h 684000"/>
                        <a:gd name="connsiteX12" fmla="*/ 0 w 1728000"/>
                        <a:gd name="connsiteY12" fmla="*/ 22976 h 68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28000" h="684000" extrusionOk="0">
                          <a:moveTo>
                            <a:pt x="0" y="22976"/>
                          </a:moveTo>
                          <a:cubicBezTo>
                            <a:pt x="-1030" y="9652"/>
                            <a:pt x="8521" y="663"/>
                            <a:pt x="22976" y="0"/>
                          </a:cubicBezTo>
                          <a:cubicBezTo>
                            <a:pt x="290190" y="-16940"/>
                            <a:pt x="481123" y="-22461"/>
                            <a:pt x="617300" y="0"/>
                          </a:cubicBezTo>
                          <a:cubicBezTo>
                            <a:pt x="753477" y="22461"/>
                            <a:pt x="987855" y="-19720"/>
                            <a:pt x="1161162" y="0"/>
                          </a:cubicBezTo>
                          <a:cubicBezTo>
                            <a:pt x="1334469" y="19720"/>
                            <a:pt x="1517532" y="-21830"/>
                            <a:pt x="1705024" y="0"/>
                          </a:cubicBezTo>
                          <a:cubicBezTo>
                            <a:pt x="1717180" y="-1716"/>
                            <a:pt x="1728275" y="9271"/>
                            <a:pt x="1728000" y="22976"/>
                          </a:cubicBezTo>
                          <a:cubicBezTo>
                            <a:pt x="1703695" y="246788"/>
                            <a:pt x="1716635" y="409531"/>
                            <a:pt x="1728000" y="661024"/>
                          </a:cubicBezTo>
                          <a:cubicBezTo>
                            <a:pt x="1727853" y="672310"/>
                            <a:pt x="1717208" y="684702"/>
                            <a:pt x="1705024" y="684000"/>
                          </a:cubicBezTo>
                          <a:cubicBezTo>
                            <a:pt x="1503094" y="706508"/>
                            <a:pt x="1433949" y="665779"/>
                            <a:pt x="1177982" y="684000"/>
                          </a:cubicBezTo>
                          <a:cubicBezTo>
                            <a:pt x="922015" y="702221"/>
                            <a:pt x="813285" y="705588"/>
                            <a:pt x="617300" y="684000"/>
                          </a:cubicBezTo>
                          <a:cubicBezTo>
                            <a:pt x="421315" y="662412"/>
                            <a:pt x="239794" y="666848"/>
                            <a:pt x="22976" y="684000"/>
                          </a:cubicBezTo>
                          <a:cubicBezTo>
                            <a:pt x="11543" y="682758"/>
                            <a:pt x="1169" y="672959"/>
                            <a:pt x="0" y="661024"/>
                          </a:cubicBezTo>
                          <a:cubicBezTo>
                            <a:pt x="-16231" y="444671"/>
                            <a:pt x="21806" y="228152"/>
                            <a:pt x="0" y="2297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TextBox 148">
              <a:extLst>
                <a:ext uri="{FF2B5EF4-FFF2-40B4-BE49-F238E27FC236}">
                  <a16:creationId xmlns:a16="http://schemas.microsoft.com/office/drawing/2014/main" id="{F6914B66-711A-0A48-CCF3-04BDC3213A4B}"/>
                </a:ext>
              </a:extLst>
            </p:cNvPr>
            <p:cNvSpPr txBox="1"/>
            <p:nvPr/>
          </p:nvSpPr>
          <p:spPr>
            <a:xfrm>
              <a:off x="1375079" y="1204244"/>
              <a:ext cx="760796" cy="153888"/>
            </a:xfrm>
            <a:prstGeom prst="rect">
              <a:avLst/>
            </a:prstGeom>
            <a:solidFill>
              <a:schemeClr val="bg1"/>
            </a:solidFill>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Mail</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53" name="Group 152">
            <a:extLst>
              <a:ext uri="{FF2B5EF4-FFF2-40B4-BE49-F238E27FC236}">
                <a16:creationId xmlns:a16="http://schemas.microsoft.com/office/drawing/2014/main" id="{960DA3DD-5F0F-51DE-B404-B96791E88C37}"/>
              </a:ext>
            </a:extLst>
          </p:cNvPr>
          <p:cNvGrpSpPr/>
          <p:nvPr/>
        </p:nvGrpSpPr>
        <p:grpSpPr>
          <a:xfrm>
            <a:off x="10800516" y="1166390"/>
            <a:ext cx="1195502" cy="948221"/>
            <a:chOff x="4339754" y="1166390"/>
            <a:chExt cx="1195502" cy="948221"/>
          </a:xfrm>
        </p:grpSpPr>
        <p:sp>
          <p:nvSpPr>
            <p:cNvPr id="141" name="Rectangle: Rounded Corners 140">
              <a:extLst>
                <a:ext uri="{FF2B5EF4-FFF2-40B4-BE49-F238E27FC236}">
                  <a16:creationId xmlns:a16="http://schemas.microsoft.com/office/drawing/2014/main" id="{B0AFF16A-ED2C-2007-8561-A19D55943107}"/>
                </a:ext>
              </a:extLst>
            </p:cNvPr>
            <p:cNvSpPr/>
            <p:nvPr/>
          </p:nvSpPr>
          <p:spPr>
            <a:xfrm>
              <a:off x="4339754" y="1238964"/>
              <a:ext cx="1195502" cy="875647"/>
            </a:xfrm>
            <a:prstGeom prst="roundRect">
              <a:avLst>
                <a:gd name="adj" fmla="val 3359"/>
              </a:avLst>
            </a:prstGeom>
            <a:noFill/>
            <a:ln>
              <a:solidFill>
                <a:srgbClr val="6895BE"/>
              </a:solidFill>
              <a:prstDash val="dash"/>
              <a:extLst>
                <a:ext uri="{C807C97D-BFC1-408E-A445-0C87EB9F89A2}">
                  <ask:lineSketchStyleProps xmlns:ask="http://schemas.microsoft.com/office/drawing/2018/sketchyshapes" sd="1219033472">
                    <a:custGeom>
                      <a:avLst/>
                      <a:gdLst>
                        <a:gd name="connsiteX0" fmla="*/ 0 w 1728000"/>
                        <a:gd name="connsiteY0" fmla="*/ 22976 h 684000"/>
                        <a:gd name="connsiteX1" fmla="*/ 22976 w 1728000"/>
                        <a:gd name="connsiteY1" fmla="*/ 0 h 684000"/>
                        <a:gd name="connsiteX2" fmla="*/ 617300 w 1728000"/>
                        <a:gd name="connsiteY2" fmla="*/ 0 h 684000"/>
                        <a:gd name="connsiteX3" fmla="*/ 1161162 w 1728000"/>
                        <a:gd name="connsiteY3" fmla="*/ 0 h 684000"/>
                        <a:gd name="connsiteX4" fmla="*/ 1705024 w 1728000"/>
                        <a:gd name="connsiteY4" fmla="*/ 0 h 684000"/>
                        <a:gd name="connsiteX5" fmla="*/ 1728000 w 1728000"/>
                        <a:gd name="connsiteY5" fmla="*/ 22976 h 684000"/>
                        <a:gd name="connsiteX6" fmla="*/ 1728000 w 1728000"/>
                        <a:gd name="connsiteY6" fmla="*/ 661024 h 684000"/>
                        <a:gd name="connsiteX7" fmla="*/ 1705024 w 1728000"/>
                        <a:gd name="connsiteY7" fmla="*/ 684000 h 684000"/>
                        <a:gd name="connsiteX8" fmla="*/ 1177982 w 1728000"/>
                        <a:gd name="connsiteY8" fmla="*/ 684000 h 684000"/>
                        <a:gd name="connsiteX9" fmla="*/ 617300 w 1728000"/>
                        <a:gd name="connsiteY9" fmla="*/ 684000 h 684000"/>
                        <a:gd name="connsiteX10" fmla="*/ 22976 w 1728000"/>
                        <a:gd name="connsiteY10" fmla="*/ 684000 h 684000"/>
                        <a:gd name="connsiteX11" fmla="*/ 0 w 1728000"/>
                        <a:gd name="connsiteY11" fmla="*/ 661024 h 684000"/>
                        <a:gd name="connsiteX12" fmla="*/ 0 w 1728000"/>
                        <a:gd name="connsiteY12" fmla="*/ 22976 h 68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28000" h="684000" extrusionOk="0">
                          <a:moveTo>
                            <a:pt x="0" y="22976"/>
                          </a:moveTo>
                          <a:cubicBezTo>
                            <a:pt x="-1030" y="9652"/>
                            <a:pt x="8521" y="663"/>
                            <a:pt x="22976" y="0"/>
                          </a:cubicBezTo>
                          <a:cubicBezTo>
                            <a:pt x="290190" y="-16940"/>
                            <a:pt x="481123" y="-22461"/>
                            <a:pt x="617300" y="0"/>
                          </a:cubicBezTo>
                          <a:cubicBezTo>
                            <a:pt x="753477" y="22461"/>
                            <a:pt x="987855" y="-19720"/>
                            <a:pt x="1161162" y="0"/>
                          </a:cubicBezTo>
                          <a:cubicBezTo>
                            <a:pt x="1334469" y="19720"/>
                            <a:pt x="1517532" y="-21830"/>
                            <a:pt x="1705024" y="0"/>
                          </a:cubicBezTo>
                          <a:cubicBezTo>
                            <a:pt x="1717180" y="-1716"/>
                            <a:pt x="1728275" y="9271"/>
                            <a:pt x="1728000" y="22976"/>
                          </a:cubicBezTo>
                          <a:cubicBezTo>
                            <a:pt x="1703695" y="246788"/>
                            <a:pt x="1716635" y="409531"/>
                            <a:pt x="1728000" y="661024"/>
                          </a:cubicBezTo>
                          <a:cubicBezTo>
                            <a:pt x="1727853" y="672310"/>
                            <a:pt x="1717208" y="684702"/>
                            <a:pt x="1705024" y="684000"/>
                          </a:cubicBezTo>
                          <a:cubicBezTo>
                            <a:pt x="1503094" y="706508"/>
                            <a:pt x="1433949" y="665779"/>
                            <a:pt x="1177982" y="684000"/>
                          </a:cubicBezTo>
                          <a:cubicBezTo>
                            <a:pt x="922015" y="702221"/>
                            <a:pt x="813285" y="705588"/>
                            <a:pt x="617300" y="684000"/>
                          </a:cubicBezTo>
                          <a:cubicBezTo>
                            <a:pt x="421315" y="662412"/>
                            <a:pt x="239794" y="666848"/>
                            <a:pt x="22976" y="684000"/>
                          </a:cubicBezTo>
                          <a:cubicBezTo>
                            <a:pt x="11543" y="682758"/>
                            <a:pt x="1169" y="672959"/>
                            <a:pt x="0" y="661024"/>
                          </a:cubicBezTo>
                          <a:cubicBezTo>
                            <a:pt x="-16231" y="444671"/>
                            <a:pt x="21806" y="228152"/>
                            <a:pt x="0" y="2297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TextBox 141">
              <a:extLst>
                <a:ext uri="{FF2B5EF4-FFF2-40B4-BE49-F238E27FC236}">
                  <a16:creationId xmlns:a16="http://schemas.microsoft.com/office/drawing/2014/main" id="{8AEF28C6-8954-EC90-16E4-EEF048D831D8}"/>
                </a:ext>
              </a:extLst>
            </p:cNvPr>
            <p:cNvSpPr txBox="1"/>
            <p:nvPr/>
          </p:nvSpPr>
          <p:spPr>
            <a:xfrm>
              <a:off x="4390334" y="1166390"/>
              <a:ext cx="760796" cy="153888"/>
            </a:xfrm>
            <a:prstGeom prst="rect">
              <a:avLst/>
            </a:prstGeom>
            <a:solidFill>
              <a:schemeClr val="bg1"/>
            </a:solidFill>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Telephone</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0" name="Rectangle 149">
              <a:extLst>
                <a:ext uri="{FF2B5EF4-FFF2-40B4-BE49-F238E27FC236}">
                  <a16:creationId xmlns:a16="http://schemas.microsoft.com/office/drawing/2014/main" id="{FAF6BFE7-FB41-97FA-6FEF-B47A1C9F9971}"/>
                </a:ext>
              </a:extLst>
            </p:cNvPr>
            <p:cNvSpPr/>
            <p:nvPr/>
          </p:nvSpPr>
          <p:spPr>
            <a:xfrm>
              <a:off x="4464627" y="1406868"/>
              <a:ext cx="720000" cy="180000"/>
            </a:xfrm>
            <a:prstGeom prst="rect">
              <a:avLst/>
            </a:prstGeom>
            <a:solidFill>
              <a:srgbClr val="7F7F7F"/>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SMS</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Rectangle 150">
              <a:extLst>
                <a:ext uri="{FF2B5EF4-FFF2-40B4-BE49-F238E27FC236}">
                  <a16:creationId xmlns:a16="http://schemas.microsoft.com/office/drawing/2014/main" id="{9E3A21EC-E761-69A9-4221-207841F7F64C}"/>
                </a:ext>
              </a:extLst>
            </p:cNvPr>
            <p:cNvSpPr/>
            <p:nvPr/>
          </p:nvSpPr>
          <p:spPr>
            <a:xfrm>
              <a:off x="4463105" y="1675138"/>
              <a:ext cx="720000" cy="180000"/>
            </a:xfrm>
            <a:prstGeom prst="rect">
              <a:avLst/>
            </a:prstGeom>
            <a:solidFill>
              <a:srgbClr val="7F7F7F"/>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IVR</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2" name="Group 131">
            <a:extLst>
              <a:ext uri="{FF2B5EF4-FFF2-40B4-BE49-F238E27FC236}">
                <a16:creationId xmlns:a16="http://schemas.microsoft.com/office/drawing/2014/main" id="{24B46E76-0C57-B6BD-AAC7-3F74CF20F8E9}"/>
              </a:ext>
            </a:extLst>
          </p:cNvPr>
          <p:cNvGrpSpPr/>
          <p:nvPr/>
        </p:nvGrpSpPr>
        <p:grpSpPr>
          <a:xfrm>
            <a:off x="5922116" y="1329828"/>
            <a:ext cx="1656000" cy="729601"/>
            <a:chOff x="1800000" y="1656000"/>
            <a:chExt cx="1656000" cy="729601"/>
          </a:xfrm>
        </p:grpSpPr>
        <p:sp>
          <p:nvSpPr>
            <p:cNvPr id="173" name="Rectangle: Rounded Corners 172">
              <a:extLst>
                <a:ext uri="{FF2B5EF4-FFF2-40B4-BE49-F238E27FC236}">
                  <a16:creationId xmlns:a16="http://schemas.microsoft.com/office/drawing/2014/main" id="{D2E2C312-4494-19DA-C2B1-2275FA362987}"/>
                </a:ext>
              </a:extLst>
            </p:cNvPr>
            <p:cNvSpPr/>
            <p:nvPr/>
          </p:nvSpPr>
          <p:spPr>
            <a:xfrm>
              <a:off x="1800000" y="1737601"/>
              <a:ext cx="1656000" cy="648000"/>
            </a:xfrm>
            <a:prstGeom prst="roundRect">
              <a:avLst>
                <a:gd name="adj" fmla="val 10252"/>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EDB332B1-ECBD-9833-8B9E-C5F79CB93147}"/>
                </a:ext>
              </a:extLst>
            </p:cNvPr>
            <p:cNvSpPr txBox="1"/>
            <p:nvPr/>
          </p:nvSpPr>
          <p:spPr>
            <a:xfrm>
              <a:off x="1895725" y="1656000"/>
              <a:ext cx="991224"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Contact Centre</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 name="Rectangle 37">
              <a:extLst>
                <a:ext uri="{FF2B5EF4-FFF2-40B4-BE49-F238E27FC236}">
                  <a16:creationId xmlns:a16="http://schemas.microsoft.com/office/drawing/2014/main" id="{FC3A5E7A-15AE-7D66-802E-A52A431C2020}"/>
                </a:ext>
              </a:extLst>
            </p:cNvPr>
            <p:cNvSpPr/>
            <p:nvPr/>
          </p:nvSpPr>
          <p:spPr>
            <a:xfrm>
              <a:off x="1871260" y="1881601"/>
              <a:ext cx="1512000" cy="180000"/>
            </a:xfrm>
            <a:prstGeom prst="rect">
              <a:avLst/>
            </a:prstGeom>
            <a:solidFill>
              <a:srgbClr val="BF9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User Interface</a:t>
              </a:r>
            </a:p>
          </p:txBody>
        </p:sp>
        <p:sp>
          <p:nvSpPr>
            <p:cNvPr id="74" name="Rectangle 73">
              <a:extLst>
                <a:ext uri="{FF2B5EF4-FFF2-40B4-BE49-F238E27FC236}">
                  <a16:creationId xmlns:a16="http://schemas.microsoft.com/office/drawing/2014/main" id="{782CEA9E-42B3-D617-4290-A37C1A424BAA}"/>
                </a:ext>
              </a:extLst>
            </p:cNvPr>
            <p:cNvSpPr/>
            <p:nvPr/>
          </p:nvSpPr>
          <p:spPr>
            <a:xfrm>
              <a:off x="1872000" y="2133601"/>
              <a:ext cx="1512000" cy="180000"/>
            </a:xfrm>
            <a:prstGeom prst="rect">
              <a:avLst/>
            </a:prstGeom>
            <a:solidFill>
              <a:srgbClr val="BF9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Online Help</a:t>
              </a:r>
            </a:p>
          </p:txBody>
        </p:sp>
      </p:grpSp>
      <p:grpSp>
        <p:nvGrpSpPr>
          <p:cNvPr id="282" name="Group 281">
            <a:extLst>
              <a:ext uri="{FF2B5EF4-FFF2-40B4-BE49-F238E27FC236}">
                <a16:creationId xmlns:a16="http://schemas.microsoft.com/office/drawing/2014/main" id="{421014B8-7D5E-5B81-48AA-DBC7D63CEE6F}"/>
              </a:ext>
            </a:extLst>
          </p:cNvPr>
          <p:cNvGrpSpPr/>
          <p:nvPr/>
        </p:nvGrpSpPr>
        <p:grpSpPr>
          <a:xfrm>
            <a:off x="4142310" y="1332243"/>
            <a:ext cx="1657240" cy="727186"/>
            <a:chOff x="7703896" y="1332243"/>
            <a:chExt cx="1657240" cy="727186"/>
          </a:xfrm>
        </p:grpSpPr>
        <p:sp>
          <p:nvSpPr>
            <p:cNvPr id="171" name="Rectangle: Rounded Corners 170">
              <a:extLst>
                <a:ext uri="{FF2B5EF4-FFF2-40B4-BE49-F238E27FC236}">
                  <a16:creationId xmlns:a16="http://schemas.microsoft.com/office/drawing/2014/main" id="{FB98302E-354F-2142-FF65-E9ED201DCCDF}"/>
                </a:ext>
              </a:extLst>
            </p:cNvPr>
            <p:cNvSpPr/>
            <p:nvPr/>
          </p:nvSpPr>
          <p:spPr>
            <a:xfrm>
              <a:off x="7703896" y="1411429"/>
              <a:ext cx="1656000" cy="648000"/>
            </a:xfrm>
            <a:prstGeom prst="roundRect">
              <a:avLst>
                <a:gd name="adj" fmla="val 9390"/>
              </a:avLst>
            </a:prstGeom>
            <a:no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TextBox 171">
              <a:extLst>
                <a:ext uri="{FF2B5EF4-FFF2-40B4-BE49-F238E27FC236}">
                  <a16:creationId xmlns:a16="http://schemas.microsoft.com/office/drawing/2014/main" id="{F49C3F02-7225-E34C-D784-F5EB79695754}"/>
                </a:ext>
              </a:extLst>
            </p:cNvPr>
            <p:cNvSpPr txBox="1"/>
            <p:nvPr/>
          </p:nvSpPr>
          <p:spPr>
            <a:xfrm>
              <a:off x="7768786" y="1332243"/>
              <a:ext cx="1592350"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Benefit Delivery Platform</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Rectangle 30">
              <a:extLst>
                <a:ext uri="{FF2B5EF4-FFF2-40B4-BE49-F238E27FC236}">
                  <a16:creationId xmlns:a16="http://schemas.microsoft.com/office/drawing/2014/main" id="{1F9B69C1-57C7-7AAC-0AA0-B2756D21FAE8}"/>
                </a:ext>
              </a:extLst>
            </p:cNvPr>
            <p:cNvSpPr/>
            <p:nvPr/>
          </p:nvSpPr>
          <p:spPr>
            <a:xfrm>
              <a:off x="7775896" y="1555429"/>
              <a:ext cx="1512000" cy="180000"/>
            </a:xfrm>
            <a:prstGeom prst="rect">
              <a:avLst/>
            </a:prstGeom>
            <a:solidFill>
              <a:srgbClr val="BF9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User Interface</a:t>
              </a:r>
            </a:p>
          </p:txBody>
        </p:sp>
        <p:sp>
          <p:nvSpPr>
            <p:cNvPr id="48" name="Rectangle 47">
              <a:extLst>
                <a:ext uri="{FF2B5EF4-FFF2-40B4-BE49-F238E27FC236}">
                  <a16:creationId xmlns:a16="http://schemas.microsoft.com/office/drawing/2014/main" id="{BE824586-3A65-1428-8452-246E6250EFB5}"/>
                </a:ext>
              </a:extLst>
            </p:cNvPr>
            <p:cNvSpPr/>
            <p:nvPr/>
          </p:nvSpPr>
          <p:spPr>
            <a:xfrm>
              <a:off x="7780793" y="1541687"/>
              <a:ext cx="1512000" cy="180000"/>
            </a:xfrm>
            <a:prstGeom prst="rect">
              <a:avLst/>
            </a:prstGeom>
            <a:solidFill>
              <a:srgbClr val="BF9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User Interface</a:t>
              </a:r>
            </a:p>
          </p:txBody>
        </p:sp>
        <p:sp>
          <p:nvSpPr>
            <p:cNvPr id="75" name="Rectangle 74">
              <a:extLst>
                <a:ext uri="{FF2B5EF4-FFF2-40B4-BE49-F238E27FC236}">
                  <a16:creationId xmlns:a16="http://schemas.microsoft.com/office/drawing/2014/main" id="{ADE6A4C0-5300-9667-FBB0-6A8F8EE8FB88}"/>
                </a:ext>
              </a:extLst>
            </p:cNvPr>
            <p:cNvSpPr/>
            <p:nvPr/>
          </p:nvSpPr>
          <p:spPr>
            <a:xfrm>
              <a:off x="7775896" y="1807429"/>
              <a:ext cx="1512000" cy="180000"/>
            </a:xfrm>
            <a:prstGeom prst="rect">
              <a:avLst/>
            </a:prstGeom>
            <a:solidFill>
              <a:srgbClr val="BF9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Online Help</a:t>
              </a:r>
            </a:p>
          </p:txBody>
        </p:sp>
      </p:grpSp>
      <p:sp>
        <p:nvSpPr>
          <p:cNvPr id="127" name="Rectangle: Rounded Corners 126">
            <a:extLst>
              <a:ext uri="{FF2B5EF4-FFF2-40B4-BE49-F238E27FC236}">
                <a16:creationId xmlns:a16="http://schemas.microsoft.com/office/drawing/2014/main" id="{E6EDCC59-9442-2DC8-92F3-F80F56ECC249}"/>
              </a:ext>
            </a:extLst>
          </p:cNvPr>
          <p:cNvSpPr/>
          <p:nvPr/>
        </p:nvSpPr>
        <p:spPr>
          <a:xfrm>
            <a:off x="4039498" y="1238964"/>
            <a:ext cx="6664953" cy="875647"/>
          </a:xfrm>
          <a:prstGeom prst="roundRect">
            <a:avLst>
              <a:gd name="adj" fmla="val 7255"/>
            </a:avLst>
          </a:prstGeom>
          <a:noFill/>
          <a:ln>
            <a:solidFill>
              <a:srgbClr val="6895BE"/>
            </a:solidFill>
            <a:prstDash val="dash"/>
            <a:extLst>
              <a:ext uri="{C807C97D-BFC1-408E-A445-0C87EB9F89A2}">
                <ask:lineSketchStyleProps xmlns:ask="http://schemas.microsoft.com/office/drawing/2018/sketchyshapes" sd="1219033472">
                  <a:custGeom>
                    <a:avLst/>
                    <a:gdLst>
                      <a:gd name="connsiteX0" fmla="*/ 0 w 1728000"/>
                      <a:gd name="connsiteY0" fmla="*/ 22976 h 684000"/>
                      <a:gd name="connsiteX1" fmla="*/ 22976 w 1728000"/>
                      <a:gd name="connsiteY1" fmla="*/ 0 h 684000"/>
                      <a:gd name="connsiteX2" fmla="*/ 617300 w 1728000"/>
                      <a:gd name="connsiteY2" fmla="*/ 0 h 684000"/>
                      <a:gd name="connsiteX3" fmla="*/ 1161162 w 1728000"/>
                      <a:gd name="connsiteY3" fmla="*/ 0 h 684000"/>
                      <a:gd name="connsiteX4" fmla="*/ 1705024 w 1728000"/>
                      <a:gd name="connsiteY4" fmla="*/ 0 h 684000"/>
                      <a:gd name="connsiteX5" fmla="*/ 1728000 w 1728000"/>
                      <a:gd name="connsiteY5" fmla="*/ 22976 h 684000"/>
                      <a:gd name="connsiteX6" fmla="*/ 1728000 w 1728000"/>
                      <a:gd name="connsiteY6" fmla="*/ 661024 h 684000"/>
                      <a:gd name="connsiteX7" fmla="*/ 1705024 w 1728000"/>
                      <a:gd name="connsiteY7" fmla="*/ 684000 h 684000"/>
                      <a:gd name="connsiteX8" fmla="*/ 1177982 w 1728000"/>
                      <a:gd name="connsiteY8" fmla="*/ 684000 h 684000"/>
                      <a:gd name="connsiteX9" fmla="*/ 617300 w 1728000"/>
                      <a:gd name="connsiteY9" fmla="*/ 684000 h 684000"/>
                      <a:gd name="connsiteX10" fmla="*/ 22976 w 1728000"/>
                      <a:gd name="connsiteY10" fmla="*/ 684000 h 684000"/>
                      <a:gd name="connsiteX11" fmla="*/ 0 w 1728000"/>
                      <a:gd name="connsiteY11" fmla="*/ 661024 h 684000"/>
                      <a:gd name="connsiteX12" fmla="*/ 0 w 1728000"/>
                      <a:gd name="connsiteY12" fmla="*/ 22976 h 68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28000" h="684000" extrusionOk="0">
                        <a:moveTo>
                          <a:pt x="0" y="22976"/>
                        </a:moveTo>
                        <a:cubicBezTo>
                          <a:pt x="-1030" y="9652"/>
                          <a:pt x="8521" y="663"/>
                          <a:pt x="22976" y="0"/>
                        </a:cubicBezTo>
                        <a:cubicBezTo>
                          <a:pt x="290190" y="-16940"/>
                          <a:pt x="481123" y="-22461"/>
                          <a:pt x="617300" y="0"/>
                        </a:cubicBezTo>
                        <a:cubicBezTo>
                          <a:pt x="753477" y="22461"/>
                          <a:pt x="987855" y="-19720"/>
                          <a:pt x="1161162" y="0"/>
                        </a:cubicBezTo>
                        <a:cubicBezTo>
                          <a:pt x="1334469" y="19720"/>
                          <a:pt x="1517532" y="-21830"/>
                          <a:pt x="1705024" y="0"/>
                        </a:cubicBezTo>
                        <a:cubicBezTo>
                          <a:pt x="1717180" y="-1716"/>
                          <a:pt x="1728275" y="9271"/>
                          <a:pt x="1728000" y="22976"/>
                        </a:cubicBezTo>
                        <a:cubicBezTo>
                          <a:pt x="1703695" y="246788"/>
                          <a:pt x="1716635" y="409531"/>
                          <a:pt x="1728000" y="661024"/>
                        </a:cubicBezTo>
                        <a:cubicBezTo>
                          <a:pt x="1727853" y="672310"/>
                          <a:pt x="1717208" y="684702"/>
                          <a:pt x="1705024" y="684000"/>
                        </a:cubicBezTo>
                        <a:cubicBezTo>
                          <a:pt x="1503094" y="706508"/>
                          <a:pt x="1433949" y="665779"/>
                          <a:pt x="1177982" y="684000"/>
                        </a:cubicBezTo>
                        <a:cubicBezTo>
                          <a:pt x="922015" y="702221"/>
                          <a:pt x="813285" y="705588"/>
                          <a:pt x="617300" y="684000"/>
                        </a:cubicBezTo>
                        <a:cubicBezTo>
                          <a:pt x="421315" y="662412"/>
                          <a:pt x="239794" y="666848"/>
                          <a:pt x="22976" y="684000"/>
                        </a:cubicBezTo>
                        <a:cubicBezTo>
                          <a:pt x="11543" y="682758"/>
                          <a:pt x="1169" y="672959"/>
                          <a:pt x="0" y="661024"/>
                        </a:cubicBezTo>
                        <a:cubicBezTo>
                          <a:pt x="-16231" y="444671"/>
                          <a:pt x="21806" y="228152"/>
                          <a:pt x="0" y="2297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TextBox 130">
            <a:extLst>
              <a:ext uri="{FF2B5EF4-FFF2-40B4-BE49-F238E27FC236}">
                <a16:creationId xmlns:a16="http://schemas.microsoft.com/office/drawing/2014/main" id="{BD56318C-330D-8911-EB2F-E17CCB787931}"/>
              </a:ext>
            </a:extLst>
          </p:cNvPr>
          <p:cNvSpPr txBox="1"/>
          <p:nvPr/>
        </p:nvSpPr>
        <p:spPr>
          <a:xfrm>
            <a:off x="4108943" y="1166390"/>
            <a:ext cx="470248"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Online</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2" name="Rectangle 151">
            <a:extLst>
              <a:ext uri="{FF2B5EF4-FFF2-40B4-BE49-F238E27FC236}">
                <a16:creationId xmlns:a16="http://schemas.microsoft.com/office/drawing/2014/main" id="{40134848-4F16-9DD8-69BD-4605A5360817}"/>
              </a:ext>
            </a:extLst>
          </p:cNvPr>
          <p:cNvSpPr/>
          <p:nvPr/>
        </p:nvSpPr>
        <p:spPr>
          <a:xfrm>
            <a:off x="9524403" y="1557159"/>
            <a:ext cx="1008000" cy="180000"/>
          </a:xfrm>
          <a:prstGeom prst="rect">
            <a:avLst/>
          </a:prstGeom>
          <a:solidFill>
            <a:srgbClr val="7F7F7F"/>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Email</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Rectangle 153">
            <a:extLst>
              <a:ext uri="{FF2B5EF4-FFF2-40B4-BE49-F238E27FC236}">
                <a16:creationId xmlns:a16="http://schemas.microsoft.com/office/drawing/2014/main" id="{C800882B-A7AB-2F0D-4F26-68D8924B3039}"/>
              </a:ext>
            </a:extLst>
          </p:cNvPr>
          <p:cNvSpPr/>
          <p:nvPr/>
        </p:nvSpPr>
        <p:spPr>
          <a:xfrm>
            <a:off x="9518171" y="1797136"/>
            <a:ext cx="1008000" cy="180000"/>
          </a:xfrm>
          <a:prstGeom prst="rect">
            <a:avLst/>
          </a:prstGeom>
          <a:solidFill>
            <a:srgbClr val="7F7F7F"/>
          </a:solidFill>
          <a:ln>
            <a:solidFill>
              <a:srgbClr val="68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t>Social Media</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31" name="Connector: Curved 230">
            <a:extLst>
              <a:ext uri="{FF2B5EF4-FFF2-40B4-BE49-F238E27FC236}">
                <a16:creationId xmlns:a16="http://schemas.microsoft.com/office/drawing/2014/main" id="{184B6E95-9E32-CE55-2484-DDEEF55BBE06}"/>
              </a:ext>
            </a:extLst>
          </p:cNvPr>
          <p:cNvCxnSpPr>
            <a:stCxn id="35" idx="2"/>
            <a:endCxn id="87" idx="4"/>
          </p:cNvCxnSpPr>
          <p:nvPr/>
        </p:nvCxnSpPr>
        <p:spPr>
          <a:xfrm rot="10800000" flipV="1">
            <a:off x="3200519" y="5106087"/>
            <a:ext cx="2412009" cy="1008411"/>
          </a:xfrm>
          <a:prstGeom prst="curvedConnector3">
            <a:avLst>
              <a:gd name="adj1" fmla="val 2736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55FEE006-B3A6-DFCA-069F-FA39EF89FB84}"/>
              </a:ext>
            </a:extLst>
          </p:cNvPr>
          <p:cNvCxnSpPr>
            <a:cxnSpLocks/>
            <a:stCxn id="208" idx="3"/>
          </p:cNvCxnSpPr>
          <p:nvPr/>
        </p:nvCxnSpPr>
        <p:spPr>
          <a:xfrm rot="5400000" flipH="1" flipV="1">
            <a:off x="2776669" y="1519913"/>
            <a:ext cx="1340353" cy="4331362"/>
          </a:xfrm>
          <a:prstGeom prst="bentConnector3">
            <a:avLst>
              <a:gd name="adj1" fmla="val -17055"/>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5" name="Arc 234">
            <a:extLst>
              <a:ext uri="{FF2B5EF4-FFF2-40B4-BE49-F238E27FC236}">
                <a16:creationId xmlns:a16="http://schemas.microsoft.com/office/drawing/2014/main" id="{875B3991-E474-01E4-2765-82FFD816AE01}"/>
              </a:ext>
            </a:extLst>
          </p:cNvPr>
          <p:cNvSpPr/>
          <p:nvPr/>
        </p:nvSpPr>
        <p:spPr>
          <a:xfrm rot="1449654" flipV="1">
            <a:off x="4287569" y="4641550"/>
            <a:ext cx="2111883" cy="330604"/>
          </a:xfrm>
          <a:prstGeom prst="arc">
            <a:avLst>
              <a:gd name="adj1" fmla="val 10765019"/>
              <a:gd name="adj2" fmla="val 20184533"/>
            </a:avLst>
          </a:prstGeom>
          <a:ln w="127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38" name="Straight Arrow Connector 237">
            <a:extLst>
              <a:ext uri="{FF2B5EF4-FFF2-40B4-BE49-F238E27FC236}">
                <a16:creationId xmlns:a16="http://schemas.microsoft.com/office/drawing/2014/main" id="{47BA5B59-12B9-8019-D29F-E8280976C7A1}"/>
              </a:ext>
            </a:extLst>
          </p:cNvPr>
          <p:cNvCxnSpPr>
            <a:cxnSpLocks/>
            <a:stCxn id="235" idx="2"/>
          </p:cNvCxnSpPr>
          <p:nvPr/>
        </p:nvCxnSpPr>
        <p:spPr>
          <a:xfrm flipH="1">
            <a:off x="4958405" y="5094669"/>
            <a:ext cx="646522" cy="8655"/>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DB3578CE-23F5-A5C4-D09B-26FB5D4730A6}"/>
              </a:ext>
            </a:extLst>
          </p:cNvPr>
          <p:cNvCxnSpPr>
            <a:cxnSpLocks/>
            <a:stCxn id="82" idx="2"/>
            <a:endCxn id="48" idx="0"/>
          </p:cNvCxnSpPr>
          <p:nvPr/>
        </p:nvCxnSpPr>
        <p:spPr>
          <a:xfrm rot="5400000">
            <a:off x="5408726" y="304786"/>
            <a:ext cx="803382" cy="1670420"/>
          </a:xfrm>
          <a:prstGeom prst="bentConnector3">
            <a:avLst>
              <a:gd name="adj1" fmla="val 32755"/>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631E9262-D910-EC4C-0408-57F1CBEC5746}"/>
              </a:ext>
            </a:extLst>
          </p:cNvPr>
          <p:cNvCxnSpPr>
            <a:cxnSpLocks/>
            <a:stCxn id="82" idx="2"/>
            <a:endCxn id="38" idx="0"/>
          </p:cNvCxnSpPr>
          <p:nvPr/>
        </p:nvCxnSpPr>
        <p:spPr>
          <a:xfrm rot="16200000" flipH="1">
            <a:off x="6288939" y="1094992"/>
            <a:ext cx="817124" cy="103749"/>
          </a:xfrm>
          <a:prstGeom prst="bentConnector3">
            <a:avLst>
              <a:gd name="adj1" fmla="val 32083"/>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9" name="Connector: Elbow 248">
            <a:extLst>
              <a:ext uri="{FF2B5EF4-FFF2-40B4-BE49-F238E27FC236}">
                <a16:creationId xmlns:a16="http://schemas.microsoft.com/office/drawing/2014/main" id="{4E0C0338-BBFF-7F29-D0F5-EF1059940A46}"/>
              </a:ext>
            </a:extLst>
          </p:cNvPr>
          <p:cNvCxnSpPr>
            <a:cxnSpLocks/>
          </p:cNvCxnSpPr>
          <p:nvPr/>
        </p:nvCxnSpPr>
        <p:spPr>
          <a:xfrm rot="10800000" flipV="1">
            <a:off x="5830773" y="758846"/>
            <a:ext cx="1940270" cy="1832831"/>
          </a:xfrm>
          <a:prstGeom prst="bentConnector2">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3" name="Connector: Elbow 252">
            <a:extLst>
              <a:ext uri="{FF2B5EF4-FFF2-40B4-BE49-F238E27FC236}">
                <a16:creationId xmlns:a16="http://schemas.microsoft.com/office/drawing/2014/main" id="{F8AF353D-A84F-DFFA-6271-F70E8AF2CE4D}"/>
              </a:ext>
            </a:extLst>
          </p:cNvPr>
          <p:cNvCxnSpPr>
            <a:cxnSpLocks/>
            <a:stCxn id="159" idx="1"/>
            <a:endCxn id="72" idx="3"/>
          </p:cNvCxnSpPr>
          <p:nvPr/>
        </p:nvCxnSpPr>
        <p:spPr>
          <a:xfrm rot="10800000" flipV="1">
            <a:off x="4850405" y="758222"/>
            <a:ext cx="2844920" cy="3453548"/>
          </a:xfrm>
          <a:prstGeom prst="bentConnector3">
            <a:avLst>
              <a:gd name="adj1" fmla="val 2458"/>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59" name="Group 258">
            <a:extLst>
              <a:ext uri="{FF2B5EF4-FFF2-40B4-BE49-F238E27FC236}">
                <a16:creationId xmlns:a16="http://schemas.microsoft.com/office/drawing/2014/main" id="{B16AB1BF-90AE-6F8D-E4CD-E765BC9F8261}"/>
              </a:ext>
            </a:extLst>
          </p:cNvPr>
          <p:cNvGrpSpPr/>
          <p:nvPr/>
        </p:nvGrpSpPr>
        <p:grpSpPr>
          <a:xfrm>
            <a:off x="1634550" y="552124"/>
            <a:ext cx="521340" cy="437980"/>
            <a:chOff x="3747685" y="3536977"/>
            <a:chExt cx="600446" cy="515440"/>
          </a:xfrm>
        </p:grpSpPr>
        <p:sp>
          <p:nvSpPr>
            <p:cNvPr id="260" name="TextBox 3">
              <a:extLst>
                <a:ext uri="{FF2B5EF4-FFF2-40B4-BE49-F238E27FC236}">
                  <a16:creationId xmlns:a16="http://schemas.microsoft.com/office/drawing/2014/main" id="{C50B6C06-A9D6-F8B3-16E9-348FE391DB92}"/>
                </a:ext>
              </a:extLst>
            </p:cNvPr>
            <p:cNvSpPr txBox="1"/>
            <p:nvPr/>
          </p:nvSpPr>
          <p:spPr>
            <a:xfrm>
              <a:off x="3747685" y="3885342"/>
              <a:ext cx="600446" cy="167075"/>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User</a:t>
              </a:r>
            </a:p>
          </p:txBody>
        </p:sp>
        <p:pic>
          <p:nvPicPr>
            <p:cNvPr id="261" name="Picture 260">
              <a:extLst>
                <a:ext uri="{FF2B5EF4-FFF2-40B4-BE49-F238E27FC236}">
                  <a16:creationId xmlns:a16="http://schemas.microsoft.com/office/drawing/2014/main" id="{4D533A58-51B5-5DDD-4EAD-DF3633DEE1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0183" y="3536977"/>
              <a:ext cx="375450" cy="4236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2" name="Group 261">
            <a:extLst>
              <a:ext uri="{FF2B5EF4-FFF2-40B4-BE49-F238E27FC236}">
                <a16:creationId xmlns:a16="http://schemas.microsoft.com/office/drawing/2014/main" id="{C9251B6D-BBA8-307E-9F0B-F6804FE79D94}"/>
              </a:ext>
            </a:extLst>
          </p:cNvPr>
          <p:cNvGrpSpPr/>
          <p:nvPr/>
        </p:nvGrpSpPr>
        <p:grpSpPr>
          <a:xfrm>
            <a:off x="542309" y="552123"/>
            <a:ext cx="1005135" cy="464550"/>
            <a:chOff x="6683945" y="60256"/>
            <a:chExt cx="1005135" cy="464550"/>
          </a:xfrm>
        </p:grpSpPr>
        <p:sp>
          <p:nvSpPr>
            <p:cNvPr id="263" name="TextBox 3">
              <a:extLst>
                <a:ext uri="{FF2B5EF4-FFF2-40B4-BE49-F238E27FC236}">
                  <a16:creationId xmlns:a16="http://schemas.microsoft.com/office/drawing/2014/main" id="{C0FC2FD0-067A-865B-AD1C-3A49C2194791}"/>
                </a:ext>
              </a:extLst>
            </p:cNvPr>
            <p:cNvSpPr txBox="1"/>
            <p:nvPr/>
          </p:nvSpPr>
          <p:spPr>
            <a:xfrm>
              <a:off x="6683945" y="354639"/>
              <a:ext cx="1005135" cy="170167"/>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Business Expert</a:t>
              </a:r>
            </a:p>
          </p:txBody>
        </p:sp>
        <p:pic>
          <p:nvPicPr>
            <p:cNvPr id="264" name="Picture 263">
              <a:extLst>
                <a:ext uri="{FF2B5EF4-FFF2-40B4-BE49-F238E27FC236}">
                  <a16:creationId xmlns:a16="http://schemas.microsoft.com/office/drawing/2014/main" id="{7186AE81-EA33-2B37-9C40-B6408C7AC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622" y="60256"/>
              <a:ext cx="325984" cy="360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66" name="Straight Arrow Connector 265">
            <a:extLst>
              <a:ext uri="{FF2B5EF4-FFF2-40B4-BE49-F238E27FC236}">
                <a16:creationId xmlns:a16="http://schemas.microsoft.com/office/drawing/2014/main" id="{4A81C08D-D489-69D8-BB25-E4999755F1ED}"/>
              </a:ext>
            </a:extLst>
          </p:cNvPr>
          <p:cNvCxnSpPr>
            <a:cxnSpLocks/>
            <a:stCxn id="263" idx="2"/>
          </p:cNvCxnSpPr>
          <p:nvPr/>
        </p:nvCxnSpPr>
        <p:spPr>
          <a:xfrm flipH="1">
            <a:off x="1031944" y="1016673"/>
            <a:ext cx="12933" cy="1452488"/>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8E0D8A82-2751-4857-32A9-BFBCCF0F4335}"/>
              </a:ext>
            </a:extLst>
          </p:cNvPr>
          <p:cNvCxnSpPr>
            <a:cxnSpLocks/>
          </p:cNvCxnSpPr>
          <p:nvPr/>
        </p:nvCxnSpPr>
        <p:spPr>
          <a:xfrm flipH="1">
            <a:off x="1897861" y="1031281"/>
            <a:ext cx="12933" cy="1452488"/>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002A77DB-CE3A-26EF-2760-86A9D05EE07A}"/>
              </a:ext>
            </a:extLst>
          </p:cNvPr>
          <p:cNvCxnSpPr>
            <a:cxnSpLocks/>
            <a:stCxn id="79" idx="2"/>
            <a:endCxn id="285" idx="0"/>
          </p:cNvCxnSpPr>
          <p:nvPr/>
        </p:nvCxnSpPr>
        <p:spPr>
          <a:xfrm rot="5400000">
            <a:off x="8620560" y="646995"/>
            <a:ext cx="822564" cy="1005186"/>
          </a:xfrm>
          <a:prstGeom prst="bentConnector3">
            <a:avLst>
              <a:gd name="adj1" fmla="val 50000"/>
            </a:avLst>
          </a:prstGeom>
          <a:ln w="12700">
            <a:solidFill>
              <a:srgbClr val="7F7F7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3" name="Arrow: Left-Right 272">
            <a:extLst>
              <a:ext uri="{FF2B5EF4-FFF2-40B4-BE49-F238E27FC236}">
                <a16:creationId xmlns:a16="http://schemas.microsoft.com/office/drawing/2014/main" id="{8344BEE8-66E4-58E8-7E29-4999C145DFA1}"/>
              </a:ext>
            </a:extLst>
          </p:cNvPr>
          <p:cNvSpPr/>
          <p:nvPr/>
        </p:nvSpPr>
        <p:spPr>
          <a:xfrm rot="17943753">
            <a:off x="4068631" y="2049929"/>
            <a:ext cx="864000" cy="118505"/>
          </a:xfrm>
          <a:prstGeom prst="leftRightArrow">
            <a:avLst/>
          </a:prstGeom>
          <a:solidFill>
            <a:srgbClr val="BF9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4" name="Arrow: Left-Right 273">
            <a:extLst>
              <a:ext uri="{FF2B5EF4-FFF2-40B4-BE49-F238E27FC236}">
                <a16:creationId xmlns:a16="http://schemas.microsoft.com/office/drawing/2014/main" id="{C4C2A0B0-A293-03C0-196C-334605AF2346}"/>
              </a:ext>
            </a:extLst>
          </p:cNvPr>
          <p:cNvSpPr/>
          <p:nvPr/>
        </p:nvSpPr>
        <p:spPr>
          <a:xfrm rot="14243148">
            <a:off x="6788303" y="2273635"/>
            <a:ext cx="1368000" cy="118505"/>
          </a:xfrm>
          <a:prstGeom prst="leftRightArrow">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5" name="Arrow: Left-Right 274">
            <a:extLst>
              <a:ext uri="{FF2B5EF4-FFF2-40B4-BE49-F238E27FC236}">
                <a16:creationId xmlns:a16="http://schemas.microsoft.com/office/drawing/2014/main" id="{9404C83A-9637-FC5D-AB68-A37712FF0BDE}"/>
              </a:ext>
            </a:extLst>
          </p:cNvPr>
          <p:cNvSpPr/>
          <p:nvPr/>
        </p:nvSpPr>
        <p:spPr>
          <a:xfrm rot="12341444">
            <a:off x="7366049" y="2156889"/>
            <a:ext cx="2592000" cy="118505"/>
          </a:xfrm>
          <a:prstGeom prst="leftRightArrow">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6" name="Arrow: Left-Right 275">
            <a:extLst>
              <a:ext uri="{FF2B5EF4-FFF2-40B4-BE49-F238E27FC236}">
                <a16:creationId xmlns:a16="http://schemas.microsoft.com/office/drawing/2014/main" id="{47DBB46B-C5F8-0436-75A7-E4FBCC770453}"/>
              </a:ext>
            </a:extLst>
          </p:cNvPr>
          <p:cNvSpPr/>
          <p:nvPr/>
        </p:nvSpPr>
        <p:spPr>
          <a:xfrm rot="11876899">
            <a:off x="5614370" y="2245525"/>
            <a:ext cx="4176000" cy="118505"/>
          </a:xfrm>
          <a:prstGeom prst="leftRightArrow">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7" name="Arrow: Left-Right 276">
            <a:extLst>
              <a:ext uri="{FF2B5EF4-FFF2-40B4-BE49-F238E27FC236}">
                <a16:creationId xmlns:a16="http://schemas.microsoft.com/office/drawing/2014/main" id="{12AEF907-A7AD-3326-8147-3EAAC8DCA04B}"/>
              </a:ext>
            </a:extLst>
          </p:cNvPr>
          <p:cNvSpPr/>
          <p:nvPr/>
        </p:nvSpPr>
        <p:spPr>
          <a:xfrm rot="19811834">
            <a:off x="4743994" y="2109563"/>
            <a:ext cx="1656000" cy="118505"/>
          </a:xfrm>
          <a:prstGeom prst="leftRightArrow">
            <a:avLst/>
          </a:prstGeom>
          <a:solidFill>
            <a:srgbClr val="BF9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8" name="Arrow: Left-Right 277">
            <a:extLst>
              <a:ext uri="{FF2B5EF4-FFF2-40B4-BE49-F238E27FC236}">
                <a16:creationId xmlns:a16="http://schemas.microsoft.com/office/drawing/2014/main" id="{7257DE18-293C-08C7-B652-FC76FE6822D6}"/>
              </a:ext>
            </a:extLst>
          </p:cNvPr>
          <p:cNvSpPr/>
          <p:nvPr/>
        </p:nvSpPr>
        <p:spPr>
          <a:xfrm rot="12298327">
            <a:off x="4916133" y="2274783"/>
            <a:ext cx="2700000" cy="118505"/>
          </a:xfrm>
          <a:prstGeom prst="leftRightArrow">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83" name="Group 282">
            <a:extLst>
              <a:ext uri="{FF2B5EF4-FFF2-40B4-BE49-F238E27FC236}">
                <a16:creationId xmlns:a16="http://schemas.microsoft.com/office/drawing/2014/main" id="{6B5AF111-672B-CFA2-7C76-C47B57CCC26F}"/>
              </a:ext>
            </a:extLst>
          </p:cNvPr>
          <p:cNvGrpSpPr/>
          <p:nvPr/>
        </p:nvGrpSpPr>
        <p:grpSpPr>
          <a:xfrm>
            <a:off x="7701989" y="1335269"/>
            <a:ext cx="1656000" cy="729601"/>
            <a:chOff x="4142310" y="1329828"/>
            <a:chExt cx="1656000" cy="729601"/>
          </a:xfrm>
        </p:grpSpPr>
        <p:sp>
          <p:nvSpPr>
            <p:cNvPr id="284" name="Rectangle: Rounded Corners 283">
              <a:extLst>
                <a:ext uri="{FF2B5EF4-FFF2-40B4-BE49-F238E27FC236}">
                  <a16:creationId xmlns:a16="http://schemas.microsoft.com/office/drawing/2014/main" id="{CF97D3FE-D1CC-B30F-4249-B3ED2911F89A}"/>
                </a:ext>
              </a:extLst>
            </p:cNvPr>
            <p:cNvSpPr/>
            <p:nvPr/>
          </p:nvSpPr>
          <p:spPr>
            <a:xfrm>
              <a:off x="4142310" y="1411429"/>
              <a:ext cx="1656000" cy="648000"/>
            </a:xfrm>
            <a:prstGeom prst="roundRect">
              <a:avLst>
                <a:gd name="adj" fmla="val 10252"/>
              </a:avLst>
            </a:prstGeom>
            <a:no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5" name="Rectangle 284">
              <a:extLst>
                <a:ext uri="{FF2B5EF4-FFF2-40B4-BE49-F238E27FC236}">
                  <a16:creationId xmlns:a16="http://schemas.microsoft.com/office/drawing/2014/main" id="{CCE253BD-ADF8-434A-3EFC-1D4B67BC348B}"/>
                </a:ext>
              </a:extLst>
            </p:cNvPr>
            <p:cNvSpPr/>
            <p:nvPr/>
          </p:nvSpPr>
          <p:spPr>
            <a:xfrm>
              <a:off x="4213570" y="1555429"/>
              <a:ext cx="1512000" cy="180000"/>
            </a:xfrm>
            <a:prstGeom prst="rect">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rPr>
                <a:t>Client Interface</a:t>
              </a:r>
            </a:p>
          </p:txBody>
        </p:sp>
        <p:sp>
          <p:nvSpPr>
            <p:cNvPr id="286" name="TextBox 285">
              <a:extLst>
                <a:ext uri="{FF2B5EF4-FFF2-40B4-BE49-F238E27FC236}">
                  <a16:creationId xmlns:a16="http://schemas.microsoft.com/office/drawing/2014/main" id="{318BE9BE-8032-69AE-13FE-DD32B7F89A1E}"/>
                </a:ext>
              </a:extLst>
            </p:cNvPr>
            <p:cNvSpPr txBox="1"/>
            <p:nvPr/>
          </p:nvSpPr>
          <p:spPr>
            <a:xfrm>
              <a:off x="4238035" y="1329828"/>
              <a:ext cx="904662" cy="153888"/>
            </a:xfrm>
            <a:prstGeom prst="rect">
              <a:avLst/>
            </a:prstGeom>
            <a:solidFill>
              <a:schemeClr val="bg1"/>
            </a:solidFill>
          </p:spPr>
          <p:txBody>
            <a:bodyPr wrap="non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Arial"/>
                  <a:ea typeface="Verdana"/>
                  <a:cs typeface="Arial"/>
                </a:rPr>
                <a:t>Digital Centre</a:t>
              </a:r>
              <a:endParaRPr kumimoji="0" lang="en-CA"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cxnSp>
        <p:nvCxnSpPr>
          <p:cNvPr id="288" name="Connector: Elbow 287">
            <a:extLst>
              <a:ext uri="{FF2B5EF4-FFF2-40B4-BE49-F238E27FC236}">
                <a16:creationId xmlns:a16="http://schemas.microsoft.com/office/drawing/2014/main" id="{951198CD-6608-AF62-5EDC-55DA4106546D}"/>
              </a:ext>
            </a:extLst>
          </p:cNvPr>
          <p:cNvCxnSpPr>
            <a:cxnSpLocks/>
            <a:stCxn id="79" idx="2"/>
            <a:endCxn id="150" idx="0"/>
          </p:cNvCxnSpPr>
          <p:nvPr/>
        </p:nvCxnSpPr>
        <p:spPr>
          <a:xfrm rot="16200000" flipH="1">
            <a:off x="10075631" y="197110"/>
            <a:ext cx="668562" cy="1750954"/>
          </a:xfrm>
          <a:prstGeom prst="bentConnector3">
            <a:avLst>
              <a:gd name="adj1" fmla="val 50000"/>
            </a:avLst>
          </a:prstGeom>
          <a:ln w="12700">
            <a:solidFill>
              <a:srgbClr val="7F7F7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72E3EBA5-B105-909B-2798-3712AA34B0DC}"/>
              </a:ext>
            </a:extLst>
          </p:cNvPr>
          <p:cNvCxnSpPr>
            <a:cxnSpLocks/>
          </p:cNvCxnSpPr>
          <p:nvPr/>
        </p:nvCxnSpPr>
        <p:spPr>
          <a:xfrm>
            <a:off x="6676108" y="1010397"/>
            <a:ext cx="2779172" cy="2533289"/>
          </a:xfrm>
          <a:prstGeom prst="bentConnector3">
            <a:avLst>
              <a:gd name="adj1" fmla="val 10038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Slide Number Placeholder 3">
            <a:extLst>
              <a:ext uri="{FF2B5EF4-FFF2-40B4-BE49-F238E27FC236}">
                <a16:creationId xmlns:a16="http://schemas.microsoft.com/office/drawing/2014/main" id="{F98AC42F-77DA-888B-9811-5998E21818A5}"/>
              </a:ext>
            </a:extLst>
          </p:cNvPr>
          <p:cNvSpPr txBox="1">
            <a:spLocks/>
          </p:cNvSpPr>
          <p:nvPr/>
        </p:nvSpPr>
        <p:spPr>
          <a:xfrm>
            <a:off x="11580604" y="6394476"/>
            <a:ext cx="287418" cy="385803"/>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BCE2B6B-7FFE-FA46-BED3-31567387080B}" type="slidenum">
              <a:rPr lang="en-US" sz="800" smtClean="0"/>
              <a:pPr/>
              <a:t>10</a:t>
            </a:fld>
            <a:endParaRPr lang="en-US" sz="800"/>
          </a:p>
        </p:txBody>
      </p:sp>
      <p:sp>
        <p:nvSpPr>
          <p:cNvPr id="47" name="Rectangle 46">
            <a:extLst>
              <a:ext uri="{FF2B5EF4-FFF2-40B4-BE49-F238E27FC236}">
                <a16:creationId xmlns:a16="http://schemas.microsoft.com/office/drawing/2014/main" id="{AFD1BE9C-A19F-5B33-8A82-127BAC0F7625}"/>
              </a:ext>
            </a:extLst>
          </p:cNvPr>
          <p:cNvSpPr/>
          <p:nvPr/>
        </p:nvSpPr>
        <p:spPr>
          <a:xfrm>
            <a:off x="7448359" y="1099096"/>
            <a:ext cx="418001" cy="237681"/>
          </a:xfrm>
          <a:prstGeom prst="rect">
            <a:avLst/>
          </a:pr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100" b="0" i="0" u="none" strike="noStrike" kern="0" cap="none" spc="0" normalizeH="0" baseline="0" noProof="0">
                <a:ln>
                  <a:noFill/>
                </a:ln>
                <a:solidFill>
                  <a:prstClr val="white"/>
                </a:solidFill>
                <a:effectLst/>
                <a:uLnTx/>
                <a:uFillTx/>
                <a:latin typeface="Calibri"/>
                <a:ea typeface="+mn-ea"/>
                <a:cs typeface="+mn-cs"/>
              </a:rPr>
              <a:t>B2</a:t>
            </a:r>
          </a:p>
        </p:txBody>
      </p:sp>
      <p:sp>
        <p:nvSpPr>
          <p:cNvPr id="51" name="Rectangle 50">
            <a:extLst>
              <a:ext uri="{FF2B5EF4-FFF2-40B4-BE49-F238E27FC236}">
                <a16:creationId xmlns:a16="http://schemas.microsoft.com/office/drawing/2014/main" id="{D7266B31-88D7-0525-99DD-CB3D330F275A}"/>
              </a:ext>
            </a:extLst>
          </p:cNvPr>
          <p:cNvSpPr/>
          <p:nvPr/>
        </p:nvSpPr>
        <p:spPr>
          <a:xfrm>
            <a:off x="9246280" y="1099241"/>
            <a:ext cx="418001" cy="237681"/>
          </a:xfrm>
          <a:prstGeom prst="rect">
            <a:avLst/>
          </a:pr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100" b="0" i="0" u="none" strike="noStrike" kern="0" cap="none" spc="0" normalizeH="0" baseline="0" noProof="0">
                <a:ln>
                  <a:noFill/>
                </a:ln>
                <a:solidFill>
                  <a:prstClr val="white"/>
                </a:solidFill>
                <a:effectLst/>
                <a:uLnTx/>
                <a:uFillTx/>
                <a:latin typeface="Calibri"/>
                <a:ea typeface="+mn-ea"/>
                <a:cs typeface="+mn-cs"/>
              </a:rPr>
              <a:t>B2</a:t>
            </a:r>
          </a:p>
        </p:txBody>
      </p:sp>
      <p:sp>
        <p:nvSpPr>
          <p:cNvPr id="53" name="Rectangle 52">
            <a:extLst>
              <a:ext uri="{FF2B5EF4-FFF2-40B4-BE49-F238E27FC236}">
                <a16:creationId xmlns:a16="http://schemas.microsoft.com/office/drawing/2014/main" id="{666FE24D-8551-35C6-76E2-40C6F4AAA2E7}"/>
              </a:ext>
            </a:extLst>
          </p:cNvPr>
          <p:cNvSpPr/>
          <p:nvPr/>
        </p:nvSpPr>
        <p:spPr>
          <a:xfrm>
            <a:off x="6553538" y="1097011"/>
            <a:ext cx="418001" cy="237681"/>
          </a:xfrm>
          <a:prstGeom prst="rect">
            <a:avLst/>
          </a:pr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100" b="0" i="0" u="none" strike="noStrike" kern="0" cap="none" spc="0" normalizeH="0" baseline="0" noProof="0">
                <a:ln>
                  <a:noFill/>
                </a:ln>
                <a:solidFill>
                  <a:prstClr val="white"/>
                </a:solidFill>
                <a:effectLst/>
                <a:uLnTx/>
                <a:uFillTx/>
                <a:latin typeface="Calibri"/>
                <a:ea typeface="+mn-ea"/>
                <a:cs typeface="+mn-cs"/>
              </a:rPr>
              <a:t>A2</a:t>
            </a:r>
          </a:p>
        </p:txBody>
      </p:sp>
      <p:sp>
        <p:nvSpPr>
          <p:cNvPr id="56" name="Rectangle 55">
            <a:extLst>
              <a:ext uri="{FF2B5EF4-FFF2-40B4-BE49-F238E27FC236}">
                <a16:creationId xmlns:a16="http://schemas.microsoft.com/office/drawing/2014/main" id="{7517F0B2-314C-2B56-C386-500947C2F839}"/>
              </a:ext>
            </a:extLst>
          </p:cNvPr>
          <p:cNvSpPr/>
          <p:nvPr/>
        </p:nvSpPr>
        <p:spPr>
          <a:xfrm>
            <a:off x="5627943" y="1091188"/>
            <a:ext cx="418001" cy="237681"/>
          </a:xfrm>
          <a:prstGeom prst="rect">
            <a:avLst/>
          </a:pr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100" b="0" i="0" u="none" strike="noStrike" kern="0" cap="none" spc="0" normalizeH="0" baseline="0" noProof="0">
                <a:ln>
                  <a:noFill/>
                </a:ln>
                <a:solidFill>
                  <a:prstClr val="white"/>
                </a:solidFill>
                <a:effectLst/>
                <a:uLnTx/>
                <a:uFillTx/>
                <a:latin typeface="Calibri"/>
                <a:ea typeface="+mn-ea"/>
                <a:cs typeface="+mn-cs"/>
              </a:rPr>
              <a:t>B2</a:t>
            </a:r>
          </a:p>
        </p:txBody>
      </p:sp>
      <p:sp>
        <p:nvSpPr>
          <p:cNvPr id="59" name="Rectangle 58">
            <a:extLst>
              <a:ext uri="{FF2B5EF4-FFF2-40B4-BE49-F238E27FC236}">
                <a16:creationId xmlns:a16="http://schemas.microsoft.com/office/drawing/2014/main" id="{E23945A5-FBD4-D2B9-9ED1-2DE660C15A0D}"/>
              </a:ext>
            </a:extLst>
          </p:cNvPr>
          <p:cNvSpPr/>
          <p:nvPr/>
        </p:nvSpPr>
        <p:spPr>
          <a:xfrm>
            <a:off x="4762852" y="1088052"/>
            <a:ext cx="418001" cy="237681"/>
          </a:xfrm>
          <a:prstGeom prst="rect">
            <a:avLst/>
          </a:pr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100" b="0" i="0" u="none" strike="noStrike" kern="0" cap="none" spc="0" normalizeH="0" baseline="0" noProof="0">
                <a:ln>
                  <a:noFill/>
                </a:ln>
                <a:solidFill>
                  <a:prstClr val="white"/>
                </a:solidFill>
                <a:effectLst/>
                <a:uLnTx/>
                <a:uFillTx/>
                <a:latin typeface="Calibri"/>
                <a:ea typeface="+mn-ea"/>
                <a:cs typeface="+mn-cs"/>
              </a:rPr>
              <a:t>A2</a:t>
            </a:r>
          </a:p>
        </p:txBody>
      </p:sp>
    </p:spTree>
    <p:extLst>
      <p:ext uri="{BB962C8B-B14F-4D97-AF65-F5344CB8AC3E}">
        <p14:creationId xmlns:p14="http://schemas.microsoft.com/office/powerpoint/2010/main" val="1734360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A computer screen shot of a computer&#10;&#10;Description automatically generated">
            <a:extLst>
              <a:ext uri="{FF2B5EF4-FFF2-40B4-BE49-F238E27FC236}">
                <a16:creationId xmlns:a16="http://schemas.microsoft.com/office/drawing/2014/main" id="{68984799-12C8-5F33-5450-206AEF197DE4}"/>
              </a:ext>
            </a:extLst>
          </p:cNvPr>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87225" y="922678"/>
            <a:ext cx="12017549" cy="5838362"/>
          </a:xfrm>
          <a:prstGeom prst="rect">
            <a:avLst/>
          </a:prstGeom>
        </p:spPr>
      </p:pic>
      <p:grpSp>
        <p:nvGrpSpPr>
          <p:cNvPr id="5" name="Group 4">
            <a:extLst>
              <a:ext uri="{FF2B5EF4-FFF2-40B4-BE49-F238E27FC236}">
                <a16:creationId xmlns:a16="http://schemas.microsoft.com/office/drawing/2014/main" id="{5C56E3CB-E3CA-156E-F586-F9D75E16E785}"/>
              </a:ext>
            </a:extLst>
          </p:cNvPr>
          <p:cNvGrpSpPr/>
          <p:nvPr/>
        </p:nvGrpSpPr>
        <p:grpSpPr>
          <a:xfrm>
            <a:off x="11016000" y="36000"/>
            <a:ext cx="1114416" cy="678730"/>
            <a:chOff x="4752000" y="795531"/>
            <a:chExt cx="1114416" cy="678730"/>
          </a:xfrm>
        </p:grpSpPr>
        <p:grpSp>
          <p:nvGrpSpPr>
            <p:cNvPr id="6" name="Group 5">
              <a:extLst>
                <a:ext uri="{FF2B5EF4-FFF2-40B4-BE49-F238E27FC236}">
                  <a16:creationId xmlns:a16="http://schemas.microsoft.com/office/drawing/2014/main" id="{EF89EFFD-3669-4065-1C87-373B03D0A7B0}"/>
                </a:ext>
              </a:extLst>
            </p:cNvPr>
            <p:cNvGrpSpPr/>
            <p:nvPr/>
          </p:nvGrpSpPr>
          <p:grpSpPr>
            <a:xfrm>
              <a:off x="4752000" y="795531"/>
              <a:ext cx="886789" cy="123111"/>
              <a:chOff x="4752000" y="795531"/>
              <a:chExt cx="886789" cy="123111"/>
            </a:xfrm>
          </p:grpSpPr>
          <p:sp>
            <p:nvSpPr>
              <p:cNvPr id="19" name="Rectangle 18">
                <a:extLst>
                  <a:ext uri="{FF2B5EF4-FFF2-40B4-BE49-F238E27FC236}">
                    <a16:creationId xmlns:a16="http://schemas.microsoft.com/office/drawing/2014/main" id="{2F58B577-873A-8A21-F8C7-FEB8898C2DD6}"/>
                  </a:ext>
                </a:extLst>
              </p:cNvPr>
              <p:cNvSpPr>
                <a:spLocks noChangeArrowheads="1"/>
              </p:cNvSpPr>
              <p:nvPr/>
            </p:nvSpPr>
            <p:spPr bwMode="auto">
              <a:xfrm>
                <a:off x="5004000" y="795531"/>
                <a:ext cx="634789"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GC Component</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Rectangle 19">
                <a:extLst>
                  <a:ext uri="{FF2B5EF4-FFF2-40B4-BE49-F238E27FC236}">
                    <a16:creationId xmlns:a16="http://schemas.microsoft.com/office/drawing/2014/main" id="{C9F967FE-11CB-1D4F-7AF9-78E6F9287CD6}"/>
                  </a:ext>
                </a:extLst>
              </p:cNvPr>
              <p:cNvSpPr/>
              <p:nvPr/>
            </p:nvSpPr>
            <p:spPr>
              <a:xfrm>
                <a:off x="4752000" y="803086"/>
                <a:ext cx="216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D0B9774D-7D07-C0AE-4C88-4C8A13C8C299}"/>
                </a:ext>
              </a:extLst>
            </p:cNvPr>
            <p:cNvGrpSpPr/>
            <p:nvPr/>
          </p:nvGrpSpPr>
          <p:grpSpPr>
            <a:xfrm>
              <a:off x="4752000" y="934436"/>
              <a:ext cx="917247" cy="123111"/>
              <a:chOff x="4752000" y="937773"/>
              <a:chExt cx="917247" cy="123111"/>
            </a:xfrm>
          </p:grpSpPr>
          <p:sp>
            <p:nvSpPr>
              <p:cNvPr id="17" name="Rectangle 16">
                <a:extLst>
                  <a:ext uri="{FF2B5EF4-FFF2-40B4-BE49-F238E27FC236}">
                    <a16:creationId xmlns:a16="http://schemas.microsoft.com/office/drawing/2014/main" id="{4C0FD801-1F49-8C9E-268F-F96E878D4FB7}"/>
                  </a:ext>
                </a:extLst>
              </p:cNvPr>
              <p:cNvSpPr>
                <a:spLocks noChangeArrowheads="1"/>
              </p:cNvSpPr>
              <p:nvPr/>
            </p:nvSpPr>
            <p:spPr bwMode="auto">
              <a:xfrm>
                <a:off x="5004000" y="937773"/>
                <a:ext cx="66524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External System</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Rectangle 17">
                <a:extLst>
                  <a:ext uri="{FF2B5EF4-FFF2-40B4-BE49-F238E27FC236}">
                    <a16:creationId xmlns:a16="http://schemas.microsoft.com/office/drawing/2014/main" id="{682356EB-F811-75F3-0BBA-87896727F7AE}"/>
                  </a:ext>
                </a:extLst>
              </p:cNvPr>
              <p:cNvSpPr/>
              <p:nvPr/>
            </p:nvSpPr>
            <p:spPr>
              <a:xfrm>
                <a:off x="4752000" y="945328"/>
                <a:ext cx="216000" cy="108000"/>
              </a:xfrm>
              <a:prstGeom prst="rect">
                <a:avLst/>
              </a:prstGeom>
              <a:solidFill>
                <a:srgbClr val="BF9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20C82CA3-A171-8350-4A33-61FA76F89CCB}"/>
                </a:ext>
              </a:extLst>
            </p:cNvPr>
            <p:cNvGrpSpPr/>
            <p:nvPr/>
          </p:nvGrpSpPr>
          <p:grpSpPr>
            <a:xfrm>
              <a:off x="4752000" y="1073341"/>
              <a:ext cx="816257" cy="123111"/>
              <a:chOff x="4752000" y="1073541"/>
              <a:chExt cx="816257" cy="123111"/>
            </a:xfrm>
          </p:grpSpPr>
          <p:sp>
            <p:nvSpPr>
              <p:cNvPr id="15" name="Rectangle 14">
                <a:extLst>
                  <a:ext uri="{FF2B5EF4-FFF2-40B4-BE49-F238E27FC236}">
                    <a16:creationId xmlns:a16="http://schemas.microsoft.com/office/drawing/2014/main" id="{FB59F306-84D8-DA8C-AF5A-6050F2EB6CDB}"/>
                  </a:ext>
                </a:extLst>
              </p:cNvPr>
              <p:cNvSpPr>
                <a:spLocks noChangeArrowheads="1"/>
              </p:cNvSpPr>
              <p:nvPr/>
            </p:nvSpPr>
            <p:spPr bwMode="auto">
              <a:xfrm>
                <a:off x="5004000" y="1073541"/>
                <a:ext cx="564257"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Solution Data</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97A4CFF8-FDDF-AB0F-E433-90E8ECE9DBF6}"/>
                  </a:ext>
                </a:extLst>
              </p:cNvPr>
              <p:cNvSpPr/>
              <p:nvPr/>
            </p:nvSpPr>
            <p:spPr>
              <a:xfrm>
                <a:off x="4752000" y="1081096"/>
                <a:ext cx="216000" cy="108000"/>
              </a:xfrm>
              <a:prstGeom prst="rect">
                <a:avLst/>
              </a:prstGeom>
              <a:solidFill>
                <a:srgbClr val="7DA6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68496358-D259-72B7-6596-81EC2421911C}"/>
                </a:ext>
              </a:extLst>
            </p:cNvPr>
            <p:cNvGrpSpPr/>
            <p:nvPr/>
          </p:nvGrpSpPr>
          <p:grpSpPr>
            <a:xfrm>
              <a:off x="4752000" y="1212246"/>
              <a:ext cx="1114416" cy="123111"/>
              <a:chOff x="4752000" y="1234967"/>
              <a:chExt cx="1114416" cy="123111"/>
            </a:xfrm>
          </p:grpSpPr>
          <p:sp>
            <p:nvSpPr>
              <p:cNvPr id="13" name="Rectangle 12">
                <a:extLst>
                  <a:ext uri="{FF2B5EF4-FFF2-40B4-BE49-F238E27FC236}">
                    <a16:creationId xmlns:a16="http://schemas.microsoft.com/office/drawing/2014/main" id="{F2E52C82-905A-1D73-9631-A775E2769FF4}"/>
                  </a:ext>
                </a:extLst>
              </p:cNvPr>
              <p:cNvSpPr>
                <a:spLocks noChangeArrowheads="1"/>
              </p:cNvSpPr>
              <p:nvPr/>
            </p:nvSpPr>
            <p:spPr bwMode="auto">
              <a:xfrm>
                <a:off x="5004000" y="1234967"/>
                <a:ext cx="862416"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Solution Component</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Rectangle 13">
                <a:extLst>
                  <a:ext uri="{FF2B5EF4-FFF2-40B4-BE49-F238E27FC236}">
                    <a16:creationId xmlns:a16="http://schemas.microsoft.com/office/drawing/2014/main" id="{7090E516-AB95-DA25-5AB0-42A403EA298D}"/>
                  </a:ext>
                </a:extLst>
              </p:cNvPr>
              <p:cNvSpPr/>
              <p:nvPr/>
            </p:nvSpPr>
            <p:spPr>
              <a:xfrm>
                <a:off x="4752000" y="1242522"/>
                <a:ext cx="216000" cy="108000"/>
              </a:xfrm>
              <a:prstGeom prst="rect">
                <a:avLst/>
              </a:prstGeom>
              <a:solidFill>
                <a:srgbClr val="6895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FDB48012-9FB7-E58C-0FEF-80820C5A5C39}"/>
                </a:ext>
              </a:extLst>
            </p:cNvPr>
            <p:cNvGrpSpPr/>
            <p:nvPr/>
          </p:nvGrpSpPr>
          <p:grpSpPr>
            <a:xfrm>
              <a:off x="4752000" y="1351150"/>
              <a:ext cx="801831" cy="123111"/>
              <a:chOff x="4752000" y="1351150"/>
              <a:chExt cx="801831" cy="123111"/>
            </a:xfrm>
          </p:grpSpPr>
          <p:sp>
            <p:nvSpPr>
              <p:cNvPr id="11" name="Rectangle 10">
                <a:extLst>
                  <a:ext uri="{FF2B5EF4-FFF2-40B4-BE49-F238E27FC236}">
                    <a16:creationId xmlns:a16="http://schemas.microsoft.com/office/drawing/2014/main" id="{468150FB-9D30-CAE5-1C8B-CFA23DAB10AF}"/>
                  </a:ext>
                </a:extLst>
              </p:cNvPr>
              <p:cNvSpPr>
                <a:spLocks noChangeArrowheads="1"/>
              </p:cNvSpPr>
              <p:nvPr/>
            </p:nvSpPr>
            <p:spPr bwMode="auto">
              <a:xfrm>
                <a:off x="5004000" y="1351150"/>
                <a:ext cx="549831"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Out-of-scope</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 name="Rectangle 11">
                <a:extLst>
                  <a:ext uri="{FF2B5EF4-FFF2-40B4-BE49-F238E27FC236}">
                    <a16:creationId xmlns:a16="http://schemas.microsoft.com/office/drawing/2014/main" id="{10860F31-F774-E316-1CC7-692D8F04EB24}"/>
                  </a:ext>
                </a:extLst>
              </p:cNvPr>
              <p:cNvSpPr/>
              <p:nvPr/>
            </p:nvSpPr>
            <p:spPr>
              <a:xfrm>
                <a:off x="4752000" y="1358705"/>
                <a:ext cx="216000" cy="108000"/>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1" name="TextBox 20">
            <a:extLst>
              <a:ext uri="{FF2B5EF4-FFF2-40B4-BE49-F238E27FC236}">
                <a16:creationId xmlns:a16="http://schemas.microsoft.com/office/drawing/2014/main" id="{8264C30D-C4B8-3543-90A6-92A012FB03D0}"/>
              </a:ext>
            </a:extLst>
          </p:cNvPr>
          <p:cNvSpPr txBox="1"/>
          <p:nvPr/>
        </p:nvSpPr>
        <p:spPr>
          <a:xfrm>
            <a:off x="0" y="0"/>
            <a:ext cx="6156000" cy="369332"/>
          </a:xfrm>
          <a:prstGeom prst="rect">
            <a:avLst/>
          </a:prstGeom>
          <a:solidFill>
            <a:schemeClr val="accent6">
              <a:lumMod val="20000"/>
              <a:lumOff val="80000"/>
            </a:schemeClr>
          </a:solidFill>
        </p:spPr>
        <p:txBody>
          <a:bodyPr wrap="square" lIns="91440" tIns="0" rIns="9144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Arial"/>
              </a:rPr>
              <a:t>Potential Technology Overlay - DRAFT</a:t>
            </a:r>
          </a:p>
        </p:txBody>
      </p:sp>
      <p:sp>
        <p:nvSpPr>
          <p:cNvPr id="49" name="Rectangle: Rounded Corners 48">
            <a:extLst>
              <a:ext uri="{FF2B5EF4-FFF2-40B4-BE49-F238E27FC236}">
                <a16:creationId xmlns:a16="http://schemas.microsoft.com/office/drawing/2014/main" id="{15EE1C60-9B90-15F7-4404-97002925D915}"/>
              </a:ext>
            </a:extLst>
          </p:cNvPr>
          <p:cNvSpPr/>
          <p:nvPr/>
        </p:nvSpPr>
        <p:spPr>
          <a:xfrm>
            <a:off x="11016000" y="750446"/>
            <a:ext cx="216000" cy="108000"/>
          </a:xfrm>
          <a:prstGeom prst="roundRect">
            <a:avLst>
              <a:gd name="adj" fmla="val 3359"/>
            </a:avLst>
          </a:prstGeom>
          <a:solidFill>
            <a:srgbClr val="6895BE">
              <a:alpha val="20000"/>
            </a:srgbClr>
          </a:solidFill>
          <a:ln>
            <a:solidFill>
              <a:srgbClr val="6895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12D1C70B-2F22-706B-24D2-300A111B8DB1}"/>
              </a:ext>
            </a:extLst>
          </p:cNvPr>
          <p:cNvSpPr>
            <a:spLocks noChangeArrowheads="1"/>
          </p:cNvSpPr>
          <p:nvPr/>
        </p:nvSpPr>
        <p:spPr bwMode="auto">
          <a:xfrm>
            <a:off x="11274156" y="729741"/>
            <a:ext cx="450444" cy="123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AI Assisted</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8" name="Rectangle 87">
            <a:extLst>
              <a:ext uri="{FF2B5EF4-FFF2-40B4-BE49-F238E27FC236}">
                <a16:creationId xmlns:a16="http://schemas.microsoft.com/office/drawing/2014/main" id="{8F9CD394-E212-35D5-EE6C-5FBEEED7ACC0}"/>
              </a:ext>
            </a:extLst>
          </p:cNvPr>
          <p:cNvSpPr/>
          <p:nvPr/>
        </p:nvSpPr>
        <p:spPr>
          <a:xfrm>
            <a:off x="0" y="6516000"/>
            <a:ext cx="1354412" cy="33891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black"/>
                </a:solidFill>
                <a:effectLst/>
                <a:uLnTx/>
                <a:uFillTx/>
                <a:latin typeface="Calibri" panose="020F0502020204030204"/>
                <a:ea typeface="+mn-ea"/>
                <a:cs typeface="+mn-cs"/>
              </a:rPr>
              <a:t>Draft v0.10</a:t>
            </a:r>
          </a:p>
        </p:txBody>
      </p:sp>
      <p:grpSp>
        <p:nvGrpSpPr>
          <p:cNvPr id="78" name="Group 77">
            <a:extLst>
              <a:ext uri="{FF2B5EF4-FFF2-40B4-BE49-F238E27FC236}">
                <a16:creationId xmlns:a16="http://schemas.microsoft.com/office/drawing/2014/main" id="{E561F6C3-D933-2DFF-45E3-4439A9373BC2}"/>
              </a:ext>
            </a:extLst>
          </p:cNvPr>
          <p:cNvGrpSpPr/>
          <p:nvPr/>
        </p:nvGrpSpPr>
        <p:grpSpPr>
          <a:xfrm>
            <a:off x="9273765" y="218832"/>
            <a:ext cx="521340" cy="519474"/>
            <a:chOff x="3725068" y="3536977"/>
            <a:chExt cx="600446" cy="611347"/>
          </a:xfrm>
        </p:grpSpPr>
        <p:sp>
          <p:nvSpPr>
            <p:cNvPr id="79" name="TextBox 3">
              <a:extLst>
                <a:ext uri="{FF2B5EF4-FFF2-40B4-BE49-F238E27FC236}">
                  <a16:creationId xmlns:a16="http://schemas.microsoft.com/office/drawing/2014/main" id="{0779201A-9894-206A-B421-1D4929F3BDB5}"/>
                </a:ext>
              </a:extLst>
            </p:cNvPr>
            <p:cNvSpPr txBox="1"/>
            <p:nvPr/>
          </p:nvSpPr>
          <p:spPr>
            <a:xfrm>
              <a:off x="3725068" y="3981249"/>
              <a:ext cx="600446" cy="167075"/>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Calibri" panose="020F0502020204030204"/>
                  <a:ea typeface="+mn-ea"/>
                  <a:cs typeface="Arial" panose="020B0604020202020204" pitchFamily="34" charset="0"/>
                </a:rPr>
                <a:t>Client</a:t>
              </a:r>
            </a:p>
          </p:txBody>
        </p:sp>
        <p:pic>
          <p:nvPicPr>
            <p:cNvPr id="80" name="Picture 79">
              <a:extLst>
                <a:ext uri="{FF2B5EF4-FFF2-40B4-BE49-F238E27FC236}">
                  <a16:creationId xmlns:a16="http://schemas.microsoft.com/office/drawing/2014/main" id="{6B5FE449-5CAD-287D-86E8-4CA7EE8CDA49}"/>
                </a:ext>
              </a:extLst>
            </p:cNvPr>
            <p:cNvPicPr>
              <a:picLocks noChangeAspect="1" noChangeArrowheads="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81246" y="3536977"/>
              <a:ext cx="488083" cy="5507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oup 80">
            <a:extLst>
              <a:ext uri="{FF2B5EF4-FFF2-40B4-BE49-F238E27FC236}">
                <a16:creationId xmlns:a16="http://schemas.microsoft.com/office/drawing/2014/main" id="{BD2E292B-AA98-53A9-B5D0-B7C1E232C968}"/>
              </a:ext>
            </a:extLst>
          </p:cNvPr>
          <p:cNvGrpSpPr/>
          <p:nvPr/>
        </p:nvGrpSpPr>
        <p:grpSpPr>
          <a:xfrm>
            <a:off x="6384957" y="218832"/>
            <a:ext cx="521340" cy="519473"/>
            <a:chOff x="3725068" y="3536978"/>
            <a:chExt cx="600446" cy="611346"/>
          </a:xfrm>
        </p:grpSpPr>
        <p:sp>
          <p:nvSpPr>
            <p:cNvPr id="82" name="TextBox 3">
              <a:extLst>
                <a:ext uri="{FF2B5EF4-FFF2-40B4-BE49-F238E27FC236}">
                  <a16:creationId xmlns:a16="http://schemas.microsoft.com/office/drawing/2014/main" id="{6704ECC4-E1DE-5E1E-7B15-AAD1760A8175}"/>
                </a:ext>
              </a:extLst>
            </p:cNvPr>
            <p:cNvSpPr txBox="1"/>
            <p:nvPr/>
          </p:nvSpPr>
          <p:spPr>
            <a:xfrm>
              <a:off x="3725068" y="3981249"/>
              <a:ext cx="600446" cy="167075"/>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User</a:t>
              </a:r>
            </a:p>
          </p:txBody>
        </p:sp>
        <p:pic>
          <p:nvPicPr>
            <p:cNvPr id="83" name="Picture 82">
              <a:extLst>
                <a:ext uri="{FF2B5EF4-FFF2-40B4-BE49-F238E27FC236}">
                  <a16:creationId xmlns:a16="http://schemas.microsoft.com/office/drawing/2014/main" id="{A7E8939D-AFB8-DE2E-8D08-2F3A8C7EAD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1246" y="3536977"/>
              <a:ext cx="488083" cy="5507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5" name="Group 164">
            <a:extLst>
              <a:ext uri="{FF2B5EF4-FFF2-40B4-BE49-F238E27FC236}">
                <a16:creationId xmlns:a16="http://schemas.microsoft.com/office/drawing/2014/main" id="{6F6A2F75-2C67-A644-B8DE-60B3A38E1641}"/>
              </a:ext>
            </a:extLst>
          </p:cNvPr>
          <p:cNvGrpSpPr/>
          <p:nvPr/>
        </p:nvGrpSpPr>
        <p:grpSpPr>
          <a:xfrm>
            <a:off x="7695326" y="218832"/>
            <a:ext cx="521340" cy="701273"/>
            <a:chOff x="6683945" y="60256"/>
            <a:chExt cx="521340" cy="701273"/>
          </a:xfrm>
        </p:grpSpPr>
        <p:sp>
          <p:nvSpPr>
            <p:cNvPr id="159" name="TextBox 3">
              <a:extLst>
                <a:ext uri="{FF2B5EF4-FFF2-40B4-BE49-F238E27FC236}">
                  <a16:creationId xmlns:a16="http://schemas.microsoft.com/office/drawing/2014/main" id="{964567A7-488A-C760-E0FA-7078FBFD3949}"/>
                </a:ext>
              </a:extLst>
            </p:cNvPr>
            <p:cNvSpPr txBox="1"/>
            <p:nvPr/>
          </p:nvSpPr>
          <p:spPr>
            <a:xfrm>
              <a:off x="6683945" y="437763"/>
              <a:ext cx="521340" cy="323766"/>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Business </a:t>
              </a:r>
            </a:p>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Expert</a:t>
              </a:r>
            </a:p>
          </p:txBody>
        </p:sp>
        <p:pic>
          <p:nvPicPr>
            <p:cNvPr id="160" name="Picture 159">
              <a:extLst>
                <a:ext uri="{FF2B5EF4-FFF2-40B4-BE49-F238E27FC236}">
                  <a16:creationId xmlns:a16="http://schemas.microsoft.com/office/drawing/2014/main" id="{B8547A84-1E23-2920-8FEC-DA947518EC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722" y="60256"/>
              <a:ext cx="423780" cy="4680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9" name="Group 258">
            <a:extLst>
              <a:ext uri="{FF2B5EF4-FFF2-40B4-BE49-F238E27FC236}">
                <a16:creationId xmlns:a16="http://schemas.microsoft.com/office/drawing/2014/main" id="{B16AB1BF-90AE-6F8D-E4CD-E765BC9F8261}"/>
              </a:ext>
            </a:extLst>
          </p:cNvPr>
          <p:cNvGrpSpPr/>
          <p:nvPr/>
        </p:nvGrpSpPr>
        <p:grpSpPr>
          <a:xfrm>
            <a:off x="1634550" y="552124"/>
            <a:ext cx="521340" cy="437980"/>
            <a:chOff x="3747685" y="3536977"/>
            <a:chExt cx="600446" cy="515440"/>
          </a:xfrm>
        </p:grpSpPr>
        <p:sp>
          <p:nvSpPr>
            <p:cNvPr id="260" name="TextBox 3">
              <a:extLst>
                <a:ext uri="{FF2B5EF4-FFF2-40B4-BE49-F238E27FC236}">
                  <a16:creationId xmlns:a16="http://schemas.microsoft.com/office/drawing/2014/main" id="{C50B6C06-A9D6-F8B3-16E9-348FE391DB92}"/>
                </a:ext>
              </a:extLst>
            </p:cNvPr>
            <p:cNvSpPr txBox="1"/>
            <p:nvPr/>
          </p:nvSpPr>
          <p:spPr>
            <a:xfrm>
              <a:off x="3747685" y="3885342"/>
              <a:ext cx="600446" cy="167075"/>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User</a:t>
              </a:r>
            </a:p>
          </p:txBody>
        </p:sp>
        <p:pic>
          <p:nvPicPr>
            <p:cNvPr id="261" name="Picture 260">
              <a:extLst>
                <a:ext uri="{FF2B5EF4-FFF2-40B4-BE49-F238E27FC236}">
                  <a16:creationId xmlns:a16="http://schemas.microsoft.com/office/drawing/2014/main" id="{4D533A58-51B5-5DDD-4EAD-DF3633DEE1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0183" y="3536977"/>
              <a:ext cx="375450" cy="4236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2" name="Group 261">
            <a:extLst>
              <a:ext uri="{FF2B5EF4-FFF2-40B4-BE49-F238E27FC236}">
                <a16:creationId xmlns:a16="http://schemas.microsoft.com/office/drawing/2014/main" id="{C9251B6D-BBA8-307E-9F0B-F6804FE79D94}"/>
              </a:ext>
            </a:extLst>
          </p:cNvPr>
          <p:cNvGrpSpPr/>
          <p:nvPr/>
        </p:nvGrpSpPr>
        <p:grpSpPr>
          <a:xfrm>
            <a:off x="542309" y="552123"/>
            <a:ext cx="1005135" cy="464550"/>
            <a:chOff x="6683945" y="60256"/>
            <a:chExt cx="1005135" cy="464550"/>
          </a:xfrm>
        </p:grpSpPr>
        <p:sp>
          <p:nvSpPr>
            <p:cNvPr id="263" name="TextBox 3">
              <a:extLst>
                <a:ext uri="{FF2B5EF4-FFF2-40B4-BE49-F238E27FC236}">
                  <a16:creationId xmlns:a16="http://schemas.microsoft.com/office/drawing/2014/main" id="{C0FC2FD0-067A-865B-AD1C-3A49C2194791}"/>
                </a:ext>
              </a:extLst>
            </p:cNvPr>
            <p:cNvSpPr txBox="1"/>
            <p:nvPr/>
          </p:nvSpPr>
          <p:spPr>
            <a:xfrm>
              <a:off x="6683945" y="354639"/>
              <a:ext cx="1005135" cy="170167"/>
            </a:xfrm>
            <a:prstGeom prst="rect">
              <a:avLst/>
            </a:prstGeom>
            <a:noFill/>
          </p:spPr>
          <p:txBody>
            <a:bodyPr wrap="non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Business Expert</a:t>
              </a:r>
            </a:p>
          </p:txBody>
        </p:sp>
        <p:pic>
          <p:nvPicPr>
            <p:cNvPr id="264" name="Picture 263">
              <a:extLst>
                <a:ext uri="{FF2B5EF4-FFF2-40B4-BE49-F238E27FC236}">
                  <a16:creationId xmlns:a16="http://schemas.microsoft.com/office/drawing/2014/main" id="{7186AE81-EA33-2B37-9C40-B6408C7AC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4622" y="60256"/>
              <a:ext cx="325984" cy="360000"/>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TextBox 58">
            <a:extLst>
              <a:ext uri="{FF2B5EF4-FFF2-40B4-BE49-F238E27FC236}">
                <a16:creationId xmlns:a16="http://schemas.microsoft.com/office/drawing/2014/main" id="{DE699E05-E2EE-7B75-D7FA-C5523FB2F8D9}"/>
              </a:ext>
            </a:extLst>
          </p:cNvPr>
          <p:cNvSpPr txBox="1"/>
          <p:nvPr/>
        </p:nvSpPr>
        <p:spPr>
          <a:xfrm>
            <a:off x="640119" y="3180137"/>
            <a:ext cx="135441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prstClr val="black"/>
                </a:solidFill>
                <a:effectLst/>
                <a:uLnTx/>
                <a:uFillTx/>
                <a:latin typeface="Calibri" panose="020F0502020204030204"/>
                <a:ea typeface="+mn-ea"/>
                <a:cs typeface="+mn-cs"/>
              </a:rPr>
              <a:t>BESS &amp; NEXO</a:t>
            </a:r>
          </a:p>
        </p:txBody>
      </p:sp>
      <p:pic>
        <p:nvPicPr>
          <p:cNvPr id="2050" name="Picture 2" descr="WalkMe Logo Vector">
            <a:extLst>
              <a:ext uri="{FF2B5EF4-FFF2-40B4-BE49-F238E27FC236}">
                <a16:creationId xmlns:a16="http://schemas.microsoft.com/office/drawing/2014/main" id="{031B895C-4529-0C5B-1D44-CBA6BD9B2BE1}"/>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3735" t="40202" r="23636" b="41344"/>
          <a:stretch/>
        </p:blipFill>
        <p:spPr bwMode="auto">
          <a:xfrm>
            <a:off x="2942300" y="3202491"/>
            <a:ext cx="1745413" cy="612000"/>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
            <a:extLst>
              <a:ext uri="{FF2B5EF4-FFF2-40B4-BE49-F238E27FC236}">
                <a16:creationId xmlns:a16="http://schemas.microsoft.com/office/drawing/2014/main" id="{711B2399-54C2-74E5-43DC-5D5A7DEC94C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392" t="14052" r="14479" b="14173"/>
          <a:stretch/>
        </p:blipFill>
        <p:spPr bwMode="auto">
          <a:xfrm>
            <a:off x="6584577" y="4466038"/>
            <a:ext cx="891898" cy="90000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89">
            <a:extLst>
              <a:ext uri="{FF2B5EF4-FFF2-40B4-BE49-F238E27FC236}">
                <a16:creationId xmlns:a16="http://schemas.microsoft.com/office/drawing/2014/main" id="{3514B46B-C4E5-A0A4-5319-641CEFE33C8E}"/>
              </a:ext>
            </a:extLst>
          </p:cNvPr>
          <p:cNvPicPr>
            <a:picLocks noChangeAspect="1"/>
          </p:cNvPicPr>
          <p:nvPr/>
        </p:nvPicPr>
        <p:blipFill>
          <a:blip r:embed="rId7">
            <a:clrChange>
              <a:clrFrom>
                <a:srgbClr val="FAF8F6"/>
              </a:clrFrom>
              <a:clrTo>
                <a:srgbClr val="FAF8F6">
                  <a:alpha val="0"/>
                </a:srgbClr>
              </a:clrTo>
            </a:clrChange>
          </a:blip>
          <a:stretch>
            <a:fillRect/>
          </a:stretch>
        </p:blipFill>
        <p:spPr>
          <a:xfrm>
            <a:off x="4222750" y="1518224"/>
            <a:ext cx="1454150" cy="449326"/>
          </a:xfrm>
          <a:prstGeom prst="rect">
            <a:avLst/>
          </a:prstGeom>
        </p:spPr>
      </p:pic>
      <p:pic>
        <p:nvPicPr>
          <p:cNvPr id="133" name="Picture 6">
            <a:extLst>
              <a:ext uri="{FF2B5EF4-FFF2-40B4-BE49-F238E27FC236}">
                <a16:creationId xmlns:a16="http://schemas.microsoft.com/office/drawing/2014/main" id="{E9D19896-3450-99EF-A98C-93C949EA28A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392" t="14052" r="14479" b="14173"/>
          <a:stretch/>
        </p:blipFill>
        <p:spPr bwMode="auto">
          <a:xfrm>
            <a:off x="360192" y="4550538"/>
            <a:ext cx="494403" cy="49889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71EED34-14F2-AED8-1E6C-0DB2B889B8B8}"/>
              </a:ext>
            </a:extLst>
          </p:cNvPr>
          <p:cNvSpPr txBox="1"/>
          <p:nvPr/>
        </p:nvSpPr>
        <p:spPr>
          <a:xfrm>
            <a:off x="3385998" y="3726000"/>
            <a:ext cx="96922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prstClr val="black"/>
                </a:solidFill>
                <a:effectLst/>
                <a:uLnTx/>
                <a:uFillTx/>
                <a:latin typeface="Calibri" panose="020F0502020204030204"/>
                <a:ea typeface="+mn-ea"/>
                <a:cs typeface="+mn-cs"/>
              </a:rPr>
              <a:t>(Tactical)</a:t>
            </a:r>
          </a:p>
        </p:txBody>
      </p:sp>
      <p:pic>
        <p:nvPicPr>
          <p:cNvPr id="4" name="Graphic 3" descr="Artificial Intelligence outline">
            <a:extLst>
              <a:ext uri="{FF2B5EF4-FFF2-40B4-BE49-F238E27FC236}">
                <a16:creationId xmlns:a16="http://schemas.microsoft.com/office/drawing/2014/main" id="{5FCBEC36-690E-2218-5942-B81EA3B8A99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36777" y="3224059"/>
            <a:ext cx="914400" cy="914400"/>
          </a:xfrm>
          <a:prstGeom prst="rect">
            <a:avLst/>
          </a:prstGeom>
        </p:spPr>
      </p:pic>
      <p:pic>
        <p:nvPicPr>
          <p:cNvPr id="22" name="Graphic 21" descr="Artificial Intelligence outline">
            <a:extLst>
              <a:ext uri="{FF2B5EF4-FFF2-40B4-BE49-F238E27FC236}">
                <a16:creationId xmlns:a16="http://schemas.microsoft.com/office/drawing/2014/main" id="{6CB3F20F-3DE2-3FAA-A68F-1D1FC6950D8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04996" y="3229702"/>
            <a:ext cx="914400" cy="914400"/>
          </a:xfrm>
          <a:prstGeom prst="rect">
            <a:avLst/>
          </a:prstGeom>
        </p:spPr>
      </p:pic>
      <p:pic>
        <p:nvPicPr>
          <p:cNvPr id="23" name="Graphic 22" descr="Artificial Intelligence outline">
            <a:extLst>
              <a:ext uri="{FF2B5EF4-FFF2-40B4-BE49-F238E27FC236}">
                <a16:creationId xmlns:a16="http://schemas.microsoft.com/office/drawing/2014/main" id="{DFF85932-5C29-F04D-DB7B-6A7984C470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31131" y="5543927"/>
            <a:ext cx="914400" cy="914400"/>
          </a:xfrm>
          <a:prstGeom prst="rect">
            <a:avLst/>
          </a:prstGeom>
        </p:spPr>
      </p:pic>
      <p:pic>
        <p:nvPicPr>
          <p:cNvPr id="24" name="Graphic 23" descr="Artificial Intelligence outline">
            <a:extLst>
              <a:ext uri="{FF2B5EF4-FFF2-40B4-BE49-F238E27FC236}">
                <a16:creationId xmlns:a16="http://schemas.microsoft.com/office/drawing/2014/main" id="{F4A92037-F46C-963D-AF7E-660F154A2AE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74459" y="4849658"/>
            <a:ext cx="914400" cy="914400"/>
          </a:xfrm>
          <a:prstGeom prst="rect">
            <a:avLst/>
          </a:prstGeom>
        </p:spPr>
      </p:pic>
      <p:sp>
        <p:nvSpPr>
          <p:cNvPr id="3" name="TextBox 2">
            <a:extLst>
              <a:ext uri="{FF2B5EF4-FFF2-40B4-BE49-F238E27FC236}">
                <a16:creationId xmlns:a16="http://schemas.microsoft.com/office/drawing/2014/main" id="{D256D53A-4C81-8C42-71D9-A657764CD723}"/>
              </a:ext>
            </a:extLst>
          </p:cNvPr>
          <p:cNvSpPr txBox="1"/>
          <p:nvPr/>
        </p:nvSpPr>
        <p:spPr>
          <a:xfrm>
            <a:off x="7563701" y="4078465"/>
            <a:ext cx="143482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prstClr val="black"/>
                </a:solidFill>
                <a:effectLst/>
                <a:uLnTx/>
                <a:uFillTx/>
                <a:latin typeface="Calibri" panose="020F0502020204030204"/>
                <a:ea typeface="+mn-ea"/>
                <a:cs typeface="+mn-cs"/>
              </a:rPr>
              <a:t>AI Component</a:t>
            </a:r>
          </a:p>
        </p:txBody>
      </p:sp>
      <p:sp>
        <p:nvSpPr>
          <p:cNvPr id="25" name="TextBox 24">
            <a:extLst>
              <a:ext uri="{FF2B5EF4-FFF2-40B4-BE49-F238E27FC236}">
                <a16:creationId xmlns:a16="http://schemas.microsoft.com/office/drawing/2014/main" id="{B058ED2C-8B54-A487-339E-90E80AC7EDDD}"/>
              </a:ext>
            </a:extLst>
          </p:cNvPr>
          <p:cNvSpPr txBox="1"/>
          <p:nvPr/>
        </p:nvSpPr>
        <p:spPr>
          <a:xfrm>
            <a:off x="10123157" y="4078465"/>
            <a:ext cx="143482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prstClr val="black"/>
                </a:solidFill>
                <a:effectLst/>
                <a:uLnTx/>
                <a:uFillTx/>
                <a:latin typeface="Calibri" panose="020F0502020204030204"/>
                <a:ea typeface="+mn-ea"/>
                <a:cs typeface="+mn-cs"/>
              </a:rPr>
              <a:t>AI Component</a:t>
            </a:r>
          </a:p>
        </p:txBody>
      </p:sp>
      <p:sp>
        <p:nvSpPr>
          <p:cNvPr id="26" name="TextBox 25">
            <a:extLst>
              <a:ext uri="{FF2B5EF4-FFF2-40B4-BE49-F238E27FC236}">
                <a16:creationId xmlns:a16="http://schemas.microsoft.com/office/drawing/2014/main" id="{BBCEF39A-5E64-B7F0-2260-3CC8B36DC425}"/>
              </a:ext>
            </a:extLst>
          </p:cNvPr>
          <p:cNvSpPr txBox="1"/>
          <p:nvPr/>
        </p:nvSpPr>
        <p:spPr>
          <a:xfrm>
            <a:off x="8688331" y="5893302"/>
            <a:ext cx="143482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prstClr val="black"/>
                </a:solidFill>
                <a:effectLst/>
                <a:uLnTx/>
                <a:uFillTx/>
                <a:latin typeface="Calibri" panose="020F0502020204030204"/>
                <a:ea typeface="+mn-ea"/>
                <a:cs typeface="+mn-cs"/>
              </a:rPr>
              <a:t>AI Component</a:t>
            </a:r>
          </a:p>
        </p:txBody>
      </p:sp>
      <p:sp>
        <p:nvSpPr>
          <p:cNvPr id="27" name="TextBox 26">
            <a:extLst>
              <a:ext uri="{FF2B5EF4-FFF2-40B4-BE49-F238E27FC236}">
                <a16:creationId xmlns:a16="http://schemas.microsoft.com/office/drawing/2014/main" id="{732ED6F8-C9B5-631F-664B-928554963F0E}"/>
              </a:ext>
            </a:extLst>
          </p:cNvPr>
          <p:cNvSpPr txBox="1"/>
          <p:nvPr/>
        </p:nvSpPr>
        <p:spPr>
          <a:xfrm>
            <a:off x="2914246" y="5686378"/>
            <a:ext cx="143482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prstClr val="black"/>
                </a:solidFill>
                <a:effectLst/>
                <a:uLnTx/>
                <a:uFillTx/>
                <a:latin typeface="Calibri" panose="020F0502020204030204"/>
                <a:ea typeface="+mn-ea"/>
                <a:cs typeface="+mn-cs"/>
              </a:rPr>
              <a:t>AI Component</a:t>
            </a:r>
          </a:p>
        </p:txBody>
      </p:sp>
      <p:pic>
        <p:nvPicPr>
          <p:cNvPr id="28" name="Picture 27">
            <a:extLst>
              <a:ext uri="{FF2B5EF4-FFF2-40B4-BE49-F238E27FC236}">
                <a16:creationId xmlns:a16="http://schemas.microsoft.com/office/drawing/2014/main" id="{528E0091-938E-06B4-30C1-249DA9D77274}"/>
              </a:ext>
            </a:extLst>
          </p:cNvPr>
          <p:cNvPicPr>
            <a:picLocks noChangeAspect="1"/>
          </p:cNvPicPr>
          <p:nvPr/>
        </p:nvPicPr>
        <p:blipFill>
          <a:blip r:embed="rId10"/>
          <a:stretch>
            <a:fillRect/>
          </a:stretch>
        </p:blipFill>
        <p:spPr>
          <a:xfrm>
            <a:off x="5638268" y="3202491"/>
            <a:ext cx="914400" cy="914400"/>
          </a:xfrm>
          <a:prstGeom prst="rect">
            <a:avLst/>
          </a:prstGeom>
        </p:spPr>
      </p:pic>
      <p:pic>
        <p:nvPicPr>
          <p:cNvPr id="30" name="Picture 29" descr="A black and red logo&#10;&#10;AI-generated content may be incorrect.">
            <a:extLst>
              <a:ext uri="{FF2B5EF4-FFF2-40B4-BE49-F238E27FC236}">
                <a16:creationId xmlns:a16="http://schemas.microsoft.com/office/drawing/2014/main" id="{F49E8ED1-DC5A-63FF-922F-CA7976E8C6FC}"/>
              </a:ext>
            </a:extLst>
          </p:cNvPr>
          <p:cNvPicPr>
            <a:picLocks noChangeAspect="1"/>
          </p:cNvPicPr>
          <p:nvPr/>
        </p:nvPicPr>
        <p:blipFill>
          <a:blip r:embed="rId11"/>
          <a:stretch>
            <a:fillRect/>
          </a:stretch>
        </p:blipFill>
        <p:spPr>
          <a:xfrm>
            <a:off x="6001684" y="1029362"/>
            <a:ext cx="1376918" cy="1376918"/>
          </a:xfrm>
          <a:prstGeom prst="rect">
            <a:avLst/>
          </a:prstGeom>
        </p:spPr>
      </p:pic>
      <p:pic>
        <p:nvPicPr>
          <p:cNvPr id="31" name="Picture 30" descr="A black and red logo&#10;&#10;AI-generated content may be incorrect.">
            <a:extLst>
              <a:ext uri="{FF2B5EF4-FFF2-40B4-BE49-F238E27FC236}">
                <a16:creationId xmlns:a16="http://schemas.microsoft.com/office/drawing/2014/main" id="{83C8AEC8-F49E-DC8E-87FE-08B255793B3D}"/>
              </a:ext>
            </a:extLst>
          </p:cNvPr>
          <p:cNvPicPr>
            <a:picLocks noChangeAspect="1"/>
          </p:cNvPicPr>
          <p:nvPr/>
        </p:nvPicPr>
        <p:blipFill>
          <a:blip r:embed="rId11"/>
          <a:stretch>
            <a:fillRect/>
          </a:stretch>
        </p:blipFill>
        <p:spPr>
          <a:xfrm>
            <a:off x="10727856" y="963350"/>
            <a:ext cx="1376918" cy="1376918"/>
          </a:xfrm>
          <a:prstGeom prst="rect">
            <a:avLst/>
          </a:prstGeom>
        </p:spPr>
      </p:pic>
      <p:sp>
        <p:nvSpPr>
          <p:cNvPr id="29" name="Slide Number Placeholder 3">
            <a:extLst>
              <a:ext uri="{FF2B5EF4-FFF2-40B4-BE49-F238E27FC236}">
                <a16:creationId xmlns:a16="http://schemas.microsoft.com/office/drawing/2014/main" id="{6646BE22-618B-6562-A085-51CCC294B3A4}"/>
              </a:ext>
            </a:extLst>
          </p:cNvPr>
          <p:cNvSpPr txBox="1">
            <a:spLocks/>
          </p:cNvSpPr>
          <p:nvPr/>
        </p:nvSpPr>
        <p:spPr>
          <a:xfrm>
            <a:off x="11580604" y="6394476"/>
            <a:ext cx="287418" cy="385803"/>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BCE2B6B-7FFE-FA46-BED3-31567387080B}" type="slidenum">
              <a:rPr lang="en-US" sz="800" smtClean="0"/>
              <a:pPr/>
              <a:t>11</a:t>
            </a:fld>
            <a:endParaRPr lang="en-US" sz="800"/>
          </a:p>
        </p:txBody>
      </p:sp>
    </p:spTree>
    <p:extLst>
      <p:ext uri="{BB962C8B-B14F-4D97-AF65-F5344CB8AC3E}">
        <p14:creationId xmlns:p14="http://schemas.microsoft.com/office/powerpoint/2010/main" val="2494165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extLst>
              <p:ext uri="{D42A27DB-BD31-4B8C-83A1-F6EECF244321}">
                <p14:modId xmlns:p14="http://schemas.microsoft.com/office/powerpoint/2010/main" val="669070850"/>
              </p:ext>
            </p:extLst>
          </p:nvPr>
        </p:nvGraphicFramePr>
        <p:xfrm>
          <a:off x="614201" y="909675"/>
          <a:ext cx="10972800" cy="404808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3"/>
                    </a:ext>
                  </a:extLst>
                </a:gridCol>
              </a:tblGrid>
              <a:tr h="512724">
                <a:tc gridSpan="2">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solidFill>
                            <a:schemeClr val="tx1"/>
                          </a:solidFill>
                          <a:effectLst/>
                          <a:latin typeface="Arial"/>
                        </a:rPr>
                        <a:t>Option </a:t>
                      </a:r>
                      <a:r>
                        <a:rPr lang="en-US" sz="1100" b="1" baseline="0">
                          <a:solidFill>
                            <a:schemeClr val="tx1"/>
                          </a:solidFill>
                          <a:effectLst/>
                          <a:latin typeface="Arial"/>
                        </a:rPr>
                        <a:t>1</a:t>
                      </a:r>
                      <a:r>
                        <a:rPr lang="en-US" sz="1100" b="1">
                          <a:solidFill>
                            <a:schemeClr val="tx1"/>
                          </a:solidFill>
                          <a:effectLst/>
                          <a:latin typeface="Arial"/>
                        </a:rPr>
                        <a:t>:</a:t>
                      </a:r>
                      <a:r>
                        <a:rPr lang="en-US" sz="1100" b="1" baseline="0">
                          <a:solidFill>
                            <a:schemeClr val="tx1"/>
                          </a:solidFill>
                          <a:effectLst/>
                          <a:latin typeface="Arial"/>
                        </a:rPr>
                        <a:t> </a:t>
                      </a:r>
                      <a:r>
                        <a:rPr lang="en-US" sz="1100" b="1">
                          <a:solidFill>
                            <a:schemeClr val="tx1"/>
                          </a:solidFill>
                          <a:effectLst/>
                          <a:latin typeface="Arial"/>
                        </a:rPr>
                        <a:t>SharePoint Online + AI components [RECOMMENDED OPTION]</a:t>
                      </a:r>
                      <a:endParaRPr lang="en-CA" sz="1100" b="1" kern="1200" baseline="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0" kern="1200" baseline="0">
                          <a:solidFill>
                            <a:schemeClr val="tx1"/>
                          </a:solidFill>
                          <a:effectLst/>
                          <a:latin typeface="Arial"/>
                          <a:ea typeface="+mn-ea"/>
                          <a:cs typeface="+mn-cs"/>
                        </a:rPr>
                        <a:t>SharePoint Online would serve as a centralized knowledge base.</a:t>
                      </a:r>
                      <a:br>
                        <a:rPr lang="en-CA" sz="1100" b="0" kern="1200" baseline="0">
                          <a:solidFill>
                            <a:srgbClr val="000000"/>
                          </a:solidFill>
                          <a:effectLst/>
                          <a:latin typeface="Arial"/>
                          <a:ea typeface="+mn-ea"/>
                          <a:cs typeface="+mn-cs"/>
                        </a:rPr>
                      </a:br>
                      <a:r>
                        <a:rPr lang="en-CA" sz="1100" b="0" kern="1200" baseline="0">
                          <a:solidFill>
                            <a:schemeClr val="tx1"/>
                          </a:solidFill>
                          <a:effectLst/>
                          <a:latin typeface="Arial"/>
                          <a:ea typeface="+mn-ea"/>
                          <a:cs typeface="+mn-cs"/>
                        </a:rPr>
                        <a:t>Additional AI components would support domain specific chatbot agents, AI-assisted search, etc.</a:t>
                      </a:r>
                      <a:endParaRPr lang="en-CA" sz="1100" b="0" kern="1200" baseline="0">
                        <a:solidFill>
                          <a:schemeClr val="tx1"/>
                        </a:solidFill>
                        <a:latin typeface="Arial"/>
                        <a:ea typeface="+mn-ea"/>
                        <a:cs typeface="+mn-cs"/>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i="0" u="none" strike="noStrike" noProof="0">
                          <a:solidFill>
                            <a:schemeClr val="tx1"/>
                          </a:solidFill>
                          <a:latin typeface="Arial"/>
                        </a:rPr>
                        <a:t>High</a:t>
                      </a:r>
                      <a:endParaRPr lang="en-US" sz="1100" b="0">
                        <a:solidFill>
                          <a:schemeClr val="tx1"/>
                        </a:solidFill>
                        <a:latin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i="0" u="none" strike="noStrike" noProof="0">
                          <a:solidFill>
                            <a:schemeClr val="tx1"/>
                          </a:solidFill>
                          <a:latin typeface="Arial"/>
                        </a:rPr>
                        <a:t>High</a:t>
                      </a:r>
                      <a:endParaRPr lang="en-US" sz="1100" b="0">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High</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ClrTx/>
                        <a:buSzTx/>
                        <a:buFont typeface="Arial" panose="020B0604020202020204" pitchFamily="34" charset="0"/>
                        <a:buNone/>
                      </a:pPr>
                      <a:r>
                        <a:rPr lang="en-US" sz="1100" b="1" kern="1200" noProof="0">
                          <a:solidFill>
                            <a:schemeClr val="tx1"/>
                          </a:solidFill>
                          <a:latin typeface="Arial"/>
                          <a:ea typeface="+mn-ea"/>
                          <a:cs typeface="+mn-cs"/>
                        </a:rPr>
                        <a:t>Data Alignment</a:t>
                      </a:r>
                      <a:r>
                        <a:rPr lang="en-US" sz="1100" b="1" i="0" u="none" strike="noStrike" kern="1200" noProof="0">
                          <a:solidFill>
                            <a:schemeClr val="tx1"/>
                          </a:solidFill>
                          <a:latin typeface="Arial"/>
                        </a:rPr>
                        <a:t>: </a:t>
                      </a:r>
                      <a:r>
                        <a:rPr lang="en-US" sz="1100" b="0" i="0" u="none" strike="noStrike" kern="1200" noProof="0">
                          <a:solidFill>
                            <a:schemeClr val="tx1"/>
                          </a:solidFill>
                          <a:latin typeface="Arial"/>
                        </a:rPr>
                        <a:t>High</a:t>
                      </a:r>
                      <a:endParaRPr lang="en-US" sz="1100" b="1" kern="1200" noProof="0">
                        <a:solidFill>
                          <a:schemeClr val="tx1"/>
                        </a:solidFill>
                        <a:latin typeface="Arial"/>
                        <a:ea typeface="+mn-ea"/>
                        <a:cs typeface="+mn-cs"/>
                      </a:endParaRPr>
                    </a:p>
                  </a:txBody>
                  <a:tcPr marT="90000" marB="90000"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0"/>
                  </a:ext>
                </a:extLst>
              </a:tr>
              <a:tr h="2019505">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solidFill>
                            <a:schemeClr val="tx1"/>
                          </a:solidFill>
                          <a:latin typeface="Arial"/>
                        </a:rPr>
                        <a:t>Advantages</a:t>
                      </a:r>
                    </a:p>
                    <a:p>
                      <a:pPr marL="171450" marR="0" lvl="0" indent="-171450" algn="l" rtl="0" eaLnBrk="1" fontAlgn="auto" latinLnBrk="0" hangingPunct="1">
                        <a:lnSpc>
                          <a:spcPct val="100000"/>
                        </a:lnSpc>
                        <a:spcBef>
                          <a:spcPts val="0"/>
                        </a:spcBef>
                        <a:spcAft>
                          <a:spcPts val="0"/>
                        </a:spcAft>
                        <a:buClr>
                          <a:srgbClr val="000000"/>
                        </a:buClr>
                        <a:buSzTx/>
                        <a:buFont typeface="Arial,Sans-Serif"/>
                        <a:buChar char="•"/>
                      </a:pPr>
                      <a:r>
                        <a:rPr lang="en-CA" sz="1100" b="0" strike="noStrike">
                          <a:solidFill>
                            <a:schemeClr val="tx1"/>
                          </a:solidFill>
                          <a:latin typeface="Arial"/>
                        </a:rPr>
                        <a:t>No procurement required</a:t>
                      </a:r>
                    </a:p>
                    <a:p>
                      <a:pPr marL="171450" marR="0" lvl="0" indent="-171450" algn="l" rtl="0" eaLnBrk="1" fontAlgn="auto" latinLnBrk="0" hangingPunct="1">
                        <a:lnSpc>
                          <a:spcPct val="100000"/>
                        </a:lnSpc>
                        <a:spcBef>
                          <a:spcPts val="0"/>
                        </a:spcBef>
                        <a:spcAft>
                          <a:spcPts val="0"/>
                        </a:spcAft>
                        <a:buClr>
                          <a:srgbClr val="000000"/>
                        </a:buClr>
                        <a:buSzTx/>
                        <a:buFont typeface="Arial,Sans-Serif"/>
                        <a:buChar char="•"/>
                      </a:pPr>
                      <a:r>
                        <a:rPr lang="en-CA" sz="1100" b="0" strike="noStrike">
                          <a:solidFill>
                            <a:schemeClr val="tx1"/>
                          </a:solidFill>
                          <a:latin typeface="Arial"/>
                        </a:rPr>
                        <a:t>Potentially no ongoing license/subscription fees if EVA Domain Assistant is used or another enterprise license available for AI service</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a:latin typeface="Arial"/>
                        </a:rPr>
                        <a:t>Built-in integration to M365 environment and Office applications; </a:t>
                      </a:r>
                      <a:endParaRPr lang="en-CA" sz="1100" b="0" i="0" u="none" strike="noStrike" kern="1200" baseline="0" noProof="0">
                        <a:latin typeface="Arial"/>
                      </a:endParaRP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Supports automated content publishing pipeline and other automations;</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AI assistance on document to web page publication</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Supports page approval workflows leveraging Power Automate; and</a:t>
                      </a:r>
                    </a:p>
                    <a:p>
                      <a:pPr marL="171450" marR="0" lvl="0" indent="-171450" algn="l" defTabSz="914400" rtl="0" eaLnBrk="1" fontAlgn="auto" latinLnBrk="0" hangingPunct="1">
                        <a:lnSpc>
                          <a:spcPct val="100000"/>
                        </a:lnSpc>
                        <a:spcBef>
                          <a:spcPts val="0"/>
                        </a:spcBef>
                        <a:spcAft>
                          <a:spcPts val="0"/>
                        </a:spcAft>
                        <a:buClr>
                          <a:srgbClr val="000000"/>
                        </a:buClr>
                        <a:buSzTx/>
                        <a:buFont typeface="Arial,Sans-Serif"/>
                        <a:buChar char="•"/>
                        <a:tabLst/>
                        <a:defRPr/>
                      </a:pPr>
                      <a:r>
                        <a:rPr lang="en-CA" sz="1100" b="0">
                          <a:latin typeface="Arial"/>
                        </a:rPr>
                        <a:t>OOTB supports for multiple </a:t>
                      </a:r>
                      <a:r>
                        <a:rPr lang="en-CA" sz="1100" b="0">
                          <a:latin typeface="Arial"/>
                          <a:hlinkClick r:id="rId3"/>
                        </a:rPr>
                        <a:t>knowledge sources </a:t>
                      </a:r>
                      <a:r>
                        <a:rPr lang="en-CA" sz="1100" b="0">
                          <a:latin typeface="Arial"/>
                        </a:rPr>
                        <a:t>(SharePoint libraries, documents, web sites, enterprise data connectors, etc. – with Copilot);</a:t>
                      </a:r>
                      <a:endParaRPr lang="en-CA" sz="1100" b="0" i="0" u="none" strike="noStrike" kern="1200" baseline="0" noProof="0">
                        <a:latin typeface="Arial"/>
                      </a:endParaRP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SharePoint is commonly used by other Cúram customers;</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In-house expertise available; and</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Separation of Working and Consuming sites; and</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Configurable to meet major requirements.</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Reusing existing connectivity pattern.</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100" b="1">
                        <a:solidFill>
                          <a:schemeClr val="tx1"/>
                        </a:solidFill>
                        <a:latin typeface="Arial"/>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Not a dedicated KM solution and will lack some core KM features (e.g., reusable, content blocks);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May require customization/add-ons to meet an acceptable minimum of 80% of requirements; and</a:t>
                      </a:r>
                    </a:p>
                    <a:p>
                      <a:pPr marL="171450" marR="0" lvl="0" indent="-171450" algn="l" defTabSz="457200"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tabLst/>
                        <a:defRPr/>
                      </a:pPr>
                      <a:r>
                        <a:rPr lang="en-CA" sz="1100" b="0" i="0" u="none" strike="noStrike" kern="1200" baseline="0" noProof="0">
                          <a:solidFill>
                            <a:schemeClr val="tx1"/>
                          </a:solidFill>
                          <a:latin typeface="Arial"/>
                        </a:rPr>
                        <a:t>Procurement vehicle and license cost are yet to be identified for Copilot if chosen for AI component (current Copilot license are for pilot only, additional license will require time which may not be feasible for project delivery.)</a:t>
                      </a:r>
                    </a:p>
                    <a:p>
                      <a:pPr marL="171450" marR="0" lvl="0" indent="-171450" algn="l" defTabSz="457200"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tabLst/>
                        <a:defRPr/>
                      </a:pPr>
                      <a:r>
                        <a:rPr lang="en-CA" sz="1100" b="0" i="0" u="none" strike="noStrike" kern="1200" baseline="0" noProof="0">
                          <a:solidFill>
                            <a:schemeClr val="tx1"/>
                          </a:solidFill>
                          <a:latin typeface="Arial"/>
                        </a:rPr>
                        <a:t>Copilot is only able to support unclassified document now.</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100" b="0" i="0" u="none" strike="noStrike" kern="1200" baseline="0" noProof="0">
                        <a:solidFill>
                          <a:schemeClr val="tx1"/>
                        </a:solidFill>
                        <a:latin typeface="Arial"/>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12</a:t>
            </a:fld>
            <a:endParaRPr lang="en-US" sz="800">
              <a:solidFill>
                <a:schemeClr val="bg1">
                  <a:lumMod val="50000"/>
                </a:schemeClr>
              </a:solidFill>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567010" y="633943"/>
            <a:ext cx="10914783" cy="276999"/>
          </a:xfrm>
          <a:prstGeom prst="rect">
            <a:avLst/>
          </a:prstGeom>
          <a:noFill/>
        </p:spPr>
        <p:txBody>
          <a:bodyPr wrap="square" lIns="91440" tIns="45720" rIns="91440" bIns="45720" rtlCol="0" anchor="t">
            <a:spAutoFit/>
          </a:bodyPr>
          <a:lstStyle/>
          <a:p>
            <a:r>
              <a:rPr lang="en-CA" sz="1200" i="1">
                <a:solidFill>
                  <a:srgbClr val="7F7F7F"/>
                </a:solidFill>
                <a:latin typeface="Arial"/>
                <a:ea typeface="Verdana"/>
                <a:cs typeface="Arial"/>
              </a:rPr>
              <a:t>Core KM capabilities including content creation, consumption, feedback, analytics, etc.</a:t>
            </a:r>
            <a:endParaRPr lang="en-US" sz="1200">
              <a:latin typeface="Arial"/>
              <a:cs typeface="Arial"/>
            </a:endParaRPr>
          </a:p>
        </p:txBody>
      </p:sp>
      <p:sp>
        <p:nvSpPr>
          <p:cNvPr id="10" name="TextBox 9"/>
          <p:cNvSpPr txBox="1"/>
          <p:nvPr/>
        </p:nvSpPr>
        <p:spPr>
          <a:xfrm>
            <a:off x="529672" y="162613"/>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Options Analysis: Core Knowledge Management</a:t>
            </a:r>
          </a:p>
        </p:txBody>
      </p:sp>
      <p:sp>
        <p:nvSpPr>
          <p:cNvPr id="3" name="TextBox 2">
            <a:extLst>
              <a:ext uri="{FF2B5EF4-FFF2-40B4-BE49-F238E27FC236}">
                <a16:creationId xmlns:a16="http://schemas.microsoft.com/office/drawing/2014/main" id="{0124B767-B49B-4A69-E317-FECB4B22EAA4}"/>
              </a:ext>
            </a:extLst>
          </p:cNvPr>
          <p:cNvSpPr txBox="1"/>
          <p:nvPr/>
        </p:nvSpPr>
        <p:spPr>
          <a:xfrm>
            <a:off x="5964381" y="5934471"/>
            <a:ext cx="5753498" cy="400110"/>
          </a:xfrm>
          <a:prstGeom prst="rect">
            <a:avLst/>
          </a:prstGeom>
          <a:noFill/>
        </p:spPr>
        <p:txBody>
          <a:bodyPr wrap="none" rtlCol="0">
            <a:spAutoFit/>
          </a:bodyPr>
          <a:lstStyle/>
          <a:p>
            <a:r>
              <a:rPr lang="en-CA" sz="1000"/>
              <a:t>Material in quotes sourced from: </a:t>
            </a:r>
            <a:r>
              <a:rPr kumimoji="0" lang="en-US" altLang="en-US" sz="1000" b="0" i="0" u="none" strike="noStrike" cap="none" normalizeH="0" baseline="0">
                <a:ln>
                  <a:noFill/>
                </a:ln>
                <a:solidFill>
                  <a:schemeClr val="tx1"/>
                </a:solidFill>
                <a:effectLst/>
                <a:latin typeface="Arial" panose="020B0604020202020204" pitchFamily="34" charset="0"/>
                <a:hlinkClick r:id="rId4"/>
              </a:rPr>
              <a:t>Knowledge Management and AI Options Analysis Arch Review.pptx</a:t>
            </a:r>
            <a:endParaRPr kumimoji="0" lang="en-US" altLang="en-US" sz="1000" b="0" i="0" u="none" strike="noStrike" cap="none" normalizeH="0" baseline="0">
              <a:ln>
                <a:noFill/>
              </a:ln>
              <a:solidFill>
                <a:schemeClr val="tx1"/>
              </a:solidFill>
              <a:effectLst/>
              <a:latin typeface="Arial" panose="020B0604020202020204" pitchFamily="34" charset="0"/>
            </a:endParaRPr>
          </a:p>
          <a:p>
            <a:r>
              <a:rPr lang="en-CA" sz="1000"/>
              <a:t> </a:t>
            </a:r>
          </a:p>
        </p:txBody>
      </p:sp>
    </p:spTree>
    <p:extLst>
      <p:ext uri="{BB962C8B-B14F-4D97-AF65-F5344CB8AC3E}">
        <p14:creationId xmlns:p14="http://schemas.microsoft.com/office/powerpoint/2010/main" val="3403194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extLst>
              <p:ext uri="{D42A27DB-BD31-4B8C-83A1-F6EECF244321}">
                <p14:modId xmlns:p14="http://schemas.microsoft.com/office/powerpoint/2010/main" val="632605064"/>
              </p:ext>
            </p:extLst>
          </p:nvPr>
        </p:nvGraphicFramePr>
        <p:xfrm>
          <a:off x="576101" y="1148841"/>
          <a:ext cx="10972800" cy="287460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3"/>
                    </a:ext>
                  </a:extLst>
                </a:gridCol>
              </a:tblGrid>
              <a:tr h="0">
                <a:tc gridSpan="2">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solidFill>
                            <a:schemeClr val="tx1"/>
                          </a:solidFill>
                          <a:effectLst/>
                          <a:latin typeface="Arial"/>
                        </a:rPr>
                        <a:t>Option 2: Web Content Management System (WCMS) + development + AI components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kern="1200" baseline="0">
                          <a:solidFill>
                            <a:schemeClr val="tx1"/>
                          </a:solidFill>
                          <a:latin typeface="Arial"/>
                          <a:ea typeface="+mn-ea"/>
                          <a:cs typeface="+mn-cs"/>
                        </a:rPr>
                        <a:t>This is essentially an open-source solution leveraging some custom developed components and AI enablement.</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93CDDD"/>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i="0" u="none" strike="noStrike" noProof="0">
                          <a:solidFill>
                            <a:schemeClr val="tx1"/>
                          </a:solidFill>
                          <a:latin typeface="Arial"/>
                        </a:rPr>
                        <a:t>Medium</a:t>
                      </a:r>
                      <a:endParaRPr lang="en-CA" sz="1100" kern="1200">
                        <a:solidFill>
                          <a:schemeClr val="tx1"/>
                        </a:solidFill>
                        <a:latin typeface="Aria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i="0" u="none" strike="noStrike" noProof="0">
                          <a:solidFill>
                            <a:schemeClr val="tx1"/>
                          </a:solidFill>
                          <a:latin typeface="Arial"/>
                        </a:rPr>
                        <a:t>Medium</a:t>
                      </a: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High</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None/>
                      </a:pPr>
                      <a:r>
                        <a:rPr lang="en-US" sz="1100" b="1" i="0" u="none" strike="noStrike" noProof="0">
                          <a:solidFill>
                            <a:schemeClr val="tx1"/>
                          </a:solidFill>
                          <a:latin typeface="Arial"/>
                        </a:rPr>
                        <a:t>Data Alignment: </a:t>
                      </a:r>
                      <a:r>
                        <a:rPr lang="en-US" sz="1100" b="0" i="0" u="none" strike="noStrike" noProof="0">
                          <a:solidFill>
                            <a:schemeClr val="tx1"/>
                          </a:solidFill>
                          <a:latin typeface="Arial"/>
                        </a:rPr>
                        <a:t>High</a:t>
                      </a:r>
                      <a:endParaRPr lang="en-US" sz="1100"/>
                    </a:p>
                  </a:txBody>
                  <a:tcPr marT="90000" marB="90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strike="noStrike">
                          <a:solidFill>
                            <a:schemeClr val="tx1"/>
                          </a:solidFill>
                          <a:latin typeface="Arial"/>
                        </a:rPr>
                        <a:t>No procurement nor ongoing license/subscription fees</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Work is already partially complete;</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“Standardizes and unifies knowledge base across all communities;</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Facilitates role specific solutions leveraging AAD;</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Uses modern and standards-based authoring and publication tools;</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Increased control over data security and privacy as information stays in ESDC-managed environment;</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Allows for purpose-built AI applications for consuming (searching) content; and</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Bilingual content support; and</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Incrementally support EI-on-BDM with releases; and</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solidFill>
                            <a:schemeClr val="tx1"/>
                          </a:solidFill>
                          <a:latin typeface="Arial"/>
                        </a:rPr>
                        <a:t>Supports change tracking and version control capabilities</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Ongoing costs for AI infrastructure;</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Cost on additional cloud consumption down the road;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Only free/community support for open-source components utilized;</a:t>
                      </a: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“Ongoing maintenance of AI component models will require maintenance over time (to retrain models and to update the LLMs available)”; and</a:t>
                      </a: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Overlap of capabilities with existing standard technology components.</a:t>
                      </a: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Lack of capabilities on workflow and notification.</a:t>
                      </a: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Require extra work for customized chatbot capability</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a:ea typeface="+mn-ea"/>
                        <a:cs typeface="+mn-cs"/>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13</a:t>
            </a:fld>
            <a:endParaRPr lang="en-US" sz="800">
              <a:solidFill>
                <a:schemeClr val="bg1">
                  <a:lumMod val="50000"/>
                </a:schemeClr>
              </a:solidFill>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r>
              <a:rPr lang="en-CA" sz="1200" i="1">
                <a:solidFill>
                  <a:srgbClr val="7F7F7F"/>
                </a:solidFill>
                <a:latin typeface="Arial"/>
                <a:ea typeface="Verdana"/>
                <a:cs typeface="Arial"/>
              </a:rPr>
              <a:t>Core KM capabilities including content creation, consumption, feedback, analytics, etc.</a:t>
            </a:r>
            <a:endParaRPr lang="en-US" sz="1200">
              <a:latin typeface="Arial"/>
              <a:cs typeface="Arial"/>
            </a:endParaRPr>
          </a:p>
        </p:txBody>
      </p:sp>
      <p:sp>
        <p:nvSpPr>
          <p:cNvPr id="10" name="TextBox 9"/>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Options Analysis: Core Knowledge Management</a:t>
            </a:r>
          </a:p>
        </p:txBody>
      </p:sp>
    </p:spTree>
    <p:extLst>
      <p:ext uri="{BB962C8B-B14F-4D97-AF65-F5344CB8AC3E}">
        <p14:creationId xmlns:p14="http://schemas.microsoft.com/office/powerpoint/2010/main" val="2903057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extLst>
              <p:ext uri="{D42A27DB-BD31-4B8C-83A1-F6EECF244321}">
                <p14:modId xmlns:p14="http://schemas.microsoft.com/office/powerpoint/2010/main" val="2277047568"/>
              </p:ext>
            </p:extLst>
          </p:nvPr>
        </p:nvGraphicFramePr>
        <p:xfrm>
          <a:off x="576101" y="1148841"/>
          <a:ext cx="10972800" cy="270696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448481">
                  <a:extLst>
                    <a:ext uri="{9D8B030D-6E8A-4147-A177-3AD203B41FA5}">
                      <a16:colId xmlns:a16="http://schemas.microsoft.com/office/drawing/2014/main" val="20001"/>
                    </a:ext>
                  </a:extLst>
                </a:gridCol>
                <a:gridCol w="1952319">
                  <a:extLst>
                    <a:ext uri="{9D8B030D-6E8A-4147-A177-3AD203B41FA5}">
                      <a16:colId xmlns:a16="http://schemas.microsoft.com/office/drawing/2014/main" val="20003"/>
                    </a:ext>
                  </a:extLst>
                </a:gridCol>
              </a:tblGrid>
              <a:tr h="0">
                <a:tc grid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effectLst/>
                          <a:latin typeface="Arial"/>
                        </a:rPr>
                        <a:t>Option 3:</a:t>
                      </a:r>
                      <a:r>
                        <a:rPr lang="en-US" sz="1100" b="1" baseline="0">
                          <a:solidFill>
                            <a:schemeClr val="tx1"/>
                          </a:solidFill>
                          <a:effectLst/>
                          <a:latin typeface="Arial"/>
                        </a:rPr>
                        <a:t> Genesys Cloud + AI components</a:t>
                      </a:r>
                      <a:endParaRPr lang="en-US"/>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kern="1200" baseline="0">
                          <a:solidFill>
                            <a:schemeClr val="tx1"/>
                          </a:solidFill>
                          <a:latin typeface="Arial"/>
                          <a:ea typeface="+mn-ea"/>
                          <a:cs typeface="+mn-cs"/>
                        </a:rPr>
                        <a:t>Part of the </a:t>
                      </a:r>
                      <a:r>
                        <a:rPr lang="en-CA" sz="1100" kern="1200" baseline="0" err="1">
                          <a:solidFill>
                            <a:schemeClr val="tx1"/>
                          </a:solidFill>
                          <a:latin typeface="Arial"/>
                          <a:ea typeface="+mn-ea"/>
                          <a:cs typeface="+mn-cs"/>
                        </a:rPr>
                        <a:t>CCaaS</a:t>
                      </a:r>
                      <a:r>
                        <a:rPr lang="en-CA" sz="1100" kern="1200" baseline="0">
                          <a:solidFill>
                            <a:schemeClr val="tx1"/>
                          </a:solidFill>
                          <a:latin typeface="Arial"/>
                          <a:ea typeface="+mn-ea"/>
                          <a:cs typeface="+mn-cs"/>
                        </a:rPr>
                        <a:t> add-on knowledge base for contact center users.</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B3A2C7"/>
                    </a:solidFill>
                  </a:tcPr>
                </a:tc>
                <a:tc hMerge="1">
                  <a:txBody>
                    <a:bodyPr/>
                    <a:lstStyle/>
                    <a:p>
                      <a:endParaRPr lang="en-CA"/>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a:solidFill>
                            <a:schemeClr val="tx1"/>
                          </a:solidFill>
                          <a:latin typeface="Arial"/>
                        </a:rPr>
                        <a:t>Low</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a:solidFill>
                            <a:schemeClr val="tx1"/>
                          </a:solidFill>
                          <a:latin typeface="Arial"/>
                        </a:rPr>
                        <a:t>Low</a:t>
                      </a:r>
                      <a:endParaRPr lang="en-US" sz="1100" b="0" i="0" u="none" strike="noStrike" noProof="0">
                        <a:solidFill>
                          <a:srgbClr val="FF0000"/>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Medium</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ClrTx/>
                        <a:buSzTx/>
                        <a:buFont typeface="Arial" panose="020B0604020202020204" pitchFamily="34" charset="0"/>
                        <a:buNone/>
                      </a:pPr>
                      <a:r>
                        <a:rPr lang="en-US" sz="1100" b="1" kern="1200" noProof="0">
                          <a:solidFill>
                            <a:schemeClr val="tx1"/>
                          </a:solidFill>
                          <a:latin typeface="Arial"/>
                          <a:ea typeface="+mn-ea"/>
                          <a:cs typeface="+mn-cs"/>
                        </a:rPr>
                        <a:t>Data Alignment</a:t>
                      </a:r>
                      <a:r>
                        <a:rPr lang="en-US" sz="1100" b="1" i="0" u="none" strike="noStrike" kern="1200" noProof="0">
                          <a:solidFill>
                            <a:schemeClr val="tx1"/>
                          </a:solidFill>
                          <a:latin typeface="Arial"/>
                        </a:rPr>
                        <a:t>: </a:t>
                      </a:r>
                      <a:r>
                        <a:rPr lang="en-US" sz="1100" b="0" i="0" u="none" strike="noStrike" kern="1200" noProof="0">
                          <a:solidFill>
                            <a:schemeClr val="tx1"/>
                          </a:solidFill>
                          <a:latin typeface="Arial"/>
                        </a:rPr>
                        <a:t>Low</a:t>
                      </a:r>
                      <a:endParaRPr lang="en-US" sz="1100" b="1" kern="1200" noProof="0">
                        <a:solidFill>
                          <a:schemeClr val="tx1"/>
                        </a:solidFill>
                        <a:latin typeface="Arial"/>
                        <a:ea typeface="+mn-ea"/>
                        <a:cs typeface="+mn-cs"/>
                      </a:endParaRPr>
                    </a:p>
                  </a:txBody>
                  <a:tcPr marT="90000" marB="90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E6E0EC"/>
                    </a:solidFill>
                  </a:tcPr>
                </a:tc>
                <a:extLst>
                  <a:ext uri="{0D108BD9-81ED-4DB2-BD59-A6C34878D82A}">
                    <a16:rowId xmlns:a16="http://schemas.microsoft.com/office/drawing/2014/main" val="505008284"/>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b="0">
                          <a:latin typeface="Arial"/>
                        </a:rPr>
                        <a:t>The built-in knowledge base supports text chat and voice interactions with clients; and</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b="0">
                          <a:latin typeface="Arial"/>
                        </a:rPr>
                        <a:t>Leveraging AI for search to dynamically serve up contextual content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b="0">
                          <a:latin typeface="Arial"/>
                        </a:rPr>
                        <a:t>Knowledge performance dashboard allows authors to monitor how content is being used.</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b="0">
                          <a:latin typeface="Arial"/>
                        </a:rPr>
                        <a:t>Well designed user interface</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b="0">
                        <a:latin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E6E0EC"/>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Fails majority of the defined use cases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No browsing feature or landing page for the viewers; and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Search is limited to within live-interactions inside Genesys, which is not applicable to processing and in-person service agents; and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Viewers can’t access previous versions; and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Missing core features around content lifecycle management such as version control, approval, archiving, etc; and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Lack of workflow management; and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Huge gaps in notification and access control</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Cost of licensing even with CCaaS option</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solidFill>
                            <a:schemeClr val="tx1"/>
                          </a:solidFill>
                          <a:latin typeface="Arial"/>
                        </a:rPr>
                        <a:t>High maintenance cost</a:t>
                      </a:r>
                      <a:endParaRPr lang="en-US" sz="1100" b="0" i="0" u="none" strike="noStrike" kern="1200" baseline="0" noProof="0">
                        <a:solidFill>
                          <a:schemeClr val="tx1"/>
                        </a:solidFill>
                        <a:latin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CCC1DA"/>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762710041"/>
                  </a:ext>
                </a:extLst>
              </a:tr>
            </a:tbl>
          </a:graphicData>
        </a:graphic>
      </p:graphicFrame>
      <p:sp>
        <p:nvSpPr>
          <p:cNvPr id="4" name="Slide Number Placeholder 3"/>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14</a:t>
            </a:fld>
            <a:endParaRPr lang="en-US" sz="800">
              <a:solidFill>
                <a:schemeClr val="bg1">
                  <a:lumMod val="50000"/>
                </a:schemeClr>
              </a:solidFill>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r>
              <a:rPr lang="en-CA" sz="1200" i="1">
                <a:solidFill>
                  <a:srgbClr val="7F7F7F"/>
                </a:solidFill>
                <a:latin typeface="Arial"/>
                <a:ea typeface="Verdana"/>
                <a:cs typeface="Arial"/>
              </a:rPr>
              <a:t>Core KM capabilities including content creation, consumption, feedback, analytics, etc.</a:t>
            </a:r>
            <a:endParaRPr lang="en-US" sz="1200">
              <a:latin typeface="Arial"/>
              <a:cs typeface="Arial"/>
            </a:endParaRPr>
          </a:p>
        </p:txBody>
      </p:sp>
      <p:sp>
        <p:nvSpPr>
          <p:cNvPr id="10" name="TextBox 9"/>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Options Analysis: Core Knowledge Management</a:t>
            </a:r>
          </a:p>
        </p:txBody>
      </p:sp>
    </p:spTree>
    <p:extLst>
      <p:ext uri="{BB962C8B-B14F-4D97-AF65-F5344CB8AC3E}">
        <p14:creationId xmlns:p14="http://schemas.microsoft.com/office/powerpoint/2010/main" val="371634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extLst>
              <p:ext uri="{D42A27DB-BD31-4B8C-83A1-F6EECF244321}">
                <p14:modId xmlns:p14="http://schemas.microsoft.com/office/powerpoint/2010/main" val="3205876400"/>
              </p:ext>
            </p:extLst>
          </p:nvPr>
        </p:nvGraphicFramePr>
        <p:xfrm>
          <a:off x="576101" y="1148841"/>
          <a:ext cx="10972800" cy="270696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438351">
                  <a:extLst>
                    <a:ext uri="{9D8B030D-6E8A-4147-A177-3AD203B41FA5}">
                      <a16:colId xmlns:a16="http://schemas.microsoft.com/office/drawing/2014/main" val="20001"/>
                    </a:ext>
                  </a:extLst>
                </a:gridCol>
                <a:gridCol w="1962449">
                  <a:extLst>
                    <a:ext uri="{9D8B030D-6E8A-4147-A177-3AD203B41FA5}">
                      <a16:colId xmlns:a16="http://schemas.microsoft.com/office/drawing/2014/main" val="20003"/>
                    </a:ext>
                  </a:extLst>
                </a:gridCol>
              </a:tblGrid>
              <a:tr h="0">
                <a:tc grid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CA" sz="1100" b="1" kern="1200" baseline="0">
                          <a:solidFill>
                            <a:schemeClr val="tx1"/>
                          </a:solidFill>
                          <a:latin typeface="Arial"/>
                          <a:ea typeface="+mn-ea"/>
                          <a:cs typeface="+mn-cs"/>
                        </a:rPr>
                        <a:t>Option 4: </a:t>
                      </a:r>
                      <a:r>
                        <a:rPr lang="en-CA" sz="1100" b="1" kern="1200" baseline="0">
                          <a:solidFill>
                            <a:schemeClr val="tx1"/>
                          </a:solidFill>
                          <a:latin typeface="Arial"/>
                          <a:ea typeface="+mn-ea"/>
                          <a:cs typeface="+mn-cs"/>
                          <a:hlinkClick r:id="rId3"/>
                        </a:rPr>
                        <a:t>BMC Helix Knowledge Management by ComAround</a:t>
                      </a:r>
                      <a:endParaRPr lang="en-CA" sz="1100" b="1" strike="sngStrike" kern="1200" baseline="0">
                        <a:solidFill>
                          <a:srgbClr val="FF0000"/>
                        </a:solidFill>
                        <a:latin typeface="Aria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0" kern="1200" baseline="0">
                          <a:solidFill>
                            <a:schemeClr val="tx1"/>
                          </a:solidFill>
                          <a:latin typeface="Arial"/>
                          <a:ea typeface="+mn-ea"/>
                          <a:cs typeface="+mn-cs"/>
                        </a:rPr>
                        <a:t>ESDC has a contract to access the BMC KM product as part of the ITSM procurement.</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i="0" u="none" strike="noStrike" noProof="0">
                          <a:solidFill>
                            <a:schemeClr val="tx1"/>
                          </a:solidFill>
                          <a:latin typeface="Arial"/>
                        </a:rPr>
                        <a:t>Low</a:t>
                      </a:r>
                      <a:endParaRPr lang="en-CA" sz="1100" kern="1200">
                        <a:solidFill>
                          <a:schemeClr val="tx1"/>
                        </a:solidFill>
                        <a:latin typeface="Aria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a:solidFill>
                            <a:schemeClr val="tx1"/>
                          </a:solidFill>
                          <a:latin typeface="Arial"/>
                        </a:rPr>
                        <a:t>Low</a:t>
                      </a: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1">
                        <a:solidFill>
                          <a:srgbClr val="FF0000"/>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Medium</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None/>
                      </a:pPr>
                      <a:r>
                        <a:rPr lang="en-US" sz="1100" b="1" i="0" u="none" strike="noStrike" noProof="0">
                          <a:solidFill>
                            <a:schemeClr val="tx1"/>
                          </a:solidFill>
                          <a:latin typeface="Arial"/>
                        </a:rPr>
                        <a:t>Data Alignment: </a:t>
                      </a:r>
                      <a:r>
                        <a:rPr lang="en-US" sz="1100" b="0" i="0" u="none" strike="noStrike" noProof="0">
                          <a:solidFill>
                            <a:schemeClr val="tx1"/>
                          </a:solidFill>
                          <a:latin typeface="Arial"/>
                        </a:rPr>
                        <a:t>Low</a:t>
                      </a:r>
                      <a:endParaRPr lang="en-US" sz="1100"/>
                    </a:p>
                  </a:txBody>
                  <a:tcPr marT="90000" marB="90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solidFill>
                            <a:schemeClr val="tx1"/>
                          </a:solidFill>
                          <a:latin typeface="Arial"/>
                        </a:rPr>
                        <a:t>Advantages</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The standalone KM product is included on the SSC contract;</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A central knowledge hub feeding all systems and only one place to add, update and maintain;</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Structured role-based access metadata and document version control;</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Established article lifecycle;</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Knowledge Centred Service (KCS) verified solution;</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Cognitive AI-powered search;</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Omni-channel integration; and</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solidFill>
                            <a:schemeClr val="tx1"/>
                          </a:solidFill>
                          <a:latin typeface="Arial"/>
                        </a:rPr>
                        <a:t>Agent Assist (suggest relevant articles based on the conversation using cognitive services and AI)</a:t>
                      </a:r>
                      <a:r>
                        <a:rPr lang="en-US" sz="1100" b="0" i="0" u="none" strike="noStrike" kern="1200" baseline="0" noProof="0">
                          <a:solidFill>
                            <a:schemeClr val="tx1"/>
                          </a:solidFill>
                          <a:latin typeface="Arial"/>
                        </a:rPr>
                        <a:t>.</a:t>
                      </a:r>
                      <a:endParaRPr lang="en-CA" sz="1100" b="0" i="0" u="none" strike="noStrike" kern="1200" baseline="0" noProof="0">
                        <a:solidFill>
                          <a:schemeClr val="tx1"/>
                        </a:solidFill>
                        <a:latin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solidFill>
                            <a:schemeClr val="tx1"/>
                          </a:solidFill>
                          <a:latin typeface="Arial"/>
                        </a:rPr>
                        <a:t>Authors &amp; Editors license cost ($89 per user per month);</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solidFill>
                            <a:schemeClr val="tx1"/>
                          </a:solidFill>
                          <a:latin typeface="Arial"/>
                        </a:rPr>
                        <a:t>Hosted in Azure Netherlands region (Statistics Canada is using the solution in production and are satisfied with the performance); and</a:t>
                      </a:r>
                    </a:p>
                    <a:p>
                      <a:pPr marL="171450" marR="0" lvl="0" indent="-171450" algn="l">
                        <a:lnSpc>
                          <a:spcPct val="100000"/>
                        </a:lnSpc>
                        <a:spcBef>
                          <a:spcPts val="0"/>
                        </a:spcBef>
                        <a:spcAft>
                          <a:spcPts val="0"/>
                        </a:spcAft>
                        <a:buClr>
                          <a:srgbClr val="000000"/>
                        </a:buClr>
                        <a:buFont typeface="Arial,Sans-Serif"/>
                        <a:buChar char="•"/>
                      </a:pPr>
                      <a:r>
                        <a:rPr lang="en-US" sz="1100" b="1" i="0" u="none" strike="noStrike" kern="1200" noProof="0">
                          <a:solidFill>
                            <a:schemeClr val="tx1"/>
                          </a:solidFill>
                          <a:latin typeface="Arial"/>
                        </a:rPr>
                        <a:t>Considered in 2021 but rejected </a:t>
                      </a:r>
                      <a:r>
                        <a:rPr lang="en-US" sz="1100" b="0" i="0" u="none" strike="noStrike" kern="1200" noProof="0">
                          <a:solidFill>
                            <a:schemeClr val="tx1"/>
                          </a:solidFill>
                          <a:latin typeface="Arial"/>
                        </a:rPr>
                        <a:t>(on-premise version).</a:t>
                      </a:r>
                    </a:p>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latin typeface="Arial"/>
                        </a:rPr>
                        <a:t>Rigid article review process (any customization requires vendor assistance)</a:t>
                      </a:r>
                    </a:p>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latin typeface="Arial"/>
                        </a:rPr>
                        <a:t>Vendor locked in.</a:t>
                      </a:r>
                    </a:p>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latin typeface="Arial"/>
                        </a:rPr>
                        <a:t>Very high license and maintenance cost</a:t>
                      </a:r>
                      <a:endParaRPr lang="en-US" sz="1100" b="0">
                        <a:solidFill>
                          <a:schemeClr val="tx1"/>
                        </a:solidFill>
                        <a:latin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15</a:t>
            </a:fld>
            <a:endParaRPr lang="en-US" sz="800">
              <a:solidFill>
                <a:schemeClr val="bg1">
                  <a:lumMod val="50000"/>
                </a:schemeClr>
              </a:solidFill>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r>
              <a:rPr lang="en-CA" sz="1200" i="1">
                <a:solidFill>
                  <a:srgbClr val="7F7F7F"/>
                </a:solidFill>
                <a:latin typeface="Arial"/>
                <a:ea typeface="Verdana"/>
                <a:cs typeface="Arial"/>
              </a:rPr>
              <a:t>Core KM capabilities including content creation, consumption, feedback, analytics, etc.</a:t>
            </a:r>
            <a:endParaRPr lang="en-US" sz="1200">
              <a:latin typeface="Arial"/>
              <a:cs typeface="Arial"/>
            </a:endParaRPr>
          </a:p>
        </p:txBody>
      </p:sp>
      <p:sp>
        <p:nvSpPr>
          <p:cNvPr id="10" name="TextBox 9"/>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Options Analysis: Core Knowledge Management</a:t>
            </a:r>
          </a:p>
        </p:txBody>
      </p:sp>
    </p:spTree>
    <p:extLst>
      <p:ext uri="{BB962C8B-B14F-4D97-AF65-F5344CB8AC3E}">
        <p14:creationId xmlns:p14="http://schemas.microsoft.com/office/powerpoint/2010/main" val="2412956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Table 33"/>
          <p:cNvGraphicFramePr>
            <a:graphicFrameLocks noGrp="1"/>
          </p:cNvGraphicFramePr>
          <p:nvPr>
            <p:extLst>
              <p:ext uri="{D42A27DB-BD31-4B8C-83A1-F6EECF244321}">
                <p14:modId xmlns:p14="http://schemas.microsoft.com/office/powerpoint/2010/main" val="3932754413"/>
              </p:ext>
            </p:extLst>
          </p:nvPr>
        </p:nvGraphicFramePr>
        <p:xfrm>
          <a:off x="1" y="1037863"/>
          <a:ext cx="12191997" cy="5839420"/>
        </p:xfrm>
        <a:graphic>
          <a:graphicData uri="http://schemas.openxmlformats.org/drawingml/2006/table">
            <a:tbl>
              <a:tblPr firstRow="1" bandRow="1">
                <a:tableStyleId>{5C22544A-7EE6-4342-B048-85BDC9FD1C3A}</a:tableStyleId>
              </a:tblPr>
              <a:tblGrid>
                <a:gridCol w="897411">
                  <a:extLst>
                    <a:ext uri="{9D8B030D-6E8A-4147-A177-3AD203B41FA5}">
                      <a16:colId xmlns:a16="http://schemas.microsoft.com/office/drawing/2014/main" val="122265146"/>
                    </a:ext>
                  </a:extLst>
                </a:gridCol>
                <a:gridCol w="897411">
                  <a:extLst>
                    <a:ext uri="{9D8B030D-6E8A-4147-A177-3AD203B41FA5}">
                      <a16:colId xmlns:a16="http://schemas.microsoft.com/office/drawing/2014/main" val="234459790"/>
                    </a:ext>
                  </a:extLst>
                </a:gridCol>
                <a:gridCol w="897411">
                  <a:extLst>
                    <a:ext uri="{9D8B030D-6E8A-4147-A177-3AD203B41FA5}">
                      <a16:colId xmlns:a16="http://schemas.microsoft.com/office/drawing/2014/main" val="251120897"/>
                    </a:ext>
                  </a:extLst>
                </a:gridCol>
                <a:gridCol w="761250">
                  <a:extLst>
                    <a:ext uri="{9D8B030D-6E8A-4147-A177-3AD203B41FA5}">
                      <a16:colId xmlns:a16="http://schemas.microsoft.com/office/drawing/2014/main" val="3777497912"/>
                    </a:ext>
                  </a:extLst>
                </a:gridCol>
                <a:gridCol w="895114">
                  <a:extLst>
                    <a:ext uri="{9D8B030D-6E8A-4147-A177-3AD203B41FA5}">
                      <a16:colId xmlns:a16="http://schemas.microsoft.com/office/drawing/2014/main" val="2895899950"/>
                    </a:ext>
                  </a:extLst>
                </a:gridCol>
                <a:gridCol w="208225">
                  <a:extLst>
                    <a:ext uri="{9D8B030D-6E8A-4147-A177-3AD203B41FA5}">
                      <a16:colId xmlns:a16="http://schemas.microsoft.com/office/drawing/2014/main" val="534585913"/>
                    </a:ext>
                  </a:extLst>
                </a:gridCol>
                <a:gridCol w="448705">
                  <a:extLst>
                    <a:ext uri="{9D8B030D-6E8A-4147-A177-3AD203B41FA5}">
                      <a16:colId xmlns:a16="http://schemas.microsoft.com/office/drawing/2014/main" val="2656883511"/>
                    </a:ext>
                  </a:extLst>
                </a:gridCol>
                <a:gridCol w="431740">
                  <a:extLst>
                    <a:ext uri="{9D8B030D-6E8A-4147-A177-3AD203B41FA5}">
                      <a16:colId xmlns:a16="http://schemas.microsoft.com/office/drawing/2014/main" val="3555439498"/>
                    </a:ext>
                  </a:extLst>
                </a:gridCol>
                <a:gridCol w="914376">
                  <a:extLst>
                    <a:ext uri="{9D8B030D-6E8A-4147-A177-3AD203B41FA5}">
                      <a16:colId xmlns:a16="http://schemas.microsoft.com/office/drawing/2014/main" val="1118062177"/>
                    </a:ext>
                  </a:extLst>
                </a:gridCol>
                <a:gridCol w="897411">
                  <a:extLst>
                    <a:ext uri="{9D8B030D-6E8A-4147-A177-3AD203B41FA5}">
                      <a16:colId xmlns:a16="http://schemas.microsoft.com/office/drawing/2014/main" val="387658387"/>
                    </a:ext>
                  </a:extLst>
                </a:gridCol>
                <a:gridCol w="897411">
                  <a:extLst>
                    <a:ext uri="{9D8B030D-6E8A-4147-A177-3AD203B41FA5}">
                      <a16:colId xmlns:a16="http://schemas.microsoft.com/office/drawing/2014/main" val="973967012"/>
                    </a:ext>
                  </a:extLst>
                </a:gridCol>
                <a:gridCol w="897411">
                  <a:extLst>
                    <a:ext uri="{9D8B030D-6E8A-4147-A177-3AD203B41FA5}">
                      <a16:colId xmlns:a16="http://schemas.microsoft.com/office/drawing/2014/main" val="257053065"/>
                    </a:ext>
                  </a:extLst>
                </a:gridCol>
                <a:gridCol w="897411">
                  <a:extLst>
                    <a:ext uri="{9D8B030D-6E8A-4147-A177-3AD203B41FA5}">
                      <a16:colId xmlns:a16="http://schemas.microsoft.com/office/drawing/2014/main" val="4011268989"/>
                    </a:ext>
                  </a:extLst>
                </a:gridCol>
                <a:gridCol w="2250710">
                  <a:extLst>
                    <a:ext uri="{9D8B030D-6E8A-4147-A177-3AD203B41FA5}">
                      <a16:colId xmlns:a16="http://schemas.microsoft.com/office/drawing/2014/main" val="2277680565"/>
                    </a:ext>
                  </a:extLst>
                </a:gridCol>
              </a:tblGrid>
              <a:tr h="469201">
                <a:tc rowSpan="2">
                  <a:txBody>
                    <a:bodyPr/>
                    <a:lstStyle/>
                    <a:p>
                      <a:pPr marL="0" algn="ctr" defTabSz="457200" rtl="0" eaLnBrk="1" latinLnBrk="0" hangingPunct="1">
                        <a:lnSpc>
                          <a:spcPct val="100000"/>
                        </a:lnSpc>
                      </a:pPr>
                      <a:r>
                        <a:rPr lang="en-CA" sz="700" b="1" kern="1200">
                          <a:solidFill>
                            <a:schemeClr val="tx1"/>
                          </a:solidFill>
                          <a:latin typeface="Arial"/>
                          <a:ea typeface="Verdana"/>
                          <a:cs typeface="+mn-cs"/>
                        </a:rPr>
                        <a:t>Enterprise </a:t>
                      </a:r>
                      <a:r>
                        <a:rPr lang="en-CA" sz="700" b="1" kern="1200" baseline="0">
                          <a:solidFill>
                            <a:schemeClr val="tx1"/>
                          </a:solidFill>
                          <a:latin typeface="Arial"/>
                          <a:ea typeface="Verdana"/>
                          <a:cs typeface="+mn-cs"/>
                        </a:rPr>
                        <a:t>Alignment</a:t>
                      </a:r>
                    </a:p>
                    <a:p>
                      <a:pPr marL="0" algn="ctr" defTabSz="457200" rtl="0" eaLnBrk="1" latinLnBrk="0" hangingPunct="1">
                        <a:lnSpc>
                          <a:spcPct val="100000"/>
                        </a:lnSpc>
                      </a:pPr>
                      <a:endParaRPr lang="en-CA" sz="700" b="1" kern="1200" baseline="0">
                        <a:solidFill>
                          <a:schemeClr val="tx1"/>
                        </a:solidFill>
                        <a:latin typeface="Arial"/>
                        <a:ea typeface="Verdana"/>
                        <a:cs typeface="+mn-cs"/>
                      </a:endParaRPr>
                    </a:p>
                    <a:p>
                      <a:pPr marL="0" algn="ctr" defTabSz="457200" rtl="0" eaLnBrk="1" latinLnBrk="0" hangingPunct="1">
                        <a:lnSpc>
                          <a:spcPct val="100000"/>
                        </a:lnSpc>
                      </a:pPr>
                      <a:endParaRPr lang="en-CA" sz="700" b="1" kern="1200" baseline="0">
                        <a:solidFill>
                          <a:schemeClr val="tx1"/>
                        </a:solidFill>
                        <a:latin typeface="Arial"/>
                        <a:ea typeface="Verdana"/>
                        <a:cs typeface="+mn-cs"/>
                      </a:endParaRPr>
                    </a:p>
                    <a:p>
                      <a:pPr marL="0" algn="ctr" defTabSz="457200" rtl="0" eaLnBrk="1" latinLnBrk="0" hangingPunct="1">
                        <a:lnSpc>
                          <a:spcPct val="100000"/>
                        </a:lnSpc>
                      </a:pPr>
                      <a:endParaRPr lang="en-CA" sz="700" b="1" kern="1200" baseline="0">
                        <a:solidFill>
                          <a:schemeClr val="tx1"/>
                        </a:solidFill>
                        <a:latin typeface="Arial"/>
                        <a:ea typeface="Verdana"/>
                        <a:cs typeface="+mn-cs"/>
                      </a:endParaRPr>
                    </a:p>
                    <a:p>
                      <a:pPr marL="0" algn="ctr" defTabSz="457200" rtl="0" eaLnBrk="1" latinLnBrk="0" hangingPunct="1">
                        <a:lnSpc>
                          <a:spcPct val="100000"/>
                        </a:lnSpc>
                      </a:pPr>
                      <a:endParaRPr lang="en-CA" sz="700" b="1" kern="1200" baseline="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lvl="0" algn="ctr">
                        <a:buNone/>
                      </a:pPr>
                      <a:r>
                        <a:rPr lang="en-CA" sz="700" b="1" kern="1200" noProof="0">
                          <a:solidFill>
                            <a:schemeClr val="tx1"/>
                          </a:solidFill>
                          <a:latin typeface="Arial"/>
                          <a:ea typeface="Verdana"/>
                          <a:cs typeface="+mn-cs"/>
                        </a:rPr>
                        <a:t>Architecture</a:t>
                      </a:r>
                      <a:r>
                        <a:rPr lang="en-CA" sz="700" b="0" i="0" u="none" strike="noStrike" kern="1200" noProof="0"/>
                        <a:t> </a:t>
                      </a:r>
                      <a:r>
                        <a:rPr lang="en-CA" sz="700" b="1" kern="1200">
                          <a:solidFill>
                            <a:schemeClr val="tx1"/>
                          </a:solidFill>
                          <a:latin typeface="Arial"/>
                          <a:ea typeface="Verdana"/>
                          <a:cs typeface="+mn-cs"/>
                        </a:rPr>
                        <a:t>Complexity</a:t>
                      </a:r>
                    </a:p>
                    <a:p>
                      <a:pPr algn="ctr"/>
                      <a:endParaRPr lang="en-CA" sz="700" b="1" kern="1200">
                        <a:solidFill>
                          <a:schemeClr val="tx1"/>
                        </a:solidFill>
                        <a:latin typeface="Arial"/>
                        <a:ea typeface="Verdana"/>
                        <a:cs typeface="+mn-cs"/>
                      </a:endParaRPr>
                    </a:p>
                    <a:p>
                      <a:pPr algn="ctr"/>
                      <a:endParaRPr lang="en-CA" sz="700" b="1" kern="1200">
                        <a:solidFill>
                          <a:schemeClr val="tx1"/>
                        </a:solidFill>
                        <a:latin typeface="Arial"/>
                        <a:ea typeface="Verdana"/>
                        <a:cs typeface="+mn-cs"/>
                      </a:endParaRPr>
                    </a:p>
                    <a:p>
                      <a:pPr algn="ctr"/>
                      <a:endParaRPr lang="en-CA" sz="700" b="1" kern="1200">
                        <a:solidFill>
                          <a:schemeClr val="tx1"/>
                        </a:solidFill>
                        <a:latin typeface="Arial"/>
                        <a:ea typeface="Verdana"/>
                        <a:cs typeface="+mn-cs"/>
                      </a:endParaRPr>
                    </a:p>
                    <a:p>
                      <a:pPr algn="ctr"/>
                      <a:endParaRPr lang="en-CA" sz="700" b="1" kern="1200">
                        <a:solidFill>
                          <a:schemeClr val="tx1"/>
                        </a:solidFill>
                        <a:latin typeface="Arial"/>
                        <a:ea typeface="Verdana"/>
                        <a:cs typeface="+mn-cs"/>
                      </a:endParaRPr>
                    </a:p>
                    <a:p>
                      <a:pPr algn="ctr"/>
                      <a:endParaRPr lang="en-CA" sz="700">
                        <a:latin typeface="Aria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b="1">
                          <a:solidFill>
                            <a:schemeClr val="tx1"/>
                          </a:solidFill>
                          <a:latin typeface="Arial"/>
                          <a:ea typeface="Verdana"/>
                        </a:rPr>
                        <a:t>Architecture Outcome</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b="1">
                        <a:solidFill>
                          <a:schemeClr val="tx1"/>
                        </a:solidFill>
                        <a:latin typeface="Arial"/>
                        <a:ea typeface="Verdan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Mandate</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Deployment Model</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a:solidFill>
                            <a:schemeClr val="tx1"/>
                          </a:solidFill>
                          <a:latin typeface="Arial"/>
                          <a:ea typeface="Verdana"/>
                        </a:rPr>
                        <a:t>Overall Recommendation</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a:solidFill>
                            <a:schemeClr val="tx1"/>
                          </a:solidFill>
                          <a:latin typeface="Arial"/>
                          <a:ea typeface="Verdana"/>
                        </a:rPr>
                        <a:t>Overall Recommendation</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Arial"/>
                        <a:ea typeface="Verdan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hMerge="1">
                  <a:txBody>
                    <a:bodyPr/>
                    <a:lstStyle/>
                    <a:p>
                      <a:endParaRPr lang="en-CA"/>
                    </a:p>
                  </a:txBody>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Data Classification</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0" kern="1200">
                          <a:solidFill>
                            <a:schemeClr val="tx1"/>
                          </a:solidFill>
                          <a:latin typeface="Arial"/>
                          <a:ea typeface="Verdana"/>
                          <a:cs typeface="+mn-cs"/>
                        </a:rPr>
                        <a:t>PBMM</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0"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0"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RGT</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Capability</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BDM Alignment</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Verdana"/>
                          <a:cs typeface="+mn-cs"/>
                        </a:rPr>
                        <a:t>BDM Core</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CA" sz="700" kern="1200">
                          <a:solidFill>
                            <a:schemeClr val="tx1"/>
                          </a:solidFill>
                          <a:latin typeface="Arial"/>
                          <a:ea typeface="+mn-ea"/>
                          <a:cs typeface="+mn-cs"/>
                        </a:rPr>
                        <a:t>Issues and Concerns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279001637"/>
                  </a:ext>
                </a:extLst>
              </a:tr>
              <a:tr h="491544">
                <a:tc vMerge="1">
                  <a:txBody>
                    <a:bodyPr/>
                    <a:lstStyle/>
                    <a:p>
                      <a:pPr marL="0" algn="ctr" defTabSz="457200" rtl="0" eaLnBrk="1" latinLnBrk="0" hangingPunct="1">
                        <a:lnSpc>
                          <a:spcPct val="100000"/>
                        </a:lnSpc>
                      </a:pPr>
                      <a:endParaRPr lang="en-CA" sz="700" b="1" kern="1200" baseline="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algn="ctr"/>
                      <a:endParaRPr lang="en-CA" sz="700">
                        <a:latin typeface="+mn-lt"/>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b="1">
                        <a:solidFill>
                          <a:schemeClr val="tx1"/>
                        </a:solidFill>
                        <a:latin typeface="+mn-lt"/>
                        <a:ea typeface="Verdan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3" vMerge="1">
                  <a:txBody>
                    <a:bodyPr/>
                    <a:lstStyle/>
                    <a:p>
                      <a:endParaRPr lang="en-CA"/>
                    </a:p>
                  </a:txBody>
                  <a:tcPr/>
                </a:tc>
                <a:tc hMerge="1"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a:solidFill>
                          <a:schemeClr val="tx1"/>
                        </a:solidFill>
                        <a:latin typeface="+mn-lt"/>
                        <a:ea typeface="Verdan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vMerge="1">
                  <a:txBody>
                    <a:bodyPr/>
                    <a:lstStyle/>
                    <a:p>
                      <a:endParaRPr lang="en-CA"/>
                    </a:p>
                  </a:txBody>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0"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Verdan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rowSpan="7">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Arial"/>
                          <a:ea typeface="+mn-ea"/>
                          <a:cs typeface="Arial"/>
                        </a:rPr>
                        <a:t>Solution </a:t>
                      </a:r>
                      <a:r>
                        <a:rPr lang="en-US" sz="700" b="1" i="0" u="none" strike="noStrike" kern="1200" cap="none" spc="0" normalizeH="0" baseline="0" noProof="0">
                          <a:ln>
                            <a:noFill/>
                          </a:ln>
                          <a:solidFill>
                            <a:schemeClr val="tx1"/>
                          </a:solidFill>
                          <a:effectLst/>
                          <a:uLnTx/>
                          <a:uFillTx/>
                          <a:latin typeface="Arial"/>
                          <a:ea typeface="+mn-ea"/>
                          <a:cs typeface="Arial"/>
                        </a:rPr>
                        <a:t>Concerns</a:t>
                      </a:r>
                      <a:endParaRPr kumimoji="0" lang="en-US" sz="700" b="0" i="0" u="none" strike="noStrike" kern="1200" cap="none" spc="0" normalizeH="0" baseline="0" noProof="0">
                        <a:ln>
                          <a:noFill/>
                        </a:ln>
                        <a:solidFill>
                          <a:schemeClr val="tx1"/>
                        </a:solidFill>
                        <a:effectLst/>
                        <a:uLnTx/>
                        <a:uFillTx/>
                        <a:latin typeface="Arial"/>
                        <a:ea typeface="+mn-ea"/>
                        <a:cs typeface="Arial"/>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Recommended option #1 has not definitively identified the AI solution(s).</a:t>
                      </a:r>
                    </a:p>
                    <a:p>
                      <a:pPr marL="171450" marR="0" lvl="0" indent="-171450" algn="l">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BDM document mentions the integration of the  Training Components with the Knowledge Solution, it is not addressed, architecturally.</a:t>
                      </a:r>
                      <a:endParaRPr lang="en-CA"/>
                    </a:p>
                    <a:p>
                      <a:pPr marL="0" marR="0" lvl="0" indent="0" algn="l" rtl="0" eaLnBrk="1" fontAlgn="auto" latinLnBrk="0" hangingPunct="1">
                        <a:lnSpc>
                          <a:spcPct val="100000"/>
                        </a:lnSpc>
                        <a:spcBef>
                          <a:spcPts val="0"/>
                        </a:spcBef>
                        <a:spcAft>
                          <a:spcPts val="0"/>
                        </a:spcAft>
                        <a:buClrTx/>
                        <a:buSzTx/>
                        <a:buFontTx/>
                        <a:buNone/>
                      </a:pPr>
                      <a:r>
                        <a:rPr kumimoji="0" lang="en-US" sz="700" b="1" i="0" u="none" strike="noStrike" kern="1200" cap="none" spc="0" normalizeH="0" baseline="0" noProof="0">
                          <a:ln>
                            <a:noFill/>
                          </a:ln>
                          <a:solidFill>
                            <a:schemeClr val="tx1"/>
                          </a:solidFill>
                          <a:effectLst/>
                          <a:uLnTx/>
                          <a:uFillTx/>
                          <a:latin typeface="Arial"/>
                          <a:ea typeface="+mn-ea"/>
                          <a:cs typeface="Arial"/>
                        </a:rPr>
                        <a:t>Enterprise Concerns</a:t>
                      </a:r>
                      <a:endParaRPr kumimoji="0" lang="en-US" sz="700" b="0" i="0" u="none" strike="noStrike" kern="1200" cap="none" spc="0" normalizeH="0" baseline="0" noProof="0">
                        <a:ln>
                          <a:noFill/>
                        </a:ln>
                        <a:solidFill>
                          <a:schemeClr val="tx1"/>
                        </a:solidFill>
                        <a:effectLst/>
                        <a:uLnTx/>
                        <a:uFillTx/>
                        <a:latin typeface="Arial"/>
                        <a:ea typeface="+mn-ea"/>
                        <a:cs typeface="Arial"/>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The initial  proposed is BDM centric, there is an expectation to scale the KM architecture to ESDC enterprise. The information governance is program-centric and would be a critical endeavour to become an enterprise solution..</a:t>
                      </a:r>
                      <a:endParaRPr kumimoji="0" lang="en-CA" sz="700" b="0" i="0" u="none" strike="noStrike" kern="1200" cap="none" spc="0" normalizeH="0" baseline="0" noProof="0">
                        <a:ln>
                          <a:noFill/>
                        </a:ln>
                        <a:solidFill>
                          <a:schemeClr val="tx1"/>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Arial"/>
                          <a:ea typeface="+mn-ea"/>
                          <a:cs typeface="Arial"/>
                        </a:rPr>
                        <a:t>Information and Data Concerns</a:t>
                      </a:r>
                      <a:endParaRPr kumimoji="0" lang="en-US" sz="700" b="0" i="0" u="none" strike="noStrike" kern="1200" cap="none" spc="0" normalizeH="0" baseline="0" noProof="0">
                        <a:ln>
                          <a:noFill/>
                        </a:ln>
                        <a:solidFill>
                          <a:schemeClr val="tx1"/>
                        </a:solidFill>
                        <a:effectLst/>
                        <a:uLnTx/>
                        <a:uFillTx/>
                        <a:latin typeface="Arial"/>
                        <a:ea typeface="+mn-ea"/>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Information on corporate knowledge will be restructured.</a:t>
                      </a:r>
                    </a:p>
                    <a:p>
                      <a:pPr marL="171450" marR="0" lvl="0" indent="-171450" algn="l">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Sources of information come from different organizations (policy, program, training,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PBMM data residency requirement need to be met.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Arial"/>
                          <a:ea typeface="+mn-ea"/>
                          <a:cs typeface="Arial"/>
                        </a:rPr>
                        <a:t>Security Concerns</a:t>
                      </a:r>
                      <a:endParaRPr kumimoji="0" lang="en-US" sz="700" b="0" i="0" u="none" strike="noStrike" kern="1200" cap="none" spc="0" normalizeH="0" baseline="0" noProof="0">
                        <a:ln>
                          <a:noFill/>
                        </a:ln>
                        <a:solidFill>
                          <a:schemeClr val="tx1"/>
                        </a:solidFill>
                        <a:effectLst/>
                        <a:uLnTx/>
                        <a:uFillTx/>
                        <a:latin typeface="Arial"/>
                        <a:ea typeface="+mn-ea"/>
                        <a:cs typeface="Arial"/>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Not all AI components (i.e.  MS Copilot) has been assessed and authorized for Protected B info (more info will be required) </a:t>
                      </a:r>
                      <a:endParaRPr kumimoji="0" lang="en-CA" sz="700" b="0" i="0" u="none" strike="noStrike" kern="1200" cap="none" spc="0" normalizeH="0" baseline="0" noProof="0">
                        <a:ln>
                          <a:noFill/>
                        </a:ln>
                        <a:solidFill>
                          <a:schemeClr val="tx1"/>
                        </a:solidFill>
                        <a:effectLst/>
                        <a:uLnTx/>
                        <a:uFillTx/>
                        <a:latin typeface="Arial"/>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Unclear if the SoSAR has been approved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chemeClr val="tx1"/>
                          </a:solidFill>
                          <a:effectLst/>
                          <a:uLnTx/>
                          <a:uFillTx/>
                          <a:latin typeface="Arial"/>
                          <a:ea typeface="+mn-ea"/>
                          <a:cs typeface="+mn-cs"/>
                        </a:rPr>
                        <a:t>Accessibility Concerns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None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Arial"/>
                          <a:ea typeface="+mn-ea"/>
                          <a:cs typeface="Arial"/>
                        </a:rPr>
                        <a:t>Cloud Concerns</a:t>
                      </a:r>
                      <a:endParaRPr kumimoji="0" lang="en-US" sz="700" b="0" i="0" u="none" strike="noStrike" kern="1200" cap="none" spc="0" normalizeH="0" baseline="0" noProof="0">
                        <a:ln>
                          <a:noFill/>
                        </a:ln>
                        <a:solidFill>
                          <a:schemeClr val="tx1"/>
                        </a:solidFill>
                        <a:effectLst/>
                        <a:uLnTx/>
                        <a:uFillTx/>
                        <a:latin typeface="Arial"/>
                        <a:ea typeface="+mn-ea"/>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None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Arial"/>
                          <a:ea typeface="+mn-ea"/>
                          <a:cs typeface="+mn-cs"/>
                        </a:rPr>
                        <a:t>AI Concerns</a:t>
                      </a:r>
                      <a:endParaRPr kumimoji="0" lang="en-US" sz="700" b="0" i="0" u="none" strike="noStrike" kern="1200" cap="none" spc="0" normalizeH="0" baseline="0" noProof="0">
                        <a:ln>
                          <a:noFill/>
                        </a:ln>
                        <a:solidFill>
                          <a:schemeClr val="tx1"/>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Multiple approved AI options are currently piloting within the department; decision is yet to be determined.</a:t>
                      </a:r>
                      <a:endParaRPr kumimoji="0" lang="en-US" sz="700" b="0" i="0" u="none" strike="noStrike" kern="1200" cap="none" spc="0" normalizeH="0" baseline="0" noProof="0">
                        <a:ln>
                          <a:noFill/>
                        </a:ln>
                        <a:solidFill>
                          <a:schemeClr val="tx1"/>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Arial"/>
                          <a:ea typeface="+mn-ea"/>
                          <a:cs typeface="+mn-cs"/>
                        </a:rPr>
                        <a:t>Automated Decisions Concerns</a:t>
                      </a:r>
                      <a:endParaRPr kumimoji="0" lang="en-US" sz="700" b="0" i="0" u="none" strike="noStrike" kern="1200" cap="none" spc="0" normalizeH="0" baseline="0" noProof="0">
                        <a:ln>
                          <a:noFill/>
                        </a:ln>
                        <a:solidFill>
                          <a:schemeClr val="tx1"/>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None</a:t>
                      </a:r>
                      <a:endParaRPr kumimoji="0" lang="en-US" sz="700" b="0" i="0" u="none" strike="noStrike" kern="1200" cap="none" spc="0" normalizeH="0" baseline="0" noProof="0">
                        <a:ln>
                          <a:noFill/>
                        </a:ln>
                        <a:solidFill>
                          <a:schemeClr val="tx1"/>
                        </a:solidFill>
                        <a:effectLst/>
                        <a:uLnTx/>
                        <a:uFillTx/>
                        <a:latin typeface="Arial"/>
                        <a:ea typeface="+mn-e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97833139"/>
                  </a:ext>
                </a:extLst>
              </a:tr>
              <a:tr h="469201">
                <a:tc gridSpan="13">
                  <a:txBody>
                    <a:bodyPr/>
                    <a:lstStyle/>
                    <a:p>
                      <a:pPr marL="0" lvl="0" indent="0" algn="just">
                        <a:lnSpc>
                          <a:spcPct val="100000"/>
                        </a:lnSpc>
                        <a:buNone/>
                      </a:pPr>
                      <a:r>
                        <a:rPr lang="en-CA" sz="700" b="0" i="0" u="none" strike="noStrike" baseline="0" noProof="0">
                          <a:solidFill>
                            <a:srgbClr val="000000"/>
                          </a:solidFill>
                          <a:latin typeface="Arial"/>
                        </a:rPr>
                        <a:t>Along with modernizing the benefits delivery systems, it is crucial to protect both existing and new corporate knowledge with modern knowledge management solution. The information needs to be governed, organized, easily accessed and consumable within workflow leveraging querying technologies such as AI enablement. This solution will improve overall knowledge integrity and streamline the client (internal &amp; potentially external) experience on accessing and managing knowledge sharing.</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chemeClr val="tx1"/>
                        </a:solidFill>
                        <a:effectLst/>
                        <a:uLnTx/>
                        <a:uFillTx/>
                        <a:latin typeface="+mn-lt"/>
                        <a:ea typeface="+mn-e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79584653"/>
                  </a:ext>
                </a:extLst>
              </a:tr>
              <a:tr h="714974">
                <a:tc>
                  <a:txBody>
                    <a:bodyPr/>
                    <a:lstStyle/>
                    <a:p>
                      <a:r>
                        <a:rPr lang="en-CA" sz="700" b="1">
                          <a:solidFill>
                            <a:schemeClr val="tx1"/>
                          </a:solidFill>
                          <a:latin typeface="Arial"/>
                        </a:rPr>
                        <a:t>Business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11">
                  <a:txBody>
                    <a:bodyPr/>
                    <a:lstStyle/>
                    <a:p>
                      <a:pPr marL="171450" marR="0" lvl="0" indent="-171450" algn="just"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rPr>
                        <a:t>The recommended option #1 fulfills the requirement to centralize information in a common repository,  </a:t>
                      </a:r>
                      <a:r>
                        <a:rPr lang="en-CA" sz="700" b="0" i="0" u="none" strike="noStrike" kern="1200" cap="none" spc="0" normalizeH="0" baseline="0" noProof="0">
                          <a:ln>
                            <a:noFill/>
                          </a:ln>
                          <a:solidFill>
                            <a:schemeClr val="tx1"/>
                          </a:solidFill>
                          <a:effectLst/>
                          <a:uLnTx/>
                          <a:uFillTx/>
                          <a:latin typeface="Arial"/>
                          <a:ea typeface="+mn-ea"/>
                          <a:cs typeface="+mn-cs"/>
                        </a:rPr>
                        <a:t>Knowledge Management is identified as </a:t>
                      </a:r>
                      <a:r>
                        <a:rPr lang="en-CA" sz="700" b="0" i="0" u="none" strike="noStrike" kern="1200" cap="none" spc="0" normalizeH="0" baseline="0" noProof="0">
                          <a:ln>
                            <a:noFill/>
                          </a:ln>
                          <a:solidFill>
                            <a:schemeClr val="tx1"/>
                          </a:solidFill>
                          <a:effectLst/>
                          <a:uLnTx/>
                          <a:uFillTx/>
                          <a:latin typeface="Arial"/>
                          <a:ea typeface="+mn-ea"/>
                          <a:cs typeface="+mn-cs"/>
                          <a:hlinkClick r:id="rId3"/>
                        </a:rPr>
                        <a:t>BDM Roadmap Capability 2.16</a:t>
                      </a:r>
                      <a:r>
                        <a:rPr lang="en-CA" sz="700" b="0" i="0" u="none" strike="noStrike" kern="1200" cap="none" spc="0" normalizeH="0" baseline="0" noProof="0">
                          <a:ln>
                            <a:noFill/>
                          </a:ln>
                          <a:solidFill>
                            <a:schemeClr val="tx1"/>
                          </a:solidFill>
                          <a:effectLst/>
                          <a:uLnTx/>
                          <a:uFillTx/>
                          <a:latin typeface="Arial"/>
                          <a:ea typeface="+mn-ea"/>
                          <a:cs typeface="+mn-cs"/>
                        </a:rPr>
                        <a:t>, part of the </a:t>
                      </a:r>
                      <a:r>
                        <a:rPr lang="en-CA" sz="700" b="0" i="0" u="none" strike="noStrike" kern="1200" cap="none" spc="0" normalizeH="0" baseline="0" noProof="0">
                          <a:ln>
                            <a:noFill/>
                          </a:ln>
                          <a:solidFill>
                            <a:schemeClr val="tx1"/>
                          </a:solidFill>
                          <a:effectLst/>
                          <a:uLnTx/>
                          <a:uFillTx/>
                          <a:latin typeface="Arial"/>
                          <a:ea typeface="+mn-ea"/>
                          <a:cs typeface="+mn-cs"/>
                          <a:hlinkClick r:id="rId4"/>
                        </a:rPr>
                        <a:t>Planned project 6 "Omni-Channel Contact Centre Solution (CCS)</a:t>
                      </a:r>
                      <a:r>
                        <a:rPr lang="en-CA" sz="700" b="0" i="0" u="none" strike="noStrike" kern="1200" cap="none" spc="0" normalizeH="0" baseline="0" noProof="0">
                          <a:ln>
                            <a:noFill/>
                          </a:ln>
                          <a:solidFill>
                            <a:schemeClr val="tx1"/>
                          </a:solidFill>
                          <a:effectLst/>
                          <a:uLnTx/>
                          <a:uFillTx/>
                          <a:latin typeface="Arial"/>
                          <a:ea typeface="+mn-ea"/>
                          <a:cs typeface="+mn-cs"/>
                        </a:rPr>
                        <a:t> Page 101.</a:t>
                      </a:r>
                      <a:endParaRPr lang="en-CA" sz="700" b="0" i="0" u="none" strike="noStrike" kern="1200" cap="none" spc="0" normalizeH="0" baseline="0" noProof="0">
                        <a:ln>
                          <a:noFill/>
                        </a:ln>
                        <a:solidFill>
                          <a:srgbClr val="000000"/>
                        </a:solidFill>
                        <a:effectLst/>
                        <a:uLnTx/>
                        <a:uFillTx/>
                        <a:latin typeface="Arial"/>
                      </a:endParaRP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The proposal states that change management and training requirements in </a:t>
                      </a:r>
                      <a:r>
                        <a:rPr lang="en-CA" sz="700" b="0" i="0" u="none" strike="noStrike" kern="1200" cap="none" spc="0" normalizeH="0" baseline="0" noProof="0">
                          <a:ln>
                            <a:noFill/>
                          </a:ln>
                          <a:solidFill>
                            <a:schemeClr val="tx1"/>
                          </a:solidFill>
                          <a:effectLst/>
                          <a:uLnTx/>
                          <a:uFillTx/>
                          <a:latin typeface="Arial"/>
                        </a:rPr>
                        <a:t>as stated in the </a:t>
                      </a:r>
                      <a:r>
                        <a:rPr lang="en-CA" sz="700" b="0" i="0" u="none" strike="noStrike" kern="1200" cap="none" spc="0" normalizeH="0" baseline="0" noProof="0">
                          <a:ln>
                            <a:noFill/>
                          </a:ln>
                          <a:solidFill>
                            <a:schemeClr val="tx1"/>
                          </a:solidFill>
                          <a:effectLst/>
                          <a:uLnTx/>
                          <a:uFillTx/>
                          <a:latin typeface="Arial"/>
                          <a:hlinkClick r:id="rId5"/>
                        </a:rPr>
                        <a:t>BDM blueprint, (slides 29 and 89)</a:t>
                      </a:r>
                      <a:r>
                        <a:rPr lang="en-CA" sz="700" b="0" i="0" u="none" strike="noStrike" kern="1200" cap="none" spc="0" normalizeH="0" baseline="0" noProof="0">
                          <a:ln>
                            <a:noFill/>
                          </a:ln>
                          <a:solidFill>
                            <a:schemeClr val="tx1"/>
                          </a:solidFill>
                          <a:effectLst/>
                          <a:uLnTx/>
                          <a:uFillTx/>
                          <a:latin typeface="Arial"/>
                        </a:rPr>
                        <a:t> will be met (slide 3).</a:t>
                      </a: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rPr>
                        <a:t>The AI proposal diverges from the Chatbot (slide 70) and the ability for client to self-serve </a:t>
                      </a:r>
                      <a:r>
                        <a:rPr lang="en-CA" sz="700" b="0" i="0" u="none" strike="noStrike" kern="1200" cap="none" spc="0" normalizeH="0" baseline="0" noProof="0">
                          <a:ln>
                            <a:noFill/>
                          </a:ln>
                          <a:solidFill>
                            <a:srgbClr val="1F497D"/>
                          </a:solidFill>
                          <a:effectLst/>
                          <a:uLnTx/>
                          <a:uFillTx/>
                          <a:latin typeface="Arial"/>
                        </a:rPr>
                        <a:t>(</a:t>
                      </a:r>
                      <a:r>
                        <a:rPr lang="en-CA" sz="700" b="0" i="1" u="none" strike="noStrike" kern="1200" cap="none" spc="0" normalizeH="0" baseline="0" noProof="0">
                          <a:ln>
                            <a:noFill/>
                          </a:ln>
                          <a:solidFill>
                            <a:srgbClr val="1F497D"/>
                          </a:solidFill>
                          <a:effectLst/>
                          <a:uLnTx/>
                          <a:uFillTx/>
                          <a:latin typeface="Arial"/>
                        </a:rPr>
                        <a:t>slide 89</a:t>
                      </a:r>
                      <a:r>
                        <a:rPr lang="en-CA" sz="700" b="0" i="0" u="none" strike="noStrike" kern="1200" cap="none" spc="0" normalizeH="0" baseline="0" noProof="0">
                          <a:ln>
                            <a:noFill/>
                          </a:ln>
                          <a:solidFill>
                            <a:schemeClr val="tx1"/>
                          </a:solidFill>
                          <a:effectLst/>
                          <a:uLnTx/>
                          <a:uFillTx/>
                          <a:latin typeface="Arial"/>
                        </a:rPr>
                        <a:t>).  This is considered a minor deviation at this point.</a:t>
                      </a:r>
                      <a:endParaRPr lang="en-CA"/>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rPr>
                        <a:t>It is assumed that ATIP considerations would be addressed with the current practices, procedures.</a:t>
                      </a:r>
                      <a:endParaRPr lang="en-CA" sz="700" b="0" i="0" u="none" strike="noStrike" kern="1200" cap="none" spc="0" normalizeH="0" baseline="0" noProof="0">
                        <a:ln>
                          <a:noFill/>
                        </a:ln>
                        <a:solidFill>
                          <a:srgbClr val="000000"/>
                        </a:solidFill>
                        <a:effectLst/>
                        <a:uLnTx/>
                        <a:uFillTx/>
                        <a:latin typeface="Aria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endParaRPr lang="en-CA" sz="700">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pPr algn="just"/>
                      <a:endParaRPr lang="en-CA" sz="700">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92958243"/>
                  </a:ext>
                </a:extLst>
              </a:tr>
              <a:tr h="469201">
                <a:tc>
                  <a:txBody>
                    <a:bodyPr/>
                    <a:lstStyle/>
                    <a:p>
                      <a:r>
                        <a:rPr lang="en-CA" sz="700" b="1">
                          <a:solidFill>
                            <a:schemeClr val="tx1"/>
                          </a:solidFill>
                          <a:latin typeface="Arial"/>
                        </a:rPr>
                        <a:t>Data/ Information</a:t>
                      </a:r>
                      <a:r>
                        <a:rPr lang="en-CA" sz="700" b="1" baseline="0">
                          <a:solidFill>
                            <a:schemeClr val="tx1"/>
                          </a:solidFill>
                          <a:latin typeface="Arial"/>
                        </a:rPr>
                        <a:t> </a:t>
                      </a:r>
                      <a:endParaRPr lang="en-CA" sz="700" b="1">
                        <a:solidFill>
                          <a:schemeClr val="tx1"/>
                        </a:solidFill>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11">
                  <a:txBody>
                    <a:bodyPr/>
                    <a:lstStyle/>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The BDM blueprint indicates program specific knowledge management that would hinder an OAS-EI-CPP wide knowledge management solution; the Technology should be fully implemented at the end of Tranche 2 (</a:t>
                      </a:r>
                      <a:r>
                        <a:rPr lang="en-CA" sz="700" b="0" i="0" u="none" strike="noStrike" kern="1200" cap="none" spc="0" normalizeH="0" baseline="0" noProof="0">
                          <a:ln>
                            <a:noFill/>
                          </a:ln>
                          <a:solidFill>
                            <a:schemeClr val="tx1"/>
                          </a:solidFill>
                          <a:effectLst/>
                          <a:uLnTx/>
                          <a:uFillTx/>
                          <a:latin typeface="Arial"/>
                          <a:ea typeface="+mn-ea"/>
                          <a:cs typeface="+mn-cs"/>
                          <a:hlinkClick r:id="rId5"/>
                        </a:rPr>
                        <a:t>BDM blueprint slides 127-136</a:t>
                      </a:r>
                      <a:r>
                        <a:rPr lang="en-CA" sz="700" b="0" i="0" u="none" strike="noStrike" kern="1200" cap="none" spc="0" normalizeH="0" baseline="0" noProof="0">
                          <a:ln>
                            <a:noFill/>
                          </a:ln>
                          <a:solidFill>
                            <a:schemeClr val="tx1"/>
                          </a:solidFill>
                          <a:effectLst/>
                          <a:uLnTx/>
                          <a:uFillTx/>
                          <a:latin typeface="Arial"/>
                          <a:ea typeface="+mn-ea"/>
                          <a:cs typeface="+mn-cs"/>
                        </a:rPr>
                        <a:t>).</a:t>
                      </a: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Information Governance processes involve multiple organizations: Policy (including legislation), Program delivery, Training and IT-driven change management.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endParaRPr lang="en-CA" sz="700">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pPr algn="just"/>
                      <a:endParaRPr lang="en-CA" sz="700">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59772462"/>
                  </a:ext>
                </a:extLst>
              </a:tr>
              <a:tr h="469201">
                <a:tc>
                  <a:txBody>
                    <a:bodyPr/>
                    <a:lstStyle/>
                    <a:p>
                      <a:r>
                        <a:rPr lang="en-CA" sz="700" b="1">
                          <a:solidFill>
                            <a:schemeClr val="tx1"/>
                          </a:solidFill>
                          <a:latin typeface="Arial"/>
                        </a:rPr>
                        <a:t>Application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11">
                  <a:txBody>
                    <a:bodyPr/>
                    <a:lstStyle/>
                    <a:p>
                      <a:pPr marL="171450" marR="0" lvl="0" indent="-171450" algn="just"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The recommended option # 1 includes an AI interface to query the knowledge management repository </a:t>
                      </a:r>
                      <a:r>
                        <a:rPr lang="en-CA" sz="700" b="0" i="0" u="none" strike="noStrike" kern="1200" cap="none" spc="0" normalizeH="0" baseline="0" noProof="0">
                          <a:ln>
                            <a:noFill/>
                          </a:ln>
                          <a:solidFill>
                            <a:schemeClr val="tx1"/>
                          </a:solidFill>
                          <a:effectLst/>
                          <a:uLnTx/>
                          <a:uFillTx/>
                          <a:latin typeface="Arial"/>
                          <a:ea typeface="+mn-ea"/>
                          <a:cs typeface="+mn-cs"/>
                          <a:hlinkClick r:id="rId5"/>
                        </a:rPr>
                        <a:t>(BDM Blueprint, slide 99)</a:t>
                      </a:r>
                      <a:r>
                        <a:rPr lang="en-CA" sz="700" b="0" i="0" u="none" strike="noStrike" kern="1200" cap="none" spc="0" normalizeH="0" baseline="0" noProof="0">
                          <a:ln>
                            <a:noFill/>
                          </a:ln>
                          <a:solidFill>
                            <a:schemeClr val="tx1"/>
                          </a:solidFill>
                          <a:effectLst/>
                          <a:uLnTx/>
                          <a:uFillTx/>
                          <a:latin typeface="Arial"/>
                          <a:ea typeface="+mn-ea"/>
                          <a:cs typeface="+mn-cs"/>
                        </a:rPr>
                        <a:t>, and an automated information governance capability (</a:t>
                      </a:r>
                      <a:r>
                        <a:rPr lang="en-CA" sz="700" b="0" i="0" u="none" strike="noStrike" kern="1200" cap="none" spc="0" normalizeH="0" baseline="0" noProof="0">
                          <a:ln>
                            <a:noFill/>
                          </a:ln>
                          <a:solidFill>
                            <a:schemeClr val="tx1"/>
                          </a:solidFill>
                          <a:effectLst/>
                          <a:uLnTx/>
                          <a:uFillTx/>
                          <a:latin typeface="Arial"/>
                          <a:ea typeface="+mn-ea"/>
                          <a:cs typeface="+mn-cs"/>
                          <a:hlinkClick r:id="rId5"/>
                        </a:rPr>
                        <a:t>BDM Blueprint slide 114</a:t>
                      </a:r>
                      <a:r>
                        <a:rPr lang="en-CA" sz="700" b="0" i="0" u="none" strike="noStrike" kern="1200" cap="none" spc="0" normalizeH="0" baseline="0" noProof="0">
                          <a:ln>
                            <a:noFill/>
                          </a:ln>
                          <a:solidFill>
                            <a:schemeClr val="tx1"/>
                          </a:solidFill>
                          <a:effectLst/>
                          <a:uLnTx/>
                          <a:uFillTx/>
                          <a:latin typeface="Arial"/>
                          <a:ea typeface="+mn-ea"/>
                          <a:cs typeface="+mn-cs"/>
                        </a:rPr>
                        <a:t>), and an AI component to query the repository.</a:t>
                      </a:r>
                      <a:endParaRPr lang="fr-F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It is unclear on how training application components will leverage the KM repository</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endParaRPr lang="en-CA" sz="700">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pPr algn="just"/>
                      <a:endParaRPr lang="en-CA" sz="700">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1736165"/>
                  </a:ext>
                </a:extLst>
              </a:tr>
              <a:tr h="445402">
                <a:tc>
                  <a:txBody>
                    <a:bodyPr/>
                    <a:lstStyle/>
                    <a:p>
                      <a:r>
                        <a:rPr lang="en-CA" sz="700" b="1">
                          <a:solidFill>
                            <a:schemeClr val="tx1"/>
                          </a:solidFill>
                          <a:latin typeface="Arial"/>
                        </a:rPr>
                        <a:t>Technology</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11">
                  <a:txBody>
                    <a:bodyPr/>
                    <a:lstStyle/>
                    <a:p>
                      <a:pPr marL="171450" marR="0" lvl="0" indent="-171450" algn="just"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The recommended option #1 does not specify how the knowledge management solution will be made available across multiple platforms </a:t>
                      </a:r>
                      <a:r>
                        <a:rPr lang="en-CA" sz="700" b="0" i="0" u="none" strike="noStrike" kern="1200" cap="none" spc="0" normalizeH="0" baseline="0" noProof="0">
                          <a:ln>
                            <a:noFill/>
                          </a:ln>
                          <a:solidFill>
                            <a:schemeClr val="tx1"/>
                          </a:solidFill>
                          <a:effectLst/>
                          <a:uLnTx/>
                          <a:uFillTx/>
                          <a:latin typeface="Arial"/>
                          <a:ea typeface="+mn-ea"/>
                          <a:cs typeface="+mn-cs"/>
                          <a:hlinkClick r:id="rId5"/>
                        </a:rPr>
                        <a:t>(BDM blueprint slide 114</a:t>
                      </a:r>
                      <a:r>
                        <a:rPr lang="en-CA" sz="700" b="0" i="0" u="none" strike="noStrike" kern="1200" cap="none" spc="0" normalizeH="0" baseline="0" noProof="0">
                          <a:ln>
                            <a:noFill/>
                          </a:ln>
                          <a:solidFill>
                            <a:schemeClr val="tx1"/>
                          </a:solidFill>
                          <a:effectLst/>
                          <a:uLnTx/>
                          <a:uFillTx/>
                          <a:latin typeface="Arial"/>
                          <a:ea typeface="+mn-ea"/>
                          <a:cs typeface="+mn-cs"/>
                        </a:rPr>
                        <a:t>)</a:t>
                      </a:r>
                      <a:endParaRPr lang="fr-F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rPr>
                        <a:t>The recommended option #1 provides 2 technologies for the AI component; EVA and MS CoPilot, to be identified in a future EARB proposal in ~ 6 months. Once the AI technology is identified, the alignment will be green.</a:t>
                      </a:r>
                      <a:endParaRPr lang="en-CA" sz="700" b="0" i="0" u="none" strike="noStrike" kern="1200" cap="none" spc="0" normalizeH="0" baseline="0" noProof="0">
                        <a:ln>
                          <a:noFill/>
                        </a:ln>
                        <a:solidFill>
                          <a:schemeClr val="tx1"/>
                        </a:solidFill>
                        <a:effectLst/>
                        <a:uLnTx/>
                        <a:uFillTx/>
                        <a:latin typeface="Arial"/>
                        <a:ea typeface="+mn-e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endParaRPr lang="en-CA" sz="700">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pPr algn="just"/>
                      <a:endParaRPr lang="en-CA" sz="700">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0080586"/>
                  </a:ext>
                </a:extLst>
              </a:tr>
              <a:tr h="856664">
                <a:tc>
                  <a:txBody>
                    <a:bodyPr/>
                    <a:lstStyle/>
                    <a:p>
                      <a:r>
                        <a:rPr lang="en-CA" sz="700" b="1">
                          <a:solidFill>
                            <a:schemeClr val="tx1"/>
                          </a:solidFill>
                          <a:latin typeface="Arial"/>
                        </a:rPr>
                        <a:t>Security</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11">
                  <a:txBody>
                    <a:bodyPr/>
                    <a:lstStyle/>
                    <a:p>
                      <a:pPr marL="171450" marR="0" lvl="0" indent="-171450" algn="just" rtl="0" eaLnBrk="1" fontAlgn="auto" latinLnBrk="0" hangingPunct="1">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rPr>
                        <a:t>Project aims to leverage existing technology and solution (such as </a:t>
                      </a:r>
                      <a:r>
                        <a:rPr lang="en-CA" sz="700" b="0" i="0" u="none" strike="noStrike" kern="1200" cap="none" spc="0" normalizeH="0" baseline="0" noProof="0">
                          <a:ln>
                            <a:noFill/>
                          </a:ln>
                          <a:solidFill>
                            <a:schemeClr val="tx1"/>
                          </a:solidFill>
                          <a:effectLst/>
                          <a:uLnTx/>
                          <a:uFillTx/>
                          <a:latin typeface="Arial"/>
                          <a:ea typeface="+mn-ea"/>
                          <a:cs typeface="+mn-cs"/>
                        </a:rPr>
                        <a:t>SharePoint Online and components used as part of EVA) that has been previously assessed and authorised to support PB information. </a:t>
                      </a:r>
                      <a:endParaRPr lang="en-US"/>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Details related to the introduction of new technology (to include AI Components) will need to be reviewed when the information becomes available. </a:t>
                      </a: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Confirmation of a signed </a:t>
                      </a:r>
                      <a:r>
                        <a:rPr lang="en-CA" sz="700" b="0" i="0" u="none" strike="noStrike" kern="1200" cap="none" spc="0" normalizeH="0" baseline="0" noProof="0" err="1">
                          <a:ln>
                            <a:noFill/>
                          </a:ln>
                          <a:solidFill>
                            <a:schemeClr val="tx1"/>
                          </a:solidFill>
                          <a:effectLst/>
                          <a:uLnTx/>
                          <a:uFillTx/>
                          <a:latin typeface="Arial"/>
                          <a:ea typeface="+mn-ea"/>
                          <a:cs typeface="+mn-cs"/>
                        </a:rPr>
                        <a:t>SoSAR</a:t>
                      </a:r>
                      <a:r>
                        <a:rPr lang="en-CA" sz="700" b="0" i="0" u="none" strike="noStrike" kern="1200" cap="none" spc="0" normalizeH="0" baseline="0" noProof="0">
                          <a:ln>
                            <a:noFill/>
                          </a:ln>
                          <a:solidFill>
                            <a:schemeClr val="tx1"/>
                          </a:solidFill>
                          <a:effectLst/>
                          <a:uLnTx/>
                          <a:uFillTx/>
                          <a:latin typeface="Arial"/>
                          <a:ea typeface="+mn-ea"/>
                          <a:cs typeface="+mn-cs"/>
                        </a:rPr>
                        <a:t> will be required to confirm the security profile requirements of the solution. </a:t>
                      </a:r>
                    </a:p>
                    <a:p>
                      <a:pPr marL="171450" marR="0" lvl="0" indent="-171450" algn="just">
                        <a:lnSpc>
                          <a:spcPct val="100000"/>
                        </a:lnSpc>
                        <a:spcBef>
                          <a:spcPts val="0"/>
                        </a:spcBef>
                        <a:spcAft>
                          <a:spcPts val="0"/>
                        </a:spcAft>
                        <a:buClrTx/>
                        <a:buSzTx/>
                        <a:buFont typeface="Arial" panose="020B0604020202020204" pitchFamily="34" charset="0"/>
                        <a:buChar char="•"/>
                      </a:pPr>
                      <a:r>
                        <a:rPr lang="en-CA" sz="700" b="0" i="0" u="none" strike="noStrike" kern="1200" cap="none" spc="0" normalizeH="0" baseline="0" noProof="0">
                          <a:ln>
                            <a:noFill/>
                          </a:ln>
                          <a:solidFill>
                            <a:schemeClr val="tx1"/>
                          </a:solidFill>
                          <a:effectLst/>
                          <a:uLnTx/>
                          <a:uFillTx/>
                          <a:latin typeface="Arial"/>
                          <a:ea typeface="+mn-ea"/>
                          <a:cs typeface="+mn-cs"/>
                        </a:rPr>
                        <a:t>Additional details related to cloud connectivity patterns, connection to ESDC cybersecurity capabilities (such as cyber operations, endpoint security, network security, </a:t>
                      </a:r>
                      <a:r>
                        <a:rPr lang="en-CA" sz="700" b="0" i="0" u="none" strike="noStrike" kern="1200" cap="none" spc="0" normalizeH="0" baseline="0" noProof="0" err="1">
                          <a:ln>
                            <a:noFill/>
                          </a:ln>
                          <a:solidFill>
                            <a:schemeClr val="tx1"/>
                          </a:solidFill>
                          <a:effectLst/>
                          <a:uLnTx/>
                          <a:uFillTx/>
                          <a:latin typeface="Arial"/>
                          <a:ea typeface="+mn-ea"/>
                          <a:cs typeface="+mn-cs"/>
                        </a:rPr>
                        <a:t>etc</a:t>
                      </a:r>
                      <a:r>
                        <a:rPr lang="en-CA" sz="700" b="0" i="0" u="none" strike="noStrike" kern="1200" cap="none" spc="0" normalizeH="0" baseline="0" noProof="0">
                          <a:ln>
                            <a:noFill/>
                          </a:ln>
                          <a:solidFill>
                            <a:schemeClr val="tx1"/>
                          </a:solidFill>
                          <a:effectLst/>
                          <a:uLnTx/>
                          <a:uFillTx/>
                          <a:latin typeface="Arial"/>
                          <a:ea typeface="+mn-ea"/>
                          <a:cs typeface="+mn-cs"/>
                        </a:rPr>
                        <a:t>) as part of the solution and target architecture will be required as part of the ongoing engagement. </a:t>
                      </a:r>
                    </a:p>
                    <a:p>
                      <a:pPr marL="171450" indent="-171450" algn="just">
                        <a:buFont typeface="Arial" panose="020B0604020202020204" pitchFamily="34" charset="0"/>
                        <a:buChar char="•"/>
                      </a:pPr>
                      <a:endParaRPr lang="en-CA" sz="700">
                        <a:latin typeface="Aria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endParaRPr lang="en-CA" sz="700">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pPr algn="just"/>
                      <a:endParaRPr lang="en-CA" sz="700">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40488012"/>
                  </a:ext>
                </a:extLst>
              </a:tr>
              <a:tr h="260601">
                <a:tc gridSpan="13">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mn-ea"/>
                          <a:cs typeface="+mn-cs"/>
                        </a:rPr>
                        <a:t>Application</a:t>
                      </a:r>
                      <a:r>
                        <a:rPr lang="en-CA" sz="700" b="1" kern="1200" baseline="0">
                          <a:solidFill>
                            <a:schemeClr val="tx1"/>
                          </a:solidFill>
                          <a:latin typeface="Arial"/>
                          <a:ea typeface="+mn-ea"/>
                          <a:cs typeface="+mn-cs"/>
                        </a:rPr>
                        <a:t> Portfolio Management</a:t>
                      </a:r>
                      <a:endParaRPr lang="en-CA" sz="700" b="1" kern="1200">
                        <a:solidFill>
                          <a:schemeClr val="tx1"/>
                        </a:solidFill>
                        <a:latin typeface="Arial"/>
                        <a:ea typeface="+mn-ea"/>
                        <a:cs typeface="+mn-cs"/>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just"/>
                      <a:r>
                        <a:rPr lang="en-CA" sz="700" b="1">
                          <a:latin typeface="Arial"/>
                        </a:rPr>
                        <a:t>Opportunities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46288709"/>
                  </a:ext>
                </a:extLst>
              </a:tr>
              <a:tr h="265552">
                <a:tc gridSpan="3">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mn-ea"/>
                          <a:cs typeface="+mn-cs"/>
                        </a:rPr>
                        <a:t>Application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mn-ea"/>
                          <a:cs typeface="+mn-cs"/>
                        </a:rPr>
                        <a:t>Core Delivery</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mn-e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Arial"/>
                        <a:ea typeface="+mn-ea"/>
                        <a:cs typeface="+mn-cs"/>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mn-ea"/>
                          <a:cs typeface="+mn-cs"/>
                        </a:rPr>
                        <a:t>Mission</a:t>
                      </a:r>
                      <a:r>
                        <a:rPr lang="en-CA" sz="700" b="1" kern="1200" baseline="0">
                          <a:solidFill>
                            <a:schemeClr val="tx1"/>
                          </a:solidFill>
                          <a:latin typeface="Arial"/>
                          <a:ea typeface="+mn-ea"/>
                          <a:cs typeface="+mn-cs"/>
                        </a:rPr>
                        <a:t> Critical</a:t>
                      </a:r>
                      <a:endParaRPr lang="en-CA" sz="700" b="1" kern="1200">
                        <a:solidFill>
                          <a:schemeClr val="tx1"/>
                        </a:solidFill>
                        <a:latin typeface="Arial"/>
                        <a:ea typeface="+mn-ea"/>
                        <a:cs typeface="+mn-cs"/>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mn-ea"/>
                        <a:cs typeface="+mn-cs"/>
                      </a:endParaRP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mn-e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mn-ea"/>
                          <a:cs typeface="+mn-cs"/>
                        </a:rPr>
                        <a:t>Short Term Disposition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CA" sz="700" b="1" kern="1200">
                        <a:solidFill>
                          <a:schemeClr val="tx1"/>
                        </a:solidFill>
                        <a:latin typeface="+mn-lt"/>
                        <a:ea typeface="+mn-ea"/>
                        <a:cs typeface="+mn-cs"/>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700" b="1" kern="1200">
                          <a:solidFill>
                            <a:schemeClr val="tx1"/>
                          </a:solidFill>
                          <a:latin typeface="Arial"/>
                          <a:ea typeface="+mn-ea"/>
                          <a:cs typeface="+mn-cs"/>
                        </a:rPr>
                        <a:t>Long Term Disposition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rowSpan="2">
                  <a:txBody>
                    <a:bodyPr/>
                    <a:lstStyle/>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Leveraging ESDC approved AI tool.</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700" b="0" i="0" u="none" strike="noStrike" kern="1200" cap="none" spc="0" normalizeH="0" baseline="0" noProof="0">
                          <a:ln>
                            <a:noFill/>
                          </a:ln>
                          <a:solidFill>
                            <a:schemeClr val="tx1"/>
                          </a:solidFill>
                          <a:effectLst/>
                          <a:uLnTx/>
                          <a:uFillTx/>
                          <a:latin typeface="Arial"/>
                          <a:ea typeface="+mn-ea"/>
                          <a:cs typeface="+mn-cs"/>
                        </a:rPr>
                        <a:t>Extend the KM architecture to ESDC enterprise.</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376184405"/>
                  </a:ext>
                </a:extLst>
              </a:tr>
              <a:tr h="229339">
                <a:tc gridSpan="3">
                  <a:txBody>
                    <a:bodyPr/>
                    <a:lstStyle/>
                    <a:p>
                      <a:pPr algn="just"/>
                      <a:r>
                        <a:rPr lang="en-CA" sz="700">
                          <a:latin typeface="Arial"/>
                        </a:rPr>
                        <a:t>N/A</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3">
                  <a:txBody>
                    <a:bodyPr/>
                    <a:lstStyle/>
                    <a:p>
                      <a:pPr algn="ctr"/>
                      <a:r>
                        <a:rPr lang="en-CA" sz="700">
                          <a:latin typeface="Arial"/>
                        </a:rPr>
                        <a:t>N/A</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pPr algn="ctr"/>
                      <a:endParaRPr lang="en-CA" sz="700">
                        <a:latin typeface="Aria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3">
                  <a:txBody>
                    <a:bodyPr/>
                    <a:lstStyle/>
                    <a:p>
                      <a:pPr algn="ctr"/>
                      <a:r>
                        <a:rPr lang="en-CA" sz="700">
                          <a:latin typeface="Arial"/>
                        </a:rPr>
                        <a:t>Yes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2">
                  <a:txBody>
                    <a:bodyPr/>
                    <a:lstStyle/>
                    <a:p>
                      <a:pPr algn="ctr"/>
                      <a:r>
                        <a:rPr lang="en-CA" sz="700">
                          <a:latin typeface="Arial"/>
                        </a:rPr>
                        <a:t>         (Without decommissioning)</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2">
                  <a:txBody>
                    <a:bodyPr/>
                    <a:lstStyle/>
                    <a:p>
                      <a:pPr algn="ctr"/>
                      <a:r>
                        <a:rPr lang="en-CA" sz="700">
                          <a:latin typeface="Arial"/>
                        </a:rPr>
                        <a:t>       (With decommissioning)</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v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940231759"/>
                  </a:ext>
                </a:extLst>
              </a:tr>
              <a:tr h="229339">
                <a:tc gridSpan="7">
                  <a:txBody>
                    <a:bodyPr/>
                    <a:lstStyle/>
                    <a:p>
                      <a:pPr algn="just"/>
                      <a:r>
                        <a:rPr lang="en-CA" sz="700" b="1">
                          <a:latin typeface="Arial"/>
                        </a:rPr>
                        <a:t>EA Recommendations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6">
                  <a:txBody>
                    <a:bodyPr/>
                    <a:lstStyle/>
                    <a:p>
                      <a:pPr algn="just"/>
                      <a:r>
                        <a:rPr lang="en-CA" sz="700" b="1">
                          <a:latin typeface="Arial"/>
                        </a:rPr>
                        <a:t>Proposed Conditions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just"/>
                      <a:r>
                        <a:rPr lang="en-CA" sz="700" b="1">
                          <a:latin typeface="Arial"/>
                        </a:rPr>
                        <a:t>BDM Alignment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241263291"/>
                  </a:ext>
                </a:extLst>
              </a:tr>
              <a:tr h="469201">
                <a:tc gridSpan="7">
                  <a:txBody>
                    <a:bodyPr/>
                    <a:lstStyle/>
                    <a:p>
                      <a:pPr algn="just"/>
                      <a:r>
                        <a:rPr lang="en-CA" sz="700">
                          <a:latin typeface="+mn-lt"/>
                        </a:rPr>
                        <a:t>EA recommends leveraging Microsoft SharePoint Online as one component of the long-term solution for core knowledge management for BDM within ESDC.</a:t>
                      </a:r>
                    </a:p>
                    <a:p>
                      <a:pPr algn="just"/>
                      <a:r>
                        <a:rPr lang="en-CA" sz="700">
                          <a:latin typeface="+mn-lt"/>
                        </a:rPr>
                        <a:t>Proceed with the ASK.</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gridSpan="6">
                  <a:txBody>
                    <a:bodyPr/>
                    <a:lstStyle/>
                    <a:p>
                      <a:pPr algn="just"/>
                      <a:r>
                        <a:rPr lang="en-CA" sz="700">
                          <a:latin typeface="+mn-lt"/>
                        </a:rPr>
                        <a:t>To return upon AI enablement tool option analysis is completed.</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hMerge="1">
                  <a:txBody>
                    <a:bodyPr/>
                    <a:lstStyle/>
                    <a:p>
                      <a:endParaRPr lang="en-CA"/>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just"/>
                      <a:r>
                        <a:rPr lang="en-CA" sz="700">
                          <a:latin typeface="+mn-lt"/>
                        </a:rPr>
                        <a:t>Centralized core knowledge management solution is designed to align with BDM long term goal and be implemented by end of Tranche 2.</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322859605"/>
                  </a:ext>
                </a:extLst>
              </a:tr>
            </a:tbl>
          </a:graphicData>
        </a:graphic>
      </p:graphicFrame>
      <p:sp>
        <p:nvSpPr>
          <p:cNvPr id="32" name="Rectangle 31"/>
          <p:cNvSpPr/>
          <p:nvPr/>
        </p:nvSpPr>
        <p:spPr>
          <a:xfrm>
            <a:off x="10265290" y="257175"/>
            <a:ext cx="1327759" cy="6000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7B7D64C2-1474-4684-9924-F6C7D92DB126}"/>
              </a:ext>
            </a:extLst>
          </p:cNvPr>
          <p:cNvSpPr txBox="1"/>
          <p:nvPr/>
        </p:nvSpPr>
        <p:spPr>
          <a:xfrm>
            <a:off x="3511513" y="6677229"/>
            <a:ext cx="5364785" cy="200055"/>
          </a:xfrm>
          <a:prstGeom prst="rect">
            <a:avLst/>
          </a:prstGeom>
          <a:noFill/>
        </p:spPr>
        <p:txBody>
          <a:bodyPr wrap="square" lIns="91440" tIns="45720" rIns="91440" bIns="45720" rtlCol="0" anchor="ctr">
            <a:spAutoFit/>
          </a:bodyPr>
          <a:lstStyle/>
          <a:p>
            <a:pPr marL="0" marR="0" lvl="0" indent="0" algn="ctr" defTabSz="457200" rtl="0" eaLnBrk="1" fontAlgn="auto" latinLnBrk="0" hangingPunct="1">
              <a:spcBef>
                <a:spcPts val="0"/>
              </a:spcBef>
              <a:spcAft>
                <a:spcPts val="0"/>
              </a:spcAft>
              <a:buClrTx/>
              <a:buSzTx/>
              <a:buFontTx/>
              <a:buNone/>
              <a:tabLst/>
              <a:defRPr/>
            </a:pPr>
            <a:r>
              <a:rPr kumimoji="0" lang="en-CA" sz="700" b="0" i="0" u="none" strike="noStrike" kern="1200" cap="none" spc="0" normalizeH="0" baseline="0" noProof="0">
                <a:ln>
                  <a:noFill/>
                </a:ln>
                <a:effectLst/>
                <a:uLnTx/>
                <a:uFillTx/>
                <a:latin typeface="Arial"/>
                <a:ea typeface="Verdana"/>
                <a:cs typeface="Arial"/>
                <a:hlinkClick r:id="rId6">
                  <a:extLst>
                    <a:ext uri="{A12FA001-AC4F-418D-AE19-62706E023703}">
                      <ahyp:hlinkClr xmlns:ahyp="http://schemas.microsoft.com/office/drawing/2018/hyperlinkcolor" val="tx"/>
                    </a:ext>
                  </a:extLst>
                </a:hlinkClick>
              </a:rPr>
              <a:t>Proposal</a:t>
            </a:r>
            <a:r>
              <a:rPr kumimoji="0" lang="en-CA" sz="700" b="0" i="0" u="none" strike="noStrike" kern="1200" cap="none" spc="0" normalizeH="0" baseline="0" noProof="0">
                <a:ln>
                  <a:noFill/>
                </a:ln>
                <a:effectLst/>
                <a:uLnTx/>
                <a:uFillTx/>
                <a:latin typeface="Arial"/>
                <a:ea typeface="Verdana"/>
                <a:cs typeface="Arial"/>
              </a:rPr>
              <a:t> </a:t>
            </a:r>
            <a:r>
              <a:rPr kumimoji="0" lang="en-US" sz="700" b="0" i="0" u="none" strike="noStrike" kern="1200" cap="none" spc="0" normalizeH="0" baseline="0" noProof="0">
                <a:ln>
                  <a:noFill/>
                </a:ln>
                <a:effectLst/>
                <a:uLnTx/>
                <a:uFillTx/>
                <a:latin typeface="Arial"/>
                <a:ea typeface="Verdana"/>
                <a:cs typeface="Arial"/>
              </a:rPr>
              <a:t>| </a:t>
            </a:r>
            <a:r>
              <a:rPr kumimoji="0" lang="en-US" sz="700" b="0" i="0" u="none" strike="noStrike" kern="1200" cap="none" spc="0" normalizeH="0" baseline="0" noProof="0">
                <a:ln>
                  <a:noFill/>
                </a:ln>
                <a:effectLst/>
                <a:uLnTx/>
                <a:uFillTx/>
                <a:latin typeface="Arial"/>
                <a:ea typeface="Verdana"/>
                <a:cs typeface="Arial"/>
                <a:hlinkClick r:id="rId6">
                  <a:extLst>
                    <a:ext uri="{A12FA001-AC4F-418D-AE19-62706E023703}">
                      <ahyp:hlinkClr xmlns:ahyp="http://schemas.microsoft.com/office/drawing/2018/hyperlinkcolor" val="tx"/>
                    </a:ext>
                  </a:extLst>
                </a:hlinkClick>
              </a:rPr>
              <a:t>Business Case</a:t>
            </a:r>
            <a:r>
              <a:rPr kumimoji="0" lang="en-US" sz="700" b="0" i="0" u="none" strike="noStrike" kern="1200" cap="none" spc="0" normalizeH="0" baseline="0" noProof="0">
                <a:ln>
                  <a:noFill/>
                </a:ln>
                <a:effectLst/>
                <a:uLnTx/>
                <a:uFillTx/>
                <a:latin typeface="Arial"/>
                <a:ea typeface="Verdana"/>
                <a:cs typeface="Arial"/>
              </a:rPr>
              <a:t> | BRM: </a:t>
            </a:r>
            <a:r>
              <a:rPr lang="en-US" sz="700">
                <a:latin typeface="Arial"/>
                <a:ea typeface="Verdana"/>
                <a:cs typeface="Arial"/>
              </a:rPr>
              <a:t>&lt;</a:t>
            </a:r>
            <a:r>
              <a:rPr kumimoji="0" lang="en-US" sz="700" b="0" i="0" u="none" strike="noStrike" kern="1200" cap="none" spc="0" normalizeH="0" baseline="0" noProof="0">
                <a:ln>
                  <a:noFill/>
                </a:ln>
                <a:effectLst/>
                <a:uLnTx/>
                <a:uFillTx/>
                <a:latin typeface="Arial"/>
                <a:ea typeface="Verdana"/>
                <a:cs typeface="Arial"/>
              </a:rPr>
              <a:t>X</a:t>
            </a:r>
            <a:r>
              <a:rPr lang="en-US" sz="700">
                <a:latin typeface="Arial"/>
                <a:ea typeface="Verdana"/>
                <a:cs typeface="Arial"/>
              </a:rPr>
              <a:t>&gt;</a:t>
            </a:r>
            <a:endParaRPr lang="en-CA" sz="700" b="0" i="0" u="none" strike="noStrike" kern="1200" cap="none" spc="0" normalizeH="0" baseline="0" noProof="0">
              <a:ln>
                <a:noFill/>
              </a:ln>
              <a:effectLst/>
              <a:uLnTx/>
              <a:uFillTx/>
              <a:latin typeface="Arial"/>
              <a:ea typeface="Verdana"/>
              <a:cs typeface="Arial"/>
            </a:endParaRPr>
          </a:p>
        </p:txBody>
      </p:sp>
      <p:sp>
        <p:nvSpPr>
          <p:cNvPr id="11" name="TextBox 10">
            <a:extLst>
              <a:ext uri="{FF2B5EF4-FFF2-40B4-BE49-F238E27FC236}">
                <a16:creationId xmlns:a16="http://schemas.microsoft.com/office/drawing/2014/main" id="{D76408A5-4473-4429-80AD-D170A2C36819}"/>
              </a:ext>
            </a:extLst>
          </p:cNvPr>
          <p:cNvSpPr txBox="1"/>
          <p:nvPr/>
        </p:nvSpPr>
        <p:spPr>
          <a:xfrm>
            <a:off x="8591063" y="6508060"/>
            <a:ext cx="1365765" cy="200055"/>
          </a:xfrm>
          <a:prstGeom prst="rect">
            <a:avLst/>
          </a:prstGeom>
          <a:noFill/>
        </p:spPr>
        <p:txBody>
          <a:bodyPr wrap="square" lIns="91440" tIns="45720" rIns="91440" bIns="45720" rtlCol="0" anchor="t">
            <a:spAutoFit/>
          </a:bodyPr>
          <a:lstStyle/>
          <a:p>
            <a:pPr>
              <a:defRPr/>
            </a:pPr>
            <a:r>
              <a:rPr kumimoji="0" lang="en-CA" sz="700" b="0" i="0" u="none" strike="noStrike" kern="1200" cap="none" spc="0" normalizeH="0" baseline="0" noProof="0">
                <a:ln>
                  <a:noFill/>
                </a:ln>
                <a:solidFill>
                  <a:srgbClr val="000000"/>
                </a:solidFill>
                <a:effectLst/>
                <a:uLnTx/>
                <a:uFillTx/>
                <a:latin typeface="Arial"/>
                <a:ea typeface="Verdana"/>
                <a:cs typeface="Arial"/>
              </a:rPr>
              <a:t>EA Assessor: </a:t>
            </a:r>
            <a:r>
              <a:rPr lang="en-CA" sz="700">
                <a:solidFill>
                  <a:srgbClr val="000000"/>
                </a:solidFill>
                <a:latin typeface="Arial"/>
                <a:ea typeface="Verdana"/>
                <a:cs typeface="Arial"/>
              </a:rPr>
              <a:t>André Ingenito</a:t>
            </a:r>
            <a:endParaRPr lang="en-CA" sz="700" b="0" i="0" u="none" strike="noStrike" kern="1200" cap="none" spc="0" normalizeH="0" baseline="0" noProof="0">
              <a:ln>
                <a:noFill/>
              </a:ln>
              <a:solidFill>
                <a:srgbClr val="000000"/>
              </a:solidFill>
              <a:effectLst/>
              <a:uLnTx/>
              <a:uFillTx/>
              <a:latin typeface="Arial"/>
              <a:ea typeface="Verdana"/>
              <a:cs typeface="Arial"/>
            </a:endParaRPr>
          </a:p>
        </p:txBody>
      </p:sp>
      <p:sp>
        <p:nvSpPr>
          <p:cNvPr id="6" name="Slide Number Placeholder 3">
            <a:extLst>
              <a:ext uri="{FF2B5EF4-FFF2-40B4-BE49-F238E27FC236}">
                <a16:creationId xmlns:a16="http://schemas.microsoft.com/office/drawing/2014/main" id="{DDDE8957-4BDF-4DDA-BB2C-1455C0CD1028}"/>
              </a:ext>
            </a:extLst>
          </p:cNvPr>
          <p:cNvSpPr txBox="1">
            <a:spLocks/>
          </p:cNvSpPr>
          <p:nvPr/>
        </p:nvSpPr>
        <p:spPr>
          <a:xfrm>
            <a:off x="9273945" y="6585507"/>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BCE2B6B-7FFE-FA46-BED3-31567387080B}" type="slidenum">
              <a:rPr lang="en-US" sz="800" dirty="0" smtClean="0">
                <a:solidFill>
                  <a:schemeClr val="bg1">
                    <a:lumMod val="50000"/>
                  </a:schemeClr>
                </a:solidFill>
                <a:latin typeface="Arial"/>
                <a:ea typeface="Verdana"/>
                <a:cs typeface="Arial"/>
              </a:rPr>
              <a:pPr/>
              <a:t>16</a:t>
            </a:fld>
            <a:endParaRPr lang="en-US" sz="800">
              <a:solidFill>
                <a:schemeClr val="bg1">
                  <a:lumMod val="50000"/>
                </a:schemeClr>
              </a:solidFill>
              <a:latin typeface="Arial"/>
              <a:ea typeface="Verdana"/>
              <a:cs typeface="Arial"/>
            </a:endParaRPr>
          </a:p>
        </p:txBody>
      </p:sp>
      <p:sp>
        <p:nvSpPr>
          <p:cNvPr id="35" name="TextBox 34">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r>
              <a:rPr lang="en-CA" sz="1200" i="1">
                <a:solidFill>
                  <a:schemeClr val="tx1">
                    <a:lumMod val="50000"/>
                    <a:lumOff val="50000"/>
                  </a:schemeClr>
                </a:solidFill>
                <a:latin typeface="Arial"/>
                <a:ea typeface="Verdana"/>
                <a:cs typeface="Arial"/>
              </a:rPr>
              <a:t>BDM AI-enabled Knowledge Management</a:t>
            </a:r>
            <a:endParaRPr lang="en-US" i="1">
              <a:solidFill>
                <a:schemeClr val="tx1">
                  <a:lumMod val="50000"/>
                  <a:lumOff val="50000"/>
                </a:schemeClr>
              </a:solidFill>
              <a:latin typeface="Arial"/>
              <a:cs typeface="Arial"/>
            </a:endParaRPr>
          </a:p>
        </p:txBody>
      </p:sp>
      <p:sp>
        <p:nvSpPr>
          <p:cNvPr id="36" name="TextBox 35"/>
          <p:cNvSpPr txBox="1"/>
          <p:nvPr/>
        </p:nvSpPr>
        <p:spPr>
          <a:xfrm>
            <a:off x="605872" y="343588"/>
            <a:ext cx="10987177" cy="461665"/>
          </a:xfrm>
          <a:prstGeom prst="rect">
            <a:avLst/>
          </a:prstGeom>
          <a:noFill/>
        </p:spPr>
        <p:txBody>
          <a:bodyPr wrap="square" lIns="91440" tIns="45720" rIns="91440" bIns="45720" rtlCol="0" anchor="t">
            <a:spAutoFit/>
          </a:bodyPr>
          <a:lstStyle/>
          <a:p>
            <a:r>
              <a:rPr lang="en-CA" sz="2400" b="1">
                <a:latin typeface="Arial"/>
                <a:ea typeface="Verdana"/>
                <a:cs typeface="Tahoma"/>
              </a:rPr>
              <a:t>ESDC EA </a:t>
            </a:r>
            <a:r>
              <a:rPr lang="en-CA" sz="2400" b="1" i="1">
                <a:latin typeface="Arial"/>
                <a:ea typeface="Verdana"/>
                <a:cs typeface="Tahoma"/>
              </a:rPr>
              <a:t>Assessment</a:t>
            </a:r>
            <a:r>
              <a:rPr lang="en-CA" sz="2400" b="1">
                <a:latin typeface="Arial"/>
                <a:ea typeface="Verdana"/>
                <a:cs typeface="Tahoma"/>
              </a:rPr>
              <a:t> </a:t>
            </a:r>
            <a:endParaRPr lang="en-CA" sz="2400" b="1">
              <a:latin typeface="Arial"/>
              <a:ea typeface="Verdana" panose="020B0604030504040204" pitchFamily="34" charset="0"/>
              <a:cs typeface="Tahoma"/>
            </a:endParaRPr>
          </a:p>
        </p:txBody>
      </p:sp>
      <p:grpSp>
        <p:nvGrpSpPr>
          <p:cNvPr id="7" name="Group 6">
            <a:extLst>
              <a:ext uri="{FF2B5EF4-FFF2-40B4-BE49-F238E27FC236}">
                <a16:creationId xmlns:a16="http://schemas.microsoft.com/office/drawing/2014/main" id="{DA741447-E490-5B2A-9916-89DF9D0D9358}"/>
              </a:ext>
            </a:extLst>
          </p:cNvPr>
          <p:cNvGrpSpPr/>
          <p:nvPr/>
        </p:nvGrpSpPr>
        <p:grpSpPr>
          <a:xfrm>
            <a:off x="8290365" y="1380110"/>
            <a:ext cx="585933" cy="351038"/>
            <a:chOff x="8112080" y="1146835"/>
            <a:chExt cx="585933" cy="351038"/>
          </a:xfrm>
        </p:grpSpPr>
        <p:pic>
          <p:nvPicPr>
            <p:cNvPr id="8" name="Picture 7">
              <a:extLst>
                <a:ext uri="{FF2B5EF4-FFF2-40B4-BE49-F238E27FC236}">
                  <a16:creationId xmlns:a16="http://schemas.microsoft.com/office/drawing/2014/main" id="{3C44008A-8DFD-A9CC-9FF6-877506E2DA7D}"/>
                </a:ext>
              </a:extLst>
            </p:cNvPr>
            <p:cNvPicPr>
              <a:picLocks noChangeAspect="1"/>
            </p:cNvPicPr>
            <p:nvPr/>
          </p:nvPicPr>
          <p:blipFill>
            <a:blip r:embed="rId7"/>
            <a:stretch>
              <a:fillRect/>
            </a:stretch>
          </p:blipFill>
          <p:spPr>
            <a:xfrm>
              <a:off x="8310550" y="1146835"/>
              <a:ext cx="188992" cy="128027"/>
            </a:xfrm>
            <a:prstGeom prst="rect">
              <a:avLst/>
            </a:prstGeom>
          </p:spPr>
        </p:pic>
        <p:sp>
          <p:nvSpPr>
            <p:cNvPr id="9" name="TextBox 56">
              <a:extLst>
                <a:ext uri="{FF2B5EF4-FFF2-40B4-BE49-F238E27FC236}">
                  <a16:creationId xmlns:a16="http://schemas.microsoft.com/office/drawing/2014/main" id="{97109436-5EEA-47E0-1AF6-5CE8F1A77A61}"/>
                </a:ext>
              </a:extLst>
            </p:cNvPr>
            <p:cNvSpPr txBox="1"/>
            <p:nvPr/>
          </p:nvSpPr>
          <p:spPr>
            <a:xfrm>
              <a:off x="8112080" y="1297818"/>
              <a:ext cx="585933"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700">
                  <a:latin typeface="Arial" panose="020B0604020202020204" pitchFamily="34" charset="0"/>
                  <a:ea typeface="Verdana" panose="020B0604030504040204" pitchFamily="34" charset="0"/>
                  <a:cs typeface="Arial" panose="020B0604020202020204" pitchFamily="34" charset="0"/>
                </a:rPr>
                <a:t>High</a:t>
              </a:r>
              <a:endParaRPr lang="fr-FR" sz="1200">
                <a:latin typeface="Arial" panose="020B0604020202020204" pitchFamily="34" charset="0"/>
                <a:ea typeface="Verdana" panose="020B0604030504040204" pitchFamily="34" charset="0"/>
                <a:cs typeface="Arial" panose="020B0604020202020204" pitchFamily="34" charset="0"/>
              </a:endParaRPr>
            </a:p>
          </p:txBody>
        </p:sp>
      </p:grpSp>
      <p:grpSp>
        <p:nvGrpSpPr>
          <p:cNvPr id="12" name="Group 11">
            <a:extLst>
              <a:ext uri="{FF2B5EF4-FFF2-40B4-BE49-F238E27FC236}">
                <a16:creationId xmlns:a16="http://schemas.microsoft.com/office/drawing/2014/main" id="{CF515055-2638-CD0C-8502-5DF42CB1DFB3}"/>
              </a:ext>
            </a:extLst>
          </p:cNvPr>
          <p:cNvGrpSpPr/>
          <p:nvPr/>
        </p:nvGrpSpPr>
        <p:grpSpPr>
          <a:xfrm>
            <a:off x="176623" y="1411286"/>
            <a:ext cx="585933" cy="351038"/>
            <a:chOff x="8112080" y="1146835"/>
            <a:chExt cx="585933" cy="351038"/>
          </a:xfrm>
        </p:grpSpPr>
        <p:pic>
          <p:nvPicPr>
            <p:cNvPr id="13" name="Picture 12">
              <a:extLst>
                <a:ext uri="{FF2B5EF4-FFF2-40B4-BE49-F238E27FC236}">
                  <a16:creationId xmlns:a16="http://schemas.microsoft.com/office/drawing/2014/main" id="{CB2DE744-52F1-4C6C-3A37-B86C17861B48}"/>
                </a:ext>
              </a:extLst>
            </p:cNvPr>
            <p:cNvPicPr>
              <a:picLocks noChangeAspect="1"/>
            </p:cNvPicPr>
            <p:nvPr/>
          </p:nvPicPr>
          <p:blipFill>
            <a:blip r:embed="rId7"/>
            <a:stretch>
              <a:fillRect/>
            </a:stretch>
          </p:blipFill>
          <p:spPr>
            <a:xfrm>
              <a:off x="8310550" y="1146835"/>
              <a:ext cx="188992" cy="128027"/>
            </a:xfrm>
            <a:prstGeom prst="rect">
              <a:avLst/>
            </a:prstGeom>
          </p:spPr>
        </p:pic>
        <p:sp>
          <p:nvSpPr>
            <p:cNvPr id="14" name="TextBox 56">
              <a:extLst>
                <a:ext uri="{FF2B5EF4-FFF2-40B4-BE49-F238E27FC236}">
                  <a16:creationId xmlns:a16="http://schemas.microsoft.com/office/drawing/2014/main" id="{B1D9E7AF-46EC-C8BA-31DA-45E793834B51}"/>
                </a:ext>
              </a:extLst>
            </p:cNvPr>
            <p:cNvSpPr txBox="1"/>
            <p:nvPr/>
          </p:nvSpPr>
          <p:spPr>
            <a:xfrm>
              <a:off x="8112080" y="1297818"/>
              <a:ext cx="585933"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700">
                  <a:latin typeface="Arial" panose="020B0604020202020204" pitchFamily="34" charset="0"/>
                  <a:ea typeface="Verdana" panose="020B0604030504040204" pitchFamily="34" charset="0"/>
                  <a:cs typeface="Arial" panose="020B0604020202020204" pitchFamily="34" charset="0"/>
                </a:rPr>
                <a:t>High</a:t>
              </a:r>
              <a:endParaRPr lang="fr-FR" sz="1200">
                <a:latin typeface="Arial" panose="020B0604020202020204" pitchFamily="34" charset="0"/>
                <a:ea typeface="Verdana" panose="020B0604030504040204" pitchFamily="34" charset="0"/>
                <a:cs typeface="Arial" panose="020B0604020202020204" pitchFamily="34" charset="0"/>
              </a:endParaRPr>
            </a:p>
          </p:txBody>
        </p:sp>
      </p:grpSp>
      <p:grpSp>
        <p:nvGrpSpPr>
          <p:cNvPr id="27" name="Group 26">
            <a:extLst>
              <a:ext uri="{FF2B5EF4-FFF2-40B4-BE49-F238E27FC236}">
                <a16:creationId xmlns:a16="http://schemas.microsoft.com/office/drawing/2014/main" id="{D2FC95DC-D437-F586-DCAF-82B6E10B1155}"/>
              </a:ext>
            </a:extLst>
          </p:cNvPr>
          <p:cNvGrpSpPr/>
          <p:nvPr/>
        </p:nvGrpSpPr>
        <p:grpSpPr>
          <a:xfrm>
            <a:off x="2891451" y="1378932"/>
            <a:ext cx="333746" cy="335699"/>
            <a:chOff x="7024725" y="2426362"/>
            <a:chExt cx="333746" cy="335699"/>
          </a:xfrm>
        </p:grpSpPr>
        <p:grpSp>
          <p:nvGrpSpPr>
            <p:cNvPr id="28" name="Group 27">
              <a:extLst>
                <a:ext uri="{FF2B5EF4-FFF2-40B4-BE49-F238E27FC236}">
                  <a16:creationId xmlns:a16="http://schemas.microsoft.com/office/drawing/2014/main" id="{7E7AFFBB-38A3-F3EA-775C-E9A971BB0AA9}"/>
                </a:ext>
              </a:extLst>
            </p:cNvPr>
            <p:cNvGrpSpPr>
              <a:grpSpLocks noChangeAspect="1"/>
            </p:cNvGrpSpPr>
            <p:nvPr/>
          </p:nvGrpSpPr>
          <p:grpSpPr>
            <a:xfrm>
              <a:off x="7046585" y="2426362"/>
              <a:ext cx="262476" cy="189000"/>
              <a:chOff x="5283200" y="2616200"/>
              <a:chExt cx="540000" cy="540000"/>
            </a:xfrm>
          </p:grpSpPr>
          <p:pic>
            <p:nvPicPr>
              <p:cNvPr id="30" name="Picture 29">
                <a:extLst>
                  <a:ext uri="{FF2B5EF4-FFF2-40B4-BE49-F238E27FC236}">
                    <a16:creationId xmlns:a16="http://schemas.microsoft.com/office/drawing/2014/main" id="{C66AB4DA-991C-43AD-8669-FC60DCDA0D62}"/>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5283200" y="2616200"/>
                <a:ext cx="540000" cy="540000"/>
              </a:xfrm>
              <a:prstGeom prst="rect">
                <a:avLst/>
              </a:prstGeom>
            </p:spPr>
          </p:pic>
          <p:sp>
            <p:nvSpPr>
              <p:cNvPr id="31" name="Oval 30">
                <a:extLst>
                  <a:ext uri="{FF2B5EF4-FFF2-40B4-BE49-F238E27FC236}">
                    <a16:creationId xmlns:a16="http://schemas.microsoft.com/office/drawing/2014/main" id="{AEDD97C7-FEF4-6D57-3D75-1E1C6147D750}"/>
                  </a:ext>
                </a:extLst>
              </p:cNvPr>
              <p:cNvSpPr>
                <a:spLocks noChangeAspect="1"/>
              </p:cNvSpPr>
              <p:nvPr/>
            </p:nvSpPr>
            <p:spPr>
              <a:xfrm>
                <a:off x="5491224" y="2808476"/>
                <a:ext cx="142240" cy="144000"/>
              </a:xfrm>
              <a:prstGeom prst="ellipse">
                <a:avLst/>
              </a:prstGeom>
              <a:solidFill>
                <a:schemeClr val="tx1"/>
              </a:solidFill>
              <a:ln>
                <a:solidFill>
                  <a:schemeClr val="tx1"/>
                </a:solidFill>
              </a:ln>
              <a:effectLst>
                <a:glow rad="63500">
                  <a:schemeClr val="accent6">
                    <a:lumMod val="60000"/>
                    <a:lumOff val="40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Verdana"/>
                  <a:ea typeface="Verdana"/>
                </a:endParaRPr>
              </a:p>
            </p:txBody>
          </p:sp>
        </p:grpSp>
        <p:sp>
          <p:nvSpPr>
            <p:cNvPr id="29" name="Rectangle 28">
              <a:extLst>
                <a:ext uri="{FF2B5EF4-FFF2-40B4-BE49-F238E27FC236}">
                  <a16:creationId xmlns:a16="http://schemas.microsoft.com/office/drawing/2014/main" id="{AE542FB5-EB6D-3DD7-7E9E-1FBB97CD7C3E}"/>
                </a:ext>
              </a:extLst>
            </p:cNvPr>
            <p:cNvSpPr/>
            <p:nvPr/>
          </p:nvSpPr>
          <p:spPr>
            <a:xfrm>
              <a:off x="7024725" y="2592784"/>
              <a:ext cx="333746" cy="169277"/>
            </a:xfrm>
            <a:prstGeom prst="rect">
              <a:avLst/>
            </a:prstGeom>
          </p:spPr>
          <p:txBody>
            <a:bodyPr wrap="none">
              <a:spAutoFit/>
            </a:bodyPr>
            <a:lstStyle/>
            <a:p>
              <a:r>
                <a:rPr lang="en-US" sz="500">
                  <a:solidFill>
                    <a:prstClr val="black"/>
                  </a:solidFill>
                  <a:latin typeface="Verdana"/>
                  <a:ea typeface="Verdana"/>
                </a:rPr>
                <a:t>Core</a:t>
              </a:r>
              <a:endParaRPr lang="en-CA" sz="1200">
                <a:latin typeface="Verdana"/>
                <a:ea typeface="Verdana"/>
              </a:endParaRPr>
            </a:p>
          </p:txBody>
        </p:sp>
      </p:grpSp>
      <p:grpSp>
        <p:nvGrpSpPr>
          <p:cNvPr id="39" name="Group 38">
            <a:extLst>
              <a:ext uri="{FF2B5EF4-FFF2-40B4-BE49-F238E27FC236}">
                <a16:creationId xmlns:a16="http://schemas.microsoft.com/office/drawing/2014/main" id="{2A3ACBDE-105C-4BB5-C407-97CC845C252E}"/>
              </a:ext>
            </a:extLst>
          </p:cNvPr>
          <p:cNvGrpSpPr/>
          <p:nvPr/>
        </p:nvGrpSpPr>
        <p:grpSpPr>
          <a:xfrm>
            <a:off x="4639984" y="1370016"/>
            <a:ext cx="439544" cy="312956"/>
            <a:chOff x="4397391" y="3098660"/>
            <a:chExt cx="439544" cy="312956"/>
          </a:xfrm>
        </p:grpSpPr>
        <p:sp>
          <p:nvSpPr>
            <p:cNvPr id="40" name="Up Arrow 40">
              <a:extLst>
                <a:ext uri="{FF2B5EF4-FFF2-40B4-BE49-F238E27FC236}">
                  <a16:creationId xmlns:a16="http://schemas.microsoft.com/office/drawing/2014/main" id="{9F9E6E0B-7771-77B2-CB9F-7EC3B72A2B4C}"/>
                </a:ext>
              </a:extLst>
            </p:cNvPr>
            <p:cNvSpPr>
              <a:spLocks noChangeAspect="1"/>
            </p:cNvSpPr>
            <p:nvPr/>
          </p:nvSpPr>
          <p:spPr>
            <a:xfrm>
              <a:off x="4550664" y="3098660"/>
              <a:ext cx="139987" cy="189000"/>
            </a:xfrm>
            <a:prstGeom prst="upArrow">
              <a:avLst>
                <a:gd name="adj1" fmla="val 50000"/>
                <a:gd name="adj2" fmla="val 6628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Verdana"/>
                <a:ea typeface="Verdana"/>
              </a:endParaRPr>
            </a:p>
          </p:txBody>
        </p:sp>
        <p:sp>
          <p:nvSpPr>
            <p:cNvPr id="41" name="Rectangle 40">
              <a:extLst>
                <a:ext uri="{FF2B5EF4-FFF2-40B4-BE49-F238E27FC236}">
                  <a16:creationId xmlns:a16="http://schemas.microsoft.com/office/drawing/2014/main" id="{F27C725D-6D55-C897-596D-52978DD7BDC3}"/>
                </a:ext>
              </a:extLst>
            </p:cNvPr>
            <p:cNvSpPr/>
            <p:nvPr/>
          </p:nvSpPr>
          <p:spPr>
            <a:xfrm>
              <a:off x="4397391" y="3242339"/>
              <a:ext cx="439544" cy="169277"/>
            </a:xfrm>
            <a:prstGeom prst="rect">
              <a:avLst/>
            </a:prstGeom>
          </p:spPr>
          <p:txBody>
            <a:bodyPr wrap="none">
              <a:spAutoFit/>
            </a:bodyPr>
            <a:lstStyle/>
            <a:p>
              <a:pPr algn="ctr"/>
              <a:r>
                <a:rPr lang="en-US" sz="500">
                  <a:latin typeface="Verdana"/>
                  <a:ea typeface="Verdana"/>
                </a:rPr>
                <a:t>Proceed</a:t>
              </a:r>
              <a:endParaRPr lang="en-CA" sz="1200">
                <a:latin typeface="Verdana"/>
                <a:ea typeface="Verdana"/>
              </a:endParaRPr>
            </a:p>
          </p:txBody>
        </p:sp>
      </p:grpSp>
      <p:grpSp>
        <p:nvGrpSpPr>
          <p:cNvPr id="42" name="Group 41">
            <a:extLst>
              <a:ext uri="{FF2B5EF4-FFF2-40B4-BE49-F238E27FC236}">
                <a16:creationId xmlns:a16="http://schemas.microsoft.com/office/drawing/2014/main" id="{3FBB2DD3-F4BF-D477-EFCF-5B9A4B57DCB5}"/>
              </a:ext>
            </a:extLst>
          </p:cNvPr>
          <p:cNvGrpSpPr/>
          <p:nvPr/>
        </p:nvGrpSpPr>
        <p:grpSpPr>
          <a:xfrm>
            <a:off x="6541550" y="1347273"/>
            <a:ext cx="514885" cy="328597"/>
            <a:chOff x="6589713" y="3843597"/>
            <a:chExt cx="514885" cy="328597"/>
          </a:xfrm>
        </p:grpSpPr>
        <p:pic>
          <p:nvPicPr>
            <p:cNvPr id="43" name="Picture 42">
              <a:extLst>
                <a:ext uri="{FF2B5EF4-FFF2-40B4-BE49-F238E27FC236}">
                  <a16:creationId xmlns:a16="http://schemas.microsoft.com/office/drawing/2014/main" id="{106ED70A-F217-BCC7-0858-04D9135F7ECF}"/>
                </a:ext>
              </a:extLst>
            </p:cNvPr>
            <p:cNvPicPr>
              <a:picLocks noChangeAspect="1"/>
            </p:cNvPicPr>
            <p:nvPr/>
          </p:nvPicPr>
          <p:blipFill>
            <a:blip r:embed="rId9"/>
            <a:stretch>
              <a:fillRect/>
            </a:stretch>
          </p:blipFill>
          <p:spPr>
            <a:xfrm>
              <a:off x="6744414" y="3843597"/>
              <a:ext cx="189000" cy="189000"/>
            </a:xfrm>
            <a:prstGeom prst="rect">
              <a:avLst/>
            </a:prstGeom>
          </p:spPr>
        </p:pic>
        <p:sp>
          <p:nvSpPr>
            <p:cNvPr id="44" name="Rectangle 43">
              <a:extLst>
                <a:ext uri="{FF2B5EF4-FFF2-40B4-BE49-F238E27FC236}">
                  <a16:creationId xmlns:a16="http://schemas.microsoft.com/office/drawing/2014/main" id="{EB648330-D468-A3A8-F726-34508CCFD872}"/>
                </a:ext>
              </a:extLst>
            </p:cNvPr>
            <p:cNvSpPr/>
            <p:nvPr/>
          </p:nvSpPr>
          <p:spPr>
            <a:xfrm>
              <a:off x="6589713" y="4002917"/>
              <a:ext cx="514885" cy="169277"/>
            </a:xfrm>
            <a:prstGeom prst="rect">
              <a:avLst/>
            </a:prstGeom>
          </p:spPr>
          <p:txBody>
            <a:bodyPr wrap="none">
              <a:spAutoFit/>
            </a:bodyPr>
            <a:lstStyle/>
            <a:p>
              <a:pPr algn="ctr"/>
              <a:r>
                <a:rPr lang="en-US" sz="500">
                  <a:solidFill>
                    <a:prstClr val="black"/>
                  </a:solidFill>
                  <a:latin typeface="Verdana"/>
                  <a:ea typeface="Verdana"/>
                </a:rPr>
                <a:t>Transform</a:t>
              </a:r>
              <a:endParaRPr lang="en-CA" sz="1200">
                <a:latin typeface="Verdana"/>
                <a:ea typeface="Verdana"/>
              </a:endParaRPr>
            </a:p>
          </p:txBody>
        </p:sp>
      </p:grpSp>
      <p:grpSp>
        <p:nvGrpSpPr>
          <p:cNvPr id="48" name="Group 47">
            <a:extLst>
              <a:ext uri="{FF2B5EF4-FFF2-40B4-BE49-F238E27FC236}">
                <a16:creationId xmlns:a16="http://schemas.microsoft.com/office/drawing/2014/main" id="{94B1F0A0-785C-129E-1A64-972FB41480D0}"/>
              </a:ext>
            </a:extLst>
          </p:cNvPr>
          <p:cNvGrpSpPr/>
          <p:nvPr/>
        </p:nvGrpSpPr>
        <p:grpSpPr>
          <a:xfrm>
            <a:off x="7262200" y="1357954"/>
            <a:ext cx="800219" cy="416871"/>
            <a:chOff x="7220339" y="5747215"/>
            <a:chExt cx="671665" cy="416871"/>
          </a:xfrm>
        </p:grpSpPr>
        <p:grpSp>
          <p:nvGrpSpPr>
            <p:cNvPr id="49" name="Group 48">
              <a:extLst>
                <a:ext uri="{FF2B5EF4-FFF2-40B4-BE49-F238E27FC236}">
                  <a16:creationId xmlns:a16="http://schemas.microsoft.com/office/drawing/2014/main" id="{E91601AA-9298-843A-F9B1-2A2A07DA31B7}"/>
                </a:ext>
              </a:extLst>
            </p:cNvPr>
            <p:cNvGrpSpPr/>
            <p:nvPr/>
          </p:nvGrpSpPr>
          <p:grpSpPr>
            <a:xfrm>
              <a:off x="7337261" y="5747215"/>
              <a:ext cx="495256" cy="184666"/>
              <a:chOff x="5476526" y="4213683"/>
              <a:chExt cx="495256" cy="184666"/>
            </a:xfrm>
          </p:grpSpPr>
          <p:sp>
            <p:nvSpPr>
              <p:cNvPr id="51" name="Right Arrow 147">
                <a:extLst>
                  <a:ext uri="{FF2B5EF4-FFF2-40B4-BE49-F238E27FC236}">
                    <a16:creationId xmlns:a16="http://schemas.microsoft.com/office/drawing/2014/main" id="{97C5E0A5-DF3C-03B7-BD66-4A9DEA7B735F}"/>
                  </a:ext>
                </a:extLst>
              </p:cNvPr>
              <p:cNvSpPr/>
              <p:nvPr/>
            </p:nvSpPr>
            <p:spPr>
              <a:xfrm rot="10800000">
                <a:off x="5847395" y="4242037"/>
                <a:ext cx="124387" cy="133004"/>
              </a:xfrm>
              <a:prstGeom prst="rightArrow">
                <a:avLst/>
              </a:prstGeom>
              <a:solidFill>
                <a:srgbClr val="984807"/>
              </a:solidFill>
              <a:ln>
                <a:solidFill>
                  <a:srgbClr val="984807"/>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CA" sz="1400">
                  <a:solidFill>
                    <a:schemeClr val="tx1"/>
                  </a:solidFill>
                  <a:latin typeface="Verdana"/>
                  <a:ea typeface="Verdana"/>
                </a:endParaRPr>
              </a:p>
            </p:txBody>
          </p:sp>
          <p:sp>
            <p:nvSpPr>
              <p:cNvPr id="52" name="Right Arrow 148">
                <a:extLst>
                  <a:ext uri="{FF2B5EF4-FFF2-40B4-BE49-F238E27FC236}">
                    <a16:creationId xmlns:a16="http://schemas.microsoft.com/office/drawing/2014/main" id="{064B160E-C3D4-004F-40EE-1BF7C3C1D4E0}"/>
                  </a:ext>
                </a:extLst>
              </p:cNvPr>
              <p:cNvSpPr/>
              <p:nvPr/>
            </p:nvSpPr>
            <p:spPr>
              <a:xfrm>
                <a:off x="5476526" y="4241182"/>
                <a:ext cx="124387" cy="133004"/>
              </a:xfrm>
              <a:prstGeom prst="rightArrow">
                <a:avLst/>
              </a:prstGeom>
              <a:solidFill>
                <a:srgbClr val="984807"/>
              </a:solidFill>
              <a:ln>
                <a:solidFill>
                  <a:srgbClr val="984807"/>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CA" sz="1400">
                  <a:solidFill>
                    <a:schemeClr val="tx1"/>
                  </a:solidFill>
                  <a:latin typeface="Verdana"/>
                  <a:ea typeface="Verdana"/>
                </a:endParaRPr>
              </a:p>
            </p:txBody>
          </p:sp>
          <p:sp>
            <p:nvSpPr>
              <p:cNvPr id="53" name="TextBox 149">
                <a:extLst>
                  <a:ext uri="{FF2B5EF4-FFF2-40B4-BE49-F238E27FC236}">
                    <a16:creationId xmlns:a16="http://schemas.microsoft.com/office/drawing/2014/main" id="{8A4AF3F7-3314-DB10-AF7F-9834287810A4}"/>
                  </a:ext>
                </a:extLst>
              </p:cNvPr>
              <p:cNvSpPr txBox="1"/>
              <p:nvPr/>
            </p:nvSpPr>
            <p:spPr>
              <a:xfrm>
                <a:off x="5558514" y="4213683"/>
                <a:ext cx="343197"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sz="600">
                    <a:latin typeface="Verdana"/>
                    <a:ea typeface="Verdana"/>
                  </a:rPr>
                  <a:t>ESDC</a:t>
                </a:r>
              </a:p>
            </p:txBody>
          </p:sp>
        </p:grpSp>
        <p:sp>
          <p:nvSpPr>
            <p:cNvPr id="50" name="Rectangle 49">
              <a:extLst>
                <a:ext uri="{FF2B5EF4-FFF2-40B4-BE49-F238E27FC236}">
                  <a16:creationId xmlns:a16="http://schemas.microsoft.com/office/drawing/2014/main" id="{DCF519CC-8A82-14B2-F8C0-F327F11AEC7B}"/>
                </a:ext>
              </a:extLst>
            </p:cNvPr>
            <p:cNvSpPr/>
            <p:nvPr/>
          </p:nvSpPr>
          <p:spPr>
            <a:xfrm>
              <a:off x="7220339" y="5964031"/>
              <a:ext cx="671665" cy="200055"/>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a:latin typeface="Arial" panose="020B0604020202020204" pitchFamily="34" charset="0"/>
                  <a:ea typeface="Verdana"/>
                  <a:cs typeface="Arial" panose="020B0604020202020204" pitchFamily="34" charset="0"/>
                </a:rPr>
                <a:t>   Departmental</a:t>
              </a:r>
              <a:endParaRPr lang="en-CA" sz="1200">
                <a:latin typeface="Arial" panose="020B0604020202020204" pitchFamily="34" charset="0"/>
                <a:ea typeface="Verdana"/>
                <a:cs typeface="Arial" panose="020B0604020202020204" pitchFamily="34" charset="0"/>
              </a:endParaRPr>
            </a:p>
          </p:txBody>
        </p:sp>
      </p:grpSp>
      <p:grpSp>
        <p:nvGrpSpPr>
          <p:cNvPr id="46" name="Group 45">
            <a:extLst>
              <a:ext uri="{FF2B5EF4-FFF2-40B4-BE49-F238E27FC236}">
                <a16:creationId xmlns:a16="http://schemas.microsoft.com/office/drawing/2014/main" id="{E286D60E-0166-E9D2-88A1-981293E55819}"/>
              </a:ext>
            </a:extLst>
          </p:cNvPr>
          <p:cNvGrpSpPr/>
          <p:nvPr/>
        </p:nvGrpSpPr>
        <p:grpSpPr>
          <a:xfrm>
            <a:off x="9314165" y="1391166"/>
            <a:ext cx="333746" cy="335699"/>
            <a:chOff x="7024725" y="2426362"/>
            <a:chExt cx="333746" cy="335699"/>
          </a:xfrm>
        </p:grpSpPr>
        <p:grpSp>
          <p:nvGrpSpPr>
            <p:cNvPr id="47" name="Group 46">
              <a:extLst>
                <a:ext uri="{FF2B5EF4-FFF2-40B4-BE49-F238E27FC236}">
                  <a16:creationId xmlns:a16="http://schemas.microsoft.com/office/drawing/2014/main" id="{90070EFD-B130-53B4-5044-72EA3BAD5E6F}"/>
                </a:ext>
              </a:extLst>
            </p:cNvPr>
            <p:cNvGrpSpPr>
              <a:grpSpLocks noChangeAspect="1"/>
            </p:cNvGrpSpPr>
            <p:nvPr/>
          </p:nvGrpSpPr>
          <p:grpSpPr>
            <a:xfrm>
              <a:off x="7046585" y="2426362"/>
              <a:ext cx="262476" cy="189000"/>
              <a:chOff x="5283200" y="2616200"/>
              <a:chExt cx="540000" cy="540000"/>
            </a:xfrm>
          </p:grpSpPr>
          <p:pic>
            <p:nvPicPr>
              <p:cNvPr id="64" name="Picture 63">
                <a:extLst>
                  <a:ext uri="{FF2B5EF4-FFF2-40B4-BE49-F238E27FC236}">
                    <a16:creationId xmlns:a16="http://schemas.microsoft.com/office/drawing/2014/main" id="{6BFAE300-3D85-B068-0E48-C0A4C26DA57E}"/>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5283200" y="2616200"/>
                <a:ext cx="540000" cy="540000"/>
              </a:xfrm>
              <a:prstGeom prst="rect">
                <a:avLst/>
              </a:prstGeom>
            </p:spPr>
          </p:pic>
          <p:sp>
            <p:nvSpPr>
              <p:cNvPr id="65" name="Oval 64">
                <a:extLst>
                  <a:ext uri="{FF2B5EF4-FFF2-40B4-BE49-F238E27FC236}">
                    <a16:creationId xmlns:a16="http://schemas.microsoft.com/office/drawing/2014/main" id="{DAEA1167-A7AE-42FE-7689-D38974E9736A}"/>
                  </a:ext>
                </a:extLst>
              </p:cNvPr>
              <p:cNvSpPr>
                <a:spLocks noChangeAspect="1"/>
              </p:cNvSpPr>
              <p:nvPr/>
            </p:nvSpPr>
            <p:spPr>
              <a:xfrm>
                <a:off x="5491224" y="2808476"/>
                <a:ext cx="142240" cy="144000"/>
              </a:xfrm>
              <a:prstGeom prst="ellipse">
                <a:avLst/>
              </a:prstGeom>
              <a:solidFill>
                <a:schemeClr val="tx1"/>
              </a:solidFill>
              <a:ln>
                <a:solidFill>
                  <a:schemeClr val="tx1"/>
                </a:solidFill>
              </a:ln>
              <a:effectLst>
                <a:glow rad="63500">
                  <a:schemeClr val="accent6">
                    <a:lumMod val="60000"/>
                    <a:lumOff val="40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Verdana"/>
                  <a:ea typeface="Verdana"/>
                </a:endParaRPr>
              </a:p>
            </p:txBody>
          </p:sp>
        </p:grpSp>
        <p:sp>
          <p:nvSpPr>
            <p:cNvPr id="63" name="Rectangle 62">
              <a:extLst>
                <a:ext uri="{FF2B5EF4-FFF2-40B4-BE49-F238E27FC236}">
                  <a16:creationId xmlns:a16="http://schemas.microsoft.com/office/drawing/2014/main" id="{5CD8BD32-5A15-7DFB-836B-CFC2600B7FAE}"/>
                </a:ext>
              </a:extLst>
            </p:cNvPr>
            <p:cNvSpPr/>
            <p:nvPr/>
          </p:nvSpPr>
          <p:spPr>
            <a:xfrm>
              <a:off x="7024725" y="2592784"/>
              <a:ext cx="333746" cy="169277"/>
            </a:xfrm>
            <a:prstGeom prst="rect">
              <a:avLst/>
            </a:prstGeom>
          </p:spPr>
          <p:txBody>
            <a:bodyPr wrap="none">
              <a:spAutoFit/>
            </a:bodyPr>
            <a:lstStyle/>
            <a:p>
              <a:r>
                <a:rPr lang="en-US" sz="500">
                  <a:solidFill>
                    <a:prstClr val="black"/>
                  </a:solidFill>
                  <a:latin typeface="Verdana"/>
                  <a:ea typeface="Verdana"/>
                </a:rPr>
                <a:t>Core</a:t>
              </a:r>
              <a:endParaRPr lang="en-CA" sz="1200">
                <a:latin typeface="Verdana"/>
                <a:ea typeface="Verdana"/>
              </a:endParaRPr>
            </a:p>
          </p:txBody>
        </p:sp>
      </p:grpSp>
      <p:grpSp>
        <p:nvGrpSpPr>
          <p:cNvPr id="91" name="Group 90">
            <a:extLst>
              <a:ext uri="{FF2B5EF4-FFF2-40B4-BE49-F238E27FC236}">
                <a16:creationId xmlns:a16="http://schemas.microsoft.com/office/drawing/2014/main" id="{3F690512-2090-DE0C-78ED-F768AF3EDF55}"/>
              </a:ext>
            </a:extLst>
          </p:cNvPr>
          <p:cNvGrpSpPr/>
          <p:nvPr/>
        </p:nvGrpSpPr>
        <p:grpSpPr>
          <a:xfrm>
            <a:off x="3607164" y="1414624"/>
            <a:ext cx="575799" cy="333404"/>
            <a:chOff x="4345910" y="2723985"/>
            <a:chExt cx="575799" cy="333404"/>
          </a:xfrm>
        </p:grpSpPr>
        <p:pic>
          <p:nvPicPr>
            <p:cNvPr id="92" name="Picture 91">
              <a:extLst>
                <a:ext uri="{FF2B5EF4-FFF2-40B4-BE49-F238E27FC236}">
                  <a16:creationId xmlns:a16="http://schemas.microsoft.com/office/drawing/2014/main" id="{4B30F2D0-60DF-8785-B107-F35C672CC6BA}"/>
                </a:ext>
              </a:extLst>
            </p:cNvPr>
            <p:cNvPicPr>
              <a:picLocks noChangeAspect="1"/>
            </p:cNvPicPr>
            <p:nvPr/>
          </p:nvPicPr>
          <p:blipFill rotWithShape="1">
            <a:blip r:embed="rId10">
              <a:clrChange>
                <a:clrFrom>
                  <a:srgbClr val="000000">
                    <a:alpha val="0"/>
                  </a:srgbClr>
                </a:clrFrom>
                <a:clrTo>
                  <a:srgbClr val="000000">
                    <a:alpha val="0"/>
                  </a:srgbClr>
                </a:clrTo>
              </a:clrChange>
            </a:blip>
            <a:srcRect l="15653" t="30993" r="18591" b="28114"/>
            <a:stretch/>
          </p:blipFill>
          <p:spPr>
            <a:xfrm>
              <a:off x="4463239" y="2723985"/>
              <a:ext cx="305099" cy="189000"/>
            </a:xfrm>
            <a:prstGeom prst="rect">
              <a:avLst/>
            </a:prstGeom>
          </p:spPr>
        </p:pic>
        <p:sp>
          <p:nvSpPr>
            <p:cNvPr id="93" name="Rectangle 92">
              <a:extLst>
                <a:ext uri="{FF2B5EF4-FFF2-40B4-BE49-F238E27FC236}">
                  <a16:creationId xmlns:a16="http://schemas.microsoft.com/office/drawing/2014/main" id="{453B7801-52CE-2378-08E6-583AF0E0ED3B}"/>
                </a:ext>
              </a:extLst>
            </p:cNvPr>
            <p:cNvSpPr/>
            <p:nvPr/>
          </p:nvSpPr>
          <p:spPr>
            <a:xfrm>
              <a:off x="4345910" y="2888112"/>
              <a:ext cx="575799" cy="169277"/>
            </a:xfrm>
            <a:prstGeom prst="rect">
              <a:avLst/>
            </a:prstGeom>
          </p:spPr>
          <p:txBody>
            <a:bodyPr wrap="none">
              <a:spAutoFit/>
            </a:bodyPr>
            <a:lstStyle/>
            <a:p>
              <a:pPr algn="ctr"/>
              <a:r>
                <a:rPr lang="en-US" sz="500">
                  <a:solidFill>
                    <a:prstClr val="black"/>
                  </a:solidFill>
                  <a:latin typeface="Verdana"/>
                  <a:ea typeface="Verdana"/>
                </a:rPr>
                <a:t>Public Cloud</a:t>
              </a:r>
              <a:endParaRPr lang="en-CA" sz="1200">
                <a:latin typeface="Verdana"/>
                <a:ea typeface="Verdana"/>
              </a:endParaRPr>
            </a:p>
          </p:txBody>
        </p:sp>
      </p:grpSp>
      <p:sp>
        <p:nvSpPr>
          <p:cNvPr id="106" name="Isosceles Triangle 105" descr="Fully Aligned Green Triangle Indicator">
            <a:extLst>
              <a:ext uri="{FF2B5EF4-FFF2-40B4-BE49-F238E27FC236}">
                <a16:creationId xmlns:a16="http://schemas.microsoft.com/office/drawing/2014/main" id="{379AA450-2FEB-F6F9-9519-0D81418ED175}"/>
              </a:ext>
            </a:extLst>
          </p:cNvPr>
          <p:cNvSpPr/>
          <p:nvPr/>
        </p:nvSpPr>
        <p:spPr>
          <a:xfrm>
            <a:off x="9427461" y="4778646"/>
            <a:ext cx="128016" cy="116158"/>
          </a:xfrm>
          <a:prstGeom prst="triangle">
            <a:avLst/>
          </a:prstGeom>
          <a:solidFill>
            <a:srgbClr val="218B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7" name="Isosceles Triangle 106" descr="Fully Aligned Green Triangle Indicator">
            <a:extLst>
              <a:ext uri="{FF2B5EF4-FFF2-40B4-BE49-F238E27FC236}">
                <a16:creationId xmlns:a16="http://schemas.microsoft.com/office/drawing/2014/main" id="{3739F0D8-B823-E5B3-DB72-3E29063ECE61}"/>
              </a:ext>
            </a:extLst>
          </p:cNvPr>
          <p:cNvSpPr/>
          <p:nvPr/>
        </p:nvSpPr>
        <p:spPr>
          <a:xfrm>
            <a:off x="9439191" y="3789420"/>
            <a:ext cx="128016" cy="116158"/>
          </a:xfrm>
          <a:prstGeom prst="triangle">
            <a:avLst/>
          </a:prstGeom>
          <a:solidFill>
            <a:srgbClr val="218B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85">
            <a:extLst>
              <a:ext uri="{FF2B5EF4-FFF2-40B4-BE49-F238E27FC236}">
                <a16:creationId xmlns:a16="http://schemas.microsoft.com/office/drawing/2014/main" id="{F4CA03AC-676A-91F4-EA14-363D33536F52}"/>
              </a:ext>
            </a:extLst>
          </p:cNvPr>
          <p:cNvSpPr/>
          <p:nvPr/>
        </p:nvSpPr>
        <p:spPr>
          <a:xfrm>
            <a:off x="9447570" y="3294553"/>
            <a:ext cx="112127" cy="105713"/>
          </a:xfrm>
          <a:prstGeom prst="ellipse">
            <a:avLst/>
          </a:prstGeom>
          <a:solidFill>
            <a:srgbClr val="FFFF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85">
            <a:extLst>
              <a:ext uri="{FF2B5EF4-FFF2-40B4-BE49-F238E27FC236}">
                <a16:creationId xmlns:a16="http://schemas.microsoft.com/office/drawing/2014/main" id="{11AC48D1-7952-A7E2-1407-87529AB20ECE}"/>
              </a:ext>
            </a:extLst>
          </p:cNvPr>
          <p:cNvSpPr/>
          <p:nvPr/>
        </p:nvSpPr>
        <p:spPr>
          <a:xfrm>
            <a:off x="9437805" y="4178066"/>
            <a:ext cx="112127" cy="105713"/>
          </a:xfrm>
          <a:prstGeom prst="ellipse">
            <a:avLst/>
          </a:prstGeom>
          <a:solidFill>
            <a:srgbClr val="FFFF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0" name="Image 19" descr="Une image contenant cercle, Graphique&#10;&#10;Le contenu généré par l’IA peut être incorrect.">
            <a:extLst>
              <a:ext uri="{FF2B5EF4-FFF2-40B4-BE49-F238E27FC236}">
                <a16:creationId xmlns:a16="http://schemas.microsoft.com/office/drawing/2014/main" id="{5C9F8FB0-D4B2-44B3-C580-5367B0D8DD3E}"/>
              </a:ext>
            </a:extLst>
          </p:cNvPr>
          <p:cNvPicPr>
            <a:picLocks noChangeAspect="1"/>
          </p:cNvPicPr>
          <p:nvPr/>
        </p:nvPicPr>
        <p:blipFill>
          <a:blip r:embed="rId11"/>
          <a:stretch>
            <a:fillRect/>
          </a:stretch>
        </p:blipFill>
        <p:spPr>
          <a:xfrm>
            <a:off x="1067204" y="1378994"/>
            <a:ext cx="485775" cy="571500"/>
          </a:xfrm>
          <a:prstGeom prst="rect">
            <a:avLst/>
          </a:prstGeom>
        </p:spPr>
      </p:pic>
      <p:sp>
        <p:nvSpPr>
          <p:cNvPr id="54" name="ZoneTexte 53">
            <a:extLst>
              <a:ext uri="{FF2B5EF4-FFF2-40B4-BE49-F238E27FC236}">
                <a16:creationId xmlns:a16="http://schemas.microsoft.com/office/drawing/2014/main" id="{D96F285D-D5C8-A4E5-3044-B1D8008142C6}"/>
              </a:ext>
            </a:extLst>
          </p:cNvPr>
          <p:cNvSpPr txBox="1"/>
          <p:nvPr/>
        </p:nvSpPr>
        <p:spPr>
          <a:xfrm>
            <a:off x="4325267" y="1636326"/>
            <a:ext cx="11403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600"/>
              <a:t>To return in 6 months for update on AI enablement tool.</a:t>
            </a:r>
            <a:r>
              <a:rPr lang="fr-FR" sz="600">
                <a:ea typeface="Calibri"/>
                <a:cs typeface="Calibri"/>
              </a:rPr>
              <a:t>​</a:t>
            </a:r>
          </a:p>
        </p:txBody>
      </p:sp>
      <p:sp>
        <p:nvSpPr>
          <p:cNvPr id="33" name="Isosceles Triangle 106" descr="Fully Aligned Green Triangle Indicator">
            <a:extLst>
              <a:ext uri="{FF2B5EF4-FFF2-40B4-BE49-F238E27FC236}">
                <a16:creationId xmlns:a16="http://schemas.microsoft.com/office/drawing/2014/main" id="{FDE66CA0-1E40-F377-3E18-303AB8912794}"/>
              </a:ext>
            </a:extLst>
          </p:cNvPr>
          <p:cNvSpPr/>
          <p:nvPr/>
        </p:nvSpPr>
        <p:spPr>
          <a:xfrm>
            <a:off x="9452700" y="2760667"/>
            <a:ext cx="128016" cy="116158"/>
          </a:xfrm>
          <a:prstGeom prst="triangle">
            <a:avLst/>
          </a:prstGeom>
          <a:solidFill>
            <a:srgbClr val="218B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20E630C3-DE6E-2660-ADFF-D6CF8E097DBA}"/>
              </a:ext>
            </a:extLst>
          </p:cNvPr>
          <p:cNvPicPr>
            <a:picLocks noChangeAspect="1"/>
          </p:cNvPicPr>
          <p:nvPr/>
        </p:nvPicPr>
        <p:blipFill>
          <a:blip r:embed="rId12"/>
          <a:stretch>
            <a:fillRect/>
          </a:stretch>
        </p:blipFill>
        <p:spPr>
          <a:xfrm>
            <a:off x="1819726" y="1390379"/>
            <a:ext cx="798189" cy="371945"/>
          </a:xfrm>
          <a:prstGeom prst="rect">
            <a:avLst/>
          </a:prstGeom>
        </p:spPr>
      </p:pic>
      <p:sp>
        <p:nvSpPr>
          <p:cNvPr id="2" name="Slide Number Placeholder 3">
            <a:extLst>
              <a:ext uri="{FF2B5EF4-FFF2-40B4-BE49-F238E27FC236}">
                <a16:creationId xmlns:a16="http://schemas.microsoft.com/office/drawing/2014/main" id="{511DF81A-8C72-D31D-92AA-A70278481D62}"/>
              </a:ext>
            </a:extLst>
          </p:cNvPr>
          <p:cNvSpPr txBox="1">
            <a:spLocks/>
          </p:cNvSpPr>
          <p:nvPr/>
        </p:nvSpPr>
        <p:spPr>
          <a:xfrm>
            <a:off x="11580604" y="6394476"/>
            <a:ext cx="287418" cy="385803"/>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BCE2B6B-7FFE-FA46-BED3-31567387080B}" type="slidenum">
              <a:rPr lang="en-US" sz="800" smtClean="0"/>
              <a:pPr/>
              <a:t>16</a:t>
            </a:fld>
            <a:endParaRPr lang="en-US" sz="800"/>
          </a:p>
        </p:txBody>
      </p:sp>
      <p:pic>
        <p:nvPicPr>
          <p:cNvPr id="3" name="Picture 2">
            <a:extLst>
              <a:ext uri="{FF2B5EF4-FFF2-40B4-BE49-F238E27FC236}">
                <a16:creationId xmlns:a16="http://schemas.microsoft.com/office/drawing/2014/main" id="{2F07240F-5300-5D69-C9AE-1A7FCD026F3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50823" y="5984796"/>
            <a:ext cx="192256" cy="162000"/>
          </a:xfrm>
          <a:prstGeom prst="rect">
            <a:avLst/>
          </a:prstGeom>
        </p:spPr>
      </p:pic>
      <p:pic>
        <p:nvPicPr>
          <p:cNvPr id="4" name="Picture 3">
            <a:extLst>
              <a:ext uri="{FF2B5EF4-FFF2-40B4-BE49-F238E27FC236}">
                <a16:creationId xmlns:a16="http://schemas.microsoft.com/office/drawing/2014/main" id="{E8968F18-3A98-1EC8-7185-BE0B1F92136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366553" y="5984796"/>
            <a:ext cx="192256" cy="162000"/>
          </a:xfrm>
          <a:prstGeom prst="rect">
            <a:avLst/>
          </a:prstGeom>
        </p:spPr>
      </p:pic>
    </p:spTree>
    <p:extLst>
      <p:ext uri="{BB962C8B-B14F-4D97-AF65-F5344CB8AC3E}">
        <p14:creationId xmlns:p14="http://schemas.microsoft.com/office/powerpoint/2010/main" val="543311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588279" y="805253"/>
            <a:ext cx="11373124" cy="5001800"/>
          </a:xfrm>
          <a:prstGeom prst="rect">
            <a:avLst/>
          </a:prstGeom>
          <a:noFill/>
          <a:ln w="19050">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lIns="91440" tIns="45720" rIns="91440" bIns="45720" rtlCol="0" anchor="t"/>
          <a:lstStyle/>
          <a:p>
            <a:pPr algn="just"/>
            <a:endParaRPr lang="en-US" sz="2000">
              <a:solidFill>
                <a:schemeClr val="tx1"/>
              </a:solidFill>
              <a:ea typeface="Verdana" panose="020B0604030504040204" pitchFamily="34" charset="0"/>
              <a:cs typeface="Verdana" panose="020B0604030504040204" pitchFamily="34" charset="0"/>
            </a:endParaRPr>
          </a:p>
          <a:p>
            <a:pPr algn="just"/>
            <a:endParaRPr lang="en-US" sz="2000">
              <a:solidFill>
                <a:schemeClr val="tx1"/>
              </a:solidFill>
              <a:ea typeface="Verdana" panose="020B0604030504040204" pitchFamily="34" charset="0"/>
              <a:cs typeface="Verdana" panose="020B0604030504040204" pitchFamily="34" charset="0"/>
            </a:endParaRPr>
          </a:p>
          <a:p>
            <a:r>
              <a:rPr lang="en-US" sz="2000" dirty="0">
                <a:solidFill>
                  <a:schemeClr val="tx1"/>
                </a:solidFill>
                <a:latin typeface="Arial"/>
                <a:ea typeface="Verdana"/>
                <a:cs typeface="Arial"/>
              </a:rPr>
              <a:t>Seeking endorsement of an architectural direction to leverage existing enterprise technologies -  Microsoft SharePoint Online, Power Automate, and ESDC approved AI services - for the implementation of the BDM Knowledge Management solution.</a:t>
            </a:r>
          </a:p>
          <a:p>
            <a:endParaRPr lang="en-US" sz="2000">
              <a:solidFill>
                <a:schemeClr val="tx1"/>
              </a:solidFill>
              <a:latin typeface="Arial"/>
              <a:ea typeface="Verdana"/>
              <a:cs typeface="Arial"/>
            </a:endParaRPr>
          </a:p>
          <a:p>
            <a:r>
              <a:rPr lang="en-US" sz="2000" dirty="0">
                <a:solidFill>
                  <a:schemeClr val="tx1"/>
                </a:solidFill>
                <a:latin typeface="Arial"/>
                <a:ea typeface="Verdana"/>
                <a:cs typeface="Arial"/>
              </a:rPr>
              <a:t>The project is committed to providing an update on the choice of AI service prior to implementation.</a:t>
            </a:r>
          </a:p>
          <a:p>
            <a:endParaRPr lang="en-US" sz="2000">
              <a:solidFill>
                <a:schemeClr val="tx1"/>
              </a:solidFill>
              <a:latin typeface="Arial"/>
              <a:ea typeface="Verdana"/>
              <a:cs typeface="Arial"/>
            </a:endParaRPr>
          </a:p>
          <a:p>
            <a:r>
              <a:rPr lang="en-CA" sz="2000">
                <a:solidFill>
                  <a:schemeClr val="tx1"/>
                </a:solidFill>
                <a:latin typeface="Arial"/>
                <a:ea typeface="Verdana"/>
                <a:cs typeface="Arial"/>
              </a:rPr>
              <a:t>It is recommended that this knowledge management solution be positioned as a flexible repository that can be leveraged by future projects to integrate their KM solutions, where applicable.</a:t>
            </a:r>
            <a:endParaRPr lang="en-CA">
              <a:solidFill>
                <a:schemeClr val="tx1"/>
              </a:solidFill>
            </a:endParaRPr>
          </a:p>
          <a:p>
            <a:pPr marL="342900" indent="-342900" algn="just">
              <a:buFont typeface="Arial" panose="020B0604020202020204" pitchFamily="34" charset="0"/>
              <a:buChar char="•"/>
            </a:pPr>
            <a:endParaRPr lang="en-CA" sz="2000">
              <a:solidFill>
                <a:schemeClr val="tx1"/>
              </a:solidFill>
              <a:latin typeface="Arial"/>
              <a:ea typeface="Verdana"/>
              <a:cs typeface="Arial"/>
            </a:endParaRPr>
          </a:p>
          <a:p>
            <a:pPr algn="just"/>
            <a:endParaRPr lang="en-US" sz="2000">
              <a:solidFill>
                <a:schemeClr val="tx1"/>
              </a:solidFill>
              <a:ea typeface="Verdana"/>
            </a:endParaRPr>
          </a:p>
          <a:p>
            <a:pPr algn="just"/>
            <a:endParaRPr lang="en-US" sz="2000">
              <a:solidFill>
                <a:schemeClr val="tx1"/>
              </a:solidFill>
              <a:ea typeface="Verdana"/>
            </a:endParaRPr>
          </a:p>
          <a:p>
            <a:pPr algn="just"/>
            <a:endParaRPr lang="en-US" sz="2000">
              <a:solidFill>
                <a:schemeClr val="tx1"/>
              </a:solidFill>
              <a:ea typeface="Verdana"/>
              <a:cs typeface="Verdana" panose="020B0604030504040204" pitchFamily="34" charset="0"/>
            </a:endParaRPr>
          </a:p>
          <a:p>
            <a:pPr algn="just"/>
            <a:endParaRPr lang="en-US" sz="1050">
              <a:solidFill>
                <a:schemeClr val="tx1"/>
              </a:solidFill>
              <a:ea typeface="Verdana"/>
              <a:cs typeface="Calibri"/>
            </a:endParaRPr>
          </a:p>
        </p:txBody>
      </p:sp>
      <p:sp>
        <p:nvSpPr>
          <p:cNvPr id="2" name="Slide Number Placeholder 1"/>
          <p:cNvSpPr>
            <a:spLocks noGrp="1"/>
          </p:cNvSpPr>
          <p:nvPr>
            <p:ph type="sldNum" sz="quarter" idx="12"/>
          </p:nvPr>
        </p:nvSpPr>
        <p:spPr/>
        <p:txBody>
          <a:bodyPr/>
          <a:lstStyle/>
          <a:p>
            <a:fld id="{ABCE2B6B-7FFE-FA46-BED3-31567387080B}" type="slidenum">
              <a:rPr lang="en-US" sz="800" dirty="0" smtClean="0">
                <a:solidFill>
                  <a:schemeClr val="bg1">
                    <a:lumMod val="50000"/>
                  </a:schemeClr>
                </a:solidFill>
                <a:latin typeface="Arial"/>
                <a:ea typeface="Verdana"/>
                <a:cs typeface="Arial"/>
              </a:rPr>
              <a:t>17</a:t>
            </a:fld>
            <a:endParaRPr lang="en-US" sz="800">
              <a:solidFill>
                <a:schemeClr val="bg1">
                  <a:lumMod val="50000"/>
                </a:schemeClr>
              </a:solidFill>
              <a:latin typeface="Arial"/>
              <a:ea typeface="Verdana"/>
              <a:cs typeface="Arial"/>
            </a:endParaRPr>
          </a:p>
        </p:txBody>
      </p:sp>
      <p:sp>
        <p:nvSpPr>
          <p:cNvPr id="6" name="TextBox 5"/>
          <p:cNvSpPr txBox="1"/>
          <p:nvPr/>
        </p:nvSpPr>
        <p:spPr>
          <a:xfrm>
            <a:off x="588939" y="352055"/>
            <a:ext cx="10987177" cy="461665"/>
          </a:xfrm>
          <a:prstGeom prst="rect">
            <a:avLst/>
          </a:prstGeom>
          <a:noFill/>
        </p:spPr>
        <p:txBody>
          <a:bodyPr wrap="square" lIns="91440" tIns="45720" rIns="91440" bIns="45720" rtlCol="0" anchor="t">
            <a:spAutoFit/>
          </a:bodyPr>
          <a:lstStyle/>
          <a:p>
            <a:r>
              <a:rPr lang="en-CA" sz="2400" b="1">
                <a:latin typeface="Arial"/>
                <a:ea typeface="Verdana"/>
                <a:cs typeface="Arial"/>
              </a:rPr>
              <a:t>EARB Decision</a:t>
            </a:r>
          </a:p>
        </p:txBody>
      </p:sp>
    </p:spTree>
    <p:extLst>
      <p:ext uri="{BB962C8B-B14F-4D97-AF65-F5344CB8AC3E}">
        <p14:creationId xmlns:p14="http://schemas.microsoft.com/office/powerpoint/2010/main" val="2590767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BCE2B6B-7FFE-FA46-BED3-31567387080B}" type="slidenum">
              <a:rPr lang="en-US" sz="800" dirty="0" smtClean="0">
                <a:solidFill>
                  <a:srgbClr val="7F7F7F"/>
                </a:solidFill>
                <a:latin typeface="Arial"/>
                <a:ea typeface="Verdana"/>
                <a:cs typeface="Calibri"/>
              </a:rPr>
              <a:t>18</a:t>
            </a:fld>
            <a:endParaRPr lang="en-US" sz="800">
              <a:solidFill>
                <a:srgbClr val="7F7F7F"/>
              </a:solidFill>
              <a:latin typeface="Arial"/>
              <a:ea typeface="Verdana"/>
              <a:cs typeface="Calibri"/>
            </a:endParaRPr>
          </a:p>
        </p:txBody>
      </p:sp>
      <p:sp>
        <p:nvSpPr>
          <p:cNvPr id="3" name="TextBox 2"/>
          <p:cNvSpPr txBox="1"/>
          <p:nvPr/>
        </p:nvSpPr>
        <p:spPr>
          <a:xfrm>
            <a:off x="-2286" y="2703853"/>
            <a:ext cx="12195956" cy="461665"/>
          </a:xfrm>
          <a:prstGeom prst="rect">
            <a:avLst/>
          </a:prstGeom>
          <a:noFill/>
        </p:spPr>
        <p:txBody>
          <a:bodyPr wrap="square" lIns="91440" tIns="45720" rIns="91440" bIns="45720" rtlCol="0" anchor="t">
            <a:spAutoFit/>
          </a:bodyPr>
          <a:lstStyle/>
          <a:p>
            <a:pPr algn="ctr"/>
            <a:r>
              <a:rPr lang="en-CA" sz="2400" b="1">
                <a:latin typeface="Arial"/>
                <a:ea typeface="Verdana"/>
                <a:cs typeface="Verdana" panose="020B0604030504040204" pitchFamily="34" charset="0"/>
              </a:rPr>
              <a:t>Annexes</a:t>
            </a:r>
          </a:p>
        </p:txBody>
      </p:sp>
    </p:spTree>
    <p:extLst>
      <p:ext uri="{BB962C8B-B14F-4D97-AF65-F5344CB8AC3E}">
        <p14:creationId xmlns:p14="http://schemas.microsoft.com/office/powerpoint/2010/main" val="3335990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8158"/>
            <a:ext cx="10972800" cy="926223"/>
          </a:xfrm>
        </p:spPr>
        <p:txBody>
          <a:bodyPr>
            <a:normAutofit fontScale="90000"/>
          </a:bodyPr>
          <a:lstStyle/>
          <a:p>
            <a:r>
              <a:rPr lang="en-US" sz="3700">
                <a:solidFill>
                  <a:srgbClr val="0070C0"/>
                </a:solidFill>
              </a:rPr>
              <a:t>Annex: BDM AI-enabled Knowledge Management</a:t>
            </a:r>
            <a:br>
              <a:rPr lang="en-US" sz="3700">
                <a:solidFill>
                  <a:srgbClr val="0070C0"/>
                </a:solidFill>
              </a:rPr>
            </a:br>
            <a:r>
              <a:rPr lang="en-US" sz="3700">
                <a:solidFill>
                  <a:srgbClr val="0070C0"/>
                </a:solidFill>
              </a:rPr>
              <a:t> – EA Alignment Scoring</a:t>
            </a:r>
          </a:p>
        </p:txBody>
      </p:sp>
      <p:sp>
        <p:nvSpPr>
          <p:cNvPr id="5" name="Slide Number Placeholder 4"/>
          <p:cNvSpPr>
            <a:spLocks noGrp="1"/>
          </p:cNvSpPr>
          <p:nvPr>
            <p:ph type="sldNum" idx="12"/>
          </p:nvPr>
        </p:nvSpPr>
        <p:spPr/>
        <p:txBody>
          <a:bodyPr/>
          <a:lstStyle/>
          <a:p>
            <a:fld id="{2E86C063-E22E-2E4C-A523-54089486E38F}" type="slidenum">
              <a:rPr lang="en-US" sz="800" smtClean="0">
                <a:solidFill>
                  <a:schemeClr val="tx1"/>
                </a:solidFill>
              </a:rPr>
              <a:t>19</a:t>
            </a:fld>
            <a:endParaRPr lang="en-US" sz="800">
              <a:solidFill>
                <a:schemeClr val="tx1"/>
              </a:solidFill>
            </a:endParaRPr>
          </a:p>
        </p:txBody>
      </p:sp>
      <p:sp>
        <p:nvSpPr>
          <p:cNvPr id="6" name="TextBox 5"/>
          <p:cNvSpPr txBox="1">
            <a:spLocks/>
          </p:cNvSpPr>
          <p:nvPr/>
        </p:nvSpPr>
        <p:spPr>
          <a:xfrm>
            <a:off x="8415867" y="1642167"/>
            <a:ext cx="3483027" cy="3906104"/>
          </a:xfrm>
          <a:prstGeom prst="rect">
            <a:avLst/>
          </a:prstGeom>
          <a:solidFill>
            <a:srgbClr val="FFF5C9"/>
          </a:solidFill>
          <a:ln>
            <a:solidFill>
              <a:schemeClr val="tx1"/>
            </a:solidFill>
          </a:ln>
        </p:spPr>
        <p:txBody>
          <a:bodyPr wrap="square" lIns="91440" tIns="45720" rIns="91440" bIns="45720" rtlCol="0" anchor="t">
            <a:noAutofit/>
          </a:bodyPr>
          <a:lstStyle/>
          <a:p>
            <a:pPr algn="ctr"/>
            <a:r>
              <a:rPr lang="en-CA" sz="3200" b="1" u="sng"/>
              <a:t>NOTES</a:t>
            </a:r>
          </a:p>
          <a:p>
            <a:pPr marL="171450" indent="-171450">
              <a:buFont typeface="Arial" panose="020B0604020202020204" pitchFamily="34" charset="0"/>
              <a:buChar char="•"/>
            </a:pPr>
            <a:endParaRPr lang="en-CA" sz="1200"/>
          </a:p>
          <a:p>
            <a:pPr marL="171450" indent="-171450">
              <a:buFont typeface="Arial" panose="020B0604020202020204" pitchFamily="34" charset="0"/>
              <a:buChar char="•"/>
            </a:pPr>
            <a:r>
              <a:rPr lang="en-CA" sz="1200"/>
              <a:t>Options 1 and 2 both utilizes existing technology within the department; however, options 1 possess higher scalability and reuse where option 2 has better architecture agility being vendor neutral.</a:t>
            </a:r>
          </a:p>
          <a:p>
            <a:pPr marL="171450" indent="-171450">
              <a:buFont typeface="Arial" panose="020B0604020202020204" pitchFamily="34" charset="0"/>
              <a:buChar char="•"/>
            </a:pPr>
            <a:endParaRPr lang="en-CA" sz="1200"/>
          </a:p>
          <a:p>
            <a:pPr marL="171450" indent="-171450">
              <a:buFont typeface="Arial" panose="020B0604020202020204" pitchFamily="34" charset="0"/>
              <a:buChar char="•"/>
            </a:pPr>
            <a:r>
              <a:rPr lang="en-CA" sz="1200"/>
              <a:t>Option 3 and 4 are SaaS and vendor locked.</a:t>
            </a:r>
          </a:p>
          <a:p>
            <a:pPr marL="171450" indent="-171450">
              <a:buFont typeface="Arial" panose="020B0604020202020204" pitchFamily="34" charset="0"/>
              <a:buChar char="•"/>
            </a:pPr>
            <a:endParaRPr lang="en-CA" sz="1200"/>
          </a:p>
        </p:txBody>
      </p:sp>
      <p:sp>
        <p:nvSpPr>
          <p:cNvPr id="3" name="TextBox 2"/>
          <p:cNvSpPr txBox="1"/>
          <p:nvPr/>
        </p:nvSpPr>
        <p:spPr>
          <a:xfrm>
            <a:off x="482223" y="6356351"/>
            <a:ext cx="4239904" cy="318100"/>
          </a:xfrm>
          <a:prstGeom prst="rect">
            <a:avLst/>
          </a:prstGeom>
          <a:noFill/>
        </p:spPr>
        <p:txBody>
          <a:bodyPr wrap="square" rtlCol="0">
            <a:spAutoFit/>
          </a:bodyPr>
          <a:lstStyle/>
          <a:p>
            <a:r>
              <a:rPr lang="en-CA" sz="1467"/>
              <a:t>*High Score == High EA Alignment</a:t>
            </a:r>
          </a:p>
        </p:txBody>
      </p:sp>
      <p:sp>
        <p:nvSpPr>
          <p:cNvPr id="7" name="TextBox 6"/>
          <p:cNvSpPr txBox="1"/>
          <p:nvPr/>
        </p:nvSpPr>
        <p:spPr>
          <a:xfrm>
            <a:off x="7996709" y="6356349"/>
            <a:ext cx="3318555" cy="318100"/>
          </a:xfrm>
          <a:prstGeom prst="rect">
            <a:avLst/>
          </a:prstGeom>
          <a:noFill/>
        </p:spPr>
        <p:txBody>
          <a:bodyPr wrap="square" rtlCol="0">
            <a:spAutoFit/>
          </a:bodyPr>
          <a:lstStyle/>
          <a:p>
            <a:r>
              <a:rPr lang="en-CA" sz="1467">
                <a:hlinkClick r:id="rId2"/>
              </a:rPr>
              <a:t>ESDC-EA-SAS - EA Score - GUIDE</a:t>
            </a:r>
            <a:endParaRPr lang="en-CA" sz="1467"/>
          </a:p>
        </p:txBody>
      </p:sp>
      <p:graphicFrame>
        <p:nvGraphicFramePr>
          <p:cNvPr id="13" name="Table 12">
            <a:extLst>
              <a:ext uri="{FF2B5EF4-FFF2-40B4-BE49-F238E27FC236}">
                <a16:creationId xmlns:a16="http://schemas.microsoft.com/office/drawing/2014/main" id="{D7ABD9E2-A2C0-38A6-01D3-33F6FAF822DE}"/>
              </a:ext>
            </a:extLst>
          </p:cNvPr>
          <p:cNvGraphicFramePr>
            <a:graphicFrameLocks noGrp="1"/>
          </p:cNvGraphicFramePr>
          <p:nvPr>
            <p:extLst>
              <p:ext uri="{D42A27DB-BD31-4B8C-83A1-F6EECF244321}">
                <p14:modId xmlns:p14="http://schemas.microsoft.com/office/powerpoint/2010/main" val="2347562846"/>
              </p:ext>
            </p:extLst>
          </p:nvPr>
        </p:nvGraphicFramePr>
        <p:xfrm>
          <a:off x="351366" y="1642169"/>
          <a:ext cx="7868710" cy="3906104"/>
        </p:xfrm>
        <a:graphic>
          <a:graphicData uri="http://schemas.openxmlformats.org/drawingml/2006/table">
            <a:tbl>
              <a:tblPr/>
              <a:tblGrid>
                <a:gridCol w="548214">
                  <a:extLst>
                    <a:ext uri="{9D8B030D-6E8A-4147-A177-3AD203B41FA5}">
                      <a16:colId xmlns:a16="http://schemas.microsoft.com/office/drawing/2014/main" val="333745499"/>
                    </a:ext>
                  </a:extLst>
                </a:gridCol>
                <a:gridCol w="333694">
                  <a:extLst>
                    <a:ext uri="{9D8B030D-6E8A-4147-A177-3AD203B41FA5}">
                      <a16:colId xmlns:a16="http://schemas.microsoft.com/office/drawing/2014/main" val="2612651360"/>
                    </a:ext>
                  </a:extLst>
                </a:gridCol>
                <a:gridCol w="2672605">
                  <a:extLst>
                    <a:ext uri="{9D8B030D-6E8A-4147-A177-3AD203B41FA5}">
                      <a16:colId xmlns:a16="http://schemas.microsoft.com/office/drawing/2014/main" val="988187002"/>
                    </a:ext>
                  </a:extLst>
                </a:gridCol>
                <a:gridCol w="809084">
                  <a:extLst>
                    <a:ext uri="{9D8B030D-6E8A-4147-A177-3AD203B41FA5}">
                      <a16:colId xmlns:a16="http://schemas.microsoft.com/office/drawing/2014/main" val="476723311"/>
                    </a:ext>
                  </a:extLst>
                </a:gridCol>
                <a:gridCol w="876279">
                  <a:extLst>
                    <a:ext uri="{9D8B030D-6E8A-4147-A177-3AD203B41FA5}">
                      <a16:colId xmlns:a16="http://schemas.microsoft.com/office/drawing/2014/main" val="1223880430"/>
                    </a:ext>
                  </a:extLst>
                </a:gridCol>
                <a:gridCol w="923390">
                  <a:extLst>
                    <a:ext uri="{9D8B030D-6E8A-4147-A177-3AD203B41FA5}">
                      <a16:colId xmlns:a16="http://schemas.microsoft.com/office/drawing/2014/main" val="3680895173"/>
                    </a:ext>
                  </a:extLst>
                </a:gridCol>
                <a:gridCol w="885701">
                  <a:extLst>
                    <a:ext uri="{9D8B030D-6E8A-4147-A177-3AD203B41FA5}">
                      <a16:colId xmlns:a16="http://schemas.microsoft.com/office/drawing/2014/main" val="218863021"/>
                    </a:ext>
                  </a:extLst>
                </a:gridCol>
                <a:gridCol w="819743">
                  <a:extLst>
                    <a:ext uri="{9D8B030D-6E8A-4147-A177-3AD203B41FA5}">
                      <a16:colId xmlns:a16="http://schemas.microsoft.com/office/drawing/2014/main" val="1662611049"/>
                    </a:ext>
                  </a:extLst>
                </a:gridCol>
              </a:tblGrid>
              <a:tr h="922801">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r>
                        <a:rPr lang="en-CA" sz="1100" b="0" i="0" u="none" strike="noStrike">
                          <a:solidFill>
                            <a:srgbClr val="000000"/>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OPTION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OPTION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OPTION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CA" sz="1100" b="0" i="0" u="none" strike="noStrike">
                          <a:solidFill>
                            <a:srgbClr val="000000"/>
                          </a:solidFill>
                          <a:effectLst/>
                          <a:latin typeface="Calibri" panose="020F0502020204030204" pitchFamily="34" charset="0"/>
                        </a:rPr>
                        <a:t>OPTION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3936936906"/>
                  </a:ext>
                </a:extLst>
              </a:tr>
              <a:tr h="328669">
                <a:tc rowSpan="5">
                  <a:txBody>
                    <a:bodyPr/>
                    <a:lstStyle/>
                    <a:p>
                      <a:pPr algn="ctr" fontAlgn="ctr"/>
                      <a:r>
                        <a:rPr lang="en-CA" sz="1200" b="1" i="0" u="none" strike="noStrike">
                          <a:solidFill>
                            <a:srgbClr val="000000"/>
                          </a:solidFill>
                          <a:effectLst/>
                          <a:latin typeface="Calibri" panose="020F0502020204030204" pitchFamily="34" charset="0"/>
                        </a:rPr>
                        <a:t>EA Alignment</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CA" sz="1100" b="0" i="0" u="none" strike="noStrike">
                          <a:solidFill>
                            <a:srgbClr val="000000"/>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Reduce/Avoid Technical Debt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CA" sz="1100" b="1"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980113816"/>
                  </a:ext>
                </a:extLst>
              </a:tr>
              <a:tr h="328669">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Address quality needs​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CA" sz="1100" b="1"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55704894"/>
                  </a:ext>
                </a:extLst>
              </a:tr>
              <a:tr h="328669">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Use the appropriate hosting model​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CA" sz="1100" b="1"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242836430"/>
                  </a:ext>
                </a:extLst>
              </a:tr>
              <a:tr h="328669">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Design For Enterprise / Reuse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CA" sz="1100" b="1"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789433589"/>
                  </a:ext>
                </a:extLst>
              </a:tr>
              <a:tr h="328669">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Architect for agility​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CA" sz="1100" b="1"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01508760"/>
                  </a:ext>
                </a:extLst>
              </a:tr>
              <a:tr h="328669">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0802758"/>
                  </a:ext>
                </a:extLst>
              </a:tr>
              <a:tr h="328669">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Totals</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CA" sz="1200" b="1" i="0" u="none" strike="noStrike">
                          <a:solidFill>
                            <a:srgbClr val="000000"/>
                          </a:solidFill>
                          <a:effectLst/>
                          <a:latin typeface="Calibri" panose="020F0502020204030204" pitchFamily="34" charset="0"/>
                        </a:rPr>
                        <a:t>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200" b="1" i="0" u="none" strike="noStrike">
                          <a:solidFill>
                            <a:srgbClr val="000000"/>
                          </a:solidFill>
                          <a:effectLst/>
                          <a:latin typeface="Calibri" panose="020F0502020204030204" pitchFamily="34" charset="0"/>
                        </a:rPr>
                        <a:t>80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71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56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45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623554820"/>
                  </a:ext>
                </a:extLst>
              </a:tr>
              <a:tr h="328669">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Score (percent)</a:t>
                      </a:r>
                    </a:p>
                  </a:txBody>
                  <a:tcPr marL="0" marR="0" marT="0" marB="0" anchor="ctr">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CA" sz="1200" b="1" i="0" u="none" strike="noStrike">
                          <a:solidFill>
                            <a:srgbClr val="FF0000"/>
                          </a:solidFill>
                          <a:effectLst/>
                          <a:latin typeface="Calibri" panose="020F0502020204030204" pitchFamily="34" charset="0"/>
                        </a:rPr>
                        <a:t>95%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85%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67%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54%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514659484"/>
                  </a:ext>
                </a:extLst>
              </a:tr>
              <a:tr h="353951">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EA ALIGNMENT RANKING NUMBERS:</a:t>
                      </a:r>
                    </a:p>
                  </a:txBody>
                  <a:tcPr marL="0" marR="0" marT="0" marB="0" anchor="ctr">
                    <a:lnL>
                      <a:noFill/>
                    </a:lnL>
                    <a:lnR>
                      <a:noFill/>
                    </a:lnR>
                    <a:lnT>
                      <a:noFill/>
                    </a:lnT>
                    <a:lnB>
                      <a:noFill/>
                    </a:lnB>
                    <a:noFill/>
                  </a:tcPr>
                </a:tc>
                <a:tc>
                  <a:txBody>
                    <a:bodyPr/>
                    <a:lstStyle/>
                    <a:p>
                      <a:pPr algn="r" fontAlgn="ctr"/>
                      <a:endParaRPr lang="en-CA" sz="1100" b="0" i="1" u="none" strike="noStrike">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CA" sz="1400" b="1" i="0" u="none" strike="noStrike">
                          <a:solidFill>
                            <a:srgbClr val="548235"/>
                          </a:solidFill>
                          <a:effectLst/>
                          <a:latin typeface="Calibri" panose="020F0502020204030204" pitchFamily="34" charset="0"/>
                        </a:rPr>
                        <a:t>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3317166693"/>
                  </a:ext>
                </a:extLst>
              </a:tr>
            </a:tbl>
          </a:graphicData>
        </a:graphic>
      </p:graphicFrame>
      <p:sp>
        <p:nvSpPr>
          <p:cNvPr id="14" name="Octagon 13">
            <a:extLst>
              <a:ext uri="{FF2B5EF4-FFF2-40B4-BE49-F238E27FC236}">
                <a16:creationId xmlns:a16="http://schemas.microsoft.com/office/drawing/2014/main" id="{00000000-0008-0000-0000-000002000000}"/>
              </a:ext>
            </a:extLst>
          </p:cNvPr>
          <p:cNvSpPr/>
          <p:nvPr/>
        </p:nvSpPr>
        <p:spPr>
          <a:xfrm>
            <a:off x="351365" y="1533282"/>
            <a:ext cx="819151" cy="820027"/>
          </a:xfrm>
          <a:prstGeom prst="octagon">
            <a:avLst/>
          </a:prstGeom>
          <a:solidFill>
            <a:srgbClr val="FFD96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CA" sz="2800">
                <a:solidFill>
                  <a:sysClr val="windowText" lastClr="000000"/>
                </a:solidFill>
                <a:latin typeface="Arial" panose="020B0604020202020204" pitchFamily="34" charset="0"/>
                <a:cs typeface="Arial" panose="020B0604020202020204" pitchFamily="34" charset="0"/>
              </a:rPr>
              <a:t>1</a:t>
            </a:r>
          </a:p>
        </p:txBody>
      </p:sp>
      <p:sp>
        <p:nvSpPr>
          <p:cNvPr id="9" name="TextBox 8">
            <a:extLst>
              <a:ext uri="{FF2B5EF4-FFF2-40B4-BE49-F238E27FC236}">
                <a16:creationId xmlns:a16="http://schemas.microsoft.com/office/drawing/2014/main" id="{E346D27F-E5B6-20F6-CD86-FC9F589EEFD6}"/>
              </a:ext>
            </a:extLst>
          </p:cNvPr>
          <p:cNvSpPr txBox="1"/>
          <p:nvPr/>
        </p:nvSpPr>
        <p:spPr>
          <a:xfrm>
            <a:off x="3219449" y="6356351"/>
            <a:ext cx="4917017" cy="318100"/>
          </a:xfrm>
          <a:prstGeom prst="rect">
            <a:avLst/>
          </a:prstGeom>
          <a:noFill/>
        </p:spPr>
        <p:txBody>
          <a:bodyPr wrap="square" rtlCol="0">
            <a:spAutoFit/>
          </a:bodyPr>
          <a:lstStyle>
            <a:defPPr>
              <a:defRPr lang="en-US"/>
            </a:defPPr>
            <a:lvl1pPr>
              <a:defRPr sz="1467"/>
            </a:lvl1pPr>
          </a:lstStyle>
          <a:p>
            <a:r>
              <a:rPr lang="en-CA">
                <a:hlinkClick r:id="rId3"/>
              </a:rPr>
              <a:t>ESDC-EA-SAS - EA Score - AI-enabled Knowledge Management</a:t>
            </a:r>
            <a:endParaRPr lang="en-CA"/>
          </a:p>
        </p:txBody>
      </p:sp>
    </p:spTree>
    <p:extLst>
      <p:ext uri="{BB962C8B-B14F-4D97-AF65-F5344CB8AC3E}">
        <p14:creationId xmlns:p14="http://schemas.microsoft.com/office/powerpoint/2010/main" val="1759741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8158"/>
            <a:ext cx="10972800" cy="926223"/>
          </a:xfrm>
        </p:spPr>
        <p:txBody>
          <a:bodyPr>
            <a:normAutofit fontScale="90000"/>
          </a:bodyPr>
          <a:lstStyle/>
          <a:p>
            <a:r>
              <a:rPr lang="en-US" sz="3700">
                <a:solidFill>
                  <a:srgbClr val="0070C0"/>
                </a:solidFill>
              </a:rPr>
              <a:t>Annex: BDM AI-enabled Knowledge Management</a:t>
            </a:r>
            <a:br>
              <a:rPr lang="en-US" sz="3700">
                <a:solidFill>
                  <a:srgbClr val="0070C0"/>
                </a:solidFill>
              </a:rPr>
            </a:br>
            <a:r>
              <a:rPr lang="en-US" sz="3700">
                <a:solidFill>
                  <a:srgbClr val="0070C0"/>
                </a:solidFill>
              </a:rPr>
              <a:t> – Feasibility Scoring</a:t>
            </a:r>
          </a:p>
        </p:txBody>
      </p:sp>
      <p:sp>
        <p:nvSpPr>
          <p:cNvPr id="5" name="Slide Number Placeholder 4"/>
          <p:cNvSpPr>
            <a:spLocks noGrp="1"/>
          </p:cNvSpPr>
          <p:nvPr>
            <p:ph type="sldNum" idx="12"/>
          </p:nvPr>
        </p:nvSpPr>
        <p:spPr/>
        <p:txBody>
          <a:bodyPr/>
          <a:lstStyle/>
          <a:p>
            <a:fld id="{2E86C063-E22E-2E4C-A523-54089486E38F}" type="slidenum">
              <a:rPr lang="en-US" sz="800" smtClean="0">
                <a:solidFill>
                  <a:schemeClr val="tx1"/>
                </a:solidFill>
              </a:rPr>
              <a:t>20</a:t>
            </a:fld>
            <a:endParaRPr lang="en-US" sz="800">
              <a:solidFill>
                <a:schemeClr val="tx1"/>
              </a:solidFill>
            </a:endParaRPr>
          </a:p>
        </p:txBody>
      </p:sp>
      <p:sp>
        <p:nvSpPr>
          <p:cNvPr id="7" name="TextBox 6"/>
          <p:cNvSpPr txBox="1"/>
          <p:nvPr/>
        </p:nvSpPr>
        <p:spPr>
          <a:xfrm>
            <a:off x="482223" y="6356351"/>
            <a:ext cx="4239904" cy="318100"/>
          </a:xfrm>
          <a:prstGeom prst="rect">
            <a:avLst/>
          </a:prstGeom>
          <a:noFill/>
        </p:spPr>
        <p:txBody>
          <a:bodyPr wrap="square" rtlCol="0">
            <a:spAutoFit/>
          </a:bodyPr>
          <a:lstStyle/>
          <a:p>
            <a:r>
              <a:rPr lang="en-CA" sz="1467"/>
              <a:t>*High Score == High Feasibility</a:t>
            </a:r>
          </a:p>
        </p:txBody>
      </p:sp>
      <p:sp>
        <p:nvSpPr>
          <p:cNvPr id="8" name="TextBox 7"/>
          <p:cNvSpPr txBox="1"/>
          <p:nvPr/>
        </p:nvSpPr>
        <p:spPr>
          <a:xfrm>
            <a:off x="3219449" y="6356351"/>
            <a:ext cx="4917017" cy="318100"/>
          </a:xfrm>
          <a:prstGeom prst="rect">
            <a:avLst/>
          </a:prstGeom>
          <a:noFill/>
        </p:spPr>
        <p:txBody>
          <a:bodyPr wrap="square" rtlCol="0">
            <a:spAutoFit/>
          </a:bodyPr>
          <a:lstStyle>
            <a:defPPr>
              <a:defRPr lang="en-US"/>
            </a:defPPr>
            <a:lvl1pPr>
              <a:defRPr sz="1467"/>
            </a:lvl1pPr>
          </a:lstStyle>
          <a:p>
            <a:r>
              <a:rPr lang="en-CA">
                <a:hlinkClick r:id="rId2"/>
              </a:rPr>
              <a:t>ESDC-EA-SAS - EA Score - AI-enabled Knowledge Management</a:t>
            </a:r>
            <a:endParaRPr lang="en-CA"/>
          </a:p>
        </p:txBody>
      </p:sp>
      <p:graphicFrame>
        <p:nvGraphicFramePr>
          <p:cNvPr id="12" name="Table 11">
            <a:extLst>
              <a:ext uri="{FF2B5EF4-FFF2-40B4-BE49-F238E27FC236}">
                <a16:creationId xmlns:a16="http://schemas.microsoft.com/office/drawing/2014/main" id="{36BCD7FC-848E-2383-4D06-CA8ED94B93F4}"/>
              </a:ext>
            </a:extLst>
          </p:cNvPr>
          <p:cNvGraphicFramePr>
            <a:graphicFrameLocks noGrp="1"/>
          </p:cNvGraphicFramePr>
          <p:nvPr>
            <p:extLst>
              <p:ext uri="{D42A27DB-BD31-4B8C-83A1-F6EECF244321}">
                <p14:modId xmlns:p14="http://schemas.microsoft.com/office/powerpoint/2010/main" val="1540278425"/>
              </p:ext>
            </p:extLst>
          </p:nvPr>
        </p:nvGraphicFramePr>
        <p:xfrm>
          <a:off x="555625" y="1404974"/>
          <a:ext cx="7216774" cy="4364402"/>
        </p:xfrm>
        <a:graphic>
          <a:graphicData uri="http://schemas.openxmlformats.org/drawingml/2006/table">
            <a:tbl>
              <a:tblPr/>
              <a:tblGrid>
                <a:gridCol w="542336">
                  <a:extLst>
                    <a:ext uri="{9D8B030D-6E8A-4147-A177-3AD203B41FA5}">
                      <a16:colId xmlns:a16="http://schemas.microsoft.com/office/drawing/2014/main" val="147758995"/>
                    </a:ext>
                  </a:extLst>
                </a:gridCol>
                <a:gridCol w="330118">
                  <a:extLst>
                    <a:ext uri="{9D8B030D-6E8A-4147-A177-3AD203B41FA5}">
                      <a16:colId xmlns:a16="http://schemas.microsoft.com/office/drawing/2014/main" val="2179214187"/>
                    </a:ext>
                  </a:extLst>
                </a:gridCol>
                <a:gridCol w="2534321">
                  <a:extLst>
                    <a:ext uri="{9D8B030D-6E8A-4147-A177-3AD203B41FA5}">
                      <a16:colId xmlns:a16="http://schemas.microsoft.com/office/drawing/2014/main" val="3245820948"/>
                    </a:ext>
                  </a:extLst>
                </a:gridCol>
                <a:gridCol w="619125">
                  <a:extLst>
                    <a:ext uri="{9D8B030D-6E8A-4147-A177-3AD203B41FA5}">
                      <a16:colId xmlns:a16="http://schemas.microsoft.com/office/drawing/2014/main" val="516549351"/>
                    </a:ext>
                  </a:extLst>
                </a:gridCol>
                <a:gridCol w="819150">
                  <a:extLst>
                    <a:ext uri="{9D8B030D-6E8A-4147-A177-3AD203B41FA5}">
                      <a16:colId xmlns:a16="http://schemas.microsoft.com/office/drawing/2014/main" val="2231390487"/>
                    </a:ext>
                  </a:extLst>
                </a:gridCol>
                <a:gridCol w="828675">
                  <a:extLst>
                    <a:ext uri="{9D8B030D-6E8A-4147-A177-3AD203B41FA5}">
                      <a16:colId xmlns:a16="http://schemas.microsoft.com/office/drawing/2014/main" val="4097746545"/>
                    </a:ext>
                  </a:extLst>
                </a:gridCol>
                <a:gridCol w="790575">
                  <a:extLst>
                    <a:ext uri="{9D8B030D-6E8A-4147-A177-3AD203B41FA5}">
                      <a16:colId xmlns:a16="http://schemas.microsoft.com/office/drawing/2014/main" val="2002420033"/>
                    </a:ext>
                  </a:extLst>
                </a:gridCol>
                <a:gridCol w="752474">
                  <a:extLst>
                    <a:ext uri="{9D8B030D-6E8A-4147-A177-3AD203B41FA5}">
                      <a16:colId xmlns:a16="http://schemas.microsoft.com/office/drawing/2014/main" val="3474400009"/>
                    </a:ext>
                  </a:extLst>
                </a:gridCol>
              </a:tblGrid>
              <a:tr h="1158550">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r>
                        <a:rPr lang="en-CA" sz="1100" b="0" i="0" u="none" strike="noStrike">
                          <a:solidFill>
                            <a:srgbClr val="000000"/>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OPTION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OPTION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OPTION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CA" sz="1100" b="0" i="0" u="none" strike="noStrike">
                          <a:solidFill>
                            <a:srgbClr val="000000"/>
                          </a:solidFill>
                          <a:effectLst/>
                          <a:latin typeface="Calibri" panose="020F0502020204030204" pitchFamily="34" charset="0"/>
                        </a:rPr>
                        <a:t>OPTION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663689986"/>
                  </a:ext>
                </a:extLst>
              </a:tr>
              <a:tr h="380893">
                <a:tc rowSpan="4">
                  <a:txBody>
                    <a:bodyPr/>
                    <a:lstStyle/>
                    <a:p>
                      <a:pPr algn="ctr" fontAlgn="ctr"/>
                      <a:r>
                        <a:rPr lang="en-CA" sz="1200" b="1" i="0" u="none" strike="noStrike">
                          <a:solidFill>
                            <a:srgbClr val="000000"/>
                          </a:solidFill>
                          <a:effectLst/>
                          <a:latin typeface="Calibri" panose="020F0502020204030204" pitchFamily="34" charset="0"/>
                        </a:rPr>
                        <a:t>Feasibility</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CA" sz="1100" b="0" i="0" u="none" strike="noStrike">
                          <a:solidFill>
                            <a:srgbClr val="000000"/>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r>
                        <a:rPr lang="en-CA" sz="1100" b="0" i="0" u="none" strike="noStrike">
                          <a:solidFill>
                            <a:srgbClr val="000000"/>
                          </a:solidFill>
                          <a:effectLst/>
                          <a:latin typeface="Calibri" panose="020F0502020204030204" pitchFamily="34" charset="0"/>
                        </a:rPr>
                        <a:t>Well-supported technologies​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1" i="0" u="none" strike="noStrike">
                          <a:solidFill>
                            <a:srgbClr val="000000"/>
                          </a:solidFill>
                          <a:effectLst/>
                          <a:latin typeface="Calibri" panose="020F0502020204030204" pitchFamily="34" charset="0"/>
                        </a:rPr>
                        <a:t>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42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42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42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42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59170198"/>
                  </a:ext>
                </a:extLst>
              </a:tr>
              <a:tr h="380893">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r>
                        <a:rPr lang="en-CA" sz="1100" b="0" i="0" u="none" strike="noStrike">
                          <a:solidFill>
                            <a:srgbClr val="000000"/>
                          </a:solidFill>
                          <a:effectLst/>
                          <a:latin typeface="Calibri" panose="020F0502020204030204" pitchFamily="34" charset="0"/>
                        </a:rPr>
                        <a:t>Minimize the technology footprint​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1" i="0" u="none" strike="noStrike">
                          <a:solidFill>
                            <a:srgbClr val="000000"/>
                          </a:solidFill>
                          <a:effectLst/>
                          <a:latin typeface="Calibri" panose="020F0502020204030204" pitchFamily="34"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11195614"/>
                  </a:ext>
                </a:extLst>
              </a:tr>
              <a:tr h="380893">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r>
                        <a:rPr lang="en-CA" sz="1100" b="0" i="0" u="none" strike="noStrike">
                          <a:solidFill>
                            <a:srgbClr val="000000"/>
                          </a:solidFill>
                          <a:effectLst/>
                          <a:latin typeface="Calibri" panose="020F0502020204030204" pitchFamily="34" charset="0"/>
                        </a:rPr>
                        <a:t>Identify product / service type​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1" i="0" u="none" strike="noStrike">
                          <a:solidFill>
                            <a:srgbClr val="000000"/>
                          </a:solidFill>
                          <a:effectLst/>
                          <a:latin typeface="Calibri" panose="020F050202020403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797870895"/>
                  </a:ext>
                </a:extLst>
              </a:tr>
              <a:tr h="380893">
                <a:tc vMerge="1">
                  <a:txBody>
                    <a:bodyPr/>
                    <a:lstStyle/>
                    <a:p>
                      <a:endParaRPr lang="en-CA"/>
                    </a:p>
                  </a:txBody>
                  <a:tcPr/>
                </a:tc>
                <a:tc>
                  <a:txBody>
                    <a:bodyPr/>
                    <a:lstStyle/>
                    <a:p>
                      <a:pPr algn="ctr" fontAlgn="b"/>
                      <a:r>
                        <a:rPr lang="en-CA" sz="1100" b="0" i="0" u="none" strike="noStrike">
                          <a:solidFill>
                            <a:srgbClr val="000000"/>
                          </a:solidFill>
                          <a:effectLst/>
                          <a:latin typeface="Calibri"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r>
                        <a:rPr lang="en-CA" sz="1100" b="0" i="0" u="none" strike="noStrike">
                          <a:solidFill>
                            <a:srgbClr val="000000"/>
                          </a:solidFill>
                          <a:effectLst/>
                          <a:latin typeface="Calibri" panose="020F0502020204030204" pitchFamily="34" charset="0"/>
                        </a:rPr>
                        <a:t>Invest in ESDC talent​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1" i="0" u="none" strike="noStrike">
                          <a:solidFill>
                            <a:srgbClr val="000000"/>
                          </a:solidFill>
                          <a:effectLst/>
                          <a:latin typeface="Calibri" panose="020F050202020403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39048730"/>
                  </a:ext>
                </a:extLst>
              </a:tr>
              <a:tr h="41263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7620" marR="7620" marT="762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3964696"/>
                  </a:ext>
                </a:extLst>
              </a:tr>
              <a:tr h="41263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Totals</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CA" sz="1200" b="1" i="0" u="none" strike="noStrike">
                          <a:solidFill>
                            <a:srgbClr val="000000"/>
                          </a:solidFill>
                          <a:effectLst/>
                          <a:latin typeface="Calibri" panose="020F0502020204030204" pitchFamily="34" charset="0"/>
                        </a:rPr>
                        <a:t>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CA" sz="1200" b="1" i="0" u="none" strike="noStrike">
                          <a:solidFill>
                            <a:srgbClr val="000000"/>
                          </a:solidFill>
                          <a:effectLst/>
                          <a:latin typeface="Calibri" panose="020F0502020204030204" pitchFamily="34" charset="0"/>
                        </a:rPr>
                        <a:t>94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84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56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56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16577004"/>
                  </a:ext>
                </a:extLst>
              </a:tr>
              <a:tr h="41263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Score (percent)</a:t>
                      </a:r>
                    </a:p>
                  </a:txBody>
                  <a:tcPr marL="0" marR="0" marT="0" marB="0" anchor="ctr">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CA" sz="1200" b="1" i="0" u="none" strike="noStrike">
                          <a:solidFill>
                            <a:srgbClr val="FF0000"/>
                          </a:solidFill>
                          <a:effectLst/>
                          <a:latin typeface="Calibri" panose="020F0502020204030204" pitchFamily="34" charset="0"/>
                        </a:rPr>
                        <a:t>96%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86%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57%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57%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528002433"/>
                  </a:ext>
                </a:extLst>
              </a:tr>
              <a:tr h="44437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EA FEASIBILITY RANKING NUMBERS:</a:t>
                      </a:r>
                    </a:p>
                  </a:txBody>
                  <a:tcPr marL="0" marR="0" marT="0" marB="0" anchor="ctr">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CA" sz="1400" b="1" i="0" u="none" strike="noStrike">
                          <a:solidFill>
                            <a:srgbClr val="548235"/>
                          </a:solidFill>
                          <a:effectLst/>
                          <a:latin typeface="Calibri" panose="020F0502020204030204" pitchFamily="34" charset="0"/>
                        </a:rPr>
                        <a:t>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3127176958"/>
                  </a:ext>
                </a:extLst>
              </a:tr>
            </a:tbl>
          </a:graphicData>
        </a:graphic>
      </p:graphicFrame>
      <p:sp>
        <p:nvSpPr>
          <p:cNvPr id="13" name="Octagon 12">
            <a:extLst>
              <a:ext uri="{FF2B5EF4-FFF2-40B4-BE49-F238E27FC236}">
                <a16:creationId xmlns:a16="http://schemas.microsoft.com/office/drawing/2014/main" id="{00000000-0008-0000-0000-000003000000}"/>
              </a:ext>
            </a:extLst>
          </p:cNvPr>
          <p:cNvSpPr/>
          <p:nvPr/>
        </p:nvSpPr>
        <p:spPr>
          <a:xfrm>
            <a:off x="555625" y="1312387"/>
            <a:ext cx="1027642" cy="1031586"/>
          </a:xfrm>
          <a:prstGeom prst="octagon">
            <a:avLst/>
          </a:prstGeom>
          <a:solidFill>
            <a:srgbClr val="92D050"/>
          </a:solidFill>
          <a:ln>
            <a:solidFill>
              <a:schemeClr val="accent6">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CA" sz="2800">
                <a:solidFill>
                  <a:sysClr val="windowText" lastClr="00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C827171D-CA75-4484-6639-9EE8D835D606}"/>
              </a:ext>
            </a:extLst>
          </p:cNvPr>
          <p:cNvSpPr txBox="1"/>
          <p:nvPr/>
        </p:nvSpPr>
        <p:spPr>
          <a:xfrm>
            <a:off x="8136467" y="6356351"/>
            <a:ext cx="3318555" cy="318100"/>
          </a:xfrm>
          <a:prstGeom prst="rect">
            <a:avLst/>
          </a:prstGeom>
          <a:noFill/>
        </p:spPr>
        <p:txBody>
          <a:bodyPr wrap="square" rtlCol="0">
            <a:spAutoFit/>
          </a:bodyPr>
          <a:lstStyle/>
          <a:p>
            <a:r>
              <a:rPr lang="en-CA" sz="1467">
                <a:hlinkClick r:id="rId3"/>
              </a:rPr>
              <a:t>ESDC-EA-SAS - EA Score - GUIDE</a:t>
            </a:r>
            <a:endParaRPr lang="en-CA" sz="1467"/>
          </a:p>
        </p:txBody>
      </p:sp>
      <p:sp>
        <p:nvSpPr>
          <p:cNvPr id="15" name="TextBox 14">
            <a:extLst>
              <a:ext uri="{FF2B5EF4-FFF2-40B4-BE49-F238E27FC236}">
                <a16:creationId xmlns:a16="http://schemas.microsoft.com/office/drawing/2014/main" id="{A025DA00-97AA-83C0-D158-7A436268EA1D}"/>
              </a:ext>
            </a:extLst>
          </p:cNvPr>
          <p:cNvSpPr txBox="1">
            <a:spLocks/>
          </p:cNvSpPr>
          <p:nvPr/>
        </p:nvSpPr>
        <p:spPr>
          <a:xfrm>
            <a:off x="7977639" y="1403350"/>
            <a:ext cx="3604762" cy="4364402"/>
          </a:xfrm>
          <a:prstGeom prst="rect">
            <a:avLst/>
          </a:prstGeom>
          <a:solidFill>
            <a:schemeClr val="accent1">
              <a:lumMod val="20000"/>
              <a:lumOff val="80000"/>
            </a:schemeClr>
          </a:solidFill>
          <a:ln>
            <a:solidFill>
              <a:schemeClr val="tx1"/>
            </a:solidFill>
          </a:ln>
        </p:spPr>
        <p:txBody>
          <a:bodyPr wrap="square" lIns="91440" tIns="45720" rIns="91440" bIns="45720" rtlCol="0" anchor="t">
            <a:noAutofit/>
          </a:bodyPr>
          <a:lstStyle/>
          <a:p>
            <a:pPr algn="ctr"/>
            <a:r>
              <a:rPr lang="en-CA" sz="3200" b="1" u="sng"/>
              <a:t>NOTES</a:t>
            </a:r>
          </a:p>
          <a:p>
            <a:endParaRPr lang="en-CA" sz="1100" b="1" u="sng"/>
          </a:p>
          <a:p>
            <a:endParaRPr lang="en-CA" sz="1100" b="1" u="sng"/>
          </a:p>
          <a:p>
            <a:pPr marL="171450" indent="-171450">
              <a:buFont typeface="Arial" panose="020B0604020202020204" pitchFamily="34" charset="0"/>
              <a:buChar char="•"/>
            </a:pPr>
            <a:r>
              <a:rPr lang="en-CA" sz="1400"/>
              <a:t>Option 1: MS SharePoint Online is currently departmental baseline for Content Management System.</a:t>
            </a:r>
          </a:p>
          <a:p>
            <a:pPr marL="171450" indent="-171450">
              <a:buFont typeface="Arial" panose="020B0604020202020204" pitchFamily="34" charset="0"/>
              <a:buChar char="•"/>
            </a:pPr>
            <a:endParaRPr lang="en-CA" sz="1400"/>
          </a:p>
          <a:p>
            <a:pPr marL="171450" indent="-171450">
              <a:buFont typeface="Arial" panose="020B0604020202020204" pitchFamily="34" charset="0"/>
              <a:buChar char="•"/>
            </a:pPr>
            <a:r>
              <a:rPr lang="en-CA" sz="1400"/>
              <a:t>Option 2: In-house built system that is currently in production with good operation track record but lack of scalability.</a:t>
            </a:r>
          </a:p>
          <a:p>
            <a:pPr marL="171450" indent="-171450">
              <a:buFont typeface="Arial" panose="020B0604020202020204" pitchFamily="34" charset="0"/>
              <a:buChar char="•"/>
            </a:pPr>
            <a:endParaRPr lang="en-CA" sz="1400"/>
          </a:p>
          <a:p>
            <a:pPr marL="171450" indent="-171450">
              <a:buFont typeface="Arial" panose="020B0604020202020204" pitchFamily="34" charset="0"/>
              <a:buChar char="•"/>
            </a:pPr>
            <a:r>
              <a:rPr lang="en-CA" sz="1400"/>
              <a:t>Options 3 and 4 are vendor supported application which yet to be piloted for feasibility.</a:t>
            </a:r>
          </a:p>
          <a:p>
            <a:pPr marL="171450" indent="-171450">
              <a:buFont typeface="Arial" panose="020B0604020202020204" pitchFamily="34" charset="0"/>
              <a:buChar char="•"/>
            </a:pPr>
            <a:endParaRPr lang="en-CA" sz="1400"/>
          </a:p>
          <a:p>
            <a:pPr marL="171450" indent="-171450">
              <a:buFont typeface="Arial" panose="020B0604020202020204" pitchFamily="34" charset="0"/>
              <a:buChar char="•"/>
            </a:pPr>
            <a:r>
              <a:rPr lang="en-CA" sz="1400"/>
              <a:t>This feasibility scoring did not account for project timeline, SI skillsets and simplicity.</a:t>
            </a:r>
          </a:p>
          <a:p>
            <a:endParaRPr lang="en-CA" sz="2800" b="1" u="sng"/>
          </a:p>
          <a:p>
            <a:endParaRPr lang="en-CA" sz="3200" b="1" u="sng"/>
          </a:p>
        </p:txBody>
      </p:sp>
    </p:spTree>
    <p:extLst>
      <p:ext uri="{BB962C8B-B14F-4D97-AF65-F5344CB8AC3E}">
        <p14:creationId xmlns:p14="http://schemas.microsoft.com/office/powerpoint/2010/main" val="110676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8158"/>
            <a:ext cx="10972800" cy="926223"/>
          </a:xfrm>
        </p:spPr>
        <p:txBody>
          <a:bodyPr>
            <a:normAutofit fontScale="90000"/>
          </a:bodyPr>
          <a:lstStyle/>
          <a:p>
            <a:r>
              <a:rPr lang="en-US" sz="3700">
                <a:solidFill>
                  <a:srgbClr val="0070C0"/>
                </a:solidFill>
              </a:rPr>
              <a:t>Annex: BDM AI-enabled Knowledge Management </a:t>
            </a:r>
            <a:br>
              <a:rPr lang="en-US" sz="3700">
                <a:solidFill>
                  <a:srgbClr val="0070C0"/>
                </a:solidFill>
              </a:rPr>
            </a:br>
            <a:r>
              <a:rPr lang="en-US" sz="3700">
                <a:solidFill>
                  <a:srgbClr val="0070C0"/>
                </a:solidFill>
              </a:rPr>
              <a:t> – Security Scoring</a:t>
            </a:r>
          </a:p>
        </p:txBody>
      </p:sp>
      <p:sp>
        <p:nvSpPr>
          <p:cNvPr id="5" name="Slide Number Placeholder 4"/>
          <p:cNvSpPr>
            <a:spLocks noGrp="1"/>
          </p:cNvSpPr>
          <p:nvPr>
            <p:ph type="sldNum" idx="12"/>
          </p:nvPr>
        </p:nvSpPr>
        <p:spPr/>
        <p:txBody>
          <a:bodyPr/>
          <a:lstStyle/>
          <a:p>
            <a:fld id="{2E86C063-E22E-2E4C-A523-54089486E38F}" type="slidenum">
              <a:rPr lang="en-US" sz="800" smtClean="0">
                <a:solidFill>
                  <a:schemeClr val="tx1"/>
                </a:solidFill>
              </a:rPr>
              <a:t>21</a:t>
            </a:fld>
            <a:endParaRPr lang="en-US" sz="800">
              <a:solidFill>
                <a:schemeClr val="tx1"/>
              </a:solidFill>
            </a:endParaRPr>
          </a:p>
        </p:txBody>
      </p:sp>
      <p:sp>
        <p:nvSpPr>
          <p:cNvPr id="7" name="TextBox 6"/>
          <p:cNvSpPr txBox="1"/>
          <p:nvPr/>
        </p:nvSpPr>
        <p:spPr>
          <a:xfrm>
            <a:off x="482223" y="6356351"/>
            <a:ext cx="4239904" cy="318100"/>
          </a:xfrm>
          <a:prstGeom prst="rect">
            <a:avLst/>
          </a:prstGeom>
          <a:noFill/>
        </p:spPr>
        <p:txBody>
          <a:bodyPr wrap="square" lIns="91440" tIns="45720" rIns="91440" bIns="45720" rtlCol="0" anchor="t">
            <a:spAutoFit/>
          </a:bodyPr>
          <a:lstStyle/>
          <a:p>
            <a:r>
              <a:rPr lang="en-CA" sz="1450"/>
              <a:t>*High Score == High Security</a:t>
            </a:r>
            <a:endParaRPr lang="en-CA" sz="1467"/>
          </a:p>
        </p:txBody>
      </p:sp>
      <p:sp>
        <p:nvSpPr>
          <p:cNvPr id="9" name="TextBox 8"/>
          <p:cNvSpPr txBox="1"/>
          <p:nvPr/>
        </p:nvSpPr>
        <p:spPr>
          <a:xfrm>
            <a:off x="7348064" y="6355036"/>
            <a:ext cx="3612107" cy="318100"/>
          </a:xfrm>
          <a:prstGeom prst="rect">
            <a:avLst/>
          </a:prstGeom>
          <a:noFill/>
        </p:spPr>
        <p:txBody>
          <a:bodyPr wrap="square" rtlCol="0">
            <a:spAutoFit/>
          </a:bodyPr>
          <a:lstStyle/>
          <a:p>
            <a:r>
              <a:rPr lang="en-CA" sz="1467">
                <a:hlinkClick r:id="rId3"/>
              </a:rPr>
              <a:t>ESDC-SA - Security Ranking Template</a:t>
            </a:r>
            <a:endParaRPr lang="en-CA" sz="1467"/>
          </a:p>
        </p:txBody>
      </p:sp>
      <p:sp>
        <p:nvSpPr>
          <p:cNvPr id="3" name="TextBox 8">
            <a:extLst>
              <a:ext uri="{FF2B5EF4-FFF2-40B4-BE49-F238E27FC236}">
                <a16:creationId xmlns:a16="http://schemas.microsoft.com/office/drawing/2014/main" id="{3B45A2C4-0824-D991-A415-07AE179B04A4}"/>
              </a:ext>
            </a:extLst>
          </p:cNvPr>
          <p:cNvSpPr txBox="1"/>
          <p:nvPr/>
        </p:nvSpPr>
        <p:spPr>
          <a:xfrm>
            <a:off x="2974554" y="6356351"/>
            <a:ext cx="4635025" cy="315471"/>
          </a:xfrm>
          <a:prstGeom prst="rect">
            <a:avLst/>
          </a:prstGeom>
          <a:noFill/>
        </p:spPr>
        <p:txBody>
          <a:bodyPr wrap="square" lIns="91440" tIns="45720" rIns="91440" bIns="45720" rtlCol="0" anchor="t">
            <a:spAutoFit/>
          </a:bodyPr>
          <a:lstStyle/>
          <a:p>
            <a:r>
              <a:rPr lang="en-US" sz="1450">
                <a:ea typeface="+mn-lt"/>
                <a:cs typeface="+mn-lt"/>
                <a:hlinkClick r:id="rId4"/>
              </a:rPr>
              <a:t>AI-enabled Knowledge Management - Security Ranking</a:t>
            </a:r>
            <a:endParaRPr lang="en-CA" sz="1450">
              <a:cs typeface="Arial"/>
              <a:hlinkClick r:id="rId5"/>
            </a:endParaRPr>
          </a:p>
        </p:txBody>
      </p:sp>
      <p:graphicFrame>
        <p:nvGraphicFramePr>
          <p:cNvPr id="11" name="Table 10">
            <a:extLst>
              <a:ext uri="{FF2B5EF4-FFF2-40B4-BE49-F238E27FC236}">
                <a16:creationId xmlns:a16="http://schemas.microsoft.com/office/drawing/2014/main" id="{52A6BF97-D7A0-B4C2-0555-F25B340E04CA}"/>
              </a:ext>
            </a:extLst>
          </p:cNvPr>
          <p:cNvGraphicFramePr>
            <a:graphicFrameLocks noGrp="1"/>
          </p:cNvGraphicFramePr>
          <p:nvPr>
            <p:extLst>
              <p:ext uri="{D42A27DB-BD31-4B8C-83A1-F6EECF244321}">
                <p14:modId xmlns:p14="http://schemas.microsoft.com/office/powerpoint/2010/main" val="1628894173"/>
              </p:ext>
            </p:extLst>
          </p:nvPr>
        </p:nvGraphicFramePr>
        <p:xfrm>
          <a:off x="347132" y="1259597"/>
          <a:ext cx="8129167" cy="4943983"/>
        </p:xfrm>
        <a:graphic>
          <a:graphicData uri="http://schemas.openxmlformats.org/drawingml/2006/table">
            <a:tbl>
              <a:tblPr/>
              <a:tblGrid>
                <a:gridCol w="371961">
                  <a:extLst>
                    <a:ext uri="{9D8B030D-6E8A-4147-A177-3AD203B41FA5}">
                      <a16:colId xmlns:a16="http://schemas.microsoft.com/office/drawing/2014/main" val="836722359"/>
                    </a:ext>
                  </a:extLst>
                </a:gridCol>
                <a:gridCol w="241775">
                  <a:extLst>
                    <a:ext uri="{9D8B030D-6E8A-4147-A177-3AD203B41FA5}">
                      <a16:colId xmlns:a16="http://schemas.microsoft.com/office/drawing/2014/main" val="510189663"/>
                    </a:ext>
                  </a:extLst>
                </a:gridCol>
                <a:gridCol w="1829957">
                  <a:extLst>
                    <a:ext uri="{9D8B030D-6E8A-4147-A177-3AD203B41FA5}">
                      <a16:colId xmlns:a16="http://schemas.microsoft.com/office/drawing/2014/main" val="1098508722"/>
                    </a:ext>
                  </a:extLst>
                </a:gridCol>
                <a:gridCol w="590550">
                  <a:extLst>
                    <a:ext uri="{9D8B030D-6E8A-4147-A177-3AD203B41FA5}">
                      <a16:colId xmlns:a16="http://schemas.microsoft.com/office/drawing/2014/main" val="667523085"/>
                    </a:ext>
                  </a:extLst>
                </a:gridCol>
                <a:gridCol w="495300">
                  <a:extLst>
                    <a:ext uri="{9D8B030D-6E8A-4147-A177-3AD203B41FA5}">
                      <a16:colId xmlns:a16="http://schemas.microsoft.com/office/drawing/2014/main" val="611078354"/>
                    </a:ext>
                  </a:extLst>
                </a:gridCol>
                <a:gridCol w="333375">
                  <a:extLst>
                    <a:ext uri="{9D8B030D-6E8A-4147-A177-3AD203B41FA5}">
                      <a16:colId xmlns:a16="http://schemas.microsoft.com/office/drawing/2014/main" val="53367375"/>
                    </a:ext>
                  </a:extLst>
                </a:gridCol>
                <a:gridCol w="542925">
                  <a:extLst>
                    <a:ext uri="{9D8B030D-6E8A-4147-A177-3AD203B41FA5}">
                      <a16:colId xmlns:a16="http://schemas.microsoft.com/office/drawing/2014/main" val="1460519655"/>
                    </a:ext>
                  </a:extLst>
                </a:gridCol>
                <a:gridCol w="523875">
                  <a:extLst>
                    <a:ext uri="{9D8B030D-6E8A-4147-A177-3AD203B41FA5}">
                      <a16:colId xmlns:a16="http://schemas.microsoft.com/office/drawing/2014/main" val="2379660091"/>
                    </a:ext>
                  </a:extLst>
                </a:gridCol>
                <a:gridCol w="542925">
                  <a:extLst>
                    <a:ext uri="{9D8B030D-6E8A-4147-A177-3AD203B41FA5}">
                      <a16:colId xmlns:a16="http://schemas.microsoft.com/office/drawing/2014/main" val="4020489875"/>
                    </a:ext>
                  </a:extLst>
                </a:gridCol>
                <a:gridCol w="466725">
                  <a:extLst>
                    <a:ext uri="{9D8B030D-6E8A-4147-A177-3AD203B41FA5}">
                      <a16:colId xmlns:a16="http://schemas.microsoft.com/office/drawing/2014/main" val="127511522"/>
                    </a:ext>
                  </a:extLst>
                </a:gridCol>
                <a:gridCol w="619125">
                  <a:extLst>
                    <a:ext uri="{9D8B030D-6E8A-4147-A177-3AD203B41FA5}">
                      <a16:colId xmlns:a16="http://schemas.microsoft.com/office/drawing/2014/main" val="2087479991"/>
                    </a:ext>
                  </a:extLst>
                </a:gridCol>
                <a:gridCol w="466725">
                  <a:extLst>
                    <a:ext uri="{9D8B030D-6E8A-4147-A177-3AD203B41FA5}">
                      <a16:colId xmlns:a16="http://schemas.microsoft.com/office/drawing/2014/main" val="95690527"/>
                    </a:ext>
                  </a:extLst>
                </a:gridCol>
                <a:gridCol w="609601">
                  <a:extLst>
                    <a:ext uri="{9D8B030D-6E8A-4147-A177-3AD203B41FA5}">
                      <a16:colId xmlns:a16="http://schemas.microsoft.com/office/drawing/2014/main" val="988837153"/>
                    </a:ext>
                  </a:extLst>
                </a:gridCol>
                <a:gridCol w="494348">
                  <a:extLst>
                    <a:ext uri="{9D8B030D-6E8A-4147-A177-3AD203B41FA5}">
                      <a16:colId xmlns:a16="http://schemas.microsoft.com/office/drawing/2014/main" val="2980460309"/>
                    </a:ext>
                  </a:extLst>
                </a:gridCol>
              </a:tblGrid>
              <a:tr h="932016">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2">
                  <a:txBody>
                    <a:bodyPr/>
                    <a:lstStyle/>
                    <a:p>
                      <a:pPr algn="ctr" fontAlgn="ctr"/>
                      <a:r>
                        <a:rPr lang="en-CA" sz="1100" b="1" i="0" u="none" strike="noStrike">
                          <a:solidFill>
                            <a:srgbClr val="FFFFFF"/>
                          </a:solidFill>
                          <a:effectLst/>
                          <a:latin typeface="Calibri" panose="020F0502020204030204" pitchFamily="34" charset="0"/>
                        </a:rPr>
                        <a:t>OPTION 1</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lang="en-CA"/>
                    </a:p>
                  </a:txBody>
                  <a:tcPr/>
                </a:tc>
                <a:tc gridSpan="2">
                  <a:txBody>
                    <a:bodyPr/>
                    <a:lstStyle/>
                    <a:p>
                      <a:pPr algn="ctr" fontAlgn="ctr"/>
                      <a:r>
                        <a:rPr lang="en-CA" sz="1100" b="1" i="0" u="none" strike="noStrike">
                          <a:solidFill>
                            <a:srgbClr val="FFFFFF"/>
                          </a:solidFill>
                          <a:effectLst/>
                          <a:latin typeface="Calibri" panose="020F0502020204030204" pitchFamily="34" charset="0"/>
                        </a:rPr>
                        <a:t>OPTION 2</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lang="en-CA"/>
                    </a:p>
                  </a:txBody>
                  <a:tcPr/>
                </a:tc>
                <a:tc gridSpan="2">
                  <a:txBody>
                    <a:bodyPr/>
                    <a:lstStyle/>
                    <a:p>
                      <a:pPr algn="ctr" fontAlgn="ctr"/>
                      <a:r>
                        <a:rPr lang="en-CA" sz="1100" b="1" i="0" u="none" strike="noStrike">
                          <a:solidFill>
                            <a:srgbClr val="FFFFFF"/>
                          </a:solidFill>
                          <a:effectLst/>
                          <a:latin typeface="Calibri" panose="020F0502020204030204" pitchFamily="34" charset="0"/>
                        </a:rPr>
                        <a:t>OPTION 3</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lang="en-CA" sz="1100" b="1" i="0" u="none" strike="noStrike">
                        <a:solidFill>
                          <a:srgbClr val="FFFFFF"/>
                        </a:solidFill>
                        <a:effectLst/>
                        <a:latin typeface="Calibri" panose="020F0502020204030204" pitchFamily="34" charset="0"/>
                      </a:endParaRP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gridSpan="2">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CA" sz="1100" b="1" i="0" u="none" strike="noStrike">
                          <a:solidFill>
                            <a:srgbClr val="FFFFFF"/>
                          </a:solidFill>
                          <a:effectLst/>
                          <a:latin typeface="Calibri" panose="020F0502020204030204" pitchFamily="34" charset="0"/>
                        </a:rPr>
                        <a:t>OPTION 4</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lang="en-CA"/>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4098180642"/>
                  </a:ext>
                </a:extLst>
              </a:tr>
              <a:tr h="273041">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r>
                        <a:rPr lang="en-CA" sz="900" b="0" i="0" u="none" strike="noStrike">
                          <a:solidFill>
                            <a:srgbClr val="FFFFFF"/>
                          </a:solidFill>
                          <a:effectLst/>
                          <a:latin typeface="Calibri" panose="020F0502020204030204" pitchFamily="34" charset="0"/>
                        </a:rPr>
                        <a:t>Mandatory</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Optional</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100" b="1" i="0" u="none" strike="noStrike">
                          <a:solidFill>
                            <a:srgbClr val="FFFFFF"/>
                          </a:solidFill>
                          <a:effectLst/>
                          <a:latin typeface="Calibri" panose="020F0502020204030204" pitchFamily="34" charset="0"/>
                        </a:rPr>
                        <a:t>Total</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Mandatory</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Optional</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Mandatory</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Optional</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Mandatory</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r>
                        <a:rPr lang="en-CA" sz="900" b="0" i="0" u="none" strike="noStrike">
                          <a:solidFill>
                            <a:srgbClr val="FFFFFF"/>
                          </a:solidFill>
                          <a:effectLst/>
                          <a:latin typeface="Calibri" panose="020F0502020204030204" pitchFamily="34" charset="0"/>
                        </a:rPr>
                        <a:t>Optional</a:t>
                      </a:r>
                      <a:endParaRPr lang="en-CA"/>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900" b="0" i="0" u="none" strike="noStrike">
                          <a:solidFill>
                            <a:srgbClr val="FFFFFF"/>
                          </a:solidFill>
                          <a:effectLst/>
                          <a:latin typeface="Calibri" panose="020F0502020204030204" pitchFamily="34" charset="0"/>
                        </a:rPr>
                        <a:t>Mandatory</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r>
                        <a:rPr lang="en-CA" sz="900" b="0" i="0" u="none" strike="noStrike">
                          <a:solidFill>
                            <a:srgbClr val="FFFFFF"/>
                          </a:solidFill>
                          <a:effectLst/>
                          <a:latin typeface="Calibri" panose="020F0502020204030204" pitchFamily="34" charset="0"/>
                        </a:rPr>
                        <a:t>Optional</a:t>
                      </a:r>
                      <a:endParaRPr lang="en-CA"/>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166926540"/>
                  </a:ext>
                </a:extLst>
              </a:tr>
              <a:tr h="273041">
                <a:tc rowSpan="7">
                  <a:txBody>
                    <a:bodyPr/>
                    <a:lstStyle/>
                    <a:p>
                      <a:pPr algn="ctr" fontAlgn="ctr"/>
                      <a:r>
                        <a:rPr lang="en-CA" sz="1200" b="1" i="0" u="none" strike="noStrike">
                          <a:solidFill>
                            <a:srgbClr val="FFFFFF"/>
                          </a:solidFill>
                          <a:effectLst/>
                          <a:latin typeface="Calibri" panose="020F0502020204030204" pitchFamily="34" charset="0"/>
                        </a:rPr>
                        <a:t>SECURITY RANKING</a:t>
                      </a:r>
                    </a:p>
                  </a:txBody>
                  <a:tcPr marL="7584" marR="7584" marT="7584"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100" b="0" i="0" u="none" strike="noStrike">
                          <a:solidFill>
                            <a:srgbClr val="FFFFFF"/>
                          </a:solidFill>
                          <a:effectLst/>
                          <a:latin typeface="Calibri" panose="020F0502020204030204" pitchFamily="34" charset="0"/>
                        </a:rPr>
                        <a:t>1 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Secure Development and Framework</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10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10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856512517"/>
                  </a:ext>
                </a:extLst>
              </a:tr>
              <a:tr h="273041">
                <a:tc vMerge="1">
                  <a:txBody>
                    <a:bodyPr/>
                    <a:lstStyle/>
                    <a:p>
                      <a:endParaRPr lang="en-CA"/>
                    </a:p>
                  </a:txBody>
                  <a:tcPr/>
                </a:tc>
                <a:tc>
                  <a:txBody>
                    <a:bodyPr/>
                    <a:lstStyle/>
                    <a:p>
                      <a:pPr algn="ctr" fontAlgn="b"/>
                      <a:r>
                        <a:rPr lang="en-CA" sz="1100" b="0" i="0" u="none" strike="noStrike">
                          <a:solidFill>
                            <a:srgbClr val="FFFFFF"/>
                          </a:solidFill>
                          <a:effectLst/>
                          <a:latin typeface="Calibri" panose="020F0502020204030204" pitchFamily="34" charset="0"/>
                        </a:rPr>
                        <a:t>2 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Application Security Testing</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2</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8</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10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78599624"/>
                  </a:ext>
                </a:extLst>
              </a:tr>
              <a:tr h="273041">
                <a:tc vMerge="1">
                  <a:txBody>
                    <a:bodyPr/>
                    <a:lstStyle/>
                    <a:p>
                      <a:endParaRPr lang="en-CA"/>
                    </a:p>
                  </a:txBody>
                  <a:tcPr/>
                </a:tc>
                <a:tc>
                  <a:txBody>
                    <a:bodyPr/>
                    <a:lstStyle/>
                    <a:p>
                      <a:pPr algn="ctr" fontAlgn="b"/>
                      <a:r>
                        <a:rPr lang="en-CA" sz="1100" b="0" i="0" u="none" strike="noStrike">
                          <a:solidFill>
                            <a:srgbClr val="FFFFFF"/>
                          </a:solidFill>
                          <a:effectLst/>
                          <a:latin typeface="Calibri" panose="020F0502020204030204" pitchFamily="34" charset="0"/>
                        </a:rPr>
                        <a:t>3 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Network &amp; Communication Security (NCS)</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9</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1</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10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849007891"/>
                  </a:ext>
                </a:extLst>
              </a:tr>
              <a:tr h="273041">
                <a:tc vMerge="1">
                  <a:txBody>
                    <a:bodyPr/>
                    <a:lstStyle/>
                    <a:p>
                      <a:endParaRPr lang="en-CA"/>
                    </a:p>
                  </a:txBody>
                  <a:tcPr/>
                </a:tc>
                <a:tc>
                  <a:txBody>
                    <a:bodyPr/>
                    <a:lstStyle/>
                    <a:p>
                      <a:pPr algn="ctr" fontAlgn="b"/>
                      <a:r>
                        <a:rPr lang="en-CA" sz="1100" b="0" i="0" u="none" strike="noStrike">
                          <a:solidFill>
                            <a:srgbClr val="FFFFFF"/>
                          </a:solidFill>
                          <a:effectLst/>
                          <a:latin typeface="Calibri" panose="020F0502020204030204" pitchFamily="34" charset="0"/>
                        </a:rPr>
                        <a:t>4 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Security Logging &amp; Monitoring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2</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7</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9</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84871045"/>
                  </a:ext>
                </a:extLst>
              </a:tr>
              <a:tr h="273041">
                <a:tc vMerge="1">
                  <a:txBody>
                    <a:bodyPr/>
                    <a:lstStyle/>
                    <a:p>
                      <a:endParaRPr lang="en-CA"/>
                    </a:p>
                  </a:txBody>
                  <a:tcPr/>
                </a:tc>
                <a:tc>
                  <a:txBody>
                    <a:bodyPr/>
                    <a:lstStyle/>
                    <a:p>
                      <a:pPr algn="ctr" fontAlgn="b"/>
                      <a:r>
                        <a:rPr lang="en-CA" sz="1100" b="0" i="0" u="none" strike="noStrike">
                          <a:solidFill>
                            <a:srgbClr val="FFFFFF"/>
                          </a:solidFill>
                          <a:effectLst/>
                          <a:latin typeface="Calibri" panose="020F0502020204030204" pitchFamily="34" charset="0"/>
                        </a:rPr>
                        <a:t>5 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Identity &amp; Credential Security (ICS)</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6</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3</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9</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717128912"/>
                  </a:ext>
                </a:extLst>
              </a:tr>
              <a:tr h="273041">
                <a:tc vMerge="1">
                  <a:txBody>
                    <a:bodyPr/>
                    <a:lstStyle/>
                    <a:p>
                      <a:endParaRPr lang="en-CA"/>
                    </a:p>
                  </a:txBody>
                  <a:tcPr/>
                </a:tc>
                <a:tc>
                  <a:txBody>
                    <a:bodyPr/>
                    <a:lstStyle/>
                    <a:p>
                      <a:pPr algn="ctr" fontAlgn="b"/>
                      <a:r>
                        <a:rPr lang="en-CA" sz="1100" b="0" i="0" u="none" strike="noStrike">
                          <a:solidFill>
                            <a:srgbClr val="FFFFFF"/>
                          </a:solidFill>
                          <a:effectLst/>
                          <a:latin typeface="Calibri" panose="020F0502020204030204" pitchFamily="34" charset="0"/>
                        </a:rPr>
                        <a:t>6 </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Access management Security (AMS)</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10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10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998831250"/>
                  </a:ext>
                </a:extLst>
              </a:tr>
              <a:tr h="273041">
                <a:tc vMerge="1">
                  <a:txBody>
                    <a:bodyPr/>
                    <a:lstStyle/>
                    <a:p>
                      <a:endParaRPr lang="en-CA"/>
                    </a:p>
                  </a:txBody>
                  <a:tcPr/>
                </a:tc>
                <a:tc>
                  <a:txBody>
                    <a:bodyPr/>
                    <a:lstStyle/>
                    <a:p>
                      <a:pPr algn="ctr" fontAlgn="b"/>
                      <a:r>
                        <a:rPr lang="en-CA" sz="1100" b="0" i="0" u="none" strike="noStrike">
                          <a:solidFill>
                            <a:srgbClr val="FFFFFF"/>
                          </a:solidFill>
                          <a:effectLst/>
                          <a:latin typeface="Calibri" panose="020F0502020204030204" pitchFamily="34" charset="0"/>
                        </a:rPr>
                        <a:t>7</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CA" sz="1100" b="0" i="0" u="none" strike="noStrike">
                          <a:solidFill>
                            <a:srgbClr val="FFFFFF"/>
                          </a:solidFill>
                          <a:effectLst/>
                          <a:latin typeface="Calibri" panose="020F0502020204030204" pitchFamily="34" charset="0"/>
                        </a:rPr>
                        <a:t>Data &amp; Storage Security (DSS)</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CA" sz="1200" b="1" i="0" u="none" strike="noStrike">
                          <a:solidFill>
                            <a:srgbClr val="000000"/>
                          </a:solidFill>
                          <a:effectLst/>
                          <a:latin typeface="Calibri" panose="020F0502020204030204" pitchFamily="34" charset="0"/>
                        </a:rPr>
                        <a:t>3</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000000"/>
                          </a:solidFill>
                          <a:effectLst/>
                          <a:latin typeface="Calibri" panose="020F0502020204030204" pitchFamily="34" charset="0"/>
                        </a:rPr>
                        <a:t>11</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ctr" fontAlgn="b"/>
                      <a:r>
                        <a:rPr lang="en-CA" sz="1200" b="1" i="0" u="none" strike="noStrike">
                          <a:solidFill>
                            <a:srgbClr val="FFFFFF"/>
                          </a:solidFill>
                          <a:effectLst/>
                          <a:latin typeface="Calibri" panose="020F0502020204030204" pitchFamily="34" charset="0"/>
                        </a:rPr>
                        <a:t>14</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357942485"/>
                  </a:ext>
                </a:extLst>
              </a:tr>
              <a:tr h="273041">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CA" sz="8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endParaRPr lang="en-CA"/>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endParaRPr lang="en-CA"/>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endParaRPr lang="en-CA"/>
                    </a:p>
                  </a:txBody>
                  <a:tcPr marL="7584" marR="7584" marT="75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4054822"/>
                  </a:ext>
                </a:extLst>
              </a:tr>
              <a:tr h="305929">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SUBTOTALS:</a:t>
                      </a:r>
                    </a:p>
                  </a:txBody>
                  <a:tcPr marL="7584" marR="7584" marT="758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CA" sz="1400" b="1" i="0" u="none" strike="noStrike">
                          <a:solidFill>
                            <a:srgbClr val="FFFFFF"/>
                          </a:solidFill>
                          <a:effectLst/>
                          <a:latin typeface="Calibri" panose="020F0502020204030204" pitchFamily="34" charset="0"/>
                        </a:rPr>
                        <a:t>22</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400" b="1" i="0" u="none" strike="noStrike">
                          <a:solidFill>
                            <a:srgbClr val="FFFFFF"/>
                          </a:solidFill>
                          <a:effectLst/>
                          <a:latin typeface="Calibri" panose="020F0502020204030204" pitchFamily="34" charset="0"/>
                        </a:rPr>
                        <a:t>50</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400" b="1" i="0" u="none" strike="noStrike">
                          <a:solidFill>
                            <a:srgbClr val="FFFFFF"/>
                          </a:solidFill>
                          <a:effectLst/>
                          <a:latin typeface="Calibri" panose="020F0502020204030204" pitchFamily="34" charset="0"/>
                        </a:rPr>
                        <a:t>72</a:t>
                      </a:r>
                    </a:p>
                  </a:txBody>
                  <a:tcPr marL="7584" marR="7584" marT="7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CA" sz="1400" b="1" i="0" u="none" strike="noStrike">
                          <a:solidFill>
                            <a:srgbClr val="000000"/>
                          </a:solidFill>
                          <a:effectLst/>
                          <a:latin typeface="Calibri" panose="020F0502020204030204" pitchFamily="34" charset="0"/>
                        </a:rPr>
                        <a:t>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37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400" b="1" i="0" u="none" strike="noStrike">
                          <a:solidFill>
                            <a:srgbClr val="000000"/>
                          </a:solidFill>
                          <a:effectLst/>
                          <a:latin typeface="Calibri" panose="020F0502020204030204" pitchFamily="34" charset="0"/>
                        </a:rPr>
                        <a:t>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30703842"/>
                  </a:ext>
                </a:extLst>
              </a:tr>
              <a:tr h="311721">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PERCENTAGE:</a:t>
                      </a:r>
                    </a:p>
                  </a:txBody>
                  <a:tcPr marL="7584" marR="7584" marT="7584" marB="0" anchor="ctr">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endParaRPr lang="en-CA"/>
                    </a:p>
                  </a:txBody>
                  <a:tcPr marL="7584" marR="7584" marT="758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CA" sz="1400" b="1" i="0" u="none" strike="noStrike">
                          <a:solidFill>
                            <a:srgbClr val="FF0000"/>
                          </a:solidFill>
                          <a:effectLst/>
                          <a:latin typeface="Calibri" panose="020F0502020204030204" pitchFamily="34" charset="0"/>
                        </a:rPr>
                        <a:t>100%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74%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59%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59%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400" b="1" i="0" u="none" strike="noStrike">
                          <a:solidFill>
                            <a:srgbClr val="FF0000"/>
                          </a:solidFill>
                          <a:effectLst/>
                          <a:latin typeface="Calibri" panose="020F0502020204030204" pitchFamily="34"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1940717"/>
                  </a:ext>
                </a:extLst>
              </a:tr>
              <a:tr h="305929">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OVERALL PERCENTAGE SCORE (Optional + Mandatory):</a:t>
                      </a:r>
                    </a:p>
                  </a:txBody>
                  <a:tcPr marL="7584" marR="7584" marT="7584" marB="0" anchor="ctr">
                    <a:lnL>
                      <a:noFill/>
                    </a:lnL>
                    <a:lnR>
                      <a:noFill/>
                    </a:lnR>
                    <a:lnT>
                      <a:noFill/>
                    </a:lnT>
                    <a:lnB>
                      <a:noFill/>
                    </a:lnB>
                    <a:noFill/>
                  </a:tcPr>
                </a:tc>
                <a:tc>
                  <a:txBody>
                    <a:bodyPr/>
                    <a:lstStyle/>
                    <a:p>
                      <a:pPr algn="ctr" fontAlgn="ctr"/>
                      <a:endParaRPr lang="en-CA" sz="1100" b="0" i="1" u="none" strike="noStrike">
                        <a:solidFill>
                          <a:srgbClr val="000000"/>
                        </a:solidFill>
                        <a:effectLst/>
                        <a:latin typeface="Calibri" panose="020F0502020204030204" pitchFamily="34" charset="0"/>
                      </a:endParaRPr>
                    </a:p>
                  </a:txBody>
                  <a:tcPr marL="7584" marR="7584" marT="7584" marB="0" anchor="ctr">
                    <a:lnL>
                      <a:noFill/>
                    </a:lnL>
                    <a:lnR>
                      <a:noFill/>
                    </a:lnR>
                    <a:lnT>
                      <a:noFill/>
                    </a:lnT>
                    <a:lnB>
                      <a:noFill/>
                    </a:lnB>
                    <a:noFill/>
                  </a:tcPr>
                </a:tc>
                <a:tc>
                  <a:txBody>
                    <a:bodyPr/>
                    <a:lstStyle/>
                    <a:p>
                      <a:pPr algn="ctr" fontAlgn="ctr"/>
                      <a:endParaRPr lang="en-CA" sz="1100" b="0" i="1" u="none" strike="noStrike">
                        <a:solidFill>
                          <a:srgbClr val="000000"/>
                        </a:solidFill>
                        <a:effectLst/>
                        <a:latin typeface="Calibri" panose="020F0502020204030204" pitchFamily="34" charset="0"/>
                      </a:endParaRPr>
                    </a:p>
                  </a:txBody>
                  <a:tcPr marL="7584" marR="7584" marT="7584" marB="0" anchor="ctr">
                    <a:lnL>
                      <a:noFill/>
                    </a:lnL>
                    <a:lnR>
                      <a:noFill/>
                    </a:lnR>
                    <a:lnT>
                      <a:noFill/>
                    </a:lnT>
                    <a:lnB>
                      <a:noFill/>
                    </a:lnB>
                    <a:noFill/>
                  </a:tcPr>
                </a:tc>
                <a:tc>
                  <a:txBody>
                    <a:bodyPr/>
                    <a:lstStyle/>
                    <a:p>
                      <a:endParaRPr lang="en-CA"/>
                    </a:p>
                  </a:txBody>
                  <a:tcPr marL="7584" marR="7584" marT="7584" marB="0" anchor="ctr">
                    <a:lnL>
                      <a:noFill/>
                    </a:lnL>
                    <a:lnR w="6350" cap="flat" cmpd="sng" algn="ctr">
                      <a:solidFill>
                        <a:srgbClr val="000000"/>
                      </a:solidFill>
                      <a:prstDash val="solid"/>
                      <a:round/>
                      <a:headEnd type="none" w="med" len="med"/>
                      <a:tailEnd type="none" w="med" len="med"/>
                    </a:lnR>
                    <a:lnT>
                      <a:noFill/>
                    </a:lnT>
                    <a:lnB>
                      <a:noFill/>
                    </a:lnB>
                    <a:noFill/>
                  </a:tcPr>
                </a:tc>
                <a:tc gridSpan="2">
                  <a:txBody>
                    <a:bodyPr/>
                    <a:lstStyle/>
                    <a:p>
                      <a:pPr algn="ctr" fontAlgn="ctr"/>
                      <a:r>
                        <a:rPr lang="en-CA" sz="1400" b="1" i="0" u="none" strike="noStrike">
                          <a:solidFill>
                            <a:srgbClr val="FF0000"/>
                          </a:solidFill>
                          <a:effectLst/>
                          <a:latin typeface="Calibri" panose="020F0502020204030204" pitchFamily="34" charset="0"/>
                        </a:rPr>
                        <a:t>86%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hMerge="1">
                  <a:txBody>
                    <a:bodyPr/>
                    <a:lstStyle/>
                    <a:p>
                      <a:endParaRPr lang="en-CA"/>
                    </a:p>
                  </a:txBody>
                  <a:tcPr/>
                </a:tc>
                <a:tc gridSpan="2">
                  <a:txBody>
                    <a:bodyPr/>
                    <a:lstStyle/>
                    <a:p>
                      <a:pPr algn="ctr" fontAlgn="ctr"/>
                      <a:r>
                        <a:rPr lang="en-CA" sz="1400" b="1" i="0" u="none" strike="noStrike">
                          <a:solidFill>
                            <a:srgbClr val="FF0000"/>
                          </a:solidFill>
                          <a:effectLst/>
                          <a:latin typeface="Calibri" panose="020F0502020204030204" pitchFamily="34" charset="0"/>
                        </a:rPr>
                        <a:t>76%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hMerge="1">
                  <a:txBody>
                    <a:bodyPr/>
                    <a:lstStyle/>
                    <a:p>
                      <a:endParaRPr lang="en-CA"/>
                    </a:p>
                  </a:txBody>
                  <a:tcPr/>
                </a:tc>
                <a:tc gridSpan="2">
                  <a:txBody>
                    <a:bodyPr/>
                    <a:lstStyle/>
                    <a:p>
                      <a:pPr algn="ctr" fontAlgn="ctr"/>
                      <a:r>
                        <a:rPr lang="en-CA" sz="1400" b="1" i="0" u="none" strike="noStrike">
                          <a:solidFill>
                            <a:srgbClr val="FF0000"/>
                          </a:solidFill>
                          <a:effectLst/>
                          <a:latin typeface="Calibri" panose="020F0502020204030204" pitchFamily="34" charset="0"/>
                        </a:rPr>
                        <a:t>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hMerge="1">
                  <a:txBody>
                    <a:bodyPr/>
                    <a:lstStyle/>
                    <a:p>
                      <a:endParaRPr lang="en-CA"/>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gridSpan="2">
                  <a:txBody>
                    <a:bodyPr/>
                    <a:lstStyle/>
                    <a:p>
                      <a:pPr algn="ctr" fontAlgn="ctr"/>
                      <a:r>
                        <a:rPr lang="en-CA" sz="1400" b="1" i="0" u="none" strike="noStrike">
                          <a:solidFill>
                            <a:srgbClr val="FF0000"/>
                          </a:solidFill>
                          <a:effectLst/>
                          <a:latin typeface="Calibri" panose="020F0502020204030204" pitchFamily="34" charset="0"/>
                        </a:rPr>
                        <a:t>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hMerge="1">
                  <a:txBody>
                    <a:bodyPr/>
                    <a:lstStyle/>
                    <a:p>
                      <a:endParaRPr lang="en-CA"/>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108365282"/>
                  </a:ext>
                </a:extLst>
              </a:tr>
              <a:tr h="305929">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SECURITY RANKING VALUE:</a:t>
                      </a:r>
                    </a:p>
                  </a:txBody>
                  <a:tcPr marL="7584" marR="7584" marT="7584" marB="0" anchor="ctr">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7584" marR="7584" marT="7584" marB="0" anchor="b">
                    <a:lnL>
                      <a:noFill/>
                    </a:lnL>
                    <a:lnR>
                      <a:noFill/>
                    </a:lnR>
                    <a:lnT>
                      <a:noFill/>
                    </a:lnT>
                    <a:lnB>
                      <a:noFill/>
                    </a:lnB>
                    <a:noFill/>
                  </a:tcPr>
                </a:tc>
                <a:tc>
                  <a:txBody>
                    <a:bodyPr/>
                    <a:lstStyle/>
                    <a:p>
                      <a:endParaRPr lang="en-CA"/>
                    </a:p>
                  </a:txBody>
                  <a:tcPr marL="7584" marR="7584" marT="7584" marB="0" anchor="ctr">
                    <a:lnL>
                      <a:noFill/>
                    </a:lnL>
                    <a:lnR w="6350" cap="flat" cmpd="sng" algn="ctr">
                      <a:solidFill>
                        <a:srgbClr val="000000"/>
                      </a:solidFill>
                      <a:prstDash val="solid"/>
                      <a:round/>
                      <a:headEnd type="none" w="med" len="med"/>
                      <a:tailEnd type="none" w="med" len="med"/>
                    </a:lnR>
                    <a:lnT>
                      <a:noFill/>
                    </a:lnT>
                    <a:lnB>
                      <a:noFill/>
                    </a:lnB>
                    <a:noFill/>
                  </a:tcPr>
                </a:tc>
                <a:tc gridSpan="2">
                  <a:txBody>
                    <a:bodyPr/>
                    <a:lstStyle/>
                    <a:p>
                      <a:pPr algn="ctr" fontAlgn="ctr"/>
                      <a:r>
                        <a:rPr lang="en-CA" sz="1400" b="1" i="0" u="none" strike="noStrike">
                          <a:solidFill>
                            <a:srgbClr val="548235"/>
                          </a:solidFill>
                          <a:effectLst/>
                          <a:latin typeface="Calibri" panose="020F0502020204030204" pitchFamily="34" charset="0"/>
                        </a:rPr>
                        <a:t>High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hMerge="1">
                  <a:txBody>
                    <a:bodyPr/>
                    <a:lstStyle/>
                    <a:p>
                      <a:endParaRPr lang="en-CA"/>
                    </a:p>
                  </a:txBody>
                  <a:tcPr/>
                </a:tc>
                <a:tc gridSpan="2">
                  <a:txBody>
                    <a:bodyPr/>
                    <a:lstStyle/>
                    <a:p>
                      <a:pPr algn="ctr" fontAlgn="ctr"/>
                      <a:r>
                        <a:rPr lang="en-CA" sz="1400" b="1" i="0" u="none" strike="noStrike">
                          <a:solidFill>
                            <a:srgbClr val="548235"/>
                          </a:solidFill>
                          <a:effectLst/>
                          <a:latin typeface="Calibri" panose="020F0502020204030204" pitchFamily="34" charset="0"/>
                        </a:rPr>
                        <a:t>High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hMerge="1">
                  <a:txBody>
                    <a:bodyPr/>
                    <a:lstStyle/>
                    <a:p>
                      <a:endParaRPr lang="en-CA"/>
                    </a:p>
                  </a:txBody>
                  <a:tcPr/>
                </a:tc>
                <a:tc gridSpan="2">
                  <a:txBody>
                    <a:bodyPr/>
                    <a:lstStyle/>
                    <a:p>
                      <a:pPr algn="ctr" fontAlgn="ctr"/>
                      <a:r>
                        <a:rPr lang="en-CA" sz="1400" b="1" i="0" u="none" strike="noStrike">
                          <a:solidFill>
                            <a:srgbClr val="548235"/>
                          </a:solidFill>
                          <a:effectLst/>
                          <a:latin typeface="Calibri" panose="020F0502020204030204" pitchFamily="34" charset="0"/>
                        </a:rPr>
                        <a:t>Medium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hMerge="1">
                  <a:txBody>
                    <a:bodyPr/>
                    <a:lstStyle/>
                    <a:p>
                      <a:endParaRPr lang="en-CA"/>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gridSpan="2">
                  <a:txBody>
                    <a:bodyPr/>
                    <a:lstStyle/>
                    <a:p>
                      <a:pPr algn="ctr" fontAlgn="ctr"/>
                      <a:r>
                        <a:rPr lang="en-CA" sz="1400" b="1" i="0" u="none" strike="noStrike">
                          <a:solidFill>
                            <a:srgbClr val="548235"/>
                          </a:solidFill>
                          <a:effectLst/>
                          <a:latin typeface="Calibri" panose="020F0502020204030204" pitchFamily="34" charset="0"/>
                        </a:rPr>
                        <a:t>Medium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hMerge="1">
                  <a:txBody>
                    <a:bodyPr/>
                    <a:lstStyle/>
                    <a:p>
                      <a:endParaRPr lang="en-CA"/>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4201304679"/>
                  </a:ext>
                </a:extLst>
              </a:tr>
            </a:tbl>
          </a:graphicData>
        </a:graphic>
      </p:graphicFrame>
      <p:sp>
        <p:nvSpPr>
          <p:cNvPr id="13" name="TextBox 12">
            <a:extLst>
              <a:ext uri="{FF2B5EF4-FFF2-40B4-BE49-F238E27FC236}">
                <a16:creationId xmlns:a16="http://schemas.microsoft.com/office/drawing/2014/main" id="{C64462FB-B55A-63B5-F457-29C7722DFA2F}"/>
              </a:ext>
            </a:extLst>
          </p:cNvPr>
          <p:cNvSpPr txBox="1">
            <a:spLocks/>
          </p:cNvSpPr>
          <p:nvPr/>
        </p:nvSpPr>
        <p:spPr>
          <a:xfrm>
            <a:off x="8678333" y="1259597"/>
            <a:ext cx="2904067" cy="4655828"/>
          </a:xfrm>
          <a:prstGeom prst="rect">
            <a:avLst/>
          </a:prstGeom>
          <a:solidFill>
            <a:schemeClr val="accent4">
              <a:lumMod val="20000"/>
              <a:lumOff val="80000"/>
            </a:schemeClr>
          </a:solidFill>
          <a:ln>
            <a:solidFill>
              <a:schemeClr val="tx1"/>
            </a:solidFill>
          </a:ln>
        </p:spPr>
        <p:txBody>
          <a:bodyPr wrap="square" lIns="91440" tIns="45720" rIns="91440" bIns="45720" rtlCol="0" anchor="t">
            <a:noAutofit/>
          </a:bodyPr>
          <a:lstStyle/>
          <a:p>
            <a:pPr algn="ctr"/>
            <a:r>
              <a:rPr lang="en-CA" sz="3200" b="1" u="sng"/>
              <a:t>Notes</a:t>
            </a:r>
          </a:p>
          <a:p>
            <a:endParaRPr lang="en-CA" sz="1100" b="1" u="sng"/>
          </a:p>
          <a:p>
            <a:endParaRPr lang="en-CA" sz="1100" b="1" u="sng"/>
          </a:p>
          <a:p>
            <a:pPr marL="285750" indent="-285750">
              <a:buFont typeface="Arial" panose="020B0604020202020204" pitchFamily="34" charset="0"/>
              <a:buChar char="•"/>
            </a:pPr>
            <a:r>
              <a:rPr lang="en-CA" sz="1400">
                <a:cs typeface="Arial"/>
              </a:rPr>
              <a:t>Security ranking is measured based on limited information obtained on for Genesys and BMC Helix.</a:t>
            </a:r>
          </a:p>
          <a:p>
            <a:endParaRPr lang="en-CA" sz="1400">
              <a:cs typeface="Arial"/>
            </a:endParaRPr>
          </a:p>
          <a:p>
            <a:pPr marL="285750" indent="-285750">
              <a:buFont typeface="Arial" panose="020B0604020202020204" pitchFamily="34" charset="0"/>
              <a:buChar char="•"/>
            </a:pPr>
            <a:r>
              <a:rPr lang="en-CA" sz="1400">
                <a:cs typeface="Arial"/>
              </a:rPr>
              <a:t>Data stored are deemed to be Protect B or lower.</a:t>
            </a:r>
          </a:p>
          <a:p>
            <a:pPr marL="285750" indent="-285750">
              <a:buFont typeface="Arial" panose="020B0604020202020204" pitchFamily="34" charset="0"/>
              <a:buChar char="•"/>
            </a:pPr>
            <a:endParaRPr lang="en-CA" sz="1400">
              <a:cs typeface="Arial"/>
            </a:endParaRPr>
          </a:p>
          <a:p>
            <a:endParaRPr lang="en-CA" sz="2800" b="1" u="sng">
              <a:cs typeface="Arial"/>
            </a:endParaRPr>
          </a:p>
          <a:p>
            <a:endParaRPr lang="en-CA" sz="3200" b="1" u="sng">
              <a:cs typeface="Arial"/>
            </a:endParaRPr>
          </a:p>
        </p:txBody>
      </p:sp>
    </p:spTree>
    <p:extLst>
      <p:ext uri="{BB962C8B-B14F-4D97-AF65-F5344CB8AC3E}">
        <p14:creationId xmlns:p14="http://schemas.microsoft.com/office/powerpoint/2010/main" val="2629464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8158"/>
            <a:ext cx="10972800" cy="926223"/>
          </a:xfrm>
        </p:spPr>
        <p:txBody>
          <a:bodyPr>
            <a:normAutofit fontScale="90000"/>
          </a:bodyPr>
          <a:lstStyle/>
          <a:p>
            <a:r>
              <a:rPr lang="en-US" sz="3700">
                <a:solidFill>
                  <a:srgbClr val="0070C0"/>
                </a:solidFill>
              </a:rPr>
              <a:t>Annex: BDM AI-enabled Knowledge Management </a:t>
            </a:r>
            <a:br>
              <a:rPr lang="en-US" sz="3700">
                <a:solidFill>
                  <a:srgbClr val="0070C0"/>
                </a:solidFill>
              </a:rPr>
            </a:br>
            <a:r>
              <a:rPr lang="en-US" sz="3700">
                <a:solidFill>
                  <a:srgbClr val="0070C0"/>
                </a:solidFill>
              </a:rPr>
              <a:t>– Data Scoring</a:t>
            </a:r>
          </a:p>
        </p:txBody>
      </p:sp>
      <p:sp>
        <p:nvSpPr>
          <p:cNvPr id="5" name="Slide Number Placeholder 4"/>
          <p:cNvSpPr>
            <a:spLocks noGrp="1"/>
          </p:cNvSpPr>
          <p:nvPr>
            <p:ph type="sldNum" idx="12"/>
          </p:nvPr>
        </p:nvSpPr>
        <p:spPr/>
        <p:txBody>
          <a:bodyPr/>
          <a:lstStyle/>
          <a:p>
            <a:fld id="{2E86C063-E22E-2E4C-A523-54089486E38F}" type="slidenum">
              <a:rPr lang="en-US" sz="800" smtClean="0">
                <a:solidFill>
                  <a:schemeClr val="tx1"/>
                </a:solidFill>
              </a:rPr>
              <a:t>22</a:t>
            </a:fld>
            <a:endParaRPr lang="en-US" sz="800">
              <a:solidFill>
                <a:schemeClr val="tx1"/>
              </a:solidFill>
            </a:endParaRPr>
          </a:p>
        </p:txBody>
      </p:sp>
      <p:sp>
        <p:nvSpPr>
          <p:cNvPr id="6" name="TextBox 5"/>
          <p:cNvSpPr txBox="1">
            <a:spLocks/>
          </p:cNvSpPr>
          <p:nvPr/>
        </p:nvSpPr>
        <p:spPr>
          <a:xfrm>
            <a:off x="9714016" y="1642167"/>
            <a:ext cx="2184878" cy="3906104"/>
          </a:xfrm>
          <a:prstGeom prst="rect">
            <a:avLst/>
          </a:prstGeom>
          <a:solidFill>
            <a:srgbClr val="FFF5C9"/>
          </a:solidFill>
          <a:ln>
            <a:solidFill>
              <a:schemeClr val="tx1"/>
            </a:solidFill>
          </a:ln>
        </p:spPr>
        <p:txBody>
          <a:bodyPr wrap="square" lIns="91440" tIns="45720" rIns="91440" bIns="45720" rtlCol="0" anchor="t">
            <a:noAutofit/>
          </a:bodyPr>
          <a:lstStyle/>
          <a:p>
            <a:pPr algn="ctr"/>
            <a:r>
              <a:rPr lang="en-CA" sz="3200" b="1" u="sng"/>
              <a:t>NOTES</a:t>
            </a:r>
          </a:p>
          <a:p>
            <a:endParaRPr lang="en-CA" sz="1200"/>
          </a:p>
          <a:p>
            <a:pPr marL="171450" indent="-171450">
              <a:buFont typeface="Arial" panose="020B0604020202020204" pitchFamily="34" charset="0"/>
              <a:buChar char="•"/>
            </a:pPr>
            <a:r>
              <a:rPr lang="en-CA" sz="1200"/>
              <a:t>Option 3 and 4 are measured based on limited information obtained on for Genesys and BMC Helix.</a:t>
            </a:r>
          </a:p>
          <a:p>
            <a:pPr marL="171450" indent="-171450">
              <a:buFont typeface="Arial" panose="020B0604020202020204" pitchFamily="34" charset="0"/>
              <a:buChar char="•"/>
            </a:pPr>
            <a:endParaRPr lang="en-CA" sz="1200"/>
          </a:p>
          <a:p>
            <a:pPr marL="171450" indent="-171450">
              <a:buFont typeface="Arial" panose="020B0604020202020204" pitchFamily="34" charset="0"/>
              <a:buChar char="•"/>
            </a:pPr>
            <a:r>
              <a:rPr lang="en-CA" sz="1200"/>
              <a:t>Data stored are deemed to be Protect B or lower.</a:t>
            </a:r>
          </a:p>
        </p:txBody>
      </p:sp>
      <p:sp>
        <p:nvSpPr>
          <p:cNvPr id="3" name="TextBox 2"/>
          <p:cNvSpPr txBox="1"/>
          <p:nvPr/>
        </p:nvSpPr>
        <p:spPr>
          <a:xfrm>
            <a:off x="352068" y="5980903"/>
            <a:ext cx="4239904" cy="318100"/>
          </a:xfrm>
          <a:prstGeom prst="rect">
            <a:avLst/>
          </a:prstGeom>
          <a:noFill/>
        </p:spPr>
        <p:txBody>
          <a:bodyPr wrap="square" rtlCol="0">
            <a:spAutoFit/>
          </a:bodyPr>
          <a:lstStyle/>
          <a:p>
            <a:r>
              <a:rPr lang="en-CA" sz="1467"/>
              <a:t>*High Score == High EA Alignment</a:t>
            </a:r>
          </a:p>
        </p:txBody>
      </p:sp>
      <p:sp>
        <p:nvSpPr>
          <p:cNvPr id="7" name="TextBox 6"/>
          <p:cNvSpPr txBox="1"/>
          <p:nvPr/>
        </p:nvSpPr>
        <p:spPr>
          <a:xfrm>
            <a:off x="8221864" y="6336350"/>
            <a:ext cx="3360536" cy="307777"/>
          </a:xfrm>
          <a:prstGeom prst="rect">
            <a:avLst/>
          </a:prstGeom>
          <a:noFill/>
        </p:spPr>
        <p:txBody>
          <a:bodyPr wrap="square" rtlCol="0">
            <a:spAutoFit/>
          </a:bodyPr>
          <a:lstStyle/>
          <a:p>
            <a:r>
              <a:rPr lang="it-IT" sz="1400">
                <a:hlinkClick r:id="rId3"/>
              </a:rPr>
              <a:t>ESDC-CDOB - EARB Data Score - GUIDE</a:t>
            </a:r>
            <a:endParaRPr lang="en-CA" sz="1400"/>
          </a:p>
        </p:txBody>
      </p:sp>
      <p:sp>
        <p:nvSpPr>
          <p:cNvPr id="9" name="TextBox 8">
            <a:extLst>
              <a:ext uri="{FF2B5EF4-FFF2-40B4-BE49-F238E27FC236}">
                <a16:creationId xmlns:a16="http://schemas.microsoft.com/office/drawing/2014/main" id="{E346D27F-E5B6-20F6-CD86-FC9F589EEFD6}"/>
              </a:ext>
            </a:extLst>
          </p:cNvPr>
          <p:cNvSpPr txBox="1"/>
          <p:nvPr/>
        </p:nvSpPr>
        <p:spPr>
          <a:xfrm>
            <a:off x="1889413" y="6356349"/>
            <a:ext cx="5687045" cy="307777"/>
          </a:xfrm>
          <a:prstGeom prst="rect">
            <a:avLst/>
          </a:prstGeom>
          <a:noFill/>
        </p:spPr>
        <p:txBody>
          <a:bodyPr wrap="square" rtlCol="0">
            <a:spAutoFit/>
          </a:bodyPr>
          <a:lstStyle>
            <a:defPPr>
              <a:defRPr lang="en-US"/>
            </a:defPPr>
            <a:lvl1pPr>
              <a:defRPr sz="1467"/>
            </a:lvl1pPr>
          </a:lstStyle>
          <a:p>
            <a:r>
              <a:rPr lang="en-US" sz="1400">
                <a:hlinkClick r:id="rId4"/>
              </a:rPr>
              <a:t>ESDC-CDOB - EARB Data Score - BDM AI-enabled Knowledge Management</a:t>
            </a:r>
            <a:endParaRPr lang="en-CA" sz="1400"/>
          </a:p>
        </p:txBody>
      </p:sp>
      <p:graphicFrame>
        <p:nvGraphicFramePr>
          <p:cNvPr id="242" name="Table 241">
            <a:extLst>
              <a:ext uri="{FF2B5EF4-FFF2-40B4-BE49-F238E27FC236}">
                <a16:creationId xmlns:a16="http://schemas.microsoft.com/office/drawing/2014/main" id="{35BD331C-5A42-8A5E-F6B7-480454590E6C}"/>
              </a:ext>
            </a:extLst>
          </p:cNvPr>
          <p:cNvGraphicFramePr>
            <a:graphicFrameLocks noGrp="1"/>
          </p:cNvGraphicFramePr>
          <p:nvPr>
            <p:extLst>
              <p:ext uri="{D42A27DB-BD31-4B8C-83A1-F6EECF244321}">
                <p14:modId xmlns:p14="http://schemas.microsoft.com/office/powerpoint/2010/main" val="2715680626"/>
              </p:ext>
            </p:extLst>
          </p:nvPr>
        </p:nvGraphicFramePr>
        <p:xfrm>
          <a:off x="609599" y="1643020"/>
          <a:ext cx="8950325" cy="3953223"/>
        </p:xfrm>
        <a:graphic>
          <a:graphicData uri="http://schemas.openxmlformats.org/drawingml/2006/table">
            <a:tbl>
              <a:tblPr/>
              <a:tblGrid>
                <a:gridCol w="221114">
                  <a:extLst>
                    <a:ext uri="{9D8B030D-6E8A-4147-A177-3AD203B41FA5}">
                      <a16:colId xmlns:a16="http://schemas.microsoft.com/office/drawing/2014/main" val="2028270573"/>
                    </a:ext>
                  </a:extLst>
                </a:gridCol>
                <a:gridCol w="372409">
                  <a:extLst>
                    <a:ext uri="{9D8B030D-6E8A-4147-A177-3AD203B41FA5}">
                      <a16:colId xmlns:a16="http://schemas.microsoft.com/office/drawing/2014/main" val="956523967"/>
                    </a:ext>
                  </a:extLst>
                </a:gridCol>
                <a:gridCol w="4344587">
                  <a:extLst>
                    <a:ext uri="{9D8B030D-6E8A-4147-A177-3AD203B41FA5}">
                      <a16:colId xmlns:a16="http://schemas.microsoft.com/office/drawing/2014/main" val="265822694"/>
                    </a:ext>
                  </a:extLst>
                </a:gridCol>
                <a:gridCol w="608976">
                  <a:extLst>
                    <a:ext uri="{9D8B030D-6E8A-4147-A177-3AD203B41FA5}">
                      <a16:colId xmlns:a16="http://schemas.microsoft.com/office/drawing/2014/main" val="2089510379"/>
                    </a:ext>
                  </a:extLst>
                </a:gridCol>
                <a:gridCol w="853715">
                  <a:extLst>
                    <a:ext uri="{9D8B030D-6E8A-4147-A177-3AD203B41FA5}">
                      <a16:colId xmlns:a16="http://schemas.microsoft.com/office/drawing/2014/main" val="2520044853"/>
                    </a:ext>
                  </a:extLst>
                </a:gridCol>
                <a:gridCol w="953655">
                  <a:extLst>
                    <a:ext uri="{9D8B030D-6E8A-4147-A177-3AD203B41FA5}">
                      <a16:colId xmlns:a16="http://schemas.microsoft.com/office/drawing/2014/main" val="12671263"/>
                    </a:ext>
                  </a:extLst>
                </a:gridCol>
                <a:gridCol w="692184">
                  <a:extLst>
                    <a:ext uri="{9D8B030D-6E8A-4147-A177-3AD203B41FA5}">
                      <a16:colId xmlns:a16="http://schemas.microsoft.com/office/drawing/2014/main" val="3174277805"/>
                    </a:ext>
                  </a:extLst>
                </a:gridCol>
                <a:gridCol w="903685">
                  <a:extLst>
                    <a:ext uri="{9D8B030D-6E8A-4147-A177-3AD203B41FA5}">
                      <a16:colId xmlns:a16="http://schemas.microsoft.com/office/drawing/2014/main" val="4007447180"/>
                    </a:ext>
                  </a:extLst>
                </a:gridCol>
              </a:tblGrid>
              <a:tr h="1027042">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r>
                        <a:rPr lang="en-CA" sz="1100" b="0" i="0" u="none" strike="noStrike">
                          <a:solidFill>
                            <a:srgbClr val="000000"/>
                          </a:solidFill>
                          <a:effectLst/>
                          <a:latin typeface="Calibri" panose="020F0502020204030204" pitchFamily="34" charset="0"/>
                        </a:rPr>
                        <a:t>Total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CA" sz="1100" b="0" i="0" u="none" strike="noStrike">
                          <a:solidFill>
                            <a:srgbClr val="000000"/>
                          </a:solidFill>
                          <a:effectLst/>
                          <a:latin typeface="Calibri" panose="020F0502020204030204" pitchFamily="34" charset="0"/>
                        </a:rPr>
                        <a:t>OPTION 1: SharePoint Online + AI components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CA" sz="1100" b="0" i="0" u="none" strike="noStrike">
                          <a:solidFill>
                            <a:srgbClr val="000000"/>
                          </a:solidFill>
                          <a:effectLst/>
                          <a:latin typeface="Calibri" panose="020F0502020204030204" pitchFamily="34" charset="0"/>
                        </a:rPr>
                        <a:t>OPTION 2: Open-source + development + AI components (WCMS)​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OPTION 3: Genesys Cloud + AI components​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OPTION 4: BMC Helix Knowledge Management by ComAround​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3852533831"/>
                  </a:ext>
                </a:extLst>
              </a:tr>
              <a:tr h="217985">
                <a:tc rowSpan="8">
                  <a:txBody>
                    <a:bodyPr/>
                    <a:lstStyle/>
                    <a:p>
                      <a:pPr algn="ctr" fontAlgn="ctr"/>
                      <a:r>
                        <a:rPr lang="en-CA" sz="1200" b="1" i="0" u="none" strike="noStrike">
                          <a:solidFill>
                            <a:srgbClr val="000000"/>
                          </a:solidFill>
                          <a:effectLst/>
                          <a:latin typeface="Calibri" panose="020F0502020204030204" pitchFamily="34" charset="0"/>
                        </a:rPr>
                        <a:t>CDO Data Score</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Information and Data are Shared Assets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11.2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9710032"/>
                  </a:ext>
                </a:extLst>
              </a:tr>
              <a:tr h="217985">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Information and Data are Protected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28</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5062483"/>
                  </a:ext>
                </a:extLst>
              </a:tr>
              <a:tr h="217985">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Information and Data are easy to use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26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26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33994810"/>
                  </a:ext>
                </a:extLst>
              </a:tr>
              <a:tr h="419201">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Information and Data are fit-for-purpose (well-equipped or well suited for its designated role)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409804097"/>
                  </a:ext>
                </a:extLst>
              </a:tr>
              <a:tr h="217985">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Information and Data are understood and trusted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15.2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178076455"/>
                  </a:ext>
                </a:extLst>
              </a:tr>
              <a:tr h="217985">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Information and Data Management respects privacy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16.4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569846213"/>
                  </a:ext>
                </a:extLst>
              </a:tr>
              <a:tr h="217985">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Architected Across Boundaries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92309708"/>
                  </a:ext>
                </a:extLst>
              </a:tr>
              <a:tr h="217985">
                <a:tc vMerge="1">
                  <a:txBody>
                    <a:bodyPr/>
                    <a:lstStyle/>
                    <a:p>
                      <a:endParaRPr lang="en-CA"/>
                    </a:p>
                  </a:txBody>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r>
                        <a:rPr lang="en-CA" sz="1100" b="0" i="0" u="none" strike="noStrike">
                          <a:solidFill>
                            <a:srgbClr val="000000"/>
                          </a:solidFill>
                          <a:effectLst/>
                          <a:latin typeface="Calibri" panose="020F0502020204030204" pitchFamily="34" charset="0"/>
                        </a:rPr>
                        <a:t>Foundational Data Infrastructure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1" i="0" u="none" strike="noStrike">
                          <a:solidFill>
                            <a:srgbClr val="000000"/>
                          </a:solidFill>
                          <a:effectLst/>
                          <a:latin typeface="Calibri" panose="020F0502020204030204" pitchFamily="34" charset="0"/>
                        </a:rPr>
                        <a:t>31.4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100" b="0" i="0" u="none" strike="noStrike">
                          <a:solidFill>
                            <a:srgbClr val="000000"/>
                          </a:solidFill>
                          <a:effectLst/>
                          <a:latin typeface="Calibri" panose="020F0502020204030204" pitchFamily="34" charset="0"/>
                        </a:rPr>
                        <a:t>17</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13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100" b="0" i="0" u="none" strike="noStrike">
                          <a:solidFill>
                            <a:srgbClr val="000000"/>
                          </a:solidFill>
                          <a:effectLst/>
                          <a:latin typeface="Calibri" panose="020F0502020204030204" pitchFamily="34" charset="0"/>
                        </a:rPr>
                        <a:t>8</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993262906"/>
                  </a:ext>
                </a:extLst>
              </a:tr>
              <a:tr h="21798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endParaRPr lang="en-CA"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100" b="0" i="0" u="none" strike="noStrike">
                        <a:solidFill>
                          <a:srgbClr val="000000"/>
                        </a:solidFill>
                        <a:effectLst/>
                        <a:latin typeface="Calibri" panose="020F0502020204030204" pitchFamily="34" charset="0"/>
                      </a:endParaRPr>
                    </a:p>
                  </a:txBody>
                  <a:tcPr marL="7620" marR="7620" marT="762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1059968"/>
                  </a:ext>
                </a:extLst>
              </a:tr>
              <a:tr h="21798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Totals</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CA" sz="1200" b="1" i="0" u="none" strike="noStrike">
                          <a:solidFill>
                            <a:srgbClr val="000000"/>
                          </a:solidFill>
                          <a:effectLst/>
                          <a:latin typeface="Calibri" panose="020F0502020204030204" pitchFamily="34"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CA" sz="1200" b="1" i="0" u="none" strike="noStrike">
                          <a:solidFill>
                            <a:srgbClr val="000000"/>
                          </a:solidFill>
                          <a:effectLst/>
                          <a:latin typeface="Calibri" panose="020F0502020204030204" pitchFamily="34" charset="0"/>
                        </a:rPr>
                        <a:t>144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122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96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CA" sz="1200" b="1" i="0" u="none" strike="noStrike">
                          <a:solidFill>
                            <a:srgbClr val="000000"/>
                          </a:solidFill>
                          <a:effectLst/>
                          <a:latin typeface="Calibri" panose="020F0502020204030204" pitchFamily="34" charset="0"/>
                        </a:rPr>
                        <a:t>95</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607190626"/>
                  </a:ext>
                </a:extLst>
              </a:tr>
              <a:tr h="217985">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Score (percent)</a:t>
                      </a:r>
                    </a:p>
                  </a:txBody>
                  <a:tcPr marL="0" marR="0" marT="0" marB="0" anchor="ctr">
                    <a:lnL>
                      <a:noFill/>
                    </a:lnL>
                    <a:lnR>
                      <a:noFill/>
                    </a:lnR>
                    <a:lnT>
                      <a:noFill/>
                    </a:lnT>
                    <a:lnB>
                      <a:noFill/>
                    </a:lnB>
                    <a:noFill/>
                  </a:tcPr>
                </a:tc>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CA" sz="1200" b="1" i="0" u="none" strike="noStrike">
                          <a:solidFill>
                            <a:srgbClr val="FF0000"/>
                          </a:solidFill>
                          <a:effectLst/>
                          <a:latin typeface="Calibri" panose="020F0502020204030204" pitchFamily="34" charset="0"/>
                        </a:rPr>
                        <a:t>90%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76%</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60%</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r>
                        <a:rPr lang="en-CA" sz="1200" b="1" i="0" u="none" strike="noStrike">
                          <a:solidFill>
                            <a:srgbClr val="FF0000"/>
                          </a:solidFill>
                          <a:effectLst/>
                          <a:latin typeface="Calibri" panose="020F0502020204030204" pitchFamily="34" charset="0"/>
                        </a:rPr>
                        <a:t>59%</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3586899261"/>
                  </a:ext>
                </a:extLst>
              </a:tr>
              <a:tr h="234753">
                <a:tc>
                  <a:txBody>
                    <a:bodyPr/>
                    <a:lstStyle/>
                    <a:p>
                      <a:pPr algn="l"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ctr" fontAlgn="b"/>
                      <a:endParaRPr lang="en-CA"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ctr"/>
                      <a:r>
                        <a:rPr lang="en-CA" sz="1100" b="0" i="1" u="none" strike="noStrike">
                          <a:solidFill>
                            <a:srgbClr val="000000"/>
                          </a:solidFill>
                          <a:effectLst/>
                          <a:latin typeface="Calibri" panose="020F0502020204030204" pitchFamily="34" charset="0"/>
                        </a:rPr>
                        <a:t>CDO DATA SCORE RANKING NUMBERS:</a:t>
                      </a:r>
                    </a:p>
                  </a:txBody>
                  <a:tcPr marL="0" marR="0" marT="0" marB="0" anchor="ctr">
                    <a:lnL>
                      <a:noFill/>
                    </a:lnL>
                    <a:lnR>
                      <a:noFill/>
                    </a:lnR>
                    <a:lnT>
                      <a:noFill/>
                    </a:lnT>
                    <a:lnB>
                      <a:noFill/>
                    </a:lnB>
                    <a:noFill/>
                  </a:tcPr>
                </a:tc>
                <a:tc>
                  <a:txBody>
                    <a:bodyPr/>
                    <a:lstStyle/>
                    <a:p>
                      <a:pPr algn="r" fontAlgn="ctr"/>
                      <a:endParaRPr lang="en-CA" sz="1100" b="0" i="1" u="none" strike="noStrike">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CA" sz="1400" b="1" i="0" u="none" strike="noStrike">
                          <a:solidFill>
                            <a:srgbClr val="548235"/>
                          </a:solidFill>
                          <a:effectLst/>
                          <a:latin typeface="Calibri" panose="020F0502020204030204" pitchFamily="34" charset="0"/>
                        </a:rPr>
                        <a:t>1</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2</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3</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ctr"/>
                      <a:r>
                        <a:rPr lang="en-CA" sz="1400" b="1" i="0" u="none" strike="noStrike">
                          <a:solidFill>
                            <a:srgbClr val="548235"/>
                          </a:solidFill>
                          <a:effectLst/>
                          <a:latin typeface="Calibri" panose="020F0502020204030204" pitchFamily="34" charset="0"/>
                        </a:rPr>
                        <a:t>4</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1022760086"/>
                  </a:ext>
                </a:extLst>
              </a:tr>
            </a:tbl>
          </a:graphicData>
        </a:graphic>
      </p:graphicFrame>
      <p:sp>
        <p:nvSpPr>
          <p:cNvPr id="243" name="Octagon 242">
            <a:extLst>
              <a:ext uri="{FF2B5EF4-FFF2-40B4-BE49-F238E27FC236}">
                <a16:creationId xmlns:a16="http://schemas.microsoft.com/office/drawing/2014/main" id="{00000000-0008-0000-0000-000002000000}"/>
              </a:ext>
            </a:extLst>
          </p:cNvPr>
          <p:cNvSpPr/>
          <p:nvPr/>
        </p:nvSpPr>
        <p:spPr>
          <a:xfrm>
            <a:off x="878681" y="1642167"/>
            <a:ext cx="541338" cy="495300"/>
          </a:xfrm>
          <a:prstGeom prst="octagon">
            <a:avLst/>
          </a:prstGeom>
          <a:solidFill>
            <a:srgbClr val="FFD96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CA" sz="2800">
                <a:solidFill>
                  <a:sysClr val="windowText" lastClr="000000"/>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4125431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A50DBB-D2CB-BDCB-90A6-81A8559B754F}"/>
              </a:ext>
            </a:extLst>
          </p:cNvPr>
          <p:cNvSpPr>
            <a:spLocks noGrp="1"/>
          </p:cNvSpPr>
          <p:nvPr>
            <p:ph type="sldNum" sz="quarter" idx="12"/>
          </p:nvPr>
        </p:nvSpPr>
        <p:spPr>
          <a:xfrm>
            <a:off x="11677645" y="6494330"/>
            <a:ext cx="514355" cy="365125"/>
          </a:xfrm>
        </p:spPr>
        <p:txBody>
          <a:bodyPr anchor="ctr">
            <a:normAutofit/>
          </a:bodyPr>
          <a:lstStyle/>
          <a:p>
            <a:pPr>
              <a:spcAft>
                <a:spcPts val="600"/>
              </a:spcAft>
            </a:pPr>
            <a:fld id="{ABCE2B6B-7FFE-FA46-BED3-31567387080B}" type="slidenum">
              <a:rPr lang="en-US" smtClean="0"/>
              <a:pPr>
                <a:spcAft>
                  <a:spcPts val="600"/>
                </a:spcAft>
              </a:pPr>
              <a:t>23</a:t>
            </a:fld>
            <a:endParaRPr lang="en-US"/>
          </a:p>
        </p:txBody>
      </p:sp>
      <p:pic>
        <p:nvPicPr>
          <p:cNvPr id="4" name="Picture 3">
            <a:extLst>
              <a:ext uri="{FF2B5EF4-FFF2-40B4-BE49-F238E27FC236}">
                <a16:creationId xmlns:a16="http://schemas.microsoft.com/office/drawing/2014/main" id="{3D315C9E-B7FC-1635-CEEB-DAF2353949FD}"/>
              </a:ext>
            </a:extLst>
          </p:cNvPr>
          <p:cNvPicPr>
            <a:picLocks noChangeAspect="1"/>
          </p:cNvPicPr>
          <p:nvPr/>
        </p:nvPicPr>
        <p:blipFill>
          <a:blip r:embed="rId2"/>
          <a:stretch>
            <a:fillRect/>
          </a:stretch>
        </p:blipFill>
        <p:spPr>
          <a:xfrm>
            <a:off x="120250" y="1016732"/>
            <a:ext cx="10416868" cy="5612668"/>
          </a:xfrm>
          <a:prstGeom prst="rect">
            <a:avLst/>
          </a:prstGeom>
          <a:noFill/>
        </p:spPr>
      </p:pic>
      <p:sp>
        <p:nvSpPr>
          <p:cNvPr id="9" name="Title 3">
            <a:extLst>
              <a:ext uri="{FF2B5EF4-FFF2-40B4-BE49-F238E27FC236}">
                <a16:creationId xmlns:a16="http://schemas.microsoft.com/office/drawing/2014/main" id="{CB58C9AF-2F6B-F900-BC5E-E3EC04FD9429}"/>
              </a:ext>
            </a:extLst>
          </p:cNvPr>
          <p:cNvSpPr>
            <a:spLocks noGrp="1"/>
          </p:cNvSpPr>
          <p:nvPr>
            <p:ph type="title"/>
          </p:nvPr>
        </p:nvSpPr>
        <p:spPr>
          <a:xfrm>
            <a:off x="1012265" y="138062"/>
            <a:ext cx="7243976" cy="878670"/>
          </a:xfrm>
        </p:spPr>
        <p:txBody>
          <a:bodyPr/>
          <a:lstStyle/>
          <a:p>
            <a:r>
              <a:rPr lang="en-US"/>
              <a:t>APM Assessment Result - Knowledge Portal</a:t>
            </a:r>
          </a:p>
        </p:txBody>
      </p:sp>
    </p:spTree>
    <p:extLst>
      <p:ext uri="{BB962C8B-B14F-4D97-AF65-F5344CB8AC3E}">
        <p14:creationId xmlns:p14="http://schemas.microsoft.com/office/powerpoint/2010/main" val="957630551"/>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BCE2B6B-7FFE-FA46-BED3-31567387080B}" type="slidenum">
              <a:rPr lang="en-US" sz="800" dirty="0" smtClean="0">
                <a:solidFill>
                  <a:srgbClr val="7F7F7F"/>
                </a:solidFill>
                <a:latin typeface="Arial"/>
                <a:ea typeface="Verdana"/>
                <a:cs typeface="Calibri"/>
              </a:rPr>
              <a:t>24</a:t>
            </a:fld>
            <a:endParaRPr lang="en-US" sz="800">
              <a:solidFill>
                <a:srgbClr val="7F7F7F"/>
              </a:solidFill>
              <a:latin typeface="Arial"/>
              <a:ea typeface="Verdana"/>
              <a:cs typeface="Calibri"/>
            </a:endParaRPr>
          </a:p>
        </p:txBody>
      </p:sp>
      <p:sp>
        <p:nvSpPr>
          <p:cNvPr id="3" name="TextBox 2"/>
          <p:cNvSpPr txBox="1"/>
          <p:nvPr/>
        </p:nvSpPr>
        <p:spPr>
          <a:xfrm>
            <a:off x="637562" y="3865388"/>
            <a:ext cx="10088103" cy="461665"/>
          </a:xfrm>
          <a:prstGeom prst="rect">
            <a:avLst/>
          </a:prstGeom>
          <a:noFill/>
        </p:spPr>
        <p:txBody>
          <a:bodyPr wrap="square" lIns="91440" tIns="45720" rIns="91440" bIns="45720" rtlCol="0" anchor="t">
            <a:spAutoFit/>
          </a:bodyPr>
          <a:lstStyle/>
          <a:p>
            <a:r>
              <a:rPr lang="en-CA" sz="2400" b="1">
                <a:latin typeface="Arial"/>
                <a:ea typeface="Verdana"/>
                <a:cs typeface="Verdana" panose="020B0604030504040204" pitchFamily="34" charset="0"/>
              </a:rPr>
              <a:t>Annex A: Key Activities to date on Knowledge Management</a:t>
            </a:r>
          </a:p>
        </p:txBody>
      </p:sp>
    </p:spTree>
    <p:extLst>
      <p:ext uri="{BB962C8B-B14F-4D97-AF65-F5344CB8AC3E}">
        <p14:creationId xmlns:p14="http://schemas.microsoft.com/office/powerpoint/2010/main" val="1438965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A04831-1B8F-29CD-C738-A680E99025AD}"/>
              </a:ext>
            </a:extLst>
          </p:cNvPr>
          <p:cNvSpPr>
            <a:spLocks noGrp="1"/>
          </p:cNvSpPr>
          <p:nvPr>
            <p:ph type="sldNum" sz="quarter" idx="12"/>
          </p:nvPr>
        </p:nvSpPr>
        <p:spPr/>
        <p:txBody>
          <a:bodyPr/>
          <a:lstStyle/>
          <a:p>
            <a:fld id="{ABCE2B6B-7FFE-FA46-BED3-31567387080B}" type="slidenum">
              <a:rPr lang="en-US" smtClean="0"/>
              <a:t>25</a:t>
            </a:fld>
            <a:endParaRPr lang="en-US"/>
          </a:p>
        </p:txBody>
      </p:sp>
      <p:sp>
        <p:nvSpPr>
          <p:cNvPr id="4" name="Rectangle 3">
            <a:extLst>
              <a:ext uri="{FF2B5EF4-FFF2-40B4-BE49-F238E27FC236}">
                <a16:creationId xmlns:a16="http://schemas.microsoft.com/office/drawing/2014/main" id="{006B46EC-FE63-C0BC-4FA4-E1040FCBDA9A}"/>
              </a:ext>
            </a:extLst>
          </p:cNvPr>
          <p:cNvSpPr/>
          <p:nvPr/>
        </p:nvSpPr>
        <p:spPr>
          <a:xfrm>
            <a:off x="685798" y="963314"/>
            <a:ext cx="10642109" cy="5355312"/>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CA">
              <a:latin typeface="Arial" panose="020B0604020202020204" pitchFamily="34" charset="0"/>
              <a:ea typeface="Verdana"/>
              <a:cs typeface="Arial" panose="020B0604020202020204" pitchFamily="34" charset="0"/>
            </a:endParaRPr>
          </a:p>
          <a:p>
            <a:pPr marL="342900" indent="-342900" algn="l" rtl="0" fontAlgn="base">
              <a:buFont typeface="Arial" panose="020B0604020202020204" pitchFamily="34" charset="0"/>
              <a:buChar char="•"/>
            </a:pPr>
            <a:r>
              <a:rPr lang="en-CA">
                <a:latin typeface="Arial" panose="020B0604020202020204" pitchFamily="34" charset="0"/>
                <a:cs typeface="Arial" panose="020B0604020202020204" pitchFamily="34" charset="0"/>
                <a:hlinkClick r:id="rId2"/>
              </a:rPr>
              <a:t>September 2020: As part of the low fidelity Overall Solution Architecture prototype, fit gap and option analysis was completed by the SIs.  </a:t>
            </a:r>
            <a:endParaRPr lang="en-CA">
              <a:latin typeface="Arial" panose="020B0604020202020204" pitchFamily="34" charset="0"/>
              <a:cs typeface="Arial" panose="020B0604020202020204" pitchFamily="34" charset="0"/>
            </a:endParaRPr>
          </a:p>
          <a:p>
            <a:pPr marL="342900" indent="-342900" algn="l" rtl="0" fontAlgn="base">
              <a:buFont typeface="Arial" panose="020B0604020202020204" pitchFamily="34" charset="0"/>
              <a:buChar char="•"/>
            </a:pPr>
            <a:endParaRPr lang="en-CA">
              <a:latin typeface="Arial" panose="020B0604020202020204" pitchFamily="34" charset="0"/>
              <a:cs typeface="Arial" panose="020B0604020202020204" pitchFamily="34" charset="0"/>
            </a:endParaRPr>
          </a:p>
          <a:p>
            <a:pPr marL="342900" indent="-342900" fontAlgn="base">
              <a:buFont typeface="Arial" panose="020B0604020202020204" pitchFamily="34" charset="0"/>
              <a:buChar char="•"/>
            </a:pPr>
            <a:r>
              <a:rPr lang="en-CA">
                <a:latin typeface="Arial" panose="020B0604020202020204" pitchFamily="34" charset="0"/>
                <a:cs typeface="Arial" panose="020B0604020202020204" pitchFamily="34" charset="0"/>
                <a:hlinkClick r:id="rId3"/>
              </a:rPr>
              <a:t>March 2021: EARB endorsed the direction to procure and implement an ancillary Knowledge Management solution for BDM T1</a:t>
            </a:r>
            <a:endParaRPr lang="en-CA">
              <a:latin typeface="Arial" panose="020B0604020202020204" pitchFamily="34" charset="0"/>
              <a:cs typeface="Arial" panose="020B0604020202020204" pitchFamily="34" charset="0"/>
            </a:endParaRPr>
          </a:p>
          <a:p>
            <a:pPr algn="l" rtl="0" fontAlgn="base">
              <a:buFont typeface="Arial" panose="020B0604020202020204" pitchFamily="34" charset="0"/>
              <a:buChar char="•"/>
            </a:pPr>
            <a:endParaRPr lang="en-CA" b="0" i="0">
              <a:solidFill>
                <a:srgbClr val="000000"/>
              </a:solidFill>
              <a:effectLst/>
              <a:latin typeface="Arial" panose="020B0604020202020204" pitchFamily="34" charset="0"/>
              <a:cs typeface="Arial" panose="020B0604020202020204" pitchFamily="34" charset="0"/>
            </a:endParaRPr>
          </a:p>
          <a:p>
            <a:pPr marL="285750" indent="-285750" algn="l" rtl="0" fontAlgn="base">
              <a:buFont typeface="Arial" panose="020B0604020202020204" pitchFamily="34" charset="0"/>
              <a:buChar char="•"/>
            </a:pPr>
            <a:r>
              <a:rPr lang="en-CA" b="0" i="0" u="none" strike="noStrike">
                <a:solidFill>
                  <a:srgbClr val="000000"/>
                </a:solidFill>
                <a:effectLst/>
                <a:latin typeface="Arial" panose="020B0604020202020204" pitchFamily="34" charset="0"/>
                <a:cs typeface="Arial" panose="020B0604020202020204" pitchFamily="34" charset="0"/>
              </a:rPr>
              <a:t>May 2022: Procurement was initiated with PSPC. Procurement was put on hold due to a prioritization of BDM procurements and capacity issues from PSPC.  </a:t>
            </a:r>
            <a:r>
              <a:rPr lang="en-CA" b="0" i="0">
                <a:solidFill>
                  <a:srgbClr val="000000"/>
                </a:solidFill>
                <a:effectLst/>
                <a:latin typeface="Arial" panose="020B0604020202020204" pitchFamily="34" charset="0"/>
                <a:cs typeface="Arial" panose="020B0604020202020204" pitchFamily="34" charset="0"/>
              </a:rPr>
              <a:t>​</a:t>
            </a:r>
          </a:p>
          <a:p>
            <a:pPr marL="342900" indent="-342900" algn="l" rtl="0" fontAlgn="base">
              <a:buFont typeface="Arial" panose="020B0604020202020204" pitchFamily="34" charset="0"/>
              <a:buChar char="•"/>
            </a:pPr>
            <a:endParaRPr lang="en-CA" b="0" i="0">
              <a:solidFill>
                <a:srgbClr val="000000"/>
              </a:solidFill>
              <a:effectLst/>
              <a:latin typeface="Arial" panose="020B0604020202020204" pitchFamily="34" charset="0"/>
              <a:cs typeface="Arial" panose="020B0604020202020204" pitchFamily="34" charset="0"/>
            </a:endParaRPr>
          </a:p>
          <a:p>
            <a:pPr marL="285750" indent="-285750" algn="l" rtl="0" fontAlgn="base">
              <a:buFont typeface="Arial" panose="020B0604020202020204" pitchFamily="34" charset="0"/>
              <a:buChar char="•"/>
            </a:pPr>
            <a:r>
              <a:rPr lang="en-CA" b="0" i="0" u="none" strike="noStrike">
                <a:solidFill>
                  <a:srgbClr val="000000"/>
                </a:solidFill>
                <a:effectLst/>
                <a:latin typeface="Arial" panose="020B0604020202020204" pitchFamily="34" charset="0"/>
                <a:cs typeface="Arial" panose="020B0604020202020204" pitchFamily="34" charset="0"/>
                <a:hlinkClick r:id="rId4"/>
              </a:rPr>
              <a:t>June 2022: As part of the BDM Foundations, Accenture was contracted to conduct a Fit Gap Analysis and assess KM solutions currently in use at ESDC. The resulting recommendation represents a significant change from the previously approved direction and raises several questions and concerns.</a:t>
            </a:r>
            <a:r>
              <a:rPr lang="en-US" b="0" i="0">
                <a:solidFill>
                  <a:srgbClr val="000000"/>
                </a:solidFill>
                <a:effectLst/>
                <a:latin typeface="Arial" panose="020B0604020202020204" pitchFamily="34" charset="0"/>
                <a:cs typeface="Arial" panose="020B0604020202020204" pitchFamily="34" charset="0"/>
                <a:hlinkClick r:id="rId4"/>
              </a:rPr>
              <a:t>​</a:t>
            </a:r>
            <a:endParaRPr lang="en-US" b="0" i="0">
              <a:solidFill>
                <a:srgbClr val="000000"/>
              </a:solidFill>
              <a:effectLst/>
              <a:latin typeface="Arial" panose="020B0604020202020204" pitchFamily="34" charset="0"/>
              <a:cs typeface="Arial" panose="020B0604020202020204" pitchFamily="34" charset="0"/>
            </a:endParaRPr>
          </a:p>
          <a:p>
            <a:pPr algn="l" rtl="0" fontAlgn="base"/>
            <a:endParaRPr lang="en-US" b="0" i="0">
              <a:solidFill>
                <a:srgbClr val="000000"/>
              </a:solidFill>
              <a:effectLst/>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CA">
                <a:latin typeface="Arial" panose="020B0604020202020204" pitchFamily="34" charset="0"/>
                <a:cs typeface="Arial" panose="020B0604020202020204" pitchFamily="34" charset="0"/>
                <a:hlinkClick r:id="rId5"/>
              </a:rPr>
              <a:t>November 2022: BDM Architecture Report on Accenture Analysis</a:t>
            </a:r>
            <a:endParaRPr lang="en-CA">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CA">
              <a:latin typeface="Arial" panose="020B0604020202020204" pitchFamily="34" charset="0"/>
              <a:ea typeface="Verdana"/>
              <a:cs typeface="Arial" panose="020B0604020202020204" pitchFamily="34" charset="0"/>
            </a:endParaRPr>
          </a:p>
          <a:p>
            <a:pPr marL="342900" indent="-342900">
              <a:buFont typeface="Arial" panose="020B0604020202020204" pitchFamily="34" charset="0"/>
              <a:buChar char="•"/>
            </a:pPr>
            <a:r>
              <a:rPr lang="en-CA">
                <a:latin typeface="Arial" panose="020B0604020202020204" pitchFamily="34" charset="0"/>
                <a:cs typeface="Arial" panose="020B0604020202020204" pitchFamily="34" charset="0"/>
                <a:hlinkClick r:id="rId6"/>
              </a:rPr>
              <a:t>July 2024: Option Analysis as Informed by KM AI </a:t>
            </a:r>
            <a:r>
              <a:rPr lang="en-CA" err="1">
                <a:latin typeface="Arial" panose="020B0604020202020204" pitchFamily="34" charset="0"/>
                <a:cs typeface="Arial" panose="020B0604020202020204" pitchFamily="34" charset="0"/>
                <a:hlinkClick r:id="rId6"/>
              </a:rPr>
              <a:t>PoCs</a:t>
            </a:r>
            <a:r>
              <a:rPr lang="en-CA">
                <a:latin typeface="Arial" panose="020B0604020202020204" pitchFamily="34" charset="0"/>
                <a:cs typeface="Arial" panose="020B0604020202020204" pitchFamily="34" charset="0"/>
                <a:hlinkClick r:id="rId6"/>
              </a:rPr>
              <a:t> performed by Fujitsu</a:t>
            </a:r>
            <a:endParaRPr lang="en-CA">
              <a:latin typeface="Arial" panose="020B0604020202020204" pitchFamily="34" charset="0"/>
              <a:ea typeface="Verdana"/>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ea typeface="Verdana"/>
              <a:cs typeface="Arial" panose="020B0604020202020204" pitchFamily="34" charset="0"/>
            </a:endParaRPr>
          </a:p>
        </p:txBody>
      </p:sp>
      <p:sp>
        <p:nvSpPr>
          <p:cNvPr id="6" name="TextBox 5">
            <a:extLst>
              <a:ext uri="{FF2B5EF4-FFF2-40B4-BE49-F238E27FC236}">
                <a16:creationId xmlns:a16="http://schemas.microsoft.com/office/drawing/2014/main" id="{A81B9AB1-8BE0-B720-8FC2-59A7950A223E}"/>
              </a:ext>
            </a:extLst>
          </p:cNvPr>
          <p:cNvSpPr txBox="1"/>
          <p:nvPr/>
        </p:nvSpPr>
        <p:spPr>
          <a:xfrm>
            <a:off x="685799" y="501649"/>
            <a:ext cx="10207101" cy="461665"/>
          </a:xfrm>
          <a:prstGeom prst="rect">
            <a:avLst/>
          </a:prstGeom>
          <a:noFill/>
        </p:spPr>
        <p:txBody>
          <a:bodyPr wrap="square">
            <a:spAutoFit/>
          </a:bodyPr>
          <a:lstStyle/>
          <a:p>
            <a:r>
              <a:rPr lang="en-CA" sz="2400" b="1" i="0" u="none" strike="noStrike">
                <a:solidFill>
                  <a:srgbClr val="000000"/>
                </a:solidFill>
                <a:effectLst/>
                <a:latin typeface="Arial" panose="020B0604020202020204" pitchFamily="34" charset="0"/>
              </a:rPr>
              <a:t>Key Activities to date on Knowledge Management</a:t>
            </a:r>
            <a:endParaRPr lang="en-CA" sz="2400"/>
          </a:p>
        </p:txBody>
      </p:sp>
    </p:spTree>
    <p:extLst>
      <p:ext uri="{BB962C8B-B14F-4D97-AF65-F5344CB8AC3E}">
        <p14:creationId xmlns:p14="http://schemas.microsoft.com/office/powerpoint/2010/main" val="3888111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88722746-905D-5735-7C3C-A26097A8D319}"/>
              </a:ext>
            </a:extLst>
          </p:cNvPr>
          <p:cNvSpPr txBox="1"/>
          <p:nvPr/>
        </p:nvSpPr>
        <p:spPr>
          <a:xfrm>
            <a:off x="754184" y="2562442"/>
            <a:ext cx="1621093" cy="956103"/>
          </a:xfrm>
          <a:prstGeom prst="rect">
            <a:avLst/>
          </a:prstGeom>
          <a:solidFill>
            <a:schemeClr val="tx2">
              <a:lumMod val="20000"/>
              <a:lumOff val="8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 name="TextBox 36">
            <a:extLst>
              <a:ext uri="{FF2B5EF4-FFF2-40B4-BE49-F238E27FC236}">
                <a16:creationId xmlns:a16="http://schemas.microsoft.com/office/drawing/2014/main" id="{B93C540B-3A5C-27CE-9D2C-08288050BE7F}"/>
              </a:ext>
            </a:extLst>
          </p:cNvPr>
          <p:cNvSpPr txBox="1"/>
          <p:nvPr/>
        </p:nvSpPr>
        <p:spPr>
          <a:xfrm>
            <a:off x="2650574" y="2562442"/>
            <a:ext cx="1621093" cy="956103"/>
          </a:xfrm>
          <a:prstGeom prst="rect">
            <a:avLst/>
          </a:prstGeom>
          <a:solidFill>
            <a:schemeClr val="tx2">
              <a:lumMod val="20000"/>
              <a:lumOff val="8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 name="TextBox 37">
            <a:extLst>
              <a:ext uri="{FF2B5EF4-FFF2-40B4-BE49-F238E27FC236}">
                <a16:creationId xmlns:a16="http://schemas.microsoft.com/office/drawing/2014/main" id="{DFFADEE0-CFEA-677B-FAE7-66E55A422BA1}"/>
              </a:ext>
            </a:extLst>
          </p:cNvPr>
          <p:cNvSpPr txBox="1"/>
          <p:nvPr/>
        </p:nvSpPr>
        <p:spPr>
          <a:xfrm>
            <a:off x="4546963" y="2562442"/>
            <a:ext cx="1621093" cy="956103"/>
          </a:xfrm>
          <a:prstGeom prst="rect">
            <a:avLst/>
          </a:prstGeom>
          <a:solidFill>
            <a:schemeClr val="tx2">
              <a:lumMod val="20000"/>
              <a:lumOff val="8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 name="TextBox 38">
            <a:extLst>
              <a:ext uri="{FF2B5EF4-FFF2-40B4-BE49-F238E27FC236}">
                <a16:creationId xmlns:a16="http://schemas.microsoft.com/office/drawing/2014/main" id="{83EE4984-36BA-46D6-A784-6D6488783A9F}"/>
              </a:ext>
            </a:extLst>
          </p:cNvPr>
          <p:cNvSpPr txBox="1"/>
          <p:nvPr/>
        </p:nvSpPr>
        <p:spPr>
          <a:xfrm>
            <a:off x="6443352" y="2562442"/>
            <a:ext cx="1621093" cy="956103"/>
          </a:xfrm>
          <a:prstGeom prst="rect">
            <a:avLst/>
          </a:prstGeom>
          <a:solidFill>
            <a:schemeClr val="tx2">
              <a:lumMod val="20000"/>
              <a:lumOff val="8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 name="TextBox 39">
            <a:extLst>
              <a:ext uri="{FF2B5EF4-FFF2-40B4-BE49-F238E27FC236}">
                <a16:creationId xmlns:a16="http://schemas.microsoft.com/office/drawing/2014/main" id="{8F1B3EDF-3FBC-6159-0FCD-983F82104CA3}"/>
              </a:ext>
            </a:extLst>
          </p:cNvPr>
          <p:cNvSpPr txBox="1"/>
          <p:nvPr/>
        </p:nvSpPr>
        <p:spPr>
          <a:xfrm>
            <a:off x="8339742" y="2562442"/>
            <a:ext cx="1621093" cy="956103"/>
          </a:xfrm>
          <a:prstGeom prst="rect">
            <a:avLst/>
          </a:prstGeom>
          <a:solidFill>
            <a:schemeClr val="tx2">
              <a:lumMod val="20000"/>
              <a:lumOff val="8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TextBox 40">
            <a:extLst>
              <a:ext uri="{FF2B5EF4-FFF2-40B4-BE49-F238E27FC236}">
                <a16:creationId xmlns:a16="http://schemas.microsoft.com/office/drawing/2014/main" id="{273F0C1E-686C-9626-24C9-4EECEFC7EC2C}"/>
              </a:ext>
            </a:extLst>
          </p:cNvPr>
          <p:cNvSpPr txBox="1"/>
          <p:nvPr/>
        </p:nvSpPr>
        <p:spPr>
          <a:xfrm>
            <a:off x="10236131" y="2562442"/>
            <a:ext cx="1621093" cy="956103"/>
          </a:xfrm>
          <a:prstGeom prst="rect">
            <a:avLst/>
          </a:prstGeom>
          <a:solidFill>
            <a:schemeClr val="tx2">
              <a:lumMod val="20000"/>
              <a:lumOff val="8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 name="Title 1">
            <a:extLst>
              <a:ext uri="{FF2B5EF4-FFF2-40B4-BE49-F238E27FC236}">
                <a16:creationId xmlns:a16="http://schemas.microsoft.com/office/drawing/2014/main" id="{59504250-EDAD-1BE2-15B9-2F03553A8773}"/>
              </a:ext>
            </a:extLst>
          </p:cNvPr>
          <p:cNvSpPr>
            <a:spLocks noGrp="1"/>
          </p:cNvSpPr>
          <p:nvPr>
            <p:ph type="title"/>
          </p:nvPr>
        </p:nvSpPr>
        <p:spPr/>
        <p:txBody>
          <a:bodyPr/>
          <a:lstStyle/>
          <a:p>
            <a:r>
              <a:rPr lang="en-CA">
                <a:latin typeface="Arial"/>
                <a:cs typeface="Arial"/>
              </a:rPr>
              <a:t>Business Context: Knowledge Management Lifecycle Stages</a:t>
            </a:r>
            <a:endParaRPr lang="en-CA"/>
          </a:p>
        </p:txBody>
      </p:sp>
      <p:sp>
        <p:nvSpPr>
          <p:cNvPr id="8" name="TextBox 7">
            <a:extLst>
              <a:ext uri="{FF2B5EF4-FFF2-40B4-BE49-F238E27FC236}">
                <a16:creationId xmlns:a16="http://schemas.microsoft.com/office/drawing/2014/main" id="{D2C90BA5-8E2C-16ED-3907-73A4D437C8C5}"/>
              </a:ext>
            </a:extLst>
          </p:cNvPr>
          <p:cNvSpPr txBox="1"/>
          <p:nvPr/>
        </p:nvSpPr>
        <p:spPr>
          <a:xfrm>
            <a:off x="754184" y="1860810"/>
            <a:ext cx="1621093" cy="613949"/>
          </a:xfrm>
          <a:prstGeom prst="rect">
            <a:avLst/>
          </a:prstGeom>
          <a:solidFill>
            <a:schemeClr val="tx2">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a:ln>
                  <a:noFill/>
                </a:ln>
                <a:solidFill>
                  <a:srgbClr val="000000"/>
                </a:solidFill>
                <a:effectLst/>
                <a:uLnTx/>
                <a:uFillTx/>
                <a:latin typeface="Arial"/>
                <a:ea typeface="+mn-ea"/>
                <a:cs typeface="Arial"/>
                <a:sym typeface="Arial"/>
              </a:rPr>
              <a:t>CREATION OR ACQUISITION</a:t>
            </a:r>
          </a:p>
        </p:txBody>
      </p:sp>
      <p:sp>
        <p:nvSpPr>
          <p:cNvPr id="9" name="TextBox 8">
            <a:extLst>
              <a:ext uri="{FF2B5EF4-FFF2-40B4-BE49-F238E27FC236}">
                <a16:creationId xmlns:a16="http://schemas.microsoft.com/office/drawing/2014/main" id="{38617C1E-D062-ABA8-1C46-DB0F34879663}"/>
              </a:ext>
            </a:extLst>
          </p:cNvPr>
          <p:cNvSpPr txBox="1"/>
          <p:nvPr/>
        </p:nvSpPr>
        <p:spPr>
          <a:xfrm>
            <a:off x="2650574" y="1860810"/>
            <a:ext cx="1621093" cy="613949"/>
          </a:xfrm>
          <a:prstGeom prst="rect">
            <a:avLst/>
          </a:prstGeom>
          <a:solidFill>
            <a:schemeClr val="tx2">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a:ln>
                  <a:noFill/>
                </a:ln>
                <a:solidFill>
                  <a:srgbClr val="000000"/>
                </a:solidFill>
                <a:effectLst/>
                <a:uLnTx/>
                <a:uFillTx/>
                <a:latin typeface="Arial"/>
                <a:ea typeface="+mn-ea"/>
                <a:cs typeface="Arial"/>
                <a:sym typeface="Arial"/>
              </a:rPr>
              <a:t>ORGANIZATION</a:t>
            </a:r>
          </a:p>
        </p:txBody>
      </p:sp>
      <p:sp>
        <p:nvSpPr>
          <p:cNvPr id="10" name="TextBox 9">
            <a:extLst>
              <a:ext uri="{FF2B5EF4-FFF2-40B4-BE49-F238E27FC236}">
                <a16:creationId xmlns:a16="http://schemas.microsoft.com/office/drawing/2014/main" id="{49846F1E-026D-4149-886D-DB894840576A}"/>
              </a:ext>
            </a:extLst>
          </p:cNvPr>
          <p:cNvSpPr txBox="1"/>
          <p:nvPr/>
        </p:nvSpPr>
        <p:spPr>
          <a:xfrm>
            <a:off x="6443352" y="1860810"/>
            <a:ext cx="1621093" cy="613949"/>
          </a:xfrm>
          <a:prstGeom prst="rect">
            <a:avLst/>
          </a:prstGeom>
          <a:solidFill>
            <a:schemeClr val="tx2">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a:ln>
                  <a:noFill/>
                </a:ln>
                <a:solidFill>
                  <a:srgbClr val="000000"/>
                </a:solidFill>
                <a:effectLst/>
                <a:uLnTx/>
                <a:uFillTx/>
                <a:latin typeface="Arial"/>
                <a:ea typeface="+mn-ea"/>
                <a:cs typeface="Arial"/>
                <a:sym typeface="Arial"/>
              </a:rPr>
              <a:t>DISSEMINATION</a:t>
            </a:r>
          </a:p>
        </p:txBody>
      </p:sp>
      <p:sp>
        <p:nvSpPr>
          <p:cNvPr id="11" name="TextBox 10">
            <a:extLst>
              <a:ext uri="{FF2B5EF4-FFF2-40B4-BE49-F238E27FC236}">
                <a16:creationId xmlns:a16="http://schemas.microsoft.com/office/drawing/2014/main" id="{DB740092-43D4-E696-AA8B-C2179BFDA214}"/>
              </a:ext>
            </a:extLst>
          </p:cNvPr>
          <p:cNvSpPr txBox="1"/>
          <p:nvPr/>
        </p:nvSpPr>
        <p:spPr>
          <a:xfrm>
            <a:off x="4546963" y="1860810"/>
            <a:ext cx="1621093" cy="613949"/>
          </a:xfrm>
          <a:prstGeom prst="rect">
            <a:avLst/>
          </a:prstGeom>
          <a:solidFill>
            <a:schemeClr val="tx2">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a:ln>
                  <a:noFill/>
                </a:ln>
                <a:solidFill>
                  <a:srgbClr val="000000"/>
                </a:solidFill>
                <a:effectLst/>
                <a:uLnTx/>
                <a:uFillTx/>
                <a:latin typeface="Arial"/>
                <a:ea typeface="+mn-ea"/>
                <a:cs typeface="Arial"/>
                <a:sym typeface="Arial"/>
              </a:rPr>
              <a:t>STORAGE</a:t>
            </a:r>
          </a:p>
        </p:txBody>
      </p:sp>
      <p:sp>
        <p:nvSpPr>
          <p:cNvPr id="12" name="TextBox 11">
            <a:extLst>
              <a:ext uri="{FF2B5EF4-FFF2-40B4-BE49-F238E27FC236}">
                <a16:creationId xmlns:a16="http://schemas.microsoft.com/office/drawing/2014/main" id="{5CBA424C-999F-54FF-B704-4F6F5180890B}"/>
              </a:ext>
            </a:extLst>
          </p:cNvPr>
          <p:cNvSpPr txBox="1"/>
          <p:nvPr/>
        </p:nvSpPr>
        <p:spPr>
          <a:xfrm>
            <a:off x="8339742" y="1860810"/>
            <a:ext cx="1621093" cy="613949"/>
          </a:xfrm>
          <a:prstGeom prst="rect">
            <a:avLst/>
          </a:prstGeom>
          <a:solidFill>
            <a:schemeClr val="tx2">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a:ln>
                  <a:noFill/>
                </a:ln>
                <a:solidFill>
                  <a:srgbClr val="000000"/>
                </a:solidFill>
                <a:effectLst/>
                <a:uLnTx/>
                <a:uFillTx/>
                <a:latin typeface="Arial"/>
                <a:ea typeface="+mn-ea"/>
                <a:cs typeface="Arial"/>
                <a:sym typeface="Arial"/>
              </a:rPr>
              <a:t>APPLICATION</a:t>
            </a:r>
          </a:p>
        </p:txBody>
      </p:sp>
      <p:sp>
        <p:nvSpPr>
          <p:cNvPr id="13" name="TextBox 12">
            <a:extLst>
              <a:ext uri="{FF2B5EF4-FFF2-40B4-BE49-F238E27FC236}">
                <a16:creationId xmlns:a16="http://schemas.microsoft.com/office/drawing/2014/main" id="{CAB24947-7E31-1575-E452-708F1D9DD822}"/>
              </a:ext>
            </a:extLst>
          </p:cNvPr>
          <p:cNvSpPr txBox="1"/>
          <p:nvPr/>
        </p:nvSpPr>
        <p:spPr>
          <a:xfrm>
            <a:off x="10236134" y="1860810"/>
            <a:ext cx="1621093" cy="613949"/>
          </a:xfrm>
          <a:prstGeom prst="rect">
            <a:avLst/>
          </a:prstGeom>
          <a:solidFill>
            <a:schemeClr val="tx2">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a:ln>
                  <a:noFill/>
                </a:ln>
                <a:solidFill>
                  <a:srgbClr val="000000"/>
                </a:solidFill>
                <a:effectLst/>
                <a:uLnTx/>
                <a:uFillTx/>
                <a:latin typeface="Arial"/>
                <a:ea typeface="+mn-ea"/>
                <a:cs typeface="Arial"/>
                <a:sym typeface="Arial"/>
              </a:rPr>
              <a:t>CONTINUOUS IMPROVEMENT</a:t>
            </a:r>
          </a:p>
        </p:txBody>
      </p:sp>
      <p:sp>
        <p:nvSpPr>
          <p:cNvPr id="14" name="TextBox 13">
            <a:extLst>
              <a:ext uri="{FF2B5EF4-FFF2-40B4-BE49-F238E27FC236}">
                <a16:creationId xmlns:a16="http://schemas.microsoft.com/office/drawing/2014/main" id="{BAC7B662-2E5B-8784-24A2-7252C9FDF979}"/>
              </a:ext>
            </a:extLst>
          </p:cNvPr>
          <p:cNvSpPr txBox="1"/>
          <p:nvPr/>
        </p:nvSpPr>
        <p:spPr>
          <a:xfrm>
            <a:off x="754184" y="2565745"/>
            <a:ext cx="1621093" cy="916459"/>
          </a:xfrm>
          <a:prstGeom prst="rect">
            <a:avLst/>
          </a:prstGeom>
          <a:noFill/>
        </p:spPr>
        <p:txBody>
          <a:bodyPr wrap="square" lIns="96000" tIns="96000" rIns="144000" bIns="96000" rtlCol="0" anchor="t">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933" b="0" i="0" u="none" strike="noStrike" kern="0" cap="none" spc="0" normalizeH="0" baseline="0" noProof="0">
                <a:ln>
                  <a:noFill/>
                </a:ln>
                <a:solidFill>
                  <a:srgbClr val="000000"/>
                </a:solidFill>
                <a:effectLst/>
                <a:uLnTx/>
                <a:uFillTx/>
                <a:latin typeface="Arial"/>
                <a:ea typeface="+mn-ea"/>
                <a:cs typeface="Arial"/>
                <a:sym typeface="Arial"/>
              </a:rPr>
              <a:t>New knowledge emerges, often as uncertain ideas. It gradually takes shape through testing and validation.</a:t>
            </a:r>
          </a:p>
        </p:txBody>
      </p:sp>
      <p:sp>
        <p:nvSpPr>
          <p:cNvPr id="15" name="TextBox 14">
            <a:extLst>
              <a:ext uri="{FF2B5EF4-FFF2-40B4-BE49-F238E27FC236}">
                <a16:creationId xmlns:a16="http://schemas.microsoft.com/office/drawing/2014/main" id="{3FE1F5B0-2655-E79D-5CA5-81655FFFCB23}"/>
              </a:ext>
            </a:extLst>
          </p:cNvPr>
          <p:cNvSpPr txBox="1"/>
          <p:nvPr/>
        </p:nvSpPr>
        <p:spPr>
          <a:xfrm>
            <a:off x="2650574" y="2565745"/>
            <a:ext cx="1621093" cy="916459"/>
          </a:xfrm>
          <a:prstGeom prst="rect">
            <a:avLst/>
          </a:prstGeom>
          <a:noFill/>
        </p:spPr>
        <p:txBody>
          <a:bodyPr wrap="square" lIns="96000" tIns="96000" rIns="144000" bIns="96000" rtlCol="0" anchor="t">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933" b="0" i="0" u="none" strike="noStrike" kern="0" cap="none" spc="0" normalizeH="0" baseline="0" noProof="0">
                <a:ln>
                  <a:noFill/>
                </a:ln>
                <a:solidFill>
                  <a:srgbClr val="000000"/>
                </a:solidFill>
                <a:effectLst/>
                <a:uLnTx/>
                <a:uFillTx/>
                <a:latin typeface="Arial"/>
                <a:ea typeface="+mn-ea"/>
                <a:cs typeface="Arial"/>
                <a:sym typeface="Arial"/>
              </a:rPr>
              <a:t>Knowledge is structured, categorized, and made accessible. This step ensures efficient retrieval.</a:t>
            </a:r>
          </a:p>
        </p:txBody>
      </p:sp>
      <p:sp>
        <p:nvSpPr>
          <p:cNvPr id="16" name="TextBox 15">
            <a:extLst>
              <a:ext uri="{FF2B5EF4-FFF2-40B4-BE49-F238E27FC236}">
                <a16:creationId xmlns:a16="http://schemas.microsoft.com/office/drawing/2014/main" id="{AE993EA0-CC8A-C882-535F-DD8274743801}"/>
              </a:ext>
            </a:extLst>
          </p:cNvPr>
          <p:cNvSpPr txBox="1"/>
          <p:nvPr/>
        </p:nvSpPr>
        <p:spPr>
          <a:xfrm>
            <a:off x="6443352" y="2565745"/>
            <a:ext cx="1621093" cy="916459"/>
          </a:xfrm>
          <a:prstGeom prst="rect">
            <a:avLst/>
          </a:prstGeom>
          <a:noFill/>
        </p:spPr>
        <p:txBody>
          <a:bodyPr wrap="square" lIns="96000" tIns="96000" rIns="144000" bIns="96000" rtlCol="0" anchor="t">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933" b="0" i="0" u="none" strike="noStrike" kern="0" cap="none" spc="0" normalizeH="0" baseline="0" noProof="0">
                <a:ln>
                  <a:noFill/>
                </a:ln>
                <a:solidFill>
                  <a:srgbClr val="000000"/>
                </a:solidFill>
                <a:effectLst/>
                <a:uLnTx/>
                <a:uFillTx/>
                <a:latin typeface="Arial"/>
                <a:ea typeface="+mn-ea"/>
                <a:cs typeface="Arial"/>
                <a:sym typeface="Arial"/>
              </a:rPr>
              <a:t>Knowledge is shared with relevant stakeholders. This can happen through training, documentation, or collaborative platforms.</a:t>
            </a:r>
          </a:p>
        </p:txBody>
      </p:sp>
      <p:sp>
        <p:nvSpPr>
          <p:cNvPr id="17" name="TextBox 16">
            <a:extLst>
              <a:ext uri="{FF2B5EF4-FFF2-40B4-BE49-F238E27FC236}">
                <a16:creationId xmlns:a16="http://schemas.microsoft.com/office/drawing/2014/main" id="{3CBE29F3-9895-9C15-E107-683DB7C97541}"/>
              </a:ext>
            </a:extLst>
          </p:cNvPr>
          <p:cNvSpPr txBox="1"/>
          <p:nvPr/>
        </p:nvSpPr>
        <p:spPr>
          <a:xfrm>
            <a:off x="4546963" y="2565745"/>
            <a:ext cx="1621093" cy="916459"/>
          </a:xfrm>
          <a:prstGeom prst="rect">
            <a:avLst/>
          </a:prstGeom>
          <a:noFill/>
        </p:spPr>
        <p:txBody>
          <a:bodyPr wrap="square" lIns="96000" tIns="96000" rIns="144000" bIns="96000" rtlCol="0" anchor="t">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933" b="0" i="0" u="none" strike="noStrike" kern="0" cap="none" spc="0" normalizeH="0" baseline="0" noProof="0">
                <a:ln>
                  <a:noFill/>
                </a:ln>
                <a:solidFill>
                  <a:srgbClr val="000000"/>
                </a:solidFill>
                <a:effectLst/>
                <a:uLnTx/>
                <a:uFillTx/>
                <a:latin typeface="Arial"/>
                <a:ea typeface="+mn-ea"/>
                <a:cs typeface="Arial"/>
                <a:sym typeface="Arial"/>
              </a:rPr>
              <a:t>Information is stored in repositories, databases, or other systems. Proper storage prevents loss and facilitates sharing.</a:t>
            </a:r>
          </a:p>
        </p:txBody>
      </p:sp>
      <p:sp>
        <p:nvSpPr>
          <p:cNvPr id="18" name="TextBox 17">
            <a:extLst>
              <a:ext uri="{FF2B5EF4-FFF2-40B4-BE49-F238E27FC236}">
                <a16:creationId xmlns:a16="http://schemas.microsoft.com/office/drawing/2014/main" id="{514AEFF9-2EC9-55FF-8948-3FB2D9FB3685}"/>
              </a:ext>
            </a:extLst>
          </p:cNvPr>
          <p:cNvSpPr txBox="1"/>
          <p:nvPr/>
        </p:nvSpPr>
        <p:spPr>
          <a:xfrm>
            <a:off x="8339742" y="2565745"/>
            <a:ext cx="1621093" cy="916459"/>
          </a:xfrm>
          <a:prstGeom prst="rect">
            <a:avLst/>
          </a:prstGeom>
          <a:noFill/>
        </p:spPr>
        <p:txBody>
          <a:bodyPr wrap="square" lIns="96000" tIns="96000" rIns="144000" bIns="96000" rtlCol="0" anchor="t">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933" b="0" i="0" u="none" strike="noStrike" kern="0" cap="none" spc="0" normalizeH="0" baseline="0" noProof="0">
                <a:ln>
                  <a:noFill/>
                </a:ln>
                <a:solidFill>
                  <a:srgbClr val="000000"/>
                </a:solidFill>
                <a:effectLst/>
                <a:uLnTx/>
                <a:uFillTx/>
                <a:latin typeface="Arial"/>
                <a:ea typeface="+mn-ea"/>
                <a:cs typeface="Arial"/>
                <a:sym typeface="Arial"/>
              </a:rPr>
              <a:t>Knowledge is put into practice. Teams apply it to improve processes, products, or services.</a:t>
            </a:r>
          </a:p>
        </p:txBody>
      </p:sp>
      <p:sp>
        <p:nvSpPr>
          <p:cNvPr id="19" name="TextBox 18">
            <a:extLst>
              <a:ext uri="{FF2B5EF4-FFF2-40B4-BE49-F238E27FC236}">
                <a16:creationId xmlns:a16="http://schemas.microsoft.com/office/drawing/2014/main" id="{BE30FE28-1A64-1BE9-1FE1-5B88FA313545}"/>
              </a:ext>
            </a:extLst>
          </p:cNvPr>
          <p:cNvSpPr txBox="1"/>
          <p:nvPr/>
        </p:nvSpPr>
        <p:spPr>
          <a:xfrm>
            <a:off x="10236134" y="2565745"/>
            <a:ext cx="1621093" cy="916459"/>
          </a:xfrm>
          <a:prstGeom prst="rect">
            <a:avLst/>
          </a:prstGeom>
          <a:noFill/>
        </p:spPr>
        <p:txBody>
          <a:bodyPr wrap="square" lIns="96000" tIns="96000" rIns="144000" bIns="96000" rtlCol="0" anchor="t">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933" b="0" i="0" u="none" strike="noStrike" kern="0" cap="none" spc="0" normalizeH="0" baseline="0" noProof="0">
                <a:ln>
                  <a:noFill/>
                </a:ln>
                <a:solidFill>
                  <a:srgbClr val="000000"/>
                </a:solidFill>
                <a:effectLst/>
                <a:uLnTx/>
                <a:uFillTx/>
                <a:latin typeface="Arial"/>
                <a:ea typeface="+mn-ea"/>
                <a:cs typeface="Arial"/>
                <a:sym typeface="Arial"/>
              </a:rPr>
              <a:t>Organizations refine and enhance knowledge over time, adapting to changing needs and insights.</a:t>
            </a:r>
          </a:p>
        </p:txBody>
      </p:sp>
      <p:cxnSp>
        <p:nvCxnSpPr>
          <p:cNvPr id="22" name="Straight Arrow Connector 21">
            <a:extLst>
              <a:ext uri="{FF2B5EF4-FFF2-40B4-BE49-F238E27FC236}">
                <a16:creationId xmlns:a16="http://schemas.microsoft.com/office/drawing/2014/main" id="{08FE2862-3C4C-5CF7-B79D-40AAB011DBB5}"/>
              </a:ext>
            </a:extLst>
          </p:cNvPr>
          <p:cNvCxnSpPr>
            <a:cxnSpLocks/>
            <a:stCxn id="8" idx="3"/>
            <a:endCxn id="9" idx="1"/>
          </p:cNvCxnSpPr>
          <p:nvPr/>
        </p:nvCxnSpPr>
        <p:spPr>
          <a:xfrm>
            <a:off x="2375277" y="2167784"/>
            <a:ext cx="275296" cy="0"/>
          </a:xfrm>
          <a:prstGeom prst="straightConnector1">
            <a:avLst/>
          </a:prstGeom>
          <a:ln w="6350">
            <a:solidFill>
              <a:schemeClr val="tx1">
                <a:lumMod val="75000"/>
                <a:lumOff val="25000"/>
              </a:schemeClr>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B3EED86-DAB2-4C9F-B25A-D0C34D4308BC}"/>
              </a:ext>
            </a:extLst>
          </p:cNvPr>
          <p:cNvCxnSpPr>
            <a:cxnSpLocks/>
            <a:stCxn id="9" idx="3"/>
            <a:endCxn id="11" idx="1"/>
          </p:cNvCxnSpPr>
          <p:nvPr/>
        </p:nvCxnSpPr>
        <p:spPr>
          <a:xfrm>
            <a:off x="4271667" y="2167784"/>
            <a:ext cx="275296" cy="0"/>
          </a:xfrm>
          <a:prstGeom prst="straightConnector1">
            <a:avLst/>
          </a:prstGeom>
          <a:ln w="6350">
            <a:solidFill>
              <a:schemeClr val="tx1">
                <a:lumMod val="75000"/>
                <a:lumOff val="25000"/>
              </a:schemeClr>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D7F6626-E233-5E77-B2A8-9ADCE5994763}"/>
              </a:ext>
            </a:extLst>
          </p:cNvPr>
          <p:cNvCxnSpPr>
            <a:cxnSpLocks/>
            <a:stCxn id="11" idx="3"/>
            <a:endCxn id="10" idx="1"/>
          </p:cNvCxnSpPr>
          <p:nvPr/>
        </p:nvCxnSpPr>
        <p:spPr>
          <a:xfrm>
            <a:off x="6168056" y="2167784"/>
            <a:ext cx="275296" cy="0"/>
          </a:xfrm>
          <a:prstGeom prst="straightConnector1">
            <a:avLst/>
          </a:prstGeom>
          <a:ln w="6350">
            <a:solidFill>
              <a:schemeClr val="tx1">
                <a:lumMod val="75000"/>
                <a:lumOff val="25000"/>
              </a:schemeClr>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DA18AF0-0E98-2776-ACB2-BA9AD2FC10D8}"/>
              </a:ext>
            </a:extLst>
          </p:cNvPr>
          <p:cNvCxnSpPr>
            <a:cxnSpLocks/>
            <a:stCxn id="10" idx="3"/>
            <a:endCxn id="12" idx="1"/>
          </p:cNvCxnSpPr>
          <p:nvPr/>
        </p:nvCxnSpPr>
        <p:spPr>
          <a:xfrm>
            <a:off x="8064445" y="2167784"/>
            <a:ext cx="275296" cy="0"/>
          </a:xfrm>
          <a:prstGeom prst="straightConnector1">
            <a:avLst/>
          </a:prstGeom>
          <a:ln w="6350">
            <a:solidFill>
              <a:schemeClr val="tx1">
                <a:lumMod val="75000"/>
                <a:lumOff val="25000"/>
              </a:schemeClr>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6735CDD-AA69-9208-E94B-875990CA2716}"/>
              </a:ext>
            </a:extLst>
          </p:cNvPr>
          <p:cNvCxnSpPr>
            <a:cxnSpLocks/>
            <a:stCxn id="12" idx="3"/>
            <a:endCxn id="13" idx="1"/>
          </p:cNvCxnSpPr>
          <p:nvPr/>
        </p:nvCxnSpPr>
        <p:spPr>
          <a:xfrm>
            <a:off x="9960835" y="2167784"/>
            <a:ext cx="275299" cy="0"/>
          </a:xfrm>
          <a:prstGeom prst="straightConnector1">
            <a:avLst/>
          </a:prstGeom>
          <a:ln w="6350">
            <a:solidFill>
              <a:schemeClr val="tx1">
                <a:lumMod val="75000"/>
                <a:lumOff val="25000"/>
              </a:schemeClr>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3652C6E0-ECC1-D576-F4C3-85B32D2D099F}"/>
              </a:ext>
            </a:extLst>
          </p:cNvPr>
          <p:cNvCxnSpPr>
            <a:stCxn id="13" idx="0"/>
            <a:endCxn id="8" idx="0"/>
          </p:cNvCxnSpPr>
          <p:nvPr/>
        </p:nvCxnSpPr>
        <p:spPr>
          <a:xfrm rot="16200000" flipV="1">
            <a:off x="6305706" y="-2880165"/>
            <a:ext cx="16933" cy="9481949"/>
          </a:xfrm>
          <a:prstGeom prst="bentConnector3">
            <a:avLst>
              <a:gd name="adj1" fmla="val 1800000"/>
            </a:avLst>
          </a:prstGeom>
          <a:ln w="6350">
            <a:solidFill>
              <a:schemeClr val="tx1">
                <a:lumMod val="75000"/>
                <a:lumOff val="25000"/>
              </a:schemeClr>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3DC5745-C5C4-C37C-A3B5-1D17D70FEA3E}"/>
              </a:ext>
            </a:extLst>
          </p:cNvPr>
          <p:cNvSpPr/>
          <p:nvPr/>
        </p:nvSpPr>
        <p:spPr>
          <a:xfrm>
            <a:off x="754185" y="1860809"/>
            <a:ext cx="168839" cy="1688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rPr>
              <a:t>1</a:t>
            </a:r>
            <a:endParaRPr kumimoji="0" lang="en-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endParaRPr>
          </a:p>
        </p:txBody>
      </p:sp>
      <p:sp>
        <p:nvSpPr>
          <p:cNvPr id="6" name="Rectangle 5">
            <a:extLst>
              <a:ext uri="{FF2B5EF4-FFF2-40B4-BE49-F238E27FC236}">
                <a16:creationId xmlns:a16="http://schemas.microsoft.com/office/drawing/2014/main" id="{7C2B1E2D-2F44-2162-7521-FDCFFB70543B}"/>
              </a:ext>
            </a:extLst>
          </p:cNvPr>
          <p:cNvSpPr/>
          <p:nvPr/>
        </p:nvSpPr>
        <p:spPr>
          <a:xfrm>
            <a:off x="2650574" y="1860809"/>
            <a:ext cx="168839" cy="1688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rPr>
              <a:t>2</a:t>
            </a:r>
            <a:endParaRPr kumimoji="0" lang="en-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endParaRPr>
          </a:p>
        </p:txBody>
      </p:sp>
      <p:sp>
        <p:nvSpPr>
          <p:cNvPr id="7" name="Rectangle 6">
            <a:extLst>
              <a:ext uri="{FF2B5EF4-FFF2-40B4-BE49-F238E27FC236}">
                <a16:creationId xmlns:a16="http://schemas.microsoft.com/office/drawing/2014/main" id="{3902FB51-70D2-3AA2-7655-FA16420D2943}"/>
              </a:ext>
            </a:extLst>
          </p:cNvPr>
          <p:cNvSpPr/>
          <p:nvPr/>
        </p:nvSpPr>
        <p:spPr>
          <a:xfrm>
            <a:off x="4546963" y="1860809"/>
            <a:ext cx="168839" cy="1688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rPr>
              <a:t>3</a:t>
            </a:r>
            <a:endParaRPr kumimoji="0" lang="en-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endParaRPr>
          </a:p>
        </p:txBody>
      </p:sp>
      <p:sp>
        <p:nvSpPr>
          <p:cNvPr id="20" name="Rectangle 19">
            <a:extLst>
              <a:ext uri="{FF2B5EF4-FFF2-40B4-BE49-F238E27FC236}">
                <a16:creationId xmlns:a16="http://schemas.microsoft.com/office/drawing/2014/main" id="{55FC2389-9B35-9D0B-4C2A-08226C3D1269}"/>
              </a:ext>
            </a:extLst>
          </p:cNvPr>
          <p:cNvSpPr/>
          <p:nvPr/>
        </p:nvSpPr>
        <p:spPr>
          <a:xfrm>
            <a:off x="6443353" y="1860809"/>
            <a:ext cx="168839" cy="1688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rPr>
              <a:t>4</a:t>
            </a:r>
            <a:endParaRPr kumimoji="0" lang="en-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endParaRPr>
          </a:p>
        </p:txBody>
      </p:sp>
      <p:sp>
        <p:nvSpPr>
          <p:cNvPr id="21" name="Rectangle 20">
            <a:extLst>
              <a:ext uri="{FF2B5EF4-FFF2-40B4-BE49-F238E27FC236}">
                <a16:creationId xmlns:a16="http://schemas.microsoft.com/office/drawing/2014/main" id="{74B07903-8E7D-3B74-6403-B5086F086A9B}"/>
              </a:ext>
            </a:extLst>
          </p:cNvPr>
          <p:cNvSpPr/>
          <p:nvPr/>
        </p:nvSpPr>
        <p:spPr>
          <a:xfrm>
            <a:off x="8339742" y="1860809"/>
            <a:ext cx="168839" cy="1688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rPr>
              <a:t>5</a:t>
            </a:r>
            <a:endParaRPr kumimoji="0" lang="en-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endParaRPr>
          </a:p>
        </p:txBody>
      </p:sp>
      <p:sp>
        <p:nvSpPr>
          <p:cNvPr id="27" name="Rectangle 26">
            <a:extLst>
              <a:ext uri="{FF2B5EF4-FFF2-40B4-BE49-F238E27FC236}">
                <a16:creationId xmlns:a16="http://schemas.microsoft.com/office/drawing/2014/main" id="{D4589276-9F94-0BE6-255B-652FD6C9AAE6}"/>
              </a:ext>
            </a:extLst>
          </p:cNvPr>
          <p:cNvSpPr/>
          <p:nvPr/>
        </p:nvSpPr>
        <p:spPr>
          <a:xfrm>
            <a:off x="10236131" y="1860809"/>
            <a:ext cx="168839" cy="1688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rPr>
              <a:t>6</a:t>
            </a:r>
            <a:endParaRPr kumimoji="0" lang="en-CA" sz="933" b="0" i="0" u="none" strike="noStrike" kern="0" cap="none" spc="0" normalizeH="0" baseline="0" noProof="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sym typeface="Arial"/>
            </a:endParaRPr>
          </a:p>
        </p:txBody>
      </p:sp>
      <p:sp>
        <p:nvSpPr>
          <p:cNvPr id="31" name="TextBox 30">
            <a:extLst>
              <a:ext uri="{FF2B5EF4-FFF2-40B4-BE49-F238E27FC236}">
                <a16:creationId xmlns:a16="http://schemas.microsoft.com/office/drawing/2014/main" id="{4BDEBE11-0E4F-4610-65AF-195D12EF2DFE}"/>
              </a:ext>
            </a:extLst>
          </p:cNvPr>
          <p:cNvSpPr txBox="1"/>
          <p:nvPr/>
        </p:nvSpPr>
        <p:spPr>
          <a:xfrm rot="16200000">
            <a:off x="-88242" y="4116181"/>
            <a:ext cx="1252339" cy="302121"/>
          </a:xfrm>
          <a:prstGeom prst="rect">
            <a:avLst/>
          </a:prstGeom>
          <a:solidFill>
            <a:schemeClr val="accent4"/>
          </a:solidFill>
        </p:spPr>
        <p:txBody>
          <a:bodyPr wrap="none" lIns="48000" tIns="48000" rIns="48000" bIns="48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1333" b="0" i="0" u="none" strike="noStrike" kern="0" cap="none" spc="0" normalizeH="0" baseline="0" noProof="0">
                <a:ln>
                  <a:noFill/>
                </a:ln>
                <a:solidFill>
                  <a:srgbClr val="FFFFFF"/>
                </a:solidFill>
                <a:effectLst/>
                <a:uLnTx/>
                <a:uFillTx/>
                <a:latin typeface="Arial"/>
                <a:ea typeface="+mn-ea"/>
                <a:cs typeface="Arial"/>
                <a:sym typeface="Arial"/>
              </a:rPr>
              <a:t>PAIN POINTS</a:t>
            </a:r>
            <a:endParaRPr kumimoji="0" lang="en-CA" sz="1333"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51" name="TextBox 50">
            <a:extLst>
              <a:ext uri="{FF2B5EF4-FFF2-40B4-BE49-F238E27FC236}">
                <a16:creationId xmlns:a16="http://schemas.microsoft.com/office/drawing/2014/main" id="{90206B60-18C5-AEC3-ABA6-F80531BE87AE}"/>
              </a:ext>
            </a:extLst>
          </p:cNvPr>
          <p:cNvSpPr txBox="1"/>
          <p:nvPr/>
        </p:nvSpPr>
        <p:spPr>
          <a:xfrm>
            <a:off x="754184" y="3937310"/>
            <a:ext cx="1621093" cy="956103"/>
          </a:xfrm>
          <a:prstGeom prst="rect">
            <a:avLst/>
          </a:prstGeom>
          <a:solidFill>
            <a:schemeClr val="accent5">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2" name="TextBox 51">
            <a:extLst>
              <a:ext uri="{FF2B5EF4-FFF2-40B4-BE49-F238E27FC236}">
                <a16:creationId xmlns:a16="http://schemas.microsoft.com/office/drawing/2014/main" id="{6858CF11-C58B-3632-DD1C-CBBC3450C149}"/>
              </a:ext>
            </a:extLst>
          </p:cNvPr>
          <p:cNvSpPr txBox="1"/>
          <p:nvPr/>
        </p:nvSpPr>
        <p:spPr>
          <a:xfrm>
            <a:off x="2650574" y="3937310"/>
            <a:ext cx="1621093" cy="956103"/>
          </a:xfrm>
          <a:prstGeom prst="rect">
            <a:avLst/>
          </a:prstGeom>
          <a:solidFill>
            <a:schemeClr val="accent5">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3" name="TextBox 52">
            <a:extLst>
              <a:ext uri="{FF2B5EF4-FFF2-40B4-BE49-F238E27FC236}">
                <a16:creationId xmlns:a16="http://schemas.microsoft.com/office/drawing/2014/main" id="{A7E9B4E1-5735-18C8-BA00-F604112ECAA1}"/>
              </a:ext>
            </a:extLst>
          </p:cNvPr>
          <p:cNvSpPr txBox="1"/>
          <p:nvPr/>
        </p:nvSpPr>
        <p:spPr>
          <a:xfrm>
            <a:off x="4546963" y="3937310"/>
            <a:ext cx="1621093" cy="956103"/>
          </a:xfrm>
          <a:prstGeom prst="rect">
            <a:avLst/>
          </a:prstGeom>
          <a:solidFill>
            <a:schemeClr val="accent5">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4" name="TextBox 53">
            <a:extLst>
              <a:ext uri="{FF2B5EF4-FFF2-40B4-BE49-F238E27FC236}">
                <a16:creationId xmlns:a16="http://schemas.microsoft.com/office/drawing/2014/main" id="{7E7914E9-25BB-78BE-15FB-18C956BBF194}"/>
              </a:ext>
            </a:extLst>
          </p:cNvPr>
          <p:cNvSpPr txBox="1"/>
          <p:nvPr/>
        </p:nvSpPr>
        <p:spPr>
          <a:xfrm>
            <a:off x="6443352" y="3937310"/>
            <a:ext cx="1621093" cy="956103"/>
          </a:xfrm>
          <a:prstGeom prst="rect">
            <a:avLst/>
          </a:prstGeom>
          <a:solidFill>
            <a:schemeClr val="accent5">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5" name="TextBox 54">
            <a:extLst>
              <a:ext uri="{FF2B5EF4-FFF2-40B4-BE49-F238E27FC236}">
                <a16:creationId xmlns:a16="http://schemas.microsoft.com/office/drawing/2014/main" id="{769B38C2-FDFB-D4AE-F2AC-AA7321C8A73C}"/>
              </a:ext>
            </a:extLst>
          </p:cNvPr>
          <p:cNvSpPr txBox="1"/>
          <p:nvPr/>
        </p:nvSpPr>
        <p:spPr>
          <a:xfrm>
            <a:off x="8339742" y="3937310"/>
            <a:ext cx="1621093" cy="956103"/>
          </a:xfrm>
          <a:prstGeom prst="rect">
            <a:avLst/>
          </a:prstGeom>
          <a:solidFill>
            <a:schemeClr val="accent5">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6" name="TextBox 55">
            <a:extLst>
              <a:ext uri="{FF2B5EF4-FFF2-40B4-BE49-F238E27FC236}">
                <a16:creationId xmlns:a16="http://schemas.microsoft.com/office/drawing/2014/main" id="{CCA2D634-8D04-B825-F56B-3A2B9C78FF99}"/>
              </a:ext>
            </a:extLst>
          </p:cNvPr>
          <p:cNvSpPr txBox="1"/>
          <p:nvPr/>
        </p:nvSpPr>
        <p:spPr>
          <a:xfrm>
            <a:off x="10236131" y="3937310"/>
            <a:ext cx="1621093" cy="956103"/>
          </a:xfrm>
          <a:prstGeom prst="rect">
            <a:avLst/>
          </a:prstGeom>
          <a:solidFill>
            <a:schemeClr val="accent5">
              <a:lumMod val="60000"/>
              <a:lumOff val="4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 name="TextBox 56">
            <a:extLst>
              <a:ext uri="{FF2B5EF4-FFF2-40B4-BE49-F238E27FC236}">
                <a16:creationId xmlns:a16="http://schemas.microsoft.com/office/drawing/2014/main" id="{6DF10668-6FFB-345C-3548-F4D569D42FAA}"/>
              </a:ext>
            </a:extLst>
          </p:cNvPr>
          <p:cNvSpPr txBox="1"/>
          <p:nvPr/>
        </p:nvSpPr>
        <p:spPr>
          <a:xfrm>
            <a:off x="754184" y="3940614"/>
            <a:ext cx="1621093" cy="606777"/>
          </a:xfrm>
          <a:prstGeom prst="rect">
            <a:avLst/>
          </a:prstGeom>
          <a:noFill/>
        </p:spPr>
        <p:txBody>
          <a:bodyPr wrap="square" lIns="96000" tIns="96000" rIns="144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Content Management </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Governance</a:t>
            </a:r>
          </a:p>
        </p:txBody>
      </p:sp>
      <p:sp>
        <p:nvSpPr>
          <p:cNvPr id="58" name="TextBox 57">
            <a:extLst>
              <a:ext uri="{FF2B5EF4-FFF2-40B4-BE49-F238E27FC236}">
                <a16:creationId xmlns:a16="http://schemas.microsoft.com/office/drawing/2014/main" id="{DD8FAF53-6603-08C6-6BC2-634D35969292}"/>
              </a:ext>
            </a:extLst>
          </p:cNvPr>
          <p:cNvSpPr txBox="1"/>
          <p:nvPr/>
        </p:nvSpPr>
        <p:spPr>
          <a:xfrm>
            <a:off x="2650574" y="3940614"/>
            <a:ext cx="1621093" cy="857565"/>
          </a:xfrm>
          <a:prstGeom prst="rect">
            <a:avLst/>
          </a:prstGeom>
          <a:noFill/>
        </p:spPr>
        <p:txBody>
          <a:bodyPr wrap="square" lIns="96000" tIns="96000" rIns="144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Governance</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Architecture</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Infrastructure</a:t>
            </a:r>
          </a:p>
        </p:txBody>
      </p:sp>
      <p:sp>
        <p:nvSpPr>
          <p:cNvPr id="59" name="TextBox 58">
            <a:extLst>
              <a:ext uri="{FF2B5EF4-FFF2-40B4-BE49-F238E27FC236}">
                <a16:creationId xmlns:a16="http://schemas.microsoft.com/office/drawing/2014/main" id="{849DD77D-3394-BD8D-A801-BCECC0EF6BBF}"/>
              </a:ext>
            </a:extLst>
          </p:cNvPr>
          <p:cNvSpPr txBox="1"/>
          <p:nvPr/>
        </p:nvSpPr>
        <p:spPr>
          <a:xfrm>
            <a:off x="6443352" y="3940614"/>
            <a:ext cx="1621093" cy="857565"/>
          </a:xfrm>
          <a:prstGeom prst="rect">
            <a:avLst/>
          </a:prstGeom>
          <a:noFill/>
        </p:spPr>
        <p:txBody>
          <a:bodyPr wrap="square" lIns="96000" tIns="96000" rIns="144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Content Management</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Governance </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Infrastructure</a:t>
            </a:r>
            <a:endParaRPr kumimoji="0" lang="en-CA" sz="933" b="0" i="0" u="none" strike="noStrike" kern="1200" cap="none" spc="0" normalizeH="0" baseline="0" noProof="0">
              <a:ln>
                <a:noFill/>
              </a:ln>
              <a:solidFill>
                <a:srgbClr val="000000"/>
              </a:solidFill>
              <a:effectLst/>
              <a:uLnTx/>
              <a:uFillTx/>
              <a:latin typeface="Arial"/>
              <a:ea typeface="+mn-ea"/>
              <a:cs typeface="Arial"/>
              <a:sym typeface="Arial"/>
            </a:endParaRPr>
          </a:p>
        </p:txBody>
      </p:sp>
      <p:sp>
        <p:nvSpPr>
          <p:cNvPr id="60" name="TextBox 59">
            <a:extLst>
              <a:ext uri="{FF2B5EF4-FFF2-40B4-BE49-F238E27FC236}">
                <a16:creationId xmlns:a16="http://schemas.microsoft.com/office/drawing/2014/main" id="{ACD4850A-9853-C52C-96B0-B7C6857ABCFC}"/>
              </a:ext>
            </a:extLst>
          </p:cNvPr>
          <p:cNvSpPr txBox="1"/>
          <p:nvPr/>
        </p:nvSpPr>
        <p:spPr>
          <a:xfrm>
            <a:off x="4546963" y="3940614"/>
            <a:ext cx="1621093" cy="857565"/>
          </a:xfrm>
          <a:prstGeom prst="rect">
            <a:avLst/>
          </a:prstGeom>
          <a:noFill/>
        </p:spPr>
        <p:txBody>
          <a:bodyPr wrap="square" lIns="96000" tIns="96000" rIns="144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Architecture</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Infrastructure</a:t>
            </a:r>
          </a:p>
        </p:txBody>
      </p:sp>
      <p:sp>
        <p:nvSpPr>
          <p:cNvPr id="61" name="TextBox 60">
            <a:extLst>
              <a:ext uri="{FF2B5EF4-FFF2-40B4-BE49-F238E27FC236}">
                <a16:creationId xmlns:a16="http://schemas.microsoft.com/office/drawing/2014/main" id="{C93B38EC-3933-46B2-0002-CE28CE0005A5}"/>
              </a:ext>
            </a:extLst>
          </p:cNvPr>
          <p:cNvSpPr txBox="1"/>
          <p:nvPr/>
        </p:nvSpPr>
        <p:spPr>
          <a:xfrm>
            <a:off x="8339742" y="3940614"/>
            <a:ext cx="1621093" cy="857565"/>
          </a:xfrm>
          <a:prstGeom prst="rect">
            <a:avLst/>
          </a:prstGeom>
          <a:noFill/>
        </p:spPr>
        <p:txBody>
          <a:bodyPr wrap="square" lIns="96000" tIns="96000" rIns="144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Architecture</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Governance</a:t>
            </a:r>
            <a:endParaRPr kumimoji="0" lang="en-CA" sz="933" b="0" i="0" u="none" strike="noStrike" kern="1200" cap="none" spc="0" normalizeH="0" baseline="0" noProof="0">
              <a:ln>
                <a:noFill/>
              </a:ln>
              <a:solidFill>
                <a:srgbClr val="000000"/>
              </a:solidFill>
              <a:effectLst/>
              <a:uLnTx/>
              <a:uFillTx/>
              <a:latin typeface="Arial"/>
              <a:ea typeface="+mn-ea"/>
              <a:cs typeface="Arial"/>
              <a:sym typeface="Arial"/>
            </a:endParaRPr>
          </a:p>
        </p:txBody>
      </p:sp>
      <p:sp>
        <p:nvSpPr>
          <p:cNvPr id="62" name="TextBox 61">
            <a:extLst>
              <a:ext uri="{FF2B5EF4-FFF2-40B4-BE49-F238E27FC236}">
                <a16:creationId xmlns:a16="http://schemas.microsoft.com/office/drawing/2014/main" id="{361344B2-44A5-CF57-6F0C-645FD445F9FB}"/>
              </a:ext>
            </a:extLst>
          </p:cNvPr>
          <p:cNvSpPr txBox="1"/>
          <p:nvPr/>
        </p:nvSpPr>
        <p:spPr>
          <a:xfrm>
            <a:off x="10236134" y="3940614"/>
            <a:ext cx="1621093" cy="857565"/>
          </a:xfrm>
          <a:prstGeom prst="rect">
            <a:avLst/>
          </a:prstGeom>
          <a:noFill/>
        </p:spPr>
        <p:txBody>
          <a:bodyPr wrap="square" lIns="96000" tIns="96000" rIns="144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Content Management</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Governance  </a:t>
            </a:r>
          </a:p>
        </p:txBody>
      </p:sp>
      <p:sp>
        <p:nvSpPr>
          <p:cNvPr id="77" name="TextBox 76">
            <a:extLst>
              <a:ext uri="{FF2B5EF4-FFF2-40B4-BE49-F238E27FC236}">
                <a16:creationId xmlns:a16="http://schemas.microsoft.com/office/drawing/2014/main" id="{91B2D086-A775-584C-1820-EA32C975880D}"/>
              </a:ext>
            </a:extLst>
          </p:cNvPr>
          <p:cNvSpPr txBox="1"/>
          <p:nvPr/>
        </p:nvSpPr>
        <p:spPr>
          <a:xfrm>
            <a:off x="754185" y="3641074"/>
            <a:ext cx="4734425" cy="281603"/>
          </a:xfrm>
          <a:prstGeom prst="rect">
            <a:avLst/>
          </a:prstGeom>
          <a:noFill/>
        </p:spPr>
        <p:txBody>
          <a:bodyPr wrap="none" lIns="48000" tIns="48000" rIns="48000" bIns="48000"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200" b="0" i="1" u="none" strike="noStrike" kern="0" cap="none" spc="0" normalizeH="0" baseline="0" noProof="0">
                <a:ln>
                  <a:noFill/>
                </a:ln>
                <a:solidFill>
                  <a:srgbClr val="666666"/>
                </a:solidFill>
                <a:effectLst/>
                <a:uLnTx/>
                <a:uFillTx/>
                <a:latin typeface="Arial"/>
                <a:ea typeface="+mn-ea"/>
                <a:cs typeface="Arial"/>
                <a:sym typeface="Arial"/>
              </a:rPr>
              <a:t>Where are the pain points in the Knowledge Management Lifecycle?</a:t>
            </a:r>
            <a:endParaRPr kumimoji="0" lang="en-CA" sz="1200" b="0" i="1" u="none" strike="noStrike" kern="0" cap="none" spc="0" normalizeH="0" baseline="0" noProof="0">
              <a:ln>
                <a:noFill/>
              </a:ln>
              <a:solidFill>
                <a:srgbClr val="666666"/>
              </a:solidFill>
              <a:effectLst/>
              <a:uLnTx/>
              <a:uFillTx/>
              <a:latin typeface="Arial"/>
              <a:ea typeface="+mn-ea"/>
              <a:cs typeface="Arial"/>
              <a:sym typeface="Arial"/>
            </a:endParaRPr>
          </a:p>
        </p:txBody>
      </p:sp>
      <p:sp>
        <p:nvSpPr>
          <p:cNvPr id="78" name="TextBox 77">
            <a:extLst>
              <a:ext uri="{FF2B5EF4-FFF2-40B4-BE49-F238E27FC236}">
                <a16:creationId xmlns:a16="http://schemas.microsoft.com/office/drawing/2014/main" id="{C31BF65C-9CFB-16F4-AC0A-4A80FC92274F}"/>
              </a:ext>
            </a:extLst>
          </p:cNvPr>
          <p:cNvSpPr txBox="1"/>
          <p:nvPr/>
        </p:nvSpPr>
        <p:spPr>
          <a:xfrm rot="16200000">
            <a:off x="-269457" y="5687881"/>
            <a:ext cx="1614773" cy="302121"/>
          </a:xfrm>
          <a:prstGeom prst="rect">
            <a:avLst/>
          </a:prstGeom>
          <a:solidFill>
            <a:schemeClr val="accent1"/>
          </a:solidFill>
        </p:spPr>
        <p:txBody>
          <a:bodyPr wrap="none" lIns="48000" tIns="48000" rIns="48000" bIns="48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1333" b="0" i="0" u="none" strike="noStrike" kern="0" cap="none" spc="0" normalizeH="0" baseline="0" noProof="0">
                <a:ln>
                  <a:noFill/>
                </a:ln>
                <a:solidFill>
                  <a:srgbClr val="FFFFFF"/>
                </a:solidFill>
                <a:effectLst/>
                <a:uLnTx/>
                <a:uFillTx/>
                <a:latin typeface="Arial"/>
                <a:ea typeface="+mn-ea"/>
                <a:cs typeface="Arial"/>
                <a:sym typeface="Arial"/>
              </a:rPr>
              <a:t>VALUE OF AI</a:t>
            </a:r>
            <a:endParaRPr kumimoji="0" lang="en-CA" sz="1333"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79" name="TextBox 78">
            <a:extLst>
              <a:ext uri="{FF2B5EF4-FFF2-40B4-BE49-F238E27FC236}">
                <a16:creationId xmlns:a16="http://schemas.microsoft.com/office/drawing/2014/main" id="{07B5A92D-5C17-39CD-4CFB-4CEDDFB42ACE}"/>
              </a:ext>
            </a:extLst>
          </p:cNvPr>
          <p:cNvSpPr txBox="1"/>
          <p:nvPr/>
        </p:nvSpPr>
        <p:spPr>
          <a:xfrm>
            <a:off x="754184" y="5333677"/>
            <a:ext cx="1621093" cy="1312649"/>
          </a:xfrm>
          <a:prstGeom prst="rect">
            <a:avLst/>
          </a:prstGeom>
          <a:solidFill>
            <a:schemeClr val="accent2">
              <a:lumMod val="40000"/>
              <a:lumOff val="6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9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0" name="TextBox 79">
            <a:extLst>
              <a:ext uri="{FF2B5EF4-FFF2-40B4-BE49-F238E27FC236}">
                <a16:creationId xmlns:a16="http://schemas.microsoft.com/office/drawing/2014/main" id="{4BF40CEC-5CCE-94EF-48B6-7045817E558B}"/>
              </a:ext>
            </a:extLst>
          </p:cNvPr>
          <p:cNvSpPr txBox="1"/>
          <p:nvPr/>
        </p:nvSpPr>
        <p:spPr>
          <a:xfrm>
            <a:off x="2650574" y="5333677"/>
            <a:ext cx="1621093" cy="1312649"/>
          </a:xfrm>
          <a:prstGeom prst="rect">
            <a:avLst/>
          </a:prstGeom>
          <a:solidFill>
            <a:schemeClr val="accent2">
              <a:lumMod val="40000"/>
              <a:lumOff val="6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1" name="TextBox 80">
            <a:extLst>
              <a:ext uri="{FF2B5EF4-FFF2-40B4-BE49-F238E27FC236}">
                <a16:creationId xmlns:a16="http://schemas.microsoft.com/office/drawing/2014/main" id="{8D0BF3E5-318F-E75B-7112-0537D2262B48}"/>
              </a:ext>
            </a:extLst>
          </p:cNvPr>
          <p:cNvSpPr txBox="1"/>
          <p:nvPr/>
        </p:nvSpPr>
        <p:spPr>
          <a:xfrm>
            <a:off x="4546963" y="5333677"/>
            <a:ext cx="1621093" cy="1312649"/>
          </a:xfrm>
          <a:prstGeom prst="rect">
            <a:avLst/>
          </a:prstGeom>
          <a:solidFill>
            <a:schemeClr val="accent2">
              <a:lumMod val="40000"/>
              <a:lumOff val="6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2" name="TextBox 81">
            <a:extLst>
              <a:ext uri="{FF2B5EF4-FFF2-40B4-BE49-F238E27FC236}">
                <a16:creationId xmlns:a16="http://schemas.microsoft.com/office/drawing/2014/main" id="{E11C5431-D1AC-0C69-CE46-07292ADBD3C3}"/>
              </a:ext>
            </a:extLst>
          </p:cNvPr>
          <p:cNvSpPr txBox="1"/>
          <p:nvPr/>
        </p:nvSpPr>
        <p:spPr>
          <a:xfrm>
            <a:off x="6443352" y="5333677"/>
            <a:ext cx="1621093" cy="1312649"/>
          </a:xfrm>
          <a:prstGeom prst="rect">
            <a:avLst/>
          </a:prstGeom>
          <a:solidFill>
            <a:schemeClr val="accent2">
              <a:lumMod val="40000"/>
              <a:lumOff val="6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3" name="TextBox 82">
            <a:extLst>
              <a:ext uri="{FF2B5EF4-FFF2-40B4-BE49-F238E27FC236}">
                <a16:creationId xmlns:a16="http://schemas.microsoft.com/office/drawing/2014/main" id="{C3B648FF-8D28-5605-70CF-A6D12EDB2559}"/>
              </a:ext>
            </a:extLst>
          </p:cNvPr>
          <p:cNvSpPr txBox="1"/>
          <p:nvPr/>
        </p:nvSpPr>
        <p:spPr>
          <a:xfrm>
            <a:off x="8339742" y="5333677"/>
            <a:ext cx="1621093" cy="1312649"/>
          </a:xfrm>
          <a:prstGeom prst="rect">
            <a:avLst/>
          </a:prstGeom>
          <a:solidFill>
            <a:schemeClr val="accent2">
              <a:lumMod val="40000"/>
              <a:lumOff val="6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4" name="TextBox 83">
            <a:extLst>
              <a:ext uri="{FF2B5EF4-FFF2-40B4-BE49-F238E27FC236}">
                <a16:creationId xmlns:a16="http://schemas.microsoft.com/office/drawing/2014/main" id="{D8BB6870-FDE7-D5D8-891D-8E5076B70D86}"/>
              </a:ext>
            </a:extLst>
          </p:cNvPr>
          <p:cNvSpPr txBox="1"/>
          <p:nvPr/>
        </p:nvSpPr>
        <p:spPr>
          <a:xfrm>
            <a:off x="10236131" y="5333677"/>
            <a:ext cx="1621093" cy="1312649"/>
          </a:xfrm>
          <a:prstGeom prst="rect">
            <a:avLst/>
          </a:prstGeom>
          <a:solidFill>
            <a:schemeClr val="accent2">
              <a:lumMod val="40000"/>
              <a:lumOff val="60000"/>
            </a:schemeClr>
          </a:solidFill>
        </p:spPr>
        <p:txBody>
          <a:bodyPr wrap="square" lIns="96000" tIns="96000" rIns="96000" bIns="96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3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5" name="TextBox 84">
            <a:extLst>
              <a:ext uri="{FF2B5EF4-FFF2-40B4-BE49-F238E27FC236}">
                <a16:creationId xmlns:a16="http://schemas.microsoft.com/office/drawing/2014/main" id="{C78EA011-1170-509D-341B-77E24905A102}"/>
              </a:ext>
            </a:extLst>
          </p:cNvPr>
          <p:cNvSpPr txBox="1"/>
          <p:nvPr/>
        </p:nvSpPr>
        <p:spPr>
          <a:xfrm>
            <a:off x="754184" y="5336980"/>
            <a:ext cx="1621093" cy="1309339"/>
          </a:xfrm>
          <a:prstGeom prst="rect">
            <a:avLst/>
          </a:prstGeom>
          <a:noFill/>
        </p:spPr>
        <p:txBody>
          <a:bodyPr wrap="square" lIns="96000" tIns="96000" rIns="96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Feedback to authors on </a:t>
            </a: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readability and duplication</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Text summarization and </a:t>
            </a: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re-writing</a:t>
            </a: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 for readability</a:t>
            </a:r>
            <a:endParaRPr kumimoji="0" lang="en-US" sz="933" b="0" i="0" u="none" strike="noStrike" kern="1200" cap="none" spc="0" normalizeH="0" baseline="0" noProof="0">
              <a:ln>
                <a:noFill/>
              </a:ln>
              <a:solidFill>
                <a:srgbClr val="000000"/>
              </a:solidFill>
              <a:effectLst/>
              <a:uLnTx/>
              <a:uFillTx/>
              <a:latin typeface="Arial"/>
              <a:ea typeface="+mn-ea"/>
              <a:cs typeface="Arial"/>
              <a:sym typeface="Arial"/>
            </a:endParaRP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CA" sz="933" b="0" i="0" u="none" strike="noStrike" kern="1200" cap="none" spc="0" normalizeH="0" baseline="0" noProof="0">
              <a:ln>
                <a:noFill/>
              </a:ln>
              <a:solidFill>
                <a:srgbClr val="000000"/>
              </a:solidFill>
              <a:effectLst/>
              <a:uLnTx/>
              <a:uFillTx/>
              <a:latin typeface="Arial"/>
              <a:ea typeface="+mn-ea"/>
              <a:cs typeface="Arial"/>
              <a:sym typeface="Arial"/>
            </a:endParaRPr>
          </a:p>
        </p:txBody>
      </p:sp>
      <p:sp>
        <p:nvSpPr>
          <p:cNvPr id="86" name="TextBox 85">
            <a:extLst>
              <a:ext uri="{FF2B5EF4-FFF2-40B4-BE49-F238E27FC236}">
                <a16:creationId xmlns:a16="http://schemas.microsoft.com/office/drawing/2014/main" id="{CF0EFC2B-EE04-A5EB-6742-092D48846431}"/>
              </a:ext>
            </a:extLst>
          </p:cNvPr>
          <p:cNvSpPr txBox="1"/>
          <p:nvPr/>
        </p:nvSpPr>
        <p:spPr>
          <a:xfrm>
            <a:off x="2650574" y="5336979"/>
            <a:ext cx="1621093" cy="1206695"/>
          </a:xfrm>
          <a:prstGeom prst="rect">
            <a:avLst/>
          </a:prstGeom>
          <a:noFill/>
        </p:spPr>
        <p:txBody>
          <a:bodyPr wrap="square" lIns="96000" tIns="96000" rIns="96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Content </a:t>
            </a: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categorization and tagging</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Content reorganization into </a:t>
            </a: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standard format</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CA" sz="933" b="0" i="0" u="none" strike="noStrike" kern="1200" cap="none" spc="0" normalizeH="0" baseline="0" noProof="0">
              <a:ln>
                <a:noFill/>
              </a:ln>
              <a:solidFill>
                <a:srgbClr val="000000"/>
              </a:solidFill>
              <a:effectLst/>
              <a:uLnTx/>
              <a:uFillTx/>
              <a:latin typeface="Arial"/>
              <a:ea typeface="+mn-ea"/>
              <a:cs typeface="Arial"/>
              <a:sym typeface="Arial"/>
            </a:endParaRPr>
          </a:p>
        </p:txBody>
      </p:sp>
      <p:sp>
        <p:nvSpPr>
          <p:cNvPr id="87" name="TextBox 86">
            <a:extLst>
              <a:ext uri="{FF2B5EF4-FFF2-40B4-BE49-F238E27FC236}">
                <a16:creationId xmlns:a16="http://schemas.microsoft.com/office/drawing/2014/main" id="{7E741898-E0EF-9CE0-8D65-FFB228603C63}"/>
              </a:ext>
            </a:extLst>
          </p:cNvPr>
          <p:cNvSpPr txBox="1"/>
          <p:nvPr/>
        </p:nvSpPr>
        <p:spPr>
          <a:xfrm>
            <a:off x="6443352" y="5336980"/>
            <a:ext cx="1621093" cy="857565"/>
          </a:xfrm>
          <a:prstGeom prst="rect">
            <a:avLst/>
          </a:prstGeom>
          <a:noFill/>
        </p:spPr>
        <p:txBody>
          <a:bodyPr wrap="square" lIns="96000" tIns="96000" rIns="96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Audience/</a:t>
            </a: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role specific content</a:t>
            </a: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 </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Enhanced training</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Advanced information  retrieval</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Recommendation</a:t>
            </a: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 engine </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CA" sz="933" b="0" i="0" u="none" strike="noStrike" kern="1200" cap="none" spc="0" normalizeH="0" baseline="0" noProof="0">
              <a:ln>
                <a:noFill/>
              </a:ln>
              <a:solidFill>
                <a:srgbClr val="000000"/>
              </a:solidFill>
              <a:effectLst/>
              <a:uLnTx/>
              <a:uFillTx/>
              <a:latin typeface="Arial"/>
              <a:ea typeface="+mn-ea"/>
              <a:cs typeface="Arial"/>
              <a:sym typeface="Arial"/>
            </a:endParaRPr>
          </a:p>
        </p:txBody>
      </p:sp>
      <p:sp>
        <p:nvSpPr>
          <p:cNvPr id="88" name="TextBox 87">
            <a:extLst>
              <a:ext uri="{FF2B5EF4-FFF2-40B4-BE49-F238E27FC236}">
                <a16:creationId xmlns:a16="http://schemas.microsoft.com/office/drawing/2014/main" id="{C63D30A2-5741-F08D-5274-3E9CA2C04A8F}"/>
              </a:ext>
            </a:extLst>
          </p:cNvPr>
          <p:cNvSpPr txBox="1"/>
          <p:nvPr/>
        </p:nvSpPr>
        <p:spPr>
          <a:xfrm>
            <a:off x="4546963" y="5336980"/>
            <a:ext cx="1621093" cy="1309345"/>
          </a:xfrm>
          <a:prstGeom prst="rect">
            <a:avLst/>
          </a:prstGeom>
          <a:noFill/>
        </p:spPr>
        <p:txBody>
          <a:bodyPr wrap="square" lIns="96000" tIns="96000" rIns="96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Content reviews</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933" b="0" i="0" u="none" strike="noStrike" kern="1200" cap="none" spc="0" normalizeH="0" baseline="0" noProof="0">
                <a:ln>
                  <a:noFill/>
                </a:ln>
                <a:solidFill>
                  <a:srgbClr val="000000"/>
                </a:solidFill>
                <a:effectLst/>
                <a:uLnTx/>
                <a:uFillTx/>
                <a:latin typeface="Arial"/>
                <a:ea typeface="+mn-ea"/>
                <a:cs typeface="Arial"/>
                <a:sym typeface="Arial"/>
              </a:rPr>
              <a:t>Knowledge graph to reduce ambiguity, improve procedural relationships and query capability</a:t>
            </a:r>
            <a:endParaRPr kumimoji="0" lang="en-CA" sz="933" b="0" i="0" u="none" strike="noStrike" kern="1200" cap="none" spc="0" normalizeH="0" baseline="0" noProof="0">
              <a:ln>
                <a:noFill/>
              </a:ln>
              <a:solidFill>
                <a:srgbClr val="000000"/>
              </a:solidFill>
              <a:effectLst/>
              <a:uLnTx/>
              <a:uFillTx/>
              <a:latin typeface="Arial"/>
              <a:ea typeface="+mn-ea"/>
              <a:cs typeface="Arial"/>
              <a:sym typeface="Arial"/>
            </a:endParaRPr>
          </a:p>
        </p:txBody>
      </p:sp>
      <p:sp>
        <p:nvSpPr>
          <p:cNvPr id="89" name="TextBox 88">
            <a:extLst>
              <a:ext uri="{FF2B5EF4-FFF2-40B4-BE49-F238E27FC236}">
                <a16:creationId xmlns:a16="http://schemas.microsoft.com/office/drawing/2014/main" id="{9DBC864C-C9D4-AAEF-0AD6-22DE44B0F12B}"/>
              </a:ext>
            </a:extLst>
          </p:cNvPr>
          <p:cNvSpPr txBox="1"/>
          <p:nvPr/>
        </p:nvSpPr>
        <p:spPr>
          <a:xfrm>
            <a:off x="8339742" y="5336980"/>
            <a:ext cx="1621093" cy="1309344"/>
          </a:xfrm>
          <a:prstGeom prst="rect">
            <a:avLst/>
          </a:prstGeom>
          <a:noFill/>
        </p:spPr>
        <p:txBody>
          <a:bodyPr wrap="square" lIns="96000" tIns="96000" rIns="96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Ease of use</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Semantic search</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Visualization of </a:t>
            </a:r>
            <a:r>
              <a:rPr kumimoji="0" lang="en-CA" sz="933" b="0" i="0" u="none" strike="noStrike" kern="1200" cap="none" spc="0" normalizeH="0" baseline="0" noProof="0">
                <a:ln>
                  <a:noFill/>
                </a:ln>
                <a:solidFill>
                  <a:srgbClr val="00A5B4"/>
                </a:solidFill>
                <a:effectLst/>
                <a:uLnTx/>
                <a:uFillTx/>
                <a:latin typeface="Arial"/>
                <a:ea typeface="+mn-ea"/>
                <a:cs typeface="Arial"/>
                <a:sym typeface="Arial"/>
              </a:rPr>
              <a:t>context and next steps</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a:ea typeface="+mn-ea"/>
                <a:cs typeface="Arial"/>
                <a:sym typeface="Arial"/>
              </a:rPr>
              <a:t>Related processes</a:t>
            </a:r>
          </a:p>
        </p:txBody>
      </p:sp>
      <p:sp>
        <p:nvSpPr>
          <p:cNvPr id="90" name="TextBox 89">
            <a:extLst>
              <a:ext uri="{FF2B5EF4-FFF2-40B4-BE49-F238E27FC236}">
                <a16:creationId xmlns:a16="http://schemas.microsoft.com/office/drawing/2014/main" id="{7EB731F8-DF77-F2A8-EBCA-76298DDAFDB4}"/>
              </a:ext>
            </a:extLst>
          </p:cNvPr>
          <p:cNvSpPr txBox="1"/>
          <p:nvPr/>
        </p:nvSpPr>
        <p:spPr>
          <a:xfrm>
            <a:off x="10236134" y="5336979"/>
            <a:ext cx="1621093" cy="1309340"/>
          </a:xfrm>
          <a:prstGeom prst="rect">
            <a:avLst/>
          </a:prstGeom>
          <a:noFill/>
        </p:spPr>
        <p:txBody>
          <a:bodyPr wrap="square" lIns="96000" tIns="96000" rIns="96000" bIns="96000" rtlCol="0" anchor="t">
            <a:noAutofit/>
          </a:bodyPr>
          <a:lstStyle/>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panose="020B0604020202020204"/>
                <a:ea typeface="+mn-ea"/>
                <a:cs typeface="Arial"/>
                <a:sym typeface="Arial"/>
              </a:rPr>
              <a:t>Usage analysis</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0000"/>
                </a:solidFill>
                <a:effectLst/>
                <a:uLnTx/>
                <a:uFillTx/>
                <a:latin typeface="Arial" panose="020B0604020202020204"/>
                <a:ea typeface="+mn-ea"/>
                <a:cs typeface="Arial"/>
                <a:sym typeface="Arial"/>
              </a:rPr>
              <a:t>Live </a:t>
            </a:r>
            <a:r>
              <a:rPr kumimoji="0" lang="en-CA" sz="933" b="0" i="0" u="none" strike="noStrike" kern="1200" cap="none" spc="0" normalizeH="0" baseline="0" noProof="0">
                <a:ln>
                  <a:noFill/>
                </a:ln>
                <a:solidFill>
                  <a:srgbClr val="00A5B4"/>
                </a:solidFill>
                <a:effectLst/>
                <a:uLnTx/>
                <a:uFillTx/>
                <a:latin typeface="Arial" panose="020B0604020202020204"/>
                <a:ea typeface="+mn-ea"/>
                <a:cs typeface="Arial"/>
                <a:sym typeface="Arial"/>
              </a:rPr>
              <a:t>feedback</a:t>
            </a:r>
            <a:r>
              <a:rPr kumimoji="0" lang="en-CA" sz="933" b="0" i="0" u="none" strike="noStrike" kern="1200" cap="none" spc="0" normalizeH="0" baseline="0" noProof="0">
                <a:ln>
                  <a:noFill/>
                </a:ln>
                <a:solidFill>
                  <a:srgbClr val="000000"/>
                </a:solidFill>
                <a:effectLst/>
                <a:uLnTx/>
                <a:uFillTx/>
                <a:latin typeface="Arial" panose="020B0604020202020204"/>
                <a:ea typeface="+mn-ea"/>
                <a:cs typeface="Arial"/>
                <a:sym typeface="Arial"/>
              </a:rPr>
              <a:t> on knowledge retrieval</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A5B4"/>
                </a:solidFill>
                <a:effectLst/>
                <a:uLnTx/>
                <a:uFillTx/>
                <a:latin typeface="Arial" panose="020B0604020202020204"/>
                <a:ea typeface="+mn-ea"/>
                <a:cs typeface="Arial"/>
                <a:sym typeface="Arial"/>
              </a:rPr>
              <a:t>Sentiment</a:t>
            </a:r>
            <a:r>
              <a:rPr kumimoji="0" lang="en-CA" sz="933" b="0" i="0" u="none" strike="noStrike" kern="1200" cap="none" spc="0" normalizeH="0" baseline="0" noProof="0">
                <a:ln>
                  <a:noFill/>
                </a:ln>
                <a:solidFill>
                  <a:srgbClr val="000000"/>
                </a:solidFill>
                <a:effectLst/>
                <a:uLnTx/>
                <a:uFillTx/>
                <a:latin typeface="Arial" panose="020B0604020202020204"/>
                <a:ea typeface="+mn-ea"/>
                <a:cs typeface="Arial"/>
                <a:sym typeface="Arial"/>
              </a:rPr>
              <a:t> analysis</a:t>
            </a:r>
          </a:p>
          <a:p>
            <a:pPr marL="228594" marR="0" lvl="0" indent="-228594" algn="l" defTabSz="914354"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CA" sz="933" b="0" i="0" u="none" strike="noStrike" kern="1200" cap="none" spc="0" normalizeH="0" baseline="0" noProof="0">
                <a:ln>
                  <a:noFill/>
                </a:ln>
                <a:solidFill>
                  <a:srgbClr val="00A5B4"/>
                </a:solidFill>
                <a:effectLst/>
                <a:uLnTx/>
                <a:uFillTx/>
                <a:latin typeface="Arial" panose="020B0604020202020204"/>
                <a:ea typeface="+mn-ea"/>
                <a:cs typeface="Arial"/>
                <a:sym typeface="Arial"/>
              </a:rPr>
              <a:t>Trend</a:t>
            </a:r>
            <a:r>
              <a:rPr kumimoji="0" lang="en-CA" sz="933" b="0" i="0" u="none" strike="noStrike" kern="1200" cap="none" spc="0" normalizeH="0" baseline="0" noProof="0">
                <a:ln>
                  <a:noFill/>
                </a:ln>
                <a:solidFill>
                  <a:srgbClr val="000000"/>
                </a:solidFill>
                <a:effectLst/>
                <a:uLnTx/>
                <a:uFillTx/>
                <a:latin typeface="Arial" panose="020B0604020202020204"/>
                <a:ea typeface="+mn-ea"/>
                <a:cs typeface="Arial"/>
                <a:sym typeface="Arial"/>
              </a:rPr>
              <a:t> analysis  </a:t>
            </a:r>
          </a:p>
        </p:txBody>
      </p:sp>
      <p:sp>
        <p:nvSpPr>
          <p:cNvPr id="91" name="TextBox 90">
            <a:extLst>
              <a:ext uri="{FF2B5EF4-FFF2-40B4-BE49-F238E27FC236}">
                <a16:creationId xmlns:a16="http://schemas.microsoft.com/office/drawing/2014/main" id="{7F78C386-BBC4-C4F7-4FA7-5833F9B71021}"/>
              </a:ext>
            </a:extLst>
          </p:cNvPr>
          <p:cNvSpPr txBox="1"/>
          <p:nvPr/>
        </p:nvSpPr>
        <p:spPr>
          <a:xfrm>
            <a:off x="754185" y="5031555"/>
            <a:ext cx="4615803" cy="281603"/>
          </a:xfrm>
          <a:prstGeom prst="rect">
            <a:avLst/>
          </a:prstGeom>
          <a:noFill/>
        </p:spPr>
        <p:txBody>
          <a:bodyPr wrap="none" lIns="48000" tIns="48000" rIns="48000" bIns="48000"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200" b="0" i="1" u="none" strike="noStrike" kern="0" cap="none" spc="0" normalizeH="0" baseline="0" noProof="0">
                <a:ln>
                  <a:noFill/>
                </a:ln>
                <a:solidFill>
                  <a:srgbClr val="666666"/>
                </a:solidFill>
                <a:effectLst/>
                <a:uLnTx/>
                <a:uFillTx/>
                <a:latin typeface="Arial"/>
                <a:ea typeface="+mn-ea"/>
                <a:cs typeface="Arial"/>
                <a:sym typeface="Arial"/>
              </a:rPr>
              <a:t>Where can AI add value in the Knowledge Management Lifecycle?</a:t>
            </a:r>
            <a:endParaRPr kumimoji="0" lang="en-CA" sz="1200" b="0" i="1" u="none" strike="noStrike" kern="0" cap="none" spc="0" normalizeH="0" baseline="0" noProof="0">
              <a:ln>
                <a:noFill/>
              </a:ln>
              <a:solidFill>
                <a:srgbClr val="666666"/>
              </a:solidFill>
              <a:effectLst/>
              <a:uLnTx/>
              <a:uFillTx/>
              <a:latin typeface="Arial"/>
              <a:ea typeface="+mn-ea"/>
              <a:cs typeface="Arial"/>
              <a:sym typeface="Arial"/>
            </a:endParaRPr>
          </a:p>
        </p:txBody>
      </p:sp>
      <p:sp>
        <p:nvSpPr>
          <p:cNvPr id="106" name="TextBox 105">
            <a:extLst>
              <a:ext uri="{FF2B5EF4-FFF2-40B4-BE49-F238E27FC236}">
                <a16:creationId xmlns:a16="http://schemas.microsoft.com/office/drawing/2014/main" id="{A3EE5D62-E464-1C53-66C3-5B66595134E5}"/>
              </a:ext>
            </a:extLst>
          </p:cNvPr>
          <p:cNvSpPr txBox="1"/>
          <p:nvPr/>
        </p:nvSpPr>
        <p:spPr>
          <a:xfrm rot="16200000">
            <a:off x="-290940" y="2538616"/>
            <a:ext cx="1657736" cy="302121"/>
          </a:xfrm>
          <a:prstGeom prst="rect">
            <a:avLst/>
          </a:prstGeom>
          <a:solidFill>
            <a:schemeClr val="bg2"/>
          </a:solidFill>
        </p:spPr>
        <p:txBody>
          <a:bodyPr wrap="none" lIns="48000" tIns="48000" rIns="48000" bIns="48000" rtlCol="0" anchor="ctr">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fr-CA" sz="1333" b="0" i="0" u="none" strike="noStrike" kern="0" cap="none" spc="0" normalizeH="0" baseline="0" noProof="0">
                <a:ln>
                  <a:noFill/>
                </a:ln>
                <a:solidFill>
                  <a:srgbClr val="FFFFFF"/>
                </a:solidFill>
                <a:effectLst/>
                <a:uLnTx/>
                <a:uFillTx/>
                <a:latin typeface="Arial"/>
                <a:ea typeface="+mn-ea"/>
                <a:cs typeface="Arial"/>
                <a:sym typeface="Arial"/>
              </a:rPr>
              <a:t>KM LIFE CYCLE</a:t>
            </a:r>
            <a:endParaRPr kumimoji="0" lang="en-CA" sz="1333"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107" name="Text Placeholder 3">
            <a:extLst>
              <a:ext uri="{FF2B5EF4-FFF2-40B4-BE49-F238E27FC236}">
                <a16:creationId xmlns:a16="http://schemas.microsoft.com/office/drawing/2014/main" id="{3FD1E1F1-0F30-EA35-CB17-25B03692EE77}"/>
              </a:ext>
            </a:extLst>
          </p:cNvPr>
          <p:cNvSpPr txBox="1">
            <a:spLocks/>
          </p:cNvSpPr>
          <p:nvPr/>
        </p:nvSpPr>
        <p:spPr>
          <a:xfrm>
            <a:off x="410632" y="1149515"/>
            <a:ext cx="11154833" cy="303684"/>
          </a:xfrm>
          <a:prstGeom prst="rect">
            <a:avLst/>
          </a:prstGeom>
        </p:spPr>
        <p:txBody>
          <a:bodyPr/>
          <a:lstStyle>
            <a:lvl1pPr marL="0" indent="0" algn="l" defTabSz="685783" rtl="0" eaLnBrk="1" latinLnBrk="0" hangingPunct="1">
              <a:lnSpc>
                <a:spcPct val="85000"/>
              </a:lnSpc>
              <a:spcBef>
                <a:spcPts val="0"/>
              </a:spcBef>
              <a:spcAft>
                <a:spcPts val="900"/>
              </a:spcAft>
              <a:buFont typeface="Arial" panose="020B0604020202020204" pitchFamily="34" charset="0"/>
              <a:buNone/>
              <a:defRPr sz="2100" b="1" kern="1200" cap="none" baseline="0">
                <a:solidFill>
                  <a:schemeClr val="tx1"/>
                </a:solidFill>
                <a:latin typeface="Arial" panose="020B0604020202020204" pitchFamily="34" charset="0"/>
                <a:ea typeface="+mn-ea"/>
                <a:cs typeface="Arial" panose="020B0604020202020204" pitchFamily="34" charset="0"/>
              </a:defRPr>
            </a:lvl1pPr>
            <a:lvl2pPr marL="214308" indent="-172637" algn="l" defTabSz="685783" rtl="0" eaLnBrk="1" latinLnBrk="0" hangingPunct="1">
              <a:lnSpc>
                <a:spcPct val="100000"/>
              </a:lnSpc>
              <a:spcBef>
                <a:spcPts val="0"/>
              </a:spcBef>
              <a:spcAft>
                <a:spcPts val="900"/>
              </a:spcAft>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2pPr>
            <a:lvl3pPr marL="385754" indent="-172637" algn="l" defTabSz="685783" rtl="0" eaLnBrk="1" latinLnBrk="0" hangingPunct="1">
              <a:lnSpc>
                <a:spcPct val="110000"/>
              </a:lnSpc>
              <a:spcBef>
                <a:spcPts val="0"/>
              </a:spcBef>
              <a:spcAft>
                <a:spcPts val="450"/>
              </a:spcAft>
              <a:buFont typeface="Graphik" panose="020B0503030202060203" pitchFamily="34" charset="0"/>
              <a:buChar char="–"/>
              <a:defRPr sz="1350" kern="1200">
                <a:solidFill>
                  <a:schemeClr val="tx1"/>
                </a:solidFill>
                <a:latin typeface="Arial" panose="020B0604020202020204" pitchFamily="34" charset="0"/>
                <a:ea typeface="+mn-ea"/>
                <a:cs typeface="Arial" panose="020B0604020202020204" pitchFamily="34" charset="0"/>
              </a:defRPr>
            </a:lvl3pPr>
            <a:lvl4pPr marL="514337" indent="-128585" algn="l" defTabSz="685783" rtl="0" eaLnBrk="1" latinLnBrk="0" hangingPunct="1">
              <a:lnSpc>
                <a:spcPct val="110000"/>
              </a:lnSpc>
              <a:spcBef>
                <a:spcPts val="0"/>
              </a:spcBef>
              <a:spcAft>
                <a:spcPts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642922" indent="-133347" algn="l" defTabSz="685783" rtl="0" eaLnBrk="1" latinLnBrk="0" hangingPunct="1">
              <a:lnSpc>
                <a:spcPct val="110000"/>
              </a:lnSpc>
              <a:spcBef>
                <a:spcPts val="0"/>
              </a:spcBef>
              <a:spcAft>
                <a:spcPts val="0"/>
              </a:spcAft>
              <a:buFont typeface="Graphik" panose="020B0503030202060203" pitchFamily="34" charset="0"/>
              <a:buChar char="–"/>
              <a:defRPr sz="1050" kern="1200">
                <a:solidFill>
                  <a:schemeClr val="tx1"/>
                </a:solidFill>
                <a:latin typeface="Arial" panose="020B0604020202020204" pitchFamily="34" charset="0"/>
                <a:ea typeface="+mn-ea"/>
                <a:cs typeface="Arial" panose="020B0604020202020204" pitchFamily="34" charset="0"/>
              </a:defRPr>
            </a:lvl5pPr>
            <a:lvl6pPr marL="771506" indent="-129776" algn="l" defTabSz="685783" rtl="0" eaLnBrk="1" latinLnBrk="0" hangingPunct="1">
              <a:lnSpc>
                <a:spcPct val="90000"/>
              </a:lnSpc>
              <a:spcBef>
                <a:spcPts val="375"/>
              </a:spcBef>
              <a:buFont typeface="Arial" panose="020B0604020202020204" pitchFamily="34" charset="0"/>
              <a:buChar char="•"/>
              <a:defRPr sz="900" kern="1200">
                <a:solidFill>
                  <a:schemeClr val="tx1"/>
                </a:solidFill>
                <a:latin typeface="+mn-lt"/>
                <a:ea typeface="+mn-ea"/>
                <a:cs typeface="+mn-cs"/>
              </a:defRPr>
            </a:lvl6pPr>
            <a:lvl7pPr marL="41671" indent="0" algn="l" defTabSz="685783" rtl="0" eaLnBrk="1" latinLnBrk="0" hangingPunct="1">
              <a:lnSpc>
                <a:spcPct val="90000"/>
              </a:lnSpc>
              <a:spcBef>
                <a:spcPts val="600"/>
              </a:spcBef>
              <a:buFont typeface="Arial" panose="020B0604020202020204" pitchFamily="34" charset="0"/>
              <a:buNone/>
              <a:defRPr sz="900" b="1" kern="1200" cap="all" baseline="0">
                <a:solidFill>
                  <a:schemeClr val="tx1"/>
                </a:solidFill>
                <a:latin typeface="+mj-lt"/>
                <a:ea typeface="+mn-ea"/>
                <a:cs typeface="+mn-cs"/>
              </a:defRPr>
            </a:lvl7pPr>
            <a:lvl8pPr marL="41671" indent="0" algn="l" defTabSz="685783" rtl="0" eaLnBrk="1" latinLnBrk="0" hangingPunct="1">
              <a:lnSpc>
                <a:spcPct val="100000"/>
              </a:lnSpc>
              <a:spcBef>
                <a:spcPts val="0"/>
              </a:spcBef>
              <a:spcAft>
                <a:spcPts val="600"/>
              </a:spcAft>
              <a:buFont typeface="Arial" panose="020B0604020202020204" pitchFamily="34" charset="0"/>
              <a:buNone/>
              <a:defRPr sz="1350" kern="1200" baseline="0">
                <a:solidFill>
                  <a:schemeClr val="tx1"/>
                </a:solidFill>
                <a:latin typeface="+mn-lt"/>
                <a:ea typeface="+mn-ea"/>
                <a:cs typeface="+mn-cs"/>
              </a:defRPr>
            </a:lvl8pPr>
            <a:lvl9pPr marL="41671" indent="0" algn="l" defTabSz="685783" rtl="0" eaLnBrk="1" latinLnBrk="0" hangingPunct="1">
              <a:lnSpc>
                <a:spcPct val="110000"/>
              </a:lnSpc>
              <a:spcBef>
                <a:spcPts val="0"/>
              </a:spcBef>
              <a:spcAft>
                <a:spcPts val="450"/>
              </a:spcAft>
              <a:buFont typeface="Arial" panose="020B0604020202020204" pitchFamily="34" charset="0"/>
              <a:buNone/>
              <a:defRPr sz="900" kern="1200">
                <a:solidFill>
                  <a:schemeClr val="tx1"/>
                </a:solidFill>
                <a:latin typeface="+mn-lt"/>
                <a:ea typeface="+mn-ea"/>
                <a:cs typeface="+mn-cs"/>
              </a:defRPr>
            </a:lvl9pPr>
          </a:lstStyle>
          <a:p>
            <a:pPr marL="0" marR="0" lvl="0" indent="0" algn="l" defTabSz="914354" rtl="0" eaLnBrk="1" fontAlgn="auto" latinLnBrk="0" hangingPunct="1">
              <a:lnSpc>
                <a:spcPct val="85000"/>
              </a:lnSpc>
              <a:spcBef>
                <a:spcPts val="0"/>
              </a:spcBef>
              <a:spcAft>
                <a:spcPts val="1200"/>
              </a:spcAft>
              <a:buClrTx/>
              <a:buSzTx/>
              <a:buFont typeface="Arial" panose="020B0604020202020204" pitchFamily="34" charset="0"/>
              <a:buNone/>
              <a:tabLst/>
              <a:defRPr/>
            </a:pPr>
            <a:r>
              <a:rPr kumimoji="0" lang="en-CA" sz="1467"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rPr>
              <a:t>AI can significantly optimize the Knowledge Management lifecycle, addressing pain points and enhancing efficiency and consistency</a:t>
            </a:r>
          </a:p>
        </p:txBody>
      </p:sp>
      <p:cxnSp>
        <p:nvCxnSpPr>
          <p:cNvPr id="109" name="Straight Connector 108">
            <a:extLst>
              <a:ext uri="{FF2B5EF4-FFF2-40B4-BE49-F238E27FC236}">
                <a16:creationId xmlns:a16="http://schemas.microsoft.com/office/drawing/2014/main" id="{7D6018BF-A78E-4864-BEAB-15E824315558}"/>
              </a:ext>
            </a:extLst>
          </p:cNvPr>
          <p:cNvCxnSpPr>
            <a:cxnSpLocks/>
          </p:cNvCxnSpPr>
          <p:nvPr/>
        </p:nvCxnSpPr>
        <p:spPr>
          <a:xfrm>
            <a:off x="386869" y="3641071"/>
            <a:ext cx="1147035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EE91CF96-A5DC-08E0-53E9-8BA019C3C7EE}"/>
              </a:ext>
            </a:extLst>
          </p:cNvPr>
          <p:cNvCxnSpPr>
            <a:cxnSpLocks/>
          </p:cNvCxnSpPr>
          <p:nvPr/>
        </p:nvCxnSpPr>
        <p:spPr>
          <a:xfrm>
            <a:off x="386869" y="5031553"/>
            <a:ext cx="1147035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459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374ABF-D059-8021-0CB9-803D843209A4}"/>
              </a:ext>
            </a:extLst>
          </p:cNvPr>
          <p:cNvSpPr>
            <a:spLocks noGrp="1"/>
          </p:cNvSpPr>
          <p:nvPr>
            <p:ph type="sldNum" sz="quarter" idx="12"/>
          </p:nvPr>
        </p:nvSpPr>
        <p:spPr>
          <a:xfrm>
            <a:off x="8737600" y="6356351"/>
            <a:ext cx="2844800" cy="365125"/>
          </a:xfrm>
        </p:spPr>
        <p:txBody>
          <a:bodyPr anchor="ctr">
            <a:normAutofit/>
          </a:bodyPr>
          <a:lstStyle/>
          <a:p>
            <a:pPr>
              <a:spcAft>
                <a:spcPts val="600"/>
              </a:spcAft>
            </a:pPr>
            <a:fld id="{ABCE2B6B-7FFE-FA46-BED3-31567387080B}" type="slidenum">
              <a:rPr lang="en-US" smtClean="0"/>
              <a:pPr>
                <a:spcAft>
                  <a:spcPts val="600"/>
                </a:spcAft>
              </a:pPr>
              <a:t>27</a:t>
            </a:fld>
            <a:endParaRPr lang="en-US"/>
          </a:p>
        </p:txBody>
      </p:sp>
      <p:sp>
        <p:nvSpPr>
          <p:cNvPr id="7" name="Title 2">
            <a:extLst>
              <a:ext uri="{FF2B5EF4-FFF2-40B4-BE49-F238E27FC236}">
                <a16:creationId xmlns:a16="http://schemas.microsoft.com/office/drawing/2014/main" id="{D5DD4FE1-55F6-B4EC-86BF-F21F5437B0A0}"/>
              </a:ext>
            </a:extLst>
          </p:cNvPr>
          <p:cNvSpPr>
            <a:spLocks noGrp="1"/>
          </p:cNvSpPr>
          <p:nvPr>
            <p:ph type="title"/>
          </p:nvPr>
        </p:nvSpPr>
        <p:spPr>
          <a:xfrm>
            <a:off x="609600" y="274638"/>
            <a:ext cx="10972800" cy="1143000"/>
          </a:xfrm>
        </p:spPr>
        <p:txBody>
          <a:bodyPr/>
          <a:lstStyle/>
          <a:p>
            <a:r>
              <a:rPr lang="en-US"/>
              <a:t>Summary of current KM Tools​</a:t>
            </a:r>
          </a:p>
        </p:txBody>
      </p:sp>
      <p:sp>
        <p:nvSpPr>
          <p:cNvPr id="9" name="Content Placeholder 3">
            <a:extLst>
              <a:ext uri="{FF2B5EF4-FFF2-40B4-BE49-F238E27FC236}">
                <a16:creationId xmlns:a16="http://schemas.microsoft.com/office/drawing/2014/main" id="{CC7A4FAC-C8AD-8609-A395-ACC691F784B3}"/>
              </a:ext>
            </a:extLst>
          </p:cNvPr>
          <p:cNvSpPr>
            <a:spLocks noGrp="1"/>
          </p:cNvSpPr>
          <p:nvPr>
            <p:ph idx="1"/>
          </p:nvPr>
        </p:nvSpPr>
        <p:spPr>
          <a:xfrm>
            <a:off x="609600" y="1224117"/>
            <a:ext cx="10972800" cy="595311"/>
          </a:xfrm>
        </p:spPr>
        <p:txBody>
          <a:bodyPr>
            <a:normAutofit/>
          </a:bodyPr>
          <a:lstStyle/>
          <a:p>
            <a:pPr marL="0" indent="0">
              <a:buNone/>
            </a:pPr>
            <a:r>
              <a:rPr lang="en-US" sz="1400"/>
              <a:t>There is a wide range of technology used across the various channels and programs. The type of KM tools range from database solutions such as IMPACT to PowerPoint solutions like IOM/IRT​</a:t>
            </a:r>
          </a:p>
          <a:p>
            <a:pPr marL="0" indent="0">
              <a:buNone/>
            </a:pPr>
            <a:endParaRPr lang="en-US" sz="1400"/>
          </a:p>
          <a:p>
            <a:pPr marL="0" indent="0">
              <a:buNone/>
            </a:pPr>
            <a:endParaRPr lang="en-US" sz="1400"/>
          </a:p>
        </p:txBody>
      </p:sp>
      <p:graphicFrame>
        <p:nvGraphicFramePr>
          <p:cNvPr id="3" name="Table 2">
            <a:extLst>
              <a:ext uri="{FF2B5EF4-FFF2-40B4-BE49-F238E27FC236}">
                <a16:creationId xmlns:a16="http://schemas.microsoft.com/office/drawing/2014/main" id="{361F628B-D288-9891-D62B-5EA22E8A3185}"/>
              </a:ext>
            </a:extLst>
          </p:cNvPr>
          <p:cNvGraphicFramePr>
            <a:graphicFrameLocks noGrp="1"/>
          </p:cNvGraphicFramePr>
          <p:nvPr>
            <p:extLst>
              <p:ext uri="{D42A27DB-BD31-4B8C-83A1-F6EECF244321}">
                <p14:modId xmlns:p14="http://schemas.microsoft.com/office/powerpoint/2010/main" val="678681698"/>
              </p:ext>
            </p:extLst>
          </p:nvPr>
        </p:nvGraphicFramePr>
        <p:xfrm>
          <a:off x="609283" y="1819428"/>
          <a:ext cx="10481186" cy="2103120"/>
        </p:xfrm>
        <a:graphic>
          <a:graphicData uri="http://schemas.openxmlformats.org/drawingml/2006/table">
            <a:tbl>
              <a:tblPr/>
              <a:tblGrid>
                <a:gridCol w="735380">
                  <a:extLst>
                    <a:ext uri="{9D8B030D-6E8A-4147-A177-3AD203B41FA5}">
                      <a16:colId xmlns:a16="http://schemas.microsoft.com/office/drawing/2014/main" val="2286830192"/>
                    </a:ext>
                  </a:extLst>
                </a:gridCol>
                <a:gridCol w="1624301">
                  <a:extLst>
                    <a:ext uri="{9D8B030D-6E8A-4147-A177-3AD203B41FA5}">
                      <a16:colId xmlns:a16="http://schemas.microsoft.com/office/drawing/2014/main" val="1741728426"/>
                    </a:ext>
                  </a:extLst>
                </a:gridCol>
                <a:gridCol w="1624301">
                  <a:extLst>
                    <a:ext uri="{9D8B030D-6E8A-4147-A177-3AD203B41FA5}">
                      <a16:colId xmlns:a16="http://schemas.microsoft.com/office/drawing/2014/main" val="3791986866"/>
                    </a:ext>
                  </a:extLst>
                </a:gridCol>
                <a:gridCol w="1624301">
                  <a:extLst>
                    <a:ext uri="{9D8B030D-6E8A-4147-A177-3AD203B41FA5}">
                      <a16:colId xmlns:a16="http://schemas.microsoft.com/office/drawing/2014/main" val="1875999184"/>
                    </a:ext>
                  </a:extLst>
                </a:gridCol>
                <a:gridCol w="1624301">
                  <a:extLst>
                    <a:ext uri="{9D8B030D-6E8A-4147-A177-3AD203B41FA5}">
                      <a16:colId xmlns:a16="http://schemas.microsoft.com/office/drawing/2014/main" val="2322765901"/>
                    </a:ext>
                  </a:extLst>
                </a:gridCol>
                <a:gridCol w="1624301">
                  <a:extLst>
                    <a:ext uri="{9D8B030D-6E8A-4147-A177-3AD203B41FA5}">
                      <a16:colId xmlns:a16="http://schemas.microsoft.com/office/drawing/2014/main" val="943651891"/>
                    </a:ext>
                  </a:extLst>
                </a:gridCol>
                <a:gridCol w="1624301">
                  <a:extLst>
                    <a:ext uri="{9D8B030D-6E8A-4147-A177-3AD203B41FA5}">
                      <a16:colId xmlns:a16="http://schemas.microsoft.com/office/drawing/2014/main" val="892550215"/>
                    </a:ext>
                  </a:extLst>
                </a:gridCol>
              </a:tblGrid>
              <a:tr h="249380">
                <a:tc gridSpan="2">
                  <a:txBody>
                    <a:bodyPr/>
                    <a:lstStyle/>
                    <a:p>
                      <a:pPr algn="ctr" fontAlgn="base"/>
                      <a:r>
                        <a:rPr lang="en-US" sz="1200" b="1" i="0">
                          <a:solidFill>
                            <a:srgbClr val="FFFFFF"/>
                          </a:solidFill>
                          <a:effectLst/>
                          <a:latin typeface="Segoe UI" panose="020B0502040204020203" pitchFamily="34" charset="0"/>
                        </a:rPr>
                        <a:t>KM TOOL​</a:t>
                      </a:r>
                      <a:endParaRPr lang="en-US" b="1" i="0">
                        <a:solidFill>
                          <a:srgbClr val="FFFFFF"/>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75676"/>
                    </a:solidFill>
                  </a:tcPr>
                </a:tc>
                <a:tc hMerge="1">
                  <a:txBody>
                    <a:bodyPr/>
                    <a:lstStyle/>
                    <a:p>
                      <a:endParaRPr lang="en-CA"/>
                    </a:p>
                  </a:txBody>
                  <a:tcPr/>
                </a:tc>
                <a:tc>
                  <a:txBody>
                    <a:bodyPr/>
                    <a:lstStyle/>
                    <a:p>
                      <a:pPr algn="ctr" fontAlgn="base"/>
                      <a:r>
                        <a:rPr lang="en-US" sz="1200" b="1" i="0">
                          <a:solidFill>
                            <a:srgbClr val="000000"/>
                          </a:solidFill>
                          <a:effectLst/>
                          <a:latin typeface="Segoe UI" panose="020B0502040204020203" pitchFamily="34" charset="0"/>
                        </a:rPr>
                        <a:t>EI ORT</a:t>
                      </a:r>
                      <a:r>
                        <a:rPr lang="en-US" sz="1200" b="1" i="0">
                          <a:solidFill>
                            <a:srgbClr val="FFFFFF"/>
                          </a:solidFill>
                          <a:effectLst/>
                          <a:latin typeface="Segoe UI" panose="020B0502040204020203" pitchFamily="34" charset="0"/>
                        </a:rPr>
                        <a:t>​</a:t>
                      </a:r>
                      <a:endParaRPr lang="en-US" b="1" i="0">
                        <a:solidFill>
                          <a:srgbClr val="FFFFFF"/>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1" i="0">
                          <a:solidFill>
                            <a:srgbClr val="000000"/>
                          </a:solidFill>
                          <a:effectLst/>
                          <a:latin typeface="Segoe UI" panose="020B0502040204020203" pitchFamily="34" charset="0"/>
                        </a:rPr>
                        <a:t>CRT</a:t>
                      </a:r>
                      <a:r>
                        <a:rPr lang="en-US" sz="1200" b="1" i="0">
                          <a:solidFill>
                            <a:srgbClr val="FFFFFF"/>
                          </a:solidFill>
                          <a:effectLst/>
                          <a:latin typeface="Segoe UI" panose="020B0502040204020203" pitchFamily="34" charset="0"/>
                        </a:rPr>
                        <a:t>​</a:t>
                      </a:r>
                      <a:endParaRPr lang="en-US" b="1" i="0">
                        <a:solidFill>
                          <a:srgbClr val="FFFFFF"/>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1" i="0">
                          <a:solidFill>
                            <a:srgbClr val="000000"/>
                          </a:solidFill>
                          <a:effectLst/>
                          <a:latin typeface="Segoe UI" panose="020B0502040204020203" pitchFamily="34" charset="0"/>
                        </a:rPr>
                        <a:t>IMPACT</a:t>
                      </a:r>
                      <a:r>
                        <a:rPr lang="en-US" sz="1200" b="1" i="0">
                          <a:solidFill>
                            <a:srgbClr val="FFFFFF"/>
                          </a:solidFill>
                          <a:effectLst/>
                          <a:latin typeface="Segoe UI" panose="020B0502040204020203" pitchFamily="34" charset="0"/>
                        </a:rPr>
                        <a:t>​</a:t>
                      </a:r>
                      <a:endParaRPr lang="en-US" b="1" i="0">
                        <a:solidFill>
                          <a:srgbClr val="FFFFFF"/>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1" i="0">
                          <a:solidFill>
                            <a:srgbClr val="000000"/>
                          </a:solidFill>
                          <a:effectLst/>
                          <a:latin typeface="Segoe UI" panose="020B0502040204020203" pitchFamily="34" charset="0"/>
                        </a:rPr>
                        <a:t>IOM/IRT</a:t>
                      </a:r>
                      <a:r>
                        <a:rPr lang="en-US" sz="1200" b="1" i="0">
                          <a:solidFill>
                            <a:srgbClr val="FFFFFF"/>
                          </a:solidFill>
                          <a:effectLst/>
                          <a:latin typeface="Segoe UI" panose="020B0502040204020203" pitchFamily="34" charset="0"/>
                        </a:rPr>
                        <a:t>​</a:t>
                      </a:r>
                      <a:endParaRPr lang="en-US" b="1" i="0">
                        <a:solidFill>
                          <a:srgbClr val="FFFFFF"/>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1" i="0">
                          <a:solidFill>
                            <a:srgbClr val="000000"/>
                          </a:solidFill>
                          <a:effectLst/>
                          <a:latin typeface="Segoe UI" panose="020B0502040204020203" pitchFamily="34" charset="0"/>
                        </a:rPr>
                        <a:t>KMT</a:t>
                      </a:r>
                      <a:r>
                        <a:rPr lang="en-US" sz="1200" b="1" i="0">
                          <a:solidFill>
                            <a:srgbClr val="FFFFFF"/>
                          </a:solidFill>
                          <a:effectLst/>
                          <a:latin typeface="Segoe UI" panose="020B0502040204020203" pitchFamily="34" charset="0"/>
                        </a:rPr>
                        <a:t>​</a:t>
                      </a:r>
                      <a:endParaRPr lang="en-US" b="1" i="0">
                        <a:solidFill>
                          <a:srgbClr val="FFFFFF"/>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229669486"/>
                  </a:ext>
                </a:extLst>
              </a:tr>
              <a:tr h="415633">
                <a:tc gridSpan="2">
                  <a:txBody>
                    <a:bodyPr/>
                    <a:lstStyle/>
                    <a:p>
                      <a:pPr algn="ctr" fontAlgn="base"/>
                      <a:r>
                        <a:rPr lang="en-US" sz="1200" b="1" i="0">
                          <a:solidFill>
                            <a:srgbClr val="FFFFFF"/>
                          </a:solidFill>
                          <a:effectLst/>
                          <a:latin typeface="Segoe UI" panose="020B0502040204020203" pitchFamily="34" charset="0"/>
                        </a:rPr>
                        <a:t>TECHNOLOGY</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75676"/>
                    </a:solidFill>
                  </a:tcPr>
                </a:tc>
                <a:tc hMerge="1">
                  <a:txBody>
                    <a:bodyPr/>
                    <a:lstStyle/>
                    <a:p>
                      <a:endParaRPr lang="en-CA"/>
                    </a:p>
                  </a:txBody>
                  <a:tcPr/>
                </a:tc>
                <a:tc>
                  <a:txBody>
                    <a:bodyPr/>
                    <a:lstStyle/>
                    <a:p>
                      <a:pPr algn="ctr" fontAlgn="base"/>
                      <a:r>
                        <a:rPr lang="en-US" sz="1200" b="0" i="0">
                          <a:solidFill>
                            <a:srgbClr val="000000"/>
                          </a:solidFill>
                          <a:effectLst/>
                          <a:latin typeface="Segoe UI" panose="020B0502040204020203" pitchFamily="34" charset="0"/>
                        </a:rPr>
                        <a:t>HTML-based web tool​</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6E6"/>
                    </a:solidFill>
                  </a:tcPr>
                </a:tc>
                <a:tc>
                  <a:txBody>
                    <a:bodyPr/>
                    <a:lstStyle/>
                    <a:p>
                      <a:pPr algn="ctr" fontAlgn="base"/>
                      <a:r>
                        <a:rPr lang="en-US" sz="1200" b="0" i="0">
                          <a:solidFill>
                            <a:srgbClr val="000000"/>
                          </a:solidFill>
                          <a:effectLst/>
                          <a:latin typeface="Segoe UI" panose="020B0502040204020203" pitchFamily="34" charset="0"/>
                        </a:rPr>
                        <a:t>HTML-based web tool​</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6E6"/>
                    </a:solidFill>
                  </a:tcPr>
                </a:tc>
                <a:tc>
                  <a:txBody>
                    <a:bodyPr/>
                    <a:lstStyle/>
                    <a:p>
                      <a:pPr algn="ctr" fontAlgn="base"/>
                      <a:r>
                        <a:rPr lang="en-US" sz="1200" b="0" i="0">
                          <a:solidFill>
                            <a:srgbClr val="000000"/>
                          </a:solidFill>
                          <a:effectLst/>
                          <a:latin typeface="Segoe UI" panose="020B0502040204020203" pitchFamily="34" charset="0"/>
                        </a:rPr>
                        <a:t>Database Solution​</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6E6"/>
                    </a:solidFill>
                  </a:tcPr>
                </a:tc>
                <a:tc>
                  <a:txBody>
                    <a:bodyPr/>
                    <a:lstStyle/>
                    <a:p>
                      <a:pPr algn="ctr" fontAlgn="base"/>
                      <a:r>
                        <a:rPr lang="en-US" sz="1200" b="0" i="0">
                          <a:solidFill>
                            <a:srgbClr val="000000"/>
                          </a:solidFill>
                          <a:effectLst/>
                          <a:latin typeface="Segoe UI" panose="020B0502040204020203" pitchFamily="34" charset="0"/>
                        </a:rPr>
                        <a:t>PowerPoint and SharePoint​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6E6"/>
                    </a:solidFill>
                  </a:tcPr>
                </a:tc>
                <a:tc>
                  <a:txBody>
                    <a:bodyPr/>
                    <a:lstStyle/>
                    <a:p>
                      <a:pPr algn="ctr" fontAlgn="base"/>
                      <a:r>
                        <a:rPr lang="en-US" sz="1200" b="0" i="0">
                          <a:solidFill>
                            <a:srgbClr val="000000"/>
                          </a:solidFill>
                          <a:effectLst/>
                          <a:latin typeface="Segoe UI" panose="020B0502040204020203" pitchFamily="34" charset="0"/>
                        </a:rPr>
                        <a:t>Microsoft Dynamics​</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6E6"/>
                    </a:solidFill>
                  </a:tcPr>
                </a:tc>
                <a:extLst>
                  <a:ext uri="{0D108BD9-81ED-4DB2-BD59-A6C34878D82A}">
                    <a16:rowId xmlns:a16="http://schemas.microsoft.com/office/drawing/2014/main" val="1427805114"/>
                  </a:ext>
                </a:extLst>
              </a:tr>
              <a:tr h="415633">
                <a:tc gridSpan="2">
                  <a:txBody>
                    <a:bodyPr/>
                    <a:lstStyle/>
                    <a:p>
                      <a:pPr algn="ctr" fontAlgn="base"/>
                      <a:r>
                        <a:rPr lang="en-US" sz="1200" b="1" i="0">
                          <a:solidFill>
                            <a:srgbClr val="FFFFFF"/>
                          </a:solidFill>
                          <a:effectLst/>
                          <a:latin typeface="Segoe UI" panose="020B0502040204020203" pitchFamily="34" charset="0"/>
                        </a:rPr>
                        <a:t>CHANNEL</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75676"/>
                    </a:solidFill>
                  </a:tcPr>
                </a:tc>
                <a:tc hMerge="1">
                  <a:txBody>
                    <a:bodyPr/>
                    <a:lstStyle/>
                    <a:p>
                      <a:endParaRPr lang="en-CA"/>
                    </a:p>
                  </a:txBody>
                  <a:tcPr/>
                </a:tc>
                <a:tc>
                  <a:txBody>
                    <a:bodyPr/>
                    <a:lstStyle/>
                    <a:p>
                      <a:pPr algn="ctr" fontAlgn="base"/>
                      <a:r>
                        <a:rPr lang="en-US" sz="1200" b="0" i="0">
                          <a:solidFill>
                            <a:srgbClr val="000000"/>
                          </a:solidFill>
                          <a:effectLst/>
                          <a:latin typeface="Segoe UI" panose="020B0502040204020203" pitchFamily="34" charset="0"/>
                        </a:rPr>
                        <a:t>Processing ​</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0" i="0" u="none" strike="noStrike">
                          <a:solidFill>
                            <a:srgbClr val="000000"/>
                          </a:solidFill>
                          <a:effectLst/>
                          <a:latin typeface="Segoe UI" panose="020B0502040204020203" pitchFamily="34" charset="0"/>
                        </a:rPr>
                        <a:t>Specialized Call Centres</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0" i="0" u="none" strike="noStrike">
                          <a:solidFill>
                            <a:srgbClr val="000000"/>
                          </a:solidFill>
                          <a:effectLst/>
                          <a:latin typeface="Segoe UI" panose="020B0502040204020203" pitchFamily="34" charset="0"/>
                        </a:rPr>
                        <a:t>In-Person</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0" i="0" u="none" strike="noStrike">
                          <a:solidFill>
                            <a:srgbClr val="000000"/>
                          </a:solidFill>
                          <a:effectLst/>
                          <a:latin typeface="Segoe UI" panose="020B0502040204020203" pitchFamily="34" charset="0"/>
                        </a:rPr>
                        <a:t>Integrity </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tc>
                  <a:txBody>
                    <a:bodyPr/>
                    <a:lstStyle/>
                    <a:p>
                      <a:pPr algn="ctr" fontAlgn="base"/>
                      <a:r>
                        <a:rPr lang="en-US" sz="1200" b="0" i="0" u="none" strike="noStrike">
                          <a:solidFill>
                            <a:srgbClr val="000000"/>
                          </a:solidFill>
                          <a:effectLst/>
                          <a:latin typeface="Segoe UI" panose="020B0502040204020203" pitchFamily="34" charset="0"/>
                        </a:rPr>
                        <a:t>Processing </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443555209"/>
                  </a:ext>
                </a:extLst>
              </a:tr>
              <a:tr h="277089">
                <a:tc rowSpan="3">
                  <a:txBody>
                    <a:bodyPr/>
                    <a:lstStyle/>
                    <a:p>
                      <a:pPr algn="ctr" fontAlgn="base"/>
                      <a:r>
                        <a:rPr lang="en-US" sz="1200" b="1" i="0">
                          <a:solidFill>
                            <a:srgbClr val="FFFFFF"/>
                          </a:solidFill>
                          <a:effectLst/>
                          <a:latin typeface="Segoe UI" panose="020B0502040204020203" pitchFamily="34" charset="0"/>
                        </a:rPr>
                        <a:t>PROGRAM</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75676"/>
                    </a:solidFill>
                  </a:tcPr>
                </a:tc>
                <a:tc>
                  <a:txBody>
                    <a:bodyPr/>
                    <a:lstStyle/>
                    <a:p>
                      <a:pPr algn="ctr" fontAlgn="base"/>
                      <a:r>
                        <a:rPr lang="en-US" sz="1200" b="1" i="0">
                          <a:solidFill>
                            <a:srgbClr val="000000"/>
                          </a:solidFill>
                          <a:effectLst/>
                          <a:latin typeface="Segoe UI" panose="020B0502040204020203" pitchFamily="34" charset="0"/>
                        </a:rPr>
                        <a:t>EI</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B6DCD6"/>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2EAE6"/>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2EAE6"/>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2EAE6"/>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2EAE6"/>
                    </a:solidFill>
                  </a:tcPr>
                </a:tc>
                <a:tc>
                  <a:txBody>
                    <a:bodyPr/>
                    <a:lstStyle/>
                    <a:p>
                      <a:pPr algn="ctr" fontAlgn="auto"/>
                      <a:r>
                        <a:rPr lang="en-US" sz="1400" b="0" i="0">
                          <a:solidFill>
                            <a:srgbClr val="000000"/>
                          </a:solidFill>
                          <a:effectLst/>
                          <a:latin typeface="Segoe UI" panose="020B0502040204020203" pitchFamily="34" charset="0"/>
                        </a:rPr>
                        <a:t>​</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2EAE6"/>
                    </a:solidFill>
                  </a:tcPr>
                </a:tc>
                <a:extLst>
                  <a:ext uri="{0D108BD9-81ED-4DB2-BD59-A6C34878D82A}">
                    <a16:rowId xmlns:a16="http://schemas.microsoft.com/office/drawing/2014/main" val="176482908"/>
                  </a:ext>
                </a:extLst>
              </a:tr>
              <a:tr h="277089">
                <a:tc vMerge="1">
                  <a:txBody>
                    <a:bodyPr/>
                    <a:lstStyle/>
                    <a:p>
                      <a:endParaRPr lang="en-CA"/>
                    </a:p>
                  </a:txBody>
                  <a:tcPr/>
                </a:tc>
                <a:tc>
                  <a:txBody>
                    <a:bodyPr/>
                    <a:lstStyle/>
                    <a:p>
                      <a:pPr algn="ctr" fontAlgn="base"/>
                      <a:r>
                        <a:rPr lang="en-US" sz="1200" b="1" i="0">
                          <a:solidFill>
                            <a:srgbClr val="000000"/>
                          </a:solidFill>
                          <a:effectLst/>
                          <a:latin typeface="Segoe UI" panose="020B0502040204020203" pitchFamily="34" charset="0"/>
                        </a:rPr>
                        <a:t>CPP</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3DEF1"/>
                    </a:solidFill>
                  </a:tcPr>
                </a:tc>
                <a:tc>
                  <a:txBody>
                    <a:bodyPr/>
                    <a:lstStyle/>
                    <a:p>
                      <a:pPr algn="ctr" fontAlgn="auto"/>
                      <a:r>
                        <a:rPr lang="en-US" sz="1400" b="0" i="0">
                          <a:solidFill>
                            <a:srgbClr val="000000"/>
                          </a:solidFill>
                          <a:effectLst/>
                          <a:latin typeface="Segoe UI" panose="020B0502040204020203" pitchFamily="34" charset="0"/>
                        </a:rPr>
                        <a:t>​</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AE3F3"/>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AE3F3"/>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AE3F3"/>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AE3F3"/>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AE3F3"/>
                    </a:solidFill>
                  </a:tcPr>
                </a:tc>
                <a:extLst>
                  <a:ext uri="{0D108BD9-81ED-4DB2-BD59-A6C34878D82A}">
                    <a16:rowId xmlns:a16="http://schemas.microsoft.com/office/drawing/2014/main" val="2325226049"/>
                  </a:ext>
                </a:extLst>
              </a:tr>
              <a:tr h="277089">
                <a:tc vMerge="1">
                  <a:txBody>
                    <a:bodyPr/>
                    <a:lstStyle/>
                    <a:p>
                      <a:endParaRPr lang="en-CA"/>
                    </a:p>
                  </a:txBody>
                  <a:tcPr/>
                </a:tc>
                <a:tc>
                  <a:txBody>
                    <a:bodyPr/>
                    <a:lstStyle/>
                    <a:p>
                      <a:pPr algn="ctr" fontAlgn="base"/>
                      <a:r>
                        <a:rPr lang="en-US" sz="1200" b="1" i="0">
                          <a:solidFill>
                            <a:srgbClr val="000000"/>
                          </a:solidFill>
                          <a:effectLst/>
                          <a:latin typeface="Segoe UI" panose="020B0502040204020203" pitchFamily="34" charset="0"/>
                        </a:rPr>
                        <a:t>OAS</a:t>
                      </a:r>
                      <a:r>
                        <a:rPr lang="en-US" sz="12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5E9EE"/>
                    </a:solidFill>
                  </a:tcPr>
                </a:tc>
                <a:tc>
                  <a:txBody>
                    <a:bodyPr/>
                    <a:lstStyle/>
                    <a:p>
                      <a:pPr algn="ctr" fontAlgn="auto"/>
                      <a:r>
                        <a:rPr lang="en-US" sz="1400" b="0" i="0">
                          <a:solidFill>
                            <a:srgbClr val="000000"/>
                          </a:solidFill>
                          <a:effectLst/>
                          <a:latin typeface="Segoe UI" panose="020B0502040204020203" pitchFamily="34" charset="0"/>
                        </a:rPr>
                        <a:t>​</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F1F4"/>
                    </a:solidFill>
                  </a:tcPr>
                </a:tc>
                <a:tc>
                  <a:txBody>
                    <a:bodyPr/>
                    <a:lstStyle/>
                    <a:p>
                      <a:pPr algn="ctr" fontAlgn="base"/>
                      <a:r>
                        <a:rPr lang="en-US" sz="1400" b="1" i="0" u="none" strike="noStrike">
                          <a:solidFill>
                            <a:srgbClr val="000000"/>
                          </a:solidFill>
                          <a:effectLst/>
                          <a:latin typeface="Segoe UI" panose="020B0502040204020203" pitchFamily="34" charset="0"/>
                        </a:rPr>
                        <a:t>✓</a:t>
                      </a:r>
                      <a:r>
                        <a:rPr lang="en-US" sz="14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F1F4"/>
                    </a:solidFill>
                  </a:tcPr>
                </a:tc>
                <a:tc>
                  <a:txBody>
                    <a:bodyPr/>
                    <a:lstStyle/>
                    <a:p>
                      <a:pPr algn="ctr" fontAlgn="base"/>
                      <a:r>
                        <a:rPr lang="en-US" sz="1400" b="1" i="0" u="none" strike="noStrike">
                          <a:solidFill>
                            <a:srgbClr val="000000"/>
                          </a:solidFill>
                          <a:effectLst/>
                          <a:latin typeface="Segoe UI" panose="020B0502040204020203" pitchFamily="34" charset="0"/>
                        </a:rPr>
                        <a:t>✓</a:t>
                      </a:r>
                      <a:r>
                        <a:rPr lang="en-US" sz="14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F1F4"/>
                    </a:solidFill>
                  </a:tcPr>
                </a:tc>
                <a:tc>
                  <a:txBody>
                    <a:bodyPr/>
                    <a:lstStyle/>
                    <a:p>
                      <a:pPr algn="ctr" fontAlgn="base"/>
                      <a:r>
                        <a:rPr lang="en-US" sz="1400" b="1" i="0" u="none" strike="noStrike">
                          <a:solidFill>
                            <a:srgbClr val="000000"/>
                          </a:solidFill>
                          <a:effectLst/>
                          <a:latin typeface="Segoe UI" panose="020B0502040204020203" pitchFamily="34" charset="0"/>
                        </a:rPr>
                        <a:t>✓</a:t>
                      </a:r>
                      <a:r>
                        <a:rPr lang="en-US" sz="1400" b="0" i="0">
                          <a:solidFill>
                            <a:srgbClr val="000000"/>
                          </a:solidFill>
                          <a:effectLst/>
                          <a:latin typeface="Segoe UI" panose="020B0502040204020203"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F1F4"/>
                    </a:solidFill>
                  </a:tcPr>
                </a:tc>
                <a:tc>
                  <a:txBody>
                    <a:bodyPr/>
                    <a:lstStyle/>
                    <a:p>
                      <a:pPr algn="ctr" fontAlgn="base"/>
                      <a:r>
                        <a:rPr lang="en-US" sz="1400" b="1" i="0" u="none" strike="noStrike">
                          <a:solidFill>
                            <a:srgbClr val="000000"/>
                          </a:solidFill>
                          <a:effectLst/>
                          <a:latin typeface="Calibri" panose="020F0502020204030204" pitchFamily="34" charset="0"/>
                        </a:rPr>
                        <a:t>✓</a:t>
                      </a:r>
                      <a:r>
                        <a:rPr lang="en-US" sz="1400" b="0" i="0">
                          <a:solidFill>
                            <a:srgbClr val="000000"/>
                          </a:solidFill>
                          <a:effectLst/>
                          <a:latin typeface="Calibri" panose="020F0502020204030204" pitchFamily="34" charset="0"/>
                        </a:rPr>
                        <a:t>​</a:t>
                      </a:r>
                      <a:endParaRPr lang="en-US" b="0" i="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9F1F4"/>
                    </a:solidFill>
                  </a:tcPr>
                </a:tc>
                <a:extLst>
                  <a:ext uri="{0D108BD9-81ED-4DB2-BD59-A6C34878D82A}">
                    <a16:rowId xmlns:a16="http://schemas.microsoft.com/office/drawing/2014/main" val="971741237"/>
                  </a:ext>
                </a:extLst>
              </a:tr>
            </a:tbl>
          </a:graphicData>
        </a:graphic>
      </p:graphicFrame>
      <p:sp>
        <p:nvSpPr>
          <p:cNvPr id="4" name="Rectangle 1">
            <a:extLst>
              <a:ext uri="{FF2B5EF4-FFF2-40B4-BE49-F238E27FC236}">
                <a16:creationId xmlns:a16="http://schemas.microsoft.com/office/drawing/2014/main" id="{4892F274-20DE-B550-EF0D-D7C92161A369}"/>
              </a:ext>
            </a:extLst>
          </p:cNvPr>
          <p:cNvSpPr>
            <a:spLocks noChangeArrowheads="1"/>
          </p:cNvSpPr>
          <p:nvPr/>
        </p:nvSpPr>
        <p:spPr bwMode="auto">
          <a:xfrm>
            <a:off x="609283" y="1884247"/>
            <a:ext cx="12929762" cy="65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3">
            <a:extLst>
              <a:ext uri="{FF2B5EF4-FFF2-40B4-BE49-F238E27FC236}">
                <a16:creationId xmlns:a16="http://schemas.microsoft.com/office/drawing/2014/main" id="{CDEB2C3B-0F04-E33C-125B-C56EF1F2E5A9}"/>
              </a:ext>
            </a:extLst>
          </p:cNvPr>
          <p:cNvSpPr txBox="1">
            <a:spLocks/>
          </p:cNvSpPr>
          <p:nvPr/>
        </p:nvSpPr>
        <p:spPr>
          <a:xfrm>
            <a:off x="353960" y="3987368"/>
            <a:ext cx="11592233" cy="236898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200"/>
              <a:t>Each program has a number of Knowledge Management tools with tailored content, functions and features associated to their respective channel. This results in content duplication by the programs.​</a:t>
            </a:r>
          </a:p>
          <a:p>
            <a:r>
              <a:rPr lang="en-US" sz="1200"/>
              <a:t>Content development and publishing is a complex process involving multiple stakeholders (e.g., policy, program, region stakeholders). This contributes to lengthening time required to reflect content updates in the tools.​</a:t>
            </a:r>
          </a:p>
          <a:p>
            <a:r>
              <a:rPr lang="en-US" sz="1200"/>
              <a:t>There are multiple triggers such as program, policy changes and user feedback which drive the need to update content. This requires effort by all channels supporting the benefit to reflect the change in each KM tool.​</a:t>
            </a:r>
          </a:p>
          <a:p>
            <a:r>
              <a:rPr lang="en-US" sz="1200"/>
              <a:t>At NHQ each channel has a Knowledge Management team and there is limited cross channel content coordination. The same content may exist in more than one tool but updates to content in the tools are not necessarily synchronized. Consequently, tools may have different information.​</a:t>
            </a:r>
          </a:p>
          <a:p>
            <a:r>
              <a:rPr lang="en-US" sz="1200"/>
              <a:t>Without a single “source of truth” for each individual channel, there is an increased risk of contradictory information existing across the primary and supplementary tools. Staff have been effective in leveraging information from multiple sources to do their work. This hides gaps and results in inadequacies of the primary tool not being addressed in a proper manner.</a:t>
            </a:r>
          </a:p>
        </p:txBody>
      </p:sp>
    </p:spTree>
    <p:extLst>
      <p:ext uri="{BB962C8B-B14F-4D97-AF65-F5344CB8AC3E}">
        <p14:creationId xmlns:p14="http://schemas.microsoft.com/office/powerpoint/2010/main" val="624192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1C2AB8-B88B-9566-2FF8-46A8E452BEBD}"/>
              </a:ext>
            </a:extLst>
          </p:cNvPr>
          <p:cNvSpPr>
            <a:spLocks noGrp="1"/>
          </p:cNvSpPr>
          <p:nvPr>
            <p:ph type="sldNum" sz="quarter" idx="12"/>
          </p:nvPr>
        </p:nvSpPr>
        <p:spPr>
          <a:xfrm>
            <a:off x="11677645" y="6494330"/>
            <a:ext cx="514355" cy="365125"/>
          </a:xfrm>
        </p:spPr>
        <p:txBody>
          <a:bodyPr anchor="ctr">
            <a:normAutofit/>
          </a:bodyPr>
          <a:lstStyle/>
          <a:p>
            <a:pPr>
              <a:spcAft>
                <a:spcPts val="600"/>
              </a:spcAft>
            </a:pPr>
            <a:fld id="{ABCE2B6B-7FFE-FA46-BED3-31567387080B}" type="slidenum">
              <a:rPr lang="en-US" smtClean="0"/>
              <a:pPr>
                <a:spcAft>
                  <a:spcPts val="600"/>
                </a:spcAft>
              </a:pPr>
              <a:t>28</a:t>
            </a:fld>
            <a:endParaRPr lang="en-US"/>
          </a:p>
        </p:txBody>
      </p:sp>
      <p:pic>
        <p:nvPicPr>
          <p:cNvPr id="4" name="Picture 3">
            <a:extLst>
              <a:ext uri="{FF2B5EF4-FFF2-40B4-BE49-F238E27FC236}">
                <a16:creationId xmlns:a16="http://schemas.microsoft.com/office/drawing/2014/main" id="{AECAE825-8365-5B11-2DCE-80522289A416}"/>
              </a:ext>
            </a:extLst>
          </p:cNvPr>
          <p:cNvPicPr>
            <a:picLocks noChangeAspect="1"/>
          </p:cNvPicPr>
          <p:nvPr/>
        </p:nvPicPr>
        <p:blipFill>
          <a:blip r:embed="rId2"/>
          <a:stretch>
            <a:fillRect/>
          </a:stretch>
        </p:blipFill>
        <p:spPr>
          <a:xfrm>
            <a:off x="1239903" y="1124744"/>
            <a:ext cx="9712193" cy="5293146"/>
          </a:xfrm>
          <a:prstGeom prst="rect">
            <a:avLst/>
          </a:prstGeom>
          <a:noFill/>
        </p:spPr>
      </p:pic>
      <p:sp>
        <p:nvSpPr>
          <p:cNvPr id="9" name="Title 3">
            <a:extLst>
              <a:ext uri="{FF2B5EF4-FFF2-40B4-BE49-F238E27FC236}">
                <a16:creationId xmlns:a16="http://schemas.microsoft.com/office/drawing/2014/main" id="{4F1265D6-F961-F2A7-00F5-BC69E8179321}"/>
              </a:ext>
            </a:extLst>
          </p:cNvPr>
          <p:cNvSpPr>
            <a:spLocks noGrp="1"/>
          </p:cNvSpPr>
          <p:nvPr>
            <p:ph type="title"/>
          </p:nvPr>
        </p:nvSpPr>
        <p:spPr>
          <a:xfrm>
            <a:off x="1012265" y="138062"/>
            <a:ext cx="7243976" cy="878670"/>
          </a:xfrm>
        </p:spPr>
        <p:txBody>
          <a:bodyPr/>
          <a:lstStyle/>
          <a:p>
            <a:r>
              <a:rPr lang="en-US">
                <a:latin typeface="Calibri"/>
                <a:ea typeface="Calibri"/>
                <a:cs typeface="Calibri"/>
              </a:rPr>
              <a:t>PWC Evaluation  Overview</a:t>
            </a:r>
          </a:p>
        </p:txBody>
      </p:sp>
    </p:spTree>
    <p:extLst>
      <p:ext uri="{BB962C8B-B14F-4D97-AF65-F5344CB8AC3E}">
        <p14:creationId xmlns:p14="http://schemas.microsoft.com/office/powerpoint/2010/main" val="631091979"/>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CE2B6B-7FFE-FA46-BED3-31567387080B}" type="slidenum">
              <a:rPr kumimoji="0" lang="en-US" sz="800" b="0" i="0" u="none" strike="noStrike" kern="1200" cap="none" spc="0" normalizeH="0" baseline="0" noProof="0" dirty="0" smtClean="0">
                <a:ln>
                  <a:noFill/>
                </a:ln>
                <a:solidFill>
                  <a:srgbClr val="7F7F7F"/>
                </a:solidFill>
                <a:effectLst/>
                <a:uLnTx/>
                <a:uFillTx/>
                <a:latin typeface="Arial"/>
                <a:ea typeface="Verdana"/>
                <a:cs typeface="Calibri"/>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7F7F7F"/>
              </a:solidFill>
              <a:effectLst/>
              <a:uLnTx/>
              <a:uFillTx/>
              <a:latin typeface="Arial"/>
              <a:ea typeface="Verdana"/>
              <a:cs typeface="Calibri"/>
            </a:endParaRPr>
          </a:p>
        </p:txBody>
      </p:sp>
      <p:sp>
        <p:nvSpPr>
          <p:cNvPr id="3" name="TextBox 2"/>
          <p:cNvSpPr txBox="1"/>
          <p:nvPr/>
        </p:nvSpPr>
        <p:spPr>
          <a:xfrm>
            <a:off x="637562" y="3865388"/>
            <a:ext cx="10088103" cy="461665"/>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Verdana" panose="020B0604030504040204" pitchFamily="34" charset="0"/>
              </a:rPr>
              <a:t>Annex </a:t>
            </a:r>
            <a:r>
              <a:rPr lang="en-CA" sz="2400" b="1">
                <a:solidFill>
                  <a:prstClr val="black"/>
                </a:solidFill>
                <a:latin typeface="Arial"/>
                <a:ea typeface="Verdana"/>
                <a:cs typeface="Verdana" panose="020B0604030504040204" pitchFamily="34" charset="0"/>
              </a:rPr>
              <a:t>B</a:t>
            </a:r>
            <a:r>
              <a:rPr kumimoji="0" lang="en-CA" sz="2400" b="1" i="0" u="none" strike="noStrike" kern="1200" cap="none" spc="0" normalizeH="0" baseline="0" noProof="0">
                <a:ln>
                  <a:noFill/>
                </a:ln>
                <a:solidFill>
                  <a:prstClr val="black"/>
                </a:solidFill>
                <a:effectLst/>
                <a:uLnTx/>
                <a:uFillTx/>
                <a:latin typeface="Arial"/>
                <a:ea typeface="Verdana"/>
                <a:cs typeface="Verdana" panose="020B0604030504040204" pitchFamily="34" charset="0"/>
              </a:rPr>
              <a:t>: Rejected Options</a:t>
            </a:r>
          </a:p>
        </p:txBody>
      </p:sp>
    </p:spTree>
    <p:extLst>
      <p:ext uri="{BB962C8B-B14F-4D97-AF65-F5344CB8AC3E}">
        <p14:creationId xmlns:p14="http://schemas.microsoft.com/office/powerpoint/2010/main" val="2677125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nvGraphicFramePr>
        <p:xfrm>
          <a:off x="614201" y="909675"/>
          <a:ext cx="10972800" cy="235932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3"/>
                    </a:ext>
                  </a:extLst>
                </a:gridCol>
              </a:tblGrid>
              <a:tr h="476901">
                <a:tc gridSpan="2">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solidFill>
                            <a:schemeClr val="tx1"/>
                          </a:solidFill>
                          <a:effectLst/>
                          <a:latin typeface="Arial"/>
                        </a:rPr>
                        <a:t>Option </a:t>
                      </a:r>
                      <a:r>
                        <a:rPr lang="en-US" sz="1100" b="1" baseline="0">
                          <a:solidFill>
                            <a:schemeClr val="tx1"/>
                          </a:solidFill>
                          <a:effectLst/>
                          <a:latin typeface="Arial"/>
                        </a:rPr>
                        <a:t>2</a:t>
                      </a:r>
                      <a:r>
                        <a:rPr lang="en-US" sz="1100" b="1">
                          <a:solidFill>
                            <a:schemeClr val="tx1"/>
                          </a:solidFill>
                          <a:effectLst/>
                          <a:latin typeface="Arial"/>
                        </a:rPr>
                        <a:t>: </a:t>
                      </a:r>
                      <a:r>
                        <a:rPr lang="en-CA" sz="1100" b="1" i="0" u="none" strike="noStrike" noProof="0">
                          <a:solidFill>
                            <a:schemeClr val="tx1"/>
                          </a:solidFill>
                          <a:effectLst/>
                          <a:latin typeface="Arial"/>
                        </a:rPr>
                        <a:t>Leverage best current solution + AI component</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0" i="0" u="none" strike="noStrike" noProof="0">
                          <a:solidFill>
                            <a:schemeClr val="tx1"/>
                          </a:solidFill>
                          <a:effectLst/>
                          <a:latin typeface="Arial"/>
                        </a:rPr>
                        <a:t>Augment the best existing in-house KM tool with custom-built AI components.</a:t>
                      </a:r>
                      <a:endParaRPr lang="en-US" sz="1100" b="0">
                        <a:solidFill>
                          <a:schemeClr val="tx1"/>
                        </a:solidFill>
                        <a:effectLst/>
                        <a:latin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i="0" u="none" strike="noStrike" noProof="0">
                          <a:solidFill>
                            <a:schemeClr val="tx1"/>
                          </a:solidFill>
                          <a:latin typeface="Arial"/>
                        </a:rPr>
                        <a:t>not assessed</a:t>
                      </a:r>
                      <a:endParaRPr lang="en-CA" sz="1100" kern="1200">
                        <a:solidFill>
                          <a:schemeClr val="tx1"/>
                        </a:solidFill>
                        <a:latin typeface="Aria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i="0" u="none" strike="noStrike" noProof="0">
                          <a:solidFill>
                            <a:srgbClr val="FF0000"/>
                          </a:solidFill>
                          <a:latin typeface="Arial"/>
                        </a:rPr>
                        <a:t>Not feasible </a:t>
                      </a:r>
                      <a:r>
                        <a:rPr lang="en-US" sz="1100" b="0" i="0" u="none" strike="noStrike" noProof="0">
                          <a:solidFill>
                            <a:schemeClr val="tx1"/>
                          </a:solidFill>
                          <a:latin typeface="Arial"/>
                        </a:rPr>
                        <a:t>– solution cannot meet at least 80% of requirements.</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not assessed</a:t>
                      </a: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None/>
                      </a:pPr>
                      <a:r>
                        <a:rPr lang="en-US" sz="1100" b="1" i="0" u="none" strike="noStrike" noProof="0">
                          <a:solidFill>
                            <a:schemeClr val="tx1"/>
                          </a:solidFill>
                          <a:latin typeface="Arial"/>
                        </a:rPr>
                        <a:t>Data Alignment: </a:t>
                      </a:r>
                      <a:r>
                        <a:rPr lang="en-US" sz="1100" b="0" i="0" u="none" strike="noStrike" noProof="0">
                          <a:solidFill>
                            <a:schemeClr val="tx1"/>
                          </a:solidFill>
                          <a:latin typeface="Arial"/>
                        </a:rPr>
                        <a:t>not assessed</a:t>
                      </a:r>
                      <a:endParaRPr lang="en-US" sz="1100"/>
                    </a:p>
                  </a:txBody>
                  <a:tcPr marT="90000" marB="90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1714134">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lvl="0" indent="-171450" algn="l" defTabSz="914400" rtl="0" eaLnBrk="1" fontAlgn="auto" latinLnBrk="0" hangingPunct="1">
                        <a:lnSpc>
                          <a:spcPct val="100000"/>
                        </a:lnSpc>
                        <a:spcBef>
                          <a:spcPts val="0"/>
                        </a:spcBef>
                        <a:spcAft>
                          <a:spcPts val="0"/>
                        </a:spcAft>
                        <a:buClr>
                          <a:srgbClr val="000000"/>
                        </a:buClr>
                        <a:buSzTx/>
                        <a:buFont typeface="Arial,Sans-Serif"/>
                        <a:buChar char="•"/>
                        <a:tabLst/>
                        <a:defRPr/>
                      </a:pPr>
                      <a:r>
                        <a:rPr lang="en-CA" sz="1100" b="0">
                          <a:latin typeface="Arial"/>
                        </a:rPr>
                        <a:t>No additional ongoing license/subscription fees </a:t>
                      </a:r>
                      <a:r>
                        <a:rPr lang="en-CA" sz="1100" b="0" strike="noStrike">
                          <a:latin typeface="Arial"/>
                        </a:rPr>
                        <a:t>for software/SaaS</a:t>
                      </a:r>
                      <a:r>
                        <a:rPr lang="en-CA" sz="1100" b="0">
                          <a:latin typeface="Arial"/>
                        </a:rPr>
                        <a:t>;</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The chosen current tool would be known by at least some of the KM consumer communities;</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“Standardizes and unifies knowledge base across all communities; and</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Allows for purpose-built AI applications for consuming (searching) content.”</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a:solidFill>
                            <a:schemeClr val="tx1"/>
                          </a:solidFill>
                          <a:latin typeface="Arial"/>
                          <a:ea typeface="+mn-ea"/>
                          <a:cs typeface="+mn-cs"/>
                        </a:rPr>
                        <a:t>Ongoing costs for AI infrastructure;</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a:solidFill>
                            <a:schemeClr val="tx1"/>
                          </a:solidFill>
                          <a:latin typeface="Arial"/>
                          <a:ea typeface="+mn-ea"/>
                          <a:cs typeface="+mn-cs"/>
                        </a:rPr>
                        <a:t>No support for publishing knowledge articles to Clients;</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“Upfront and more difficult conversion activity to unify and standardize content;</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Ongoing maintenance of AI component models;</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Not as easily extensible;</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AI tool integration will require more development effort; and</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Increased age and limitations of tooling;”</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CE2B6B-7FFE-FA46-BED3-31567387080B}" type="slidenum">
              <a:rPr kumimoji="0" lang="en-US" sz="800" b="0" i="0" u="none" strike="noStrike" kern="1200" cap="none" spc="0" normalizeH="0" baseline="0" noProof="0" dirty="0" smtClean="0">
                <a:ln>
                  <a:noFill/>
                </a:ln>
                <a:solidFill>
                  <a:prstClr val="white">
                    <a:lumMod val="50000"/>
                  </a:prstClr>
                </a:solidFill>
                <a:effectLst/>
                <a:uLnTx/>
                <a:uFillTx/>
                <a:latin typeface="Arial"/>
                <a:ea typeface="Verdana"/>
                <a:cs typeface="Arial"/>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prstClr val="white">
                  <a:lumMod val="50000"/>
                </a:prstClr>
              </a:solidFill>
              <a:effectLst/>
              <a:uLnTx/>
              <a:uFillTx/>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567010" y="633943"/>
            <a:ext cx="10914783" cy="276999"/>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7F7F7F"/>
                </a:solidFill>
                <a:effectLst/>
                <a:uLnTx/>
                <a:uFillTx/>
                <a:latin typeface="Arial"/>
                <a:ea typeface="Verdana"/>
                <a:cs typeface="Arial"/>
              </a:rPr>
              <a:t>Core KM capabilities including content creation, consumption, feedback, analytics, etc.</a:t>
            </a:r>
            <a:endParaRPr kumimoji="0" lang="en-US" sz="1200" b="0" i="0" u="none" strike="noStrike" kern="1200" cap="none" spc="0" normalizeH="0" baseline="0" noProof="0">
              <a:ln>
                <a:noFill/>
              </a:ln>
              <a:solidFill>
                <a:prstClr val="black"/>
              </a:solidFill>
              <a:effectLst/>
              <a:uLnTx/>
              <a:uFillTx/>
              <a:latin typeface="Arial"/>
              <a:ea typeface="+mn-ea"/>
              <a:cs typeface="Arial"/>
            </a:endParaRPr>
          </a:p>
        </p:txBody>
      </p:sp>
      <p:sp>
        <p:nvSpPr>
          <p:cNvPr id="10" name="TextBox 9"/>
          <p:cNvSpPr txBox="1"/>
          <p:nvPr/>
        </p:nvSpPr>
        <p:spPr>
          <a:xfrm>
            <a:off x="529672" y="162613"/>
            <a:ext cx="10987177" cy="461665"/>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Arial"/>
              </a:rPr>
              <a:t>Options Analysis: 2. Knowledge Management</a:t>
            </a:r>
          </a:p>
        </p:txBody>
      </p:sp>
      <p:sp>
        <p:nvSpPr>
          <p:cNvPr id="2" name="TextBox 1">
            <a:extLst>
              <a:ext uri="{FF2B5EF4-FFF2-40B4-BE49-F238E27FC236}">
                <a16:creationId xmlns:a16="http://schemas.microsoft.com/office/drawing/2014/main" id="{2641AA5B-15A9-C12C-BEAB-E79BD7679FAA}"/>
              </a:ext>
            </a:extLst>
          </p:cNvPr>
          <p:cNvSpPr txBox="1"/>
          <p:nvPr/>
        </p:nvSpPr>
        <p:spPr>
          <a:xfrm>
            <a:off x="5964381" y="5934471"/>
            <a:ext cx="5753498" cy="400110"/>
          </a:xfrm>
          <a:prstGeom prst="rect">
            <a:avLst/>
          </a:prstGeom>
          <a:noFill/>
        </p:spPr>
        <p:txBody>
          <a:bodyPr wrap="none" rtlCol="0">
            <a:spAutoFit/>
          </a:bodyPr>
          <a:lstStyle/>
          <a:p>
            <a:r>
              <a:rPr lang="en-CA" sz="1000"/>
              <a:t>Material in quotes sourced from: </a:t>
            </a:r>
            <a:r>
              <a:rPr kumimoji="0" lang="en-US" altLang="en-US" sz="1000" b="0" i="0" u="none" strike="noStrike" cap="none" normalizeH="0" baseline="0">
                <a:ln>
                  <a:noFill/>
                </a:ln>
                <a:solidFill>
                  <a:schemeClr val="tx1"/>
                </a:solidFill>
                <a:effectLst/>
                <a:latin typeface="Arial" panose="020B0604020202020204" pitchFamily="34" charset="0"/>
                <a:hlinkClick r:id="rId3"/>
              </a:rPr>
              <a:t>Knowledge Management and AI Options Analysis Arch Review.pptx</a:t>
            </a:r>
            <a:endParaRPr kumimoji="0" lang="en-US" altLang="en-US" sz="1000" b="0" i="0" u="none" strike="noStrike" cap="none" normalizeH="0" baseline="0">
              <a:ln>
                <a:noFill/>
              </a:ln>
              <a:solidFill>
                <a:schemeClr val="tx1"/>
              </a:solidFill>
              <a:effectLst/>
              <a:latin typeface="Arial" panose="020B0604020202020204" pitchFamily="34" charset="0"/>
            </a:endParaRPr>
          </a:p>
          <a:p>
            <a:r>
              <a:rPr lang="en-CA" sz="1000"/>
              <a:t> </a:t>
            </a:r>
          </a:p>
        </p:txBody>
      </p:sp>
    </p:spTree>
    <p:extLst>
      <p:ext uri="{BB962C8B-B14F-4D97-AF65-F5344CB8AC3E}">
        <p14:creationId xmlns:p14="http://schemas.microsoft.com/office/powerpoint/2010/main" val="3858777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extLst>
              <p:ext uri="{D42A27DB-BD31-4B8C-83A1-F6EECF244321}">
                <p14:modId xmlns:p14="http://schemas.microsoft.com/office/powerpoint/2010/main" val="327538128"/>
              </p:ext>
            </p:extLst>
          </p:nvPr>
        </p:nvGraphicFramePr>
        <p:xfrm>
          <a:off x="576101" y="1148841"/>
          <a:ext cx="10972800" cy="449952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3"/>
                    </a:ext>
                  </a:extLst>
                </a:gridCol>
              </a:tblGrid>
              <a:tr h="0">
                <a:tc grid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effectLst/>
                          <a:latin typeface="Arial"/>
                        </a:rPr>
                        <a:t>Option </a:t>
                      </a:r>
                      <a:r>
                        <a:rPr lang="en-US" sz="1100" b="1" baseline="0">
                          <a:solidFill>
                            <a:schemeClr val="tx1"/>
                          </a:solidFill>
                          <a:effectLst/>
                          <a:latin typeface="Arial"/>
                        </a:rPr>
                        <a:t>3</a:t>
                      </a:r>
                      <a:r>
                        <a:rPr lang="en-US" sz="1100" b="1">
                          <a:solidFill>
                            <a:schemeClr val="tx1"/>
                          </a:solidFill>
                          <a:effectLst/>
                          <a:latin typeface="Arial"/>
                        </a:rPr>
                        <a:t>:</a:t>
                      </a:r>
                      <a:r>
                        <a:rPr lang="en-US" sz="1100" b="1" baseline="0">
                          <a:solidFill>
                            <a:schemeClr val="tx1"/>
                          </a:solidFill>
                          <a:effectLst/>
                          <a:latin typeface="Arial"/>
                        </a:rPr>
                        <a:t> </a:t>
                      </a:r>
                      <a:r>
                        <a:rPr lang="it-IT" sz="1100" b="1" baseline="0">
                          <a:solidFill>
                            <a:schemeClr val="tx1"/>
                          </a:solidFill>
                          <a:effectLst/>
                          <a:latin typeface="Arial"/>
                        </a:rPr>
                        <a:t>KM Procurement (originally approved by EARB March 2021)</a:t>
                      </a:r>
                      <a:endParaRPr lang="en-US" sz="1100" b="1" strike="sngStrike" baseline="0">
                        <a:solidFill>
                          <a:schemeClr val="tx1"/>
                        </a:solidFill>
                        <a:effectLst/>
                        <a:latin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kern="1200" baseline="0">
                          <a:solidFill>
                            <a:schemeClr val="tx1"/>
                          </a:solidFill>
                          <a:latin typeface="Arial"/>
                          <a:ea typeface="+mn-ea"/>
                          <a:cs typeface="+mn-cs"/>
                        </a:rPr>
                        <a:t>Going to market to procure a KM solution.</a:t>
                      </a: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a:solidFill>
                            <a:schemeClr val="tx1"/>
                          </a:solidFill>
                          <a:latin typeface="Arial"/>
                        </a:rPr>
                        <a:t>&lt;XXX&gt;</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i="0" u="none" strike="noStrike" noProof="0">
                          <a:solidFill>
                            <a:srgbClr val="FF0000"/>
                          </a:solidFill>
                          <a:latin typeface="Arial"/>
                        </a:rPr>
                        <a:t>Not feasible</a:t>
                      </a:r>
                      <a:r>
                        <a:rPr lang="en-US" sz="1100" b="0" i="0" u="none" strike="noStrike" noProof="0">
                          <a:solidFill>
                            <a:schemeClr val="tx1"/>
                          </a:solidFill>
                          <a:latin typeface="Arial"/>
                        </a:rPr>
                        <a:t> – requires procurement</a:t>
                      </a: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&lt;XXX&gt;</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ClrTx/>
                        <a:buSzTx/>
                        <a:buFont typeface="Arial" panose="020B0604020202020204" pitchFamily="34" charset="0"/>
                        <a:buNone/>
                      </a:pPr>
                      <a:r>
                        <a:rPr lang="en-US" sz="1100" b="1" kern="1200" noProof="0">
                          <a:solidFill>
                            <a:schemeClr val="tx1"/>
                          </a:solidFill>
                          <a:latin typeface="Arial"/>
                          <a:ea typeface="+mn-ea"/>
                          <a:cs typeface="+mn-cs"/>
                        </a:rPr>
                        <a:t>Data Alignment</a:t>
                      </a:r>
                      <a:r>
                        <a:rPr lang="en-US" sz="1100" b="1" i="0" u="none" strike="noStrike" kern="1200" noProof="0">
                          <a:solidFill>
                            <a:schemeClr val="tx1"/>
                          </a:solidFill>
                          <a:latin typeface="Arial"/>
                        </a:rPr>
                        <a:t>: </a:t>
                      </a:r>
                      <a:r>
                        <a:rPr lang="en-US" sz="1100" b="0" i="0" u="none" strike="noStrike" kern="1200" noProof="0">
                          <a:solidFill>
                            <a:schemeClr val="tx1"/>
                          </a:solidFill>
                          <a:latin typeface="Arial"/>
                        </a:rPr>
                        <a:t>&lt;XXX&gt;</a:t>
                      </a:r>
                      <a:endParaRPr lang="en-US" sz="1100" b="1" kern="1200" noProof="0">
                        <a:solidFill>
                          <a:schemeClr val="tx1"/>
                        </a:solidFill>
                        <a:latin typeface="Arial"/>
                        <a:ea typeface="+mn-ea"/>
                        <a:cs typeface="+mn-cs"/>
                      </a:endParaRPr>
                    </a:p>
                  </a:txBody>
                  <a:tcPr marT="90000" marB="90000"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b="0" kern="1200">
                          <a:solidFill>
                            <a:schemeClr val="tx1"/>
                          </a:solidFill>
                          <a:latin typeface="Arial"/>
                          <a:ea typeface="+mn-ea"/>
                          <a:cs typeface="+mn-cs"/>
                        </a:rPr>
                        <a:t>KM solution market is mature and viable</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b="0" kern="1200">
                          <a:solidFill>
                            <a:schemeClr val="tx1"/>
                          </a:solidFill>
                          <a:latin typeface="Arial"/>
                          <a:ea typeface="+mn-ea"/>
                          <a:cs typeface="+mn-cs"/>
                        </a:rPr>
                        <a:t>Supports both Service Officers and Clients</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latin typeface="Arial"/>
                        </a:rPr>
                        <a:t>“KM tools are standard and maintained over time (SaaS) with reduced support effort;</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latin typeface="Arial"/>
                        </a:rPr>
                        <a:t>Content can remain as-is for legacy for startup;</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latin typeface="Arial"/>
                        </a:rPr>
                        <a:t>Leverage content structures for new content; and</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latin typeface="Arial"/>
                        </a:rPr>
                        <a:t>Convert content to new structures if required.”</a:t>
                      </a: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Procurement is not feasible due to time required and the ongoing funding requirements; and</a:t>
                      </a:r>
                      <a:endParaRPr lang="en-US" sz="1100" b="0" i="0" u="none" strike="noStrike" kern="1200" baseline="0" noProof="0">
                        <a:latin typeface="Arial"/>
                      </a:endParaRP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“Published knowledge content may need to leave ESDC managed environment – depends on SaaS KM solution.”</a:t>
                      </a: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gridSpan="2">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100" kern="1200" baseline="0">
                        <a:solidFill>
                          <a:schemeClr val="tx1"/>
                        </a:solidFill>
                        <a:latin typeface="Arial"/>
                        <a:ea typeface="+mn-ea"/>
                        <a:cs typeface="+mn-cs"/>
                      </a:endParaRPr>
                    </a:p>
                  </a:txBody>
                  <a:tcPr marL="45720" marR="4572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CA"/>
                    </a:p>
                  </a:txBody>
                  <a:tcPr/>
                </a:tc>
                <a:tc>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txBody>
                  <a:tcPr marL="45720" marR="4572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2044787"/>
                  </a:ext>
                </a:extLst>
              </a:tr>
              <a:tr h="0">
                <a:tc grid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effectLst/>
                          <a:latin typeface="Arial"/>
                        </a:rPr>
                        <a:t>Option </a:t>
                      </a:r>
                      <a:r>
                        <a:rPr lang="en-US" sz="1100" b="1" baseline="0">
                          <a:solidFill>
                            <a:schemeClr val="tx1"/>
                          </a:solidFill>
                          <a:effectLst/>
                          <a:latin typeface="Arial"/>
                        </a:rPr>
                        <a:t>4</a:t>
                      </a:r>
                      <a:r>
                        <a:rPr lang="en-US" sz="1100" b="1">
                          <a:solidFill>
                            <a:schemeClr val="tx1"/>
                          </a:solidFill>
                          <a:effectLst/>
                          <a:latin typeface="Arial"/>
                        </a:rPr>
                        <a:t>: </a:t>
                      </a:r>
                      <a:r>
                        <a:rPr lang="en-US" sz="1100" b="1" i="0" u="none" strike="noStrike" noProof="0">
                          <a:solidFill>
                            <a:schemeClr val="tx1"/>
                          </a:solidFill>
                          <a:effectLst/>
                          <a:latin typeface="Arial"/>
                        </a:rPr>
                        <a:t>Leverage KM Option of the Contact Centre Solution (CCS) </a:t>
                      </a:r>
                      <a:endParaRPr lang="en-US" sz="1100" b="1">
                        <a:solidFill>
                          <a:schemeClr val="tx1"/>
                        </a:solidFill>
                        <a:effectLst/>
                        <a:latin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kern="1200" baseline="0">
                          <a:solidFill>
                            <a:schemeClr val="tx1"/>
                          </a:solidFill>
                          <a:latin typeface="Arial"/>
                          <a:ea typeface="+mn-ea"/>
                          <a:cs typeface="+mn-cs"/>
                        </a:rPr>
                        <a:t>The CCS contract will provide the opportunity to procure an integrated AI-enabled KM solution from the winning </a:t>
                      </a:r>
                      <a:r>
                        <a:rPr lang="en-CA" sz="1100" kern="1200" baseline="0" err="1">
                          <a:solidFill>
                            <a:schemeClr val="tx1"/>
                          </a:solidFill>
                          <a:latin typeface="Arial"/>
                          <a:ea typeface="+mn-ea"/>
                          <a:cs typeface="+mn-cs"/>
                        </a:rPr>
                        <a:t>CCaaS</a:t>
                      </a:r>
                      <a:r>
                        <a:rPr lang="en-CA" sz="1100" kern="1200" baseline="0">
                          <a:solidFill>
                            <a:schemeClr val="tx1"/>
                          </a:solidFill>
                          <a:latin typeface="Arial"/>
                          <a:ea typeface="+mn-ea"/>
                          <a:cs typeface="+mn-cs"/>
                        </a:rPr>
                        <a:t> vendor.</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i="0" u="none" strike="noStrike" noProof="0">
                          <a:solidFill>
                            <a:schemeClr val="tx1"/>
                          </a:solidFill>
                          <a:latin typeface="Arial"/>
                        </a:rPr>
                        <a:t>&lt;XXX&gt;</a:t>
                      </a:r>
                      <a:endParaRPr lang="en-CA" sz="1100" kern="1200">
                        <a:solidFill>
                          <a:schemeClr val="tx1"/>
                        </a:solidFill>
                        <a:latin typeface="Aria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a:solidFill>
                            <a:srgbClr val="FF0000"/>
                          </a:solidFill>
                          <a:latin typeface="Arial"/>
                        </a:rPr>
                        <a:t>Not feasible </a:t>
                      </a:r>
                      <a:r>
                        <a:rPr lang="en-US" sz="1100" b="0">
                          <a:solidFill>
                            <a:schemeClr val="tx1"/>
                          </a:solidFill>
                          <a:latin typeface="Arial"/>
                        </a:rPr>
                        <a:t>– costs and delays</a:t>
                      </a:r>
                      <a:endParaRPr lang="en-US" sz="1100" b="0" i="0" u="none" strike="noStrike" noProof="0">
                        <a:solidFill>
                          <a:schemeClr val="tx1"/>
                        </a:solidFill>
                        <a:latin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&lt;XXX&gt;</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None/>
                      </a:pPr>
                      <a:r>
                        <a:rPr lang="en-US" sz="1100" b="1" i="0" u="none" strike="noStrike" noProof="0">
                          <a:solidFill>
                            <a:schemeClr val="tx1"/>
                          </a:solidFill>
                          <a:latin typeface="Arial"/>
                        </a:rPr>
                        <a:t>Data Alignment: </a:t>
                      </a:r>
                      <a:r>
                        <a:rPr lang="en-US" sz="1100" b="0" i="0" u="none" strike="noStrike" noProof="0">
                          <a:solidFill>
                            <a:schemeClr val="tx1"/>
                          </a:solidFill>
                          <a:latin typeface="Arial"/>
                        </a:rPr>
                        <a:t>&lt;XXX&gt;</a:t>
                      </a:r>
                      <a:endParaRPr lang="en-US" sz="1100"/>
                    </a:p>
                  </a:txBody>
                  <a:tcPr marT="90000" marB="90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baseline="0" noProof="0">
                          <a:latin typeface="Arial"/>
                        </a:rPr>
                        <a:t>Fully integrated into the Contact Centre Solution;</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baseline="0" noProof="0">
                          <a:latin typeface="Arial"/>
                        </a:rPr>
                        <a:t>Built-in AI capabilities; and</a:t>
                      </a:r>
                      <a:endParaRPr lang="en-US" sz="1100" b="0" i="0" u="none" strike="noStrike" kern="1200" baseline="0" noProof="0">
                        <a:latin typeface="Arial"/>
                      </a:endParaRP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baseline="0" noProof="0">
                          <a:latin typeface="Arial"/>
                        </a:rPr>
                        <a:t>Built to be integrated into other solution components via API</a:t>
                      </a:r>
                      <a:r>
                        <a:rPr lang="en-US" sz="1100" b="0" i="0" u="none" strike="noStrike" kern="1200" baseline="0" noProof="0">
                          <a:latin typeface="Arial"/>
                        </a:rPr>
                        <a:t>.</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baseline="0" noProof="0">
                          <a:latin typeface="Arial"/>
                        </a:rPr>
                        <a:t>Would delay the project by several months while contract award is finalized;</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baseline="0" noProof="0">
                          <a:latin typeface="Arial"/>
                        </a:rPr>
                        <a:t>Option is not feasible due to the ongoing funding requirements;</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Support for domain specific models? (possibly via separate instances/tenants);</a:t>
                      </a:r>
                      <a:endParaRPr lang="en-US" sz="1100" b="0" i="0" u="none" strike="noStrike" kern="1200" noProof="0">
                        <a:latin typeface="Arial"/>
                      </a:endParaRP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Licensing/subscription costs may be prohibitive; and</a:t>
                      </a:r>
                    </a:p>
                    <a:p>
                      <a:pPr marL="171450" marR="0" lvl="0" indent="-171450" algn="l">
                        <a:lnSpc>
                          <a:spcPct val="100000"/>
                        </a:lnSpc>
                        <a:spcBef>
                          <a:spcPts val="0"/>
                        </a:spcBef>
                        <a:spcAft>
                          <a:spcPts val="0"/>
                        </a:spcAft>
                        <a:buClr>
                          <a:srgbClr val="000000"/>
                        </a:buClr>
                        <a:buFont typeface="Arial,Sans-Serif"/>
                        <a:buChar char="•"/>
                      </a:pPr>
                      <a:r>
                        <a:rPr lang="en-CA" sz="1100" b="0" i="0" u="none" strike="noStrike" kern="1200" noProof="0">
                          <a:latin typeface="Arial"/>
                        </a:rPr>
                        <a:t>Contract terms may prevent use for personnel outside of the contact centres.</a:t>
                      </a:r>
                      <a:endParaRPr lang="en-US" sz="1100" b="0" i="0" u="none" strike="noStrike" kern="1200" noProof="0">
                        <a:latin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CE2B6B-7FFE-FA46-BED3-31567387080B}" type="slidenum">
              <a:rPr kumimoji="0" lang="en-US" sz="800" b="0" i="0" u="none" strike="noStrike" kern="1200" cap="none" spc="0" normalizeH="0" baseline="0" noProof="0" dirty="0" smtClean="0">
                <a:ln>
                  <a:noFill/>
                </a:ln>
                <a:solidFill>
                  <a:prstClr val="white">
                    <a:lumMod val="50000"/>
                  </a:prstClr>
                </a:solidFill>
                <a:effectLst/>
                <a:uLnTx/>
                <a:uFillTx/>
                <a:latin typeface="Arial"/>
                <a:ea typeface="Verdana"/>
                <a:cs typeface="Arial"/>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prstClr val="white">
                  <a:lumMod val="50000"/>
                </a:prstClr>
              </a:solidFill>
              <a:effectLst/>
              <a:uLnTx/>
              <a:uFillTx/>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7F7F7F"/>
                </a:solidFill>
                <a:effectLst/>
                <a:uLnTx/>
                <a:uFillTx/>
                <a:latin typeface="Arial"/>
                <a:ea typeface="Verdana"/>
                <a:cs typeface="Arial"/>
              </a:rPr>
              <a:t>Core KM capabilities including content creation, consumption, feedback, analytics, etc.</a:t>
            </a:r>
            <a:endParaRPr kumimoji="0" lang="en-US" sz="1200" b="0" i="0" u="none" strike="noStrike" kern="1200" cap="none" spc="0" normalizeH="0" baseline="0" noProof="0">
              <a:ln>
                <a:noFill/>
              </a:ln>
              <a:solidFill>
                <a:prstClr val="black"/>
              </a:solidFill>
              <a:effectLst/>
              <a:uLnTx/>
              <a:uFillTx/>
              <a:latin typeface="Arial"/>
              <a:ea typeface="+mn-ea"/>
              <a:cs typeface="Arial"/>
            </a:endParaRPr>
          </a:p>
        </p:txBody>
      </p:sp>
      <p:sp>
        <p:nvSpPr>
          <p:cNvPr id="10" name="TextBox 9"/>
          <p:cNvSpPr txBox="1"/>
          <p:nvPr/>
        </p:nvSpPr>
        <p:spPr>
          <a:xfrm>
            <a:off x="605872" y="343588"/>
            <a:ext cx="10987177" cy="461665"/>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Arial"/>
              </a:rPr>
              <a:t>Options Analysis: 2. Knowledge Management</a:t>
            </a:r>
          </a:p>
        </p:txBody>
      </p:sp>
      <p:sp>
        <p:nvSpPr>
          <p:cNvPr id="2" name="TextBox 1">
            <a:extLst>
              <a:ext uri="{FF2B5EF4-FFF2-40B4-BE49-F238E27FC236}">
                <a16:creationId xmlns:a16="http://schemas.microsoft.com/office/drawing/2014/main" id="{80633F4D-0D22-4034-1B93-8E77A0B0ECC5}"/>
              </a:ext>
            </a:extLst>
          </p:cNvPr>
          <p:cNvSpPr txBox="1"/>
          <p:nvPr/>
        </p:nvSpPr>
        <p:spPr>
          <a:xfrm>
            <a:off x="5964381" y="5934471"/>
            <a:ext cx="5753498" cy="400110"/>
          </a:xfrm>
          <a:prstGeom prst="rect">
            <a:avLst/>
          </a:prstGeom>
          <a:noFill/>
        </p:spPr>
        <p:txBody>
          <a:bodyPr wrap="none" rtlCol="0">
            <a:spAutoFit/>
          </a:bodyPr>
          <a:lstStyle/>
          <a:p>
            <a:r>
              <a:rPr lang="en-CA" sz="1000"/>
              <a:t>Material in quotes sourced from: </a:t>
            </a:r>
            <a:r>
              <a:rPr kumimoji="0" lang="en-US" altLang="en-US" sz="1000" b="0" i="0" u="none" strike="noStrike" cap="none" normalizeH="0" baseline="0">
                <a:ln>
                  <a:noFill/>
                </a:ln>
                <a:solidFill>
                  <a:schemeClr val="tx1"/>
                </a:solidFill>
                <a:effectLst/>
                <a:latin typeface="Arial" panose="020B0604020202020204" pitchFamily="34" charset="0"/>
                <a:hlinkClick r:id="rId3"/>
              </a:rPr>
              <a:t>Knowledge Management and AI Options Analysis Arch Review.pptx</a:t>
            </a:r>
            <a:endParaRPr kumimoji="0" lang="en-US" altLang="en-US" sz="1000" b="0" i="0" u="none" strike="noStrike" cap="none" normalizeH="0" baseline="0">
              <a:ln>
                <a:noFill/>
              </a:ln>
              <a:solidFill>
                <a:schemeClr val="tx1"/>
              </a:solidFill>
              <a:effectLst/>
              <a:latin typeface="Arial" panose="020B0604020202020204" pitchFamily="34" charset="0"/>
            </a:endParaRPr>
          </a:p>
          <a:p>
            <a:r>
              <a:rPr lang="en-CA" sz="1000"/>
              <a:t> </a:t>
            </a:r>
          </a:p>
        </p:txBody>
      </p:sp>
    </p:spTree>
    <p:extLst>
      <p:ext uri="{BB962C8B-B14F-4D97-AF65-F5344CB8AC3E}">
        <p14:creationId xmlns:p14="http://schemas.microsoft.com/office/powerpoint/2010/main" val="3103162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
          <p:cNvGraphicFramePr>
            <a:graphicFrameLocks noGrp="1"/>
          </p:cNvGraphicFramePr>
          <p:nvPr/>
        </p:nvGraphicFramePr>
        <p:xfrm>
          <a:off x="576101" y="1148841"/>
          <a:ext cx="10972800" cy="185640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3"/>
                    </a:ext>
                  </a:extLst>
                </a:gridCol>
              </a:tblGrid>
              <a:tr h="0">
                <a:tc grid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effectLst/>
                          <a:latin typeface="Arial"/>
                        </a:rPr>
                        <a:t>Option </a:t>
                      </a:r>
                      <a:r>
                        <a:rPr lang="en-US" sz="1100" b="1" baseline="0">
                          <a:solidFill>
                            <a:schemeClr val="tx1"/>
                          </a:solidFill>
                          <a:effectLst/>
                          <a:latin typeface="Arial"/>
                        </a:rPr>
                        <a:t>7</a:t>
                      </a:r>
                      <a:r>
                        <a:rPr lang="en-US" sz="1100" b="1">
                          <a:solidFill>
                            <a:schemeClr val="tx1"/>
                          </a:solidFill>
                          <a:effectLst/>
                          <a:latin typeface="Arial"/>
                        </a:rPr>
                        <a:t>:</a:t>
                      </a:r>
                      <a:r>
                        <a:rPr lang="en-US" sz="1100" b="1" baseline="0">
                          <a:solidFill>
                            <a:schemeClr val="tx1"/>
                          </a:solidFill>
                          <a:effectLst/>
                          <a:latin typeface="Arial"/>
                        </a:rPr>
                        <a:t> Cúram Knowledge Management from </a:t>
                      </a:r>
                      <a:r>
                        <a:rPr lang="en-CA" sz="1100" b="1" baseline="0">
                          <a:solidFill>
                            <a:schemeClr val="tx1"/>
                          </a:solidFill>
                          <a:effectLst/>
                          <a:latin typeface="Arial"/>
                        </a:rPr>
                        <a:t>Merative</a:t>
                      </a:r>
                      <a:endParaRPr lang="en-US" sz="1100" b="1" baseline="0">
                        <a:solidFill>
                          <a:schemeClr val="tx1"/>
                        </a:solidFill>
                        <a:effectLst/>
                        <a:latin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kern="1200" baseline="0">
                          <a:solidFill>
                            <a:schemeClr val="tx1"/>
                          </a:solidFill>
                          <a:latin typeface="Arial"/>
                          <a:ea typeface="+mn-ea"/>
                          <a:cs typeface="+mn-cs"/>
                        </a:rPr>
                        <a:t>Merative is planning to introduce KM features into Cúram.</a:t>
                      </a: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a:solidFill>
                            <a:schemeClr val="tx1"/>
                          </a:solidFill>
                          <a:latin typeface="Arial"/>
                        </a:rPr>
                        <a:t>&lt;XXX&gt;</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solidFill>
                            <a:schemeClr val="tx1"/>
                          </a:solidFill>
                          <a:latin typeface="Arial"/>
                        </a:rPr>
                        <a:t>Feasibility: </a:t>
                      </a:r>
                      <a:r>
                        <a:rPr lang="en-US" sz="1100" b="0" i="0" u="none" strike="noStrike" noProof="0">
                          <a:solidFill>
                            <a:srgbClr val="FF0000"/>
                          </a:solidFill>
                          <a:latin typeface="Arial"/>
                        </a:rPr>
                        <a:t>Not feasible </a:t>
                      </a:r>
                      <a:r>
                        <a:rPr lang="en-US" sz="1100" b="0" i="0" u="none" strike="noStrike" noProof="0">
                          <a:solidFill>
                            <a:schemeClr val="tx1"/>
                          </a:solidFill>
                          <a:latin typeface="Arial"/>
                        </a:rPr>
                        <a:t>but we will monitor this as it progresses.</a:t>
                      </a: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&lt;XXX&gt;</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ClrTx/>
                        <a:buSzTx/>
                        <a:buFont typeface="Arial" panose="020B0604020202020204" pitchFamily="34" charset="0"/>
                        <a:buNone/>
                      </a:pPr>
                      <a:r>
                        <a:rPr lang="en-US" sz="1100" b="1" kern="1200" noProof="0">
                          <a:solidFill>
                            <a:schemeClr val="tx1"/>
                          </a:solidFill>
                          <a:latin typeface="Arial"/>
                          <a:ea typeface="+mn-ea"/>
                          <a:cs typeface="+mn-cs"/>
                        </a:rPr>
                        <a:t>Data Alignment</a:t>
                      </a:r>
                      <a:r>
                        <a:rPr lang="en-US" sz="1100" b="1" i="0" u="none" strike="noStrike" kern="1200" noProof="0">
                          <a:solidFill>
                            <a:schemeClr val="tx1"/>
                          </a:solidFill>
                          <a:latin typeface="Arial"/>
                        </a:rPr>
                        <a:t>: </a:t>
                      </a:r>
                      <a:r>
                        <a:rPr lang="en-US" sz="1100" b="0" i="0" u="none" strike="noStrike" kern="1200" noProof="0">
                          <a:solidFill>
                            <a:schemeClr val="tx1"/>
                          </a:solidFill>
                          <a:latin typeface="Arial"/>
                        </a:rPr>
                        <a:t>&lt;XXX&gt;</a:t>
                      </a:r>
                      <a:endParaRPr lang="en-US" sz="1100" b="1" kern="1200" noProof="0">
                        <a:solidFill>
                          <a:schemeClr val="tx1"/>
                        </a:solidFill>
                        <a:latin typeface="Arial"/>
                        <a:ea typeface="+mn-ea"/>
                        <a:cs typeface="+mn-cs"/>
                      </a:endParaRPr>
                    </a:p>
                  </a:txBody>
                  <a:tcPr marT="90000" marB="90000"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latin typeface="Arial"/>
                        </a:rPr>
                        <a:t>Fully integrated into the core benefit delivery platform;</a:t>
                      </a:r>
                    </a:p>
                    <a:p>
                      <a:pPr marL="171450" marR="0" lvl="0" indent="-171450" algn="l">
                        <a:lnSpc>
                          <a:spcPct val="100000"/>
                        </a:lnSpc>
                        <a:spcBef>
                          <a:spcPts val="0"/>
                        </a:spcBef>
                        <a:spcAft>
                          <a:spcPts val="0"/>
                        </a:spcAft>
                        <a:buClrTx/>
                        <a:buSzTx/>
                        <a:buFont typeface="Arial" panose="020B0604020202020204" pitchFamily="34" charset="0"/>
                        <a:buChar char="•"/>
                      </a:pPr>
                      <a:r>
                        <a:rPr lang="en-CA" sz="1100" b="0">
                          <a:latin typeface="Arial"/>
                        </a:rPr>
                        <a:t>No additional licence cost (?)</a:t>
                      </a:r>
                    </a:p>
                    <a:p>
                      <a:pPr marL="0" marR="0" lvl="0" indent="0" algn="l">
                        <a:lnSpc>
                          <a:spcPct val="100000"/>
                        </a:lnSpc>
                        <a:spcBef>
                          <a:spcPts val="0"/>
                        </a:spcBef>
                        <a:spcAft>
                          <a:spcPts val="0"/>
                        </a:spcAft>
                        <a:buClrTx/>
                        <a:buSzTx/>
                        <a:buFont typeface="Arial" panose="020B0604020202020204" pitchFamily="34" charset="0"/>
                        <a:buNone/>
                      </a:pPr>
                      <a:endParaRPr lang="en-CA" sz="1100" b="0">
                        <a:latin typeface="Arial"/>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Timeline unknown; and</a:t>
                      </a:r>
                    </a:p>
                    <a:p>
                      <a:pPr marL="171450" marR="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CA" sz="1100" b="0" i="0" u="none" strike="noStrike" kern="1200" baseline="0" noProof="0">
                          <a:latin typeface="Arial"/>
                        </a:rPr>
                        <a:t>Unlikely to be usable as an integrated service from non-Cúram solutions (e.g., contact centre).</a:t>
                      </a:r>
                    </a:p>
                    <a:p>
                      <a:pPr marL="0" marR="0" indent="0" algn="l" rtl="0" eaLnBrk="1" fontAlgn="auto" latinLnBrk="0" hangingPunct="1">
                        <a:lnSpc>
                          <a:spcPct val="100000"/>
                        </a:lnSpc>
                        <a:spcBef>
                          <a:spcPts val="0"/>
                        </a:spcBef>
                        <a:spcAft>
                          <a:spcPts val="0"/>
                        </a:spcAft>
                        <a:buClr>
                          <a:srgbClr val="000000"/>
                        </a:buClr>
                        <a:buSzTx/>
                        <a:buFont typeface="Arial,Sans-Serif" panose="020B0604020202020204" pitchFamily="34" charset="0"/>
                        <a:buNone/>
                      </a:pPr>
                      <a:endParaRPr lang="en-US" sz="1100">
                        <a:latin typeface="Arial"/>
                      </a:endParaRPr>
                    </a:p>
                  </a:txBody>
                  <a:tcPr marT="90000" marB="90000">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CE2B6B-7FFE-FA46-BED3-31567387080B}" type="slidenum">
              <a:rPr kumimoji="0" lang="en-US" sz="800" b="0" i="0" u="none" strike="noStrike" kern="1200" cap="none" spc="0" normalizeH="0" baseline="0" noProof="0" dirty="0" smtClean="0">
                <a:ln>
                  <a:noFill/>
                </a:ln>
                <a:solidFill>
                  <a:prstClr val="white">
                    <a:lumMod val="50000"/>
                  </a:prstClr>
                </a:solidFill>
                <a:effectLst/>
                <a:uLnTx/>
                <a:uFillTx/>
                <a:latin typeface="Arial"/>
                <a:ea typeface="Verdana"/>
                <a:cs typeface="Arial"/>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prstClr val="white">
                  <a:lumMod val="50000"/>
                </a:prstClr>
              </a:solidFill>
              <a:effectLst/>
              <a:uLnTx/>
              <a:uFillTx/>
              <a:latin typeface="Arial"/>
              <a:ea typeface="Verdana"/>
              <a:cs typeface="Arial"/>
            </a:endParaRPr>
          </a:p>
        </p:txBody>
      </p:sp>
      <p:sp>
        <p:nvSpPr>
          <p:cNvPr id="8" name="TextBox 7">
            <a:extLst>
              <a:ext uri="{FF2B5EF4-FFF2-40B4-BE49-F238E27FC236}">
                <a16:creationId xmlns:a16="http://schemas.microsoft.com/office/drawing/2014/main" id="{5279C5AD-F053-4FC7-A6D3-0E04D81CC50F}"/>
              </a:ext>
            </a:extLst>
          </p:cNvPr>
          <p:cNvSpPr txBox="1"/>
          <p:nvPr/>
        </p:nvSpPr>
        <p:spPr>
          <a:xfrm>
            <a:off x="605110" y="805393"/>
            <a:ext cx="10914783" cy="276999"/>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7F7F7F"/>
                </a:solidFill>
                <a:effectLst/>
                <a:uLnTx/>
                <a:uFillTx/>
                <a:latin typeface="Arial"/>
                <a:ea typeface="Verdana"/>
                <a:cs typeface="Arial"/>
              </a:rPr>
              <a:t>Core KM capabilities including content creation, consumption, feedback, analytics, etc.</a:t>
            </a:r>
            <a:endParaRPr kumimoji="0" lang="en-US" sz="1200" b="0" i="0" u="none" strike="noStrike" kern="1200" cap="none" spc="0" normalizeH="0" baseline="0" noProof="0">
              <a:ln>
                <a:noFill/>
              </a:ln>
              <a:solidFill>
                <a:prstClr val="black"/>
              </a:solidFill>
              <a:effectLst/>
              <a:uLnTx/>
              <a:uFillTx/>
              <a:latin typeface="Arial"/>
              <a:ea typeface="+mn-ea"/>
              <a:cs typeface="Arial"/>
            </a:endParaRPr>
          </a:p>
        </p:txBody>
      </p:sp>
      <p:sp>
        <p:nvSpPr>
          <p:cNvPr id="10" name="TextBox 9"/>
          <p:cNvSpPr txBox="1"/>
          <p:nvPr/>
        </p:nvSpPr>
        <p:spPr>
          <a:xfrm>
            <a:off x="605872" y="343588"/>
            <a:ext cx="10987177" cy="461665"/>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Arial"/>
              </a:rPr>
              <a:t>Options Analysis: 2. Knowledge Management</a:t>
            </a:r>
          </a:p>
        </p:txBody>
      </p:sp>
    </p:spTree>
    <p:extLst>
      <p:ext uri="{BB962C8B-B14F-4D97-AF65-F5344CB8AC3E}">
        <p14:creationId xmlns:p14="http://schemas.microsoft.com/office/powerpoint/2010/main" val="1166223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0A6DAE-7721-0B45-1700-64E4D9C1ACB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CE2B6B-7FFE-FA46-BED3-31567387080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4" name="Table 1">
            <a:extLst>
              <a:ext uri="{FF2B5EF4-FFF2-40B4-BE49-F238E27FC236}">
                <a16:creationId xmlns:a16="http://schemas.microsoft.com/office/drawing/2014/main" id="{E1F15321-A396-D5CE-F860-1B8189D99A7D}"/>
              </a:ext>
            </a:extLst>
          </p:cNvPr>
          <p:cNvGraphicFramePr>
            <a:graphicFrameLocks noGrp="1"/>
          </p:cNvGraphicFramePr>
          <p:nvPr>
            <p:extLst>
              <p:ext uri="{D42A27DB-BD31-4B8C-83A1-F6EECF244321}">
                <p14:modId xmlns:p14="http://schemas.microsoft.com/office/powerpoint/2010/main" val="2172036954"/>
              </p:ext>
            </p:extLst>
          </p:nvPr>
        </p:nvGraphicFramePr>
        <p:xfrm>
          <a:off x="576101" y="1005966"/>
          <a:ext cx="10972800" cy="1856400"/>
        </p:xfrm>
        <a:graphic>
          <a:graphicData uri="http://schemas.openxmlformats.org/drawingml/2006/table">
            <a:tbl>
              <a:tblPr>
                <a:tableStyleId>{5940675A-B579-460E-94D1-54222C63F5DA}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3"/>
                    </a:ext>
                  </a:extLst>
                </a:gridCol>
              </a:tblGrid>
              <a:tr h="0">
                <a:tc grid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CA" sz="1100" b="1" kern="1200" baseline="0">
                          <a:solidFill>
                            <a:schemeClr val="tx1"/>
                          </a:solidFill>
                          <a:latin typeface="Arial"/>
                          <a:ea typeface="+mn-ea"/>
                          <a:cs typeface="+mn-cs"/>
                        </a:rPr>
                        <a:t>Option 10: Microsoft Dynamics 365 Customer Service</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0" kern="1200" baseline="0">
                          <a:solidFill>
                            <a:schemeClr val="tx1"/>
                          </a:solidFill>
                          <a:latin typeface="Arial"/>
                          <a:ea typeface="+mn-ea"/>
                          <a:cs typeface="+mn-cs"/>
                        </a:rPr>
                        <a:t>Explore the use of the embedded KM features of Dynamics 365 Customer Service.</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en-CA"/>
                    </a:p>
                  </a:txBody>
                  <a:tcPr/>
                </a:tc>
                <a:tc rowSpan="2">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EA Alignment: </a:t>
                      </a:r>
                      <a:r>
                        <a:rPr lang="en-US" sz="1100" b="0" i="0" u="none" strike="noStrike" noProof="0">
                          <a:solidFill>
                            <a:schemeClr val="tx1"/>
                          </a:solidFill>
                          <a:latin typeface="Arial"/>
                        </a:rPr>
                        <a:t>&lt;XXX&gt;</a:t>
                      </a:r>
                      <a:endParaRPr lang="en-CA" sz="1100" kern="1200">
                        <a:solidFill>
                          <a:schemeClr val="tx1"/>
                        </a:solidFill>
                        <a:latin typeface="Aria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Feasibility: </a:t>
                      </a:r>
                      <a:r>
                        <a:rPr lang="en-US" sz="1100" b="0" i="0" u="none" strike="noStrike" noProof="0">
                          <a:solidFill>
                            <a:schemeClr val="tx1"/>
                          </a:solidFill>
                          <a:latin typeface="Arial"/>
                        </a:rPr>
                        <a:t>Not feasible – can’t meet requirements (reference?)</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a:solidFill>
                          <a:schemeClr val="tx1"/>
                        </a:solidFill>
                        <a:latin typeface="Arial"/>
                      </a:endParaRPr>
                    </a:p>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latin typeface="Arial"/>
                        </a:rPr>
                        <a:t>Security Ranking: </a:t>
                      </a:r>
                      <a:r>
                        <a:rPr lang="en-US" sz="1100" b="0" i="0" u="none" strike="noStrike" noProof="0">
                          <a:solidFill>
                            <a:schemeClr val="tx1"/>
                          </a:solidFill>
                          <a:latin typeface="Arial"/>
                        </a:rPr>
                        <a:t>&lt;XXX&gt;</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chemeClr val="tx1"/>
                        </a:solidFill>
                        <a:latin typeface="Arial"/>
                      </a:endParaRPr>
                    </a:p>
                    <a:p>
                      <a:pPr marL="0" marR="0" lvl="0" indent="0" algn="l">
                        <a:lnSpc>
                          <a:spcPct val="100000"/>
                        </a:lnSpc>
                        <a:spcBef>
                          <a:spcPts val="0"/>
                        </a:spcBef>
                        <a:spcAft>
                          <a:spcPts val="0"/>
                        </a:spcAft>
                        <a:buNone/>
                      </a:pPr>
                      <a:r>
                        <a:rPr lang="en-US" sz="1100" b="1" i="0" u="none" strike="noStrike" noProof="0">
                          <a:solidFill>
                            <a:schemeClr val="tx1"/>
                          </a:solidFill>
                          <a:latin typeface="Arial"/>
                        </a:rPr>
                        <a:t>Data Alignment: </a:t>
                      </a:r>
                      <a:r>
                        <a:rPr lang="en-US" sz="1100" b="0" i="0" u="none" strike="noStrike" noProof="0">
                          <a:solidFill>
                            <a:schemeClr val="tx1"/>
                          </a:solidFill>
                          <a:latin typeface="Arial"/>
                        </a:rPr>
                        <a:t>&lt;XXX&gt;</a:t>
                      </a:r>
                      <a:endParaRPr lang="en-US" sz="1100"/>
                    </a:p>
                  </a:txBody>
                  <a:tcPr marT="90000" marB="90000" anchor="ctr">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latin typeface="Arial"/>
                        </a:rPr>
                        <a:t>Advantages</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u="none" strike="noStrike" kern="1200" baseline="0" noProof="0">
                          <a:latin typeface="Arial"/>
                        </a:rPr>
                        <a:t>Pensions KM Tool (PKMT) leverages Dynamics 2016;</a:t>
                      </a:r>
                    </a:p>
                    <a:p>
                      <a:pPr marL="171450" marR="0" lvl="0" indent="-171450" algn="l">
                        <a:lnSpc>
                          <a:spcPct val="100000"/>
                        </a:lnSpc>
                        <a:spcBef>
                          <a:spcPts val="0"/>
                        </a:spcBef>
                        <a:spcAft>
                          <a:spcPts val="0"/>
                        </a:spcAft>
                        <a:buClr>
                          <a:srgbClr val="000000"/>
                        </a:buClr>
                        <a:buFont typeface="Arial,Sans-Serif"/>
                        <a:buChar char="•"/>
                      </a:pPr>
                      <a:r>
                        <a:rPr lang="en-CA" sz="1100" b="0" i="0" strike="noStrike" kern="1200">
                          <a:solidFill>
                            <a:schemeClr val="tx1"/>
                          </a:solidFill>
                          <a:effectLst/>
                          <a:latin typeface="Arial"/>
                          <a:ea typeface="+mn-ea"/>
                          <a:cs typeface="Arial"/>
                        </a:rPr>
                        <a:t>Includes certain Copilot features in license; and</a:t>
                      </a:r>
                    </a:p>
                    <a:p>
                      <a:pPr marL="171450" marR="0" lvl="0" indent="-171450" algn="l" defTabSz="914400">
                        <a:lnSpc>
                          <a:spcPct val="100000"/>
                        </a:lnSpc>
                        <a:spcBef>
                          <a:spcPts val="0"/>
                        </a:spcBef>
                        <a:spcAft>
                          <a:spcPts val="0"/>
                        </a:spcAft>
                        <a:buClr>
                          <a:srgbClr val="000000"/>
                        </a:buClr>
                        <a:buFont typeface="Arial,Sans-Serif"/>
                        <a:buChar char="•"/>
                        <a:tabLst/>
                        <a:defRPr/>
                      </a:pPr>
                      <a:r>
                        <a:rPr lang="en-CA" sz="1100" b="0" i="0" kern="1200">
                          <a:solidFill>
                            <a:schemeClr val="tx1"/>
                          </a:solidFill>
                          <a:effectLst/>
                          <a:latin typeface="Arial"/>
                          <a:ea typeface="+mn-ea"/>
                          <a:cs typeface="Arial"/>
                        </a:rPr>
                        <a:t>Some in-house experience.</a:t>
                      </a:r>
                      <a:endParaRPr lang="en-US" sz="1100" b="0" i="0" kern="1200">
                        <a:solidFill>
                          <a:schemeClr val="tx1"/>
                        </a:solidFill>
                        <a:effectLst/>
                        <a:latin typeface="Arial"/>
                        <a:ea typeface="+mn-ea"/>
                        <a:cs typeface="Arial"/>
                      </a:endParaRP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tx1"/>
                          </a:solidFill>
                          <a:latin typeface="Arial"/>
                          <a:ea typeface="+mn-ea"/>
                          <a:cs typeface="+mn-cs"/>
                        </a:rPr>
                        <a:t>Disadvantages</a:t>
                      </a:r>
                    </a:p>
                    <a:p>
                      <a:pPr marL="171450" marR="0" lvl="0" indent="-171450" algn="l" defTabSz="457200" rtl="0" eaLnBrk="1" fontAlgn="auto" latinLnBrk="0" hangingPunct="1">
                        <a:lnSpc>
                          <a:spcPct val="100000"/>
                        </a:lnSpc>
                        <a:spcBef>
                          <a:spcPts val="0"/>
                        </a:spcBef>
                        <a:spcAft>
                          <a:spcPts val="0"/>
                        </a:spcAft>
                        <a:buClr>
                          <a:srgbClr val="000000"/>
                        </a:buClr>
                        <a:buSzTx/>
                        <a:buFont typeface="Arial,Sans-Serif"/>
                        <a:buChar char="•"/>
                        <a:tabLst/>
                        <a:defRPr/>
                      </a:pPr>
                      <a:r>
                        <a:rPr lang="en-CA" sz="1100" b="0" i="0" u="none" strike="noStrike" kern="1200" baseline="0" noProof="0">
                          <a:latin typeface="Arial"/>
                        </a:rPr>
                        <a:t>Evaluated against requirements and rejected; supported by input from Gartner analyst;</a:t>
                      </a:r>
                    </a:p>
                    <a:p>
                      <a:pPr marL="171450" marR="0" lvl="0" indent="-171450" algn="l" defTabSz="457200" rtl="0" eaLnBrk="1" fontAlgn="auto" latinLnBrk="0" hangingPunct="1">
                        <a:lnSpc>
                          <a:spcPct val="100000"/>
                        </a:lnSpc>
                        <a:spcBef>
                          <a:spcPts val="0"/>
                        </a:spcBef>
                        <a:spcAft>
                          <a:spcPts val="0"/>
                        </a:spcAft>
                        <a:buClr>
                          <a:srgbClr val="000000"/>
                        </a:buClr>
                        <a:buSzTx/>
                        <a:buFont typeface="Arial,Sans-Serif"/>
                        <a:buChar char="•"/>
                        <a:tabLst/>
                        <a:defRPr/>
                      </a:pPr>
                      <a:r>
                        <a:rPr lang="en-CA" sz="1100" b="0" i="0" u="none" strike="noStrike" kern="1200" baseline="0" noProof="0">
                          <a:latin typeface="Arial"/>
                        </a:rPr>
                        <a:t>Make sense only if Dynamics was selected as the Core Delivery Platform and officers don’t leave the platform to look up info in a KM repository.</a:t>
                      </a:r>
                    </a:p>
                  </a:txBody>
                  <a:tcPr marT="90000" marB="90000">
                    <a:lnL w="28575" cap="flat" cmpd="sng" algn="ctr">
                      <a:solidFill>
                        <a:schemeClr val="accent5"/>
                      </a:solidFill>
                      <a:prstDash val="solid"/>
                      <a:round/>
                      <a:headEnd type="none" w="med" len="med"/>
                      <a:tailEnd type="none" w="med" len="med"/>
                    </a:lnL>
                    <a:lnR w="28575" cap="flat" cmpd="sng" algn="ctr">
                      <a:solidFill>
                        <a:schemeClr val="accent5"/>
                      </a:solidFill>
                      <a:prstDash val="solid"/>
                      <a:round/>
                      <a:headEnd type="none" w="med" len="med"/>
                      <a:tailEnd type="none" w="med" len="med"/>
                    </a:lnR>
                    <a:lnT w="28575" cap="flat" cmpd="sng" algn="ctr">
                      <a:solidFill>
                        <a:schemeClr val="accent5"/>
                      </a:solidFill>
                      <a:prstDash val="solid"/>
                      <a:round/>
                      <a:headEnd type="none" w="med" len="med"/>
                      <a:tailEnd type="none" w="med" len="med"/>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vMerge="1">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591D37FA-DD25-8381-9445-0F78824C990D}"/>
              </a:ext>
            </a:extLst>
          </p:cNvPr>
          <p:cNvSpPr txBox="1"/>
          <p:nvPr/>
        </p:nvSpPr>
        <p:spPr>
          <a:xfrm>
            <a:off x="605110" y="652993"/>
            <a:ext cx="10914783" cy="276999"/>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7F7F7F"/>
                </a:solidFill>
                <a:effectLst/>
                <a:uLnTx/>
                <a:uFillTx/>
                <a:latin typeface="Arial"/>
                <a:ea typeface="Verdana"/>
                <a:cs typeface="Arial"/>
              </a:rPr>
              <a:t>Core KM capabilities including content creation, consumption, feedback, analytics, etc.</a:t>
            </a:r>
            <a:endParaRPr kumimoji="0" lang="en-US" sz="1200" b="0" i="0" u="none" strike="noStrike" kern="1200" cap="none" spc="0" normalizeH="0" baseline="0" noProof="0">
              <a:ln>
                <a:noFill/>
              </a:ln>
              <a:solidFill>
                <a:prstClr val="black"/>
              </a:solidFill>
              <a:effectLst/>
              <a:uLnTx/>
              <a:uFillTx/>
              <a:latin typeface="Arial"/>
              <a:ea typeface="+mn-ea"/>
              <a:cs typeface="Arial"/>
            </a:endParaRPr>
          </a:p>
        </p:txBody>
      </p:sp>
      <p:sp>
        <p:nvSpPr>
          <p:cNvPr id="8" name="TextBox 7">
            <a:extLst>
              <a:ext uri="{FF2B5EF4-FFF2-40B4-BE49-F238E27FC236}">
                <a16:creationId xmlns:a16="http://schemas.microsoft.com/office/drawing/2014/main" id="{68C5B508-73DE-3ECB-0A7C-D3F4A7669AA1}"/>
              </a:ext>
            </a:extLst>
          </p:cNvPr>
          <p:cNvSpPr txBox="1"/>
          <p:nvPr/>
        </p:nvSpPr>
        <p:spPr>
          <a:xfrm>
            <a:off x="605872" y="181663"/>
            <a:ext cx="10987177" cy="461665"/>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a:ln>
                  <a:noFill/>
                </a:ln>
                <a:solidFill>
                  <a:prstClr val="black"/>
                </a:solidFill>
                <a:effectLst/>
                <a:uLnTx/>
                <a:uFillTx/>
                <a:latin typeface="Arial"/>
                <a:ea typeface="Verdana"/>
                <a:cs typeface="Arial"/>
              </a:rPr>
              <a:t>Options Analysis: 2. Knowledge Management</a:t>
            </a:r>
          </a:p>
        </p:txBody>
      </p:sp>
    </p:spTree>
    <p:extLst>
      <p:ext uri="{BB962C8B-B14F-4D97-AF65-F5344CB8AC3E}">
        <p14:creationId xmlns:p14="http://schemas.microsoft.com/office/powerpoint/2010/main" val="2667804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BCE2B6B-7FFE-FA46-BED3-31567387080B}" type="slidenum">
              <a:rPr lang="en-US" sz="800" dirty="0" smtClean="0">
                <a:solidFill>
                  <a:srgbClr val="7F7F7F"/>
                </a:solidFill>
                <a:latin typeface="Arial"/>
                <a:ea typeface="Verdana"/>
                <a:cs typeface="Calibri"/>
              </a:rPr>
              <a:t>34</a:t>
            </a:fld>
            <a:endParaRPr lang="en-US" sz="800">
              <a:solidFill>
                <a:srgbClr val="7F7F7F"/>
              </a:solidFill>
              <a:latin typeface="Arial"/>
              <a:ea typeface="Verdana"/>
              <a:cs typeface="Calibri"/>
            </a:endParaRPr>
          </a:p>
        </p:txBody>
      </p:sp>
      <p:sp>
        <p:nvSpPr>
          <p:cNvPr id="3" name="TextBox 2"/>
          <p:cNvSpPr txBox="1"/>
          <p:nvPr/>
        </p:nvSpPr>
        <p:spPr>
          <a:xfrm>
            <a:off x="637562" y="3865388"/>
            <a:ext cx="10812316" cy="461665"/>
          </a:xfrm>
          <a:prstGeom prst="rect">
            <a:avLst/>
          </a:prstGeom>
          <a:noFill/>
        </p:spPr>
        <p:txBody>
          <a:bodyPr wrap="square" lIns="91440" tIns="45720" rIns="91440" bIns="45720" rtlCol="0" anchor="t">
            <a:spAutoFit/>
          </a:bodyPr>
          <a:lstStyle/>
          <a:p>
            <a:r>
              <a:rPr lang="en-CA" sz="2400" b="1">
                <a:latin typeface="Arial"/>
                <a:ea typeface="Verdana"/>
                <a:cs typeface="Verdana" panose="020B0604030504040204" pitchFamily="34" charset="0"/>
              </a:rPr>
              <a:t>Annex C: Knowledge Management and Cúram in Other Implementations</a:t>
            </a:r>
          </a:p>
        </p:txBody>
      </p:sp>
    </p:spTree>
    <p:extLst>
      <p:ext uri="{BB962C8B-B14F-4D97-AF65-F5344CB8AC3E}">
        <p14:creationId xmlns:p14="http://schemas.microsoft.com/office/powerpoint/2010/main" val="539580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A04831-1B8F-29CD-C738-A680E99025AD}"/>
              </a:ext>
            </a:extLst>
          </p:cNvPr>
          <p:cNvSpPr>
            <a:spLocks noGrp="1"/>
          </p:cNvSpPr>
          <p:nvPr>
            <p:ph type="sldNum" sz="quarter" idx="12"/>
          </p:nvPr>
        </p:nvSpPr>
        <p:spPr/>
        <p:txBody>
          <a:bodyPr/>
          <a:lstStyle/>
          <a:p>
            <a:fld id="{ABCE2B6B-7FFE-FA46-BED3-31567387080B}" type="slidenum">
              <a:rPr lang="en-US" smtClean="0"/>
              <a:t>35</a:t>
            </a:fld>
            <a:endParaRPr lang="en-US"/>
          </a:p>
        </p:txBody>
      </p:sp>
      <p:sp>
        <p:nvSpPr>
          <p:cNvPr id="6" name="TextBox 5">
            <a:extLst>
              <a:ext uri="{FF2B5EF4-FFF2-40B4-BE49-F238E27FC236}">
                <a16:creationId xmlns:a16="http://schemas.microsoft.com/office/drawing/2014/main" id="{A81B9AB1-8BE0-B720-8FC2-59A7950A223E}"/>
              </a:ext>
            </a:extLst>
          </p:cNvPr>
          <p:cNvSpPr txBox="1"/>
          <p:nvPr/>
        </p:nvSpPr>
        <p:spPr>
          <a:xfrm>
            <a:off x="685799" y="501649"/>
            <a:ext cx="10207101" cy="461665"/>
          </a:xfrm>
          <a:prstGeom prst="rect">
            <a:avLst/>
          </a:prstGeom>
          <a:noFill/>
        </p:spPr>
        <p:txBody>
          <a:bodyPr wrap="square">
            <a:spAutoFit/>
          </a:bodyPr>
          <a:lstStyle/>
          <a:p>
            <a:r>
              <a:rPr lang="en-CA" sz="2400" b="1" i="0" u="none" strike="noStrike">
                <a:solidFill>
                  <a:srgbClr val="000000"/>
                </a:solidFill>
                <a:effectLst/>
                <a:latin typeface="Arial" panose="020B0604020202020204" pitchFamily="34" charset="0"/>
              </a:rPr>
              <a:t>Key Activities to date on Knowledge Management</a:t>
            </a:r>
            <a:endParaRPr lang="en-CA" sz="2400"/>
          </a:p>
        </p:txBody>
      </p:sp>
      <p:sp>
        <p:nvSpPr>
          <p:cNvPr id="7" name="TextBox 6">
            <a:extLst>
              <a:ext uri="{FF2B5EF4-FFF2-40B4-BE49-F238E27FC236}">
                <a16:creationId xmlns:a16="http://schemas.microsoft.com/office/drawing/2014/main" id="{B9EB4E35-DEF7-35FD-CB91-E83D11E6D81E}"/>
              </a:ext>
            </a:extLst>
          </p:cNvPr>
          <p:cNvSpPr txBox="1"/>
          <p:nvPr/>
        </p:nvSpPr>
        <p:spPr>
          <a:xfrm>
            <a:off x="9135122" y="507064"/>
            <a:ext cx="2192785" cy="276999"/>
          </a:xfrm>
          <a:prstGeom prst="rect">
            <a:avLst/>
          </a:prstGeom>
          <a:noFill/>
        </p:spPr>
        <p:txBody>
          <a:bodyPr wrap="square" rtlCol="0">
            <a:spAutoFit/>
          </a:bodyPr>
          <a:lstStyle/>
          <a:p>
            <a:r>
              <a:rPr lang="en-CA" sz="1200"/>
              <a:t>Could go to Annex section</a:t>
            </a:r>
          </a:p>
        </p:txBody>
      </p:sp>
      <p:graphicFrame>
        <p:nvGraphicFramePr>
          <p:cNvPr id="3" name="Table 2">
            <a:extLst>
              <a:ext uri="{FF2B5EF4-FFF2-40B4-BE49-F238E27FC236}">
                <a16:creationId xmlns:a16="http://schemas.microsoft.com/office/drawing/2014/main" id="{10FA8602-56F5-2C12-B15C-24B002A4F6A1}"/>
              </a:ext>
            </a:extLst>
          </p:cNvPr>
          <p:cNvGraphicFramePr>
            <a:graphicFrameLocks noGrp="1"/>
          </p:cNvGraphicFramePr>
          <p:nvPr>
            <p:extLst>
              <p:ext uri="{D42A27DB-BD31-4B8C-83A1-F6EECF244321}">
                <p14:modId xmlns:p14="http://schemas.microsoft.com/office/powerpoint/2010/main" val="2273288060"/>
              </p:ext>
            </p:extLst>
          </p:nvPr>
        </p:nvGraphicFramePr>
        <p:xfrm>
          <a:off x="283264" y="1166278"/>
          <a:ext cx="11426688" cy="5222240"/>
        </p:xfrm>
        <a:graphic>
          <a:graphicData uri="http://schemas.openxmlformats.org/drawingml/2006/table">
            <a:tbl>
              <a:tblPr firstRow="1" bandRow="1">
                <a:tableStyleId>{D27102A9-8310-4765-A935-A1911B00CA55}</a:tableStyleId>
              </a:tblPr>
              <a:tblGrid>
                <a:gridCol w="2459936">
                  <a:extLst>
                    <a:ext uri="{9D8B030D-6E8A-4147-A177-3AD203B41FA5}">
                      <a16:colId xmlns:a16="http://schemas.microsoft.com/office/drawing/2014/main" val="98133420"/>
                    </a:ext>
                  </a:extLst>
                </a:gridCol>
                <a:gridCol w="8966752">
                  <a:extLst>
                    <a:ext uri="{9D8B030D-6E8A-4147-A177-3AD203B41FA5}">
                      <a16:colId xmlns:a16="http://schemas.microsoft.com/office/drawing/2014/main" val="538715191"/>
                    </a:ext>
                  </a:extLst>
                </a:gridCol>
              </a:tblGrid>
              <a:tr h="333882">
                <a:tc>
                  <a:txBody>
                    <a:bodyPr/>
                    <a:lstStyle/>
                    <a:p>
                      <a:r>
                        <a:rPr lang="en-CA"/>
                        <a:t>Implementation</a:t>
                      </a:r>
                    </a:p>
                  </a:txBody>
                  <a:tcPr/>
                </a:tc>
                <a:tc>
                  <a:txBody>
                    <a:bodyPr/>
                    <a:lstStyle/>
                    <a:p>
                      <a:r>
                        <a:rPr lang="en-CA"/>
                        <a:t>Knowledge Management Technology</a:t>
                      </a:r>
                    </a:p>
                  </a:txBody>
                  <a:tcPr/>
                </a:tc>
                <a:extLst>
                  <a:ext uri="{0D108BD9-81ED-4DB2-BD59-A6C34878D82A}">
                    <a16:rowId xmlns:a16="http://schemas.microsoft.com/office/drawing/2014/main" val="2699100332"/>
                  </a:ext>
                </a:extLst>
              </a:tr>
              <a:tr h="370840">
                <a:tc>
                  <a:txBody>
                    <a:bodyPr/>
                    <a:lstStyle/>
                    <a:p>
                      <a:pPr marL="108000" algn="l" fontAlgn="t"/>
                      <a:r>
                        <a:rPr lang="en-CA" sz="1400" b="1" u="none" strike="noStrike">
                          <a:solidFill>
                            <a:schemeClr val="tx1"/>
                          </a:solidFill>
                          <a:effectLst/>
                        </a:rPr>
                        <a:t>Ontario - SAMS, Canada</a:t>
                      </a:r>
                      <a:endParaRPr lang="en-CA" sz="1400" b="1" i="0" u="none" strike="noStrike">
                        <a:solidFill>
                          <a:schemeClr val="tx1"/>
                        </a:solidFill>
                        <a:effectLst/>
                        <a:latin typeface="Calibri" panose="020F0502020204030204" pitchFamily="34" charset="0"/>
                      </a:endParaRPr>
                    </a:p>
                  </a:txBody>
                  <a:tcPr marL="0" marR="0" marT="0" marB="0"/>
                </a:tc>
                <a:tc>
                  <a:txBody>
                    <a:bodyPr/>
                    <a:lstStyle/>
                    <a:p>
                      <a:pPr algn="l" fontAlgn="t"/>
                      <a:r>
                        <a:rPr lang="en-CA" sz="1100" b="0" u="none" strike="noStrike">
                          <a:solidFill>
                            <a:srgbClr val="000000"/>
                          </a:solidFill>
                          <a:effectLst/>
                        </a:rPr>
                        <a:t>1. In house (i.e. SharePoint, Office 360 etc..)</a:t>
                      </a:r>
                      <a:br>
                        <a:rPr lang="en-CA" sz="1100" b="0" u="none" strike="noStrike">
                          <a:solidFill>
                            <a:srgbClr val="000000"/>
                          </a:solidFill>
                          <a:effectLst/>
                        </a:rPr>
                      </a:br>
                      <a:r>
                        <a:rPr lang="en-CA" sz="1100" b="0" u="none" strike="noStrike">
                          <a:solidFill>
                            <a:srgbClr val="000000"/>
                          </a:solidFill>
                          <a:effectLst/>
                        </a:rPr>
                        <a:t>2. No Integration to Cúram. Uses OOTB Cúram Online help, CAD and Knowledge Center.</a:t>
                      </a:r>
                      <a:br>
                        <a:rPr lang="en-CA" sz="1100" b="0" u="none" strike="noStrike">
                          <a:solidFill>
                            <a:srgbClr val="000000"/>
                          </a:solidFill>
                          <a:effectLst/>
                        </a:rPr>
                      </a:br>
                      <a:r>
                        <a:rPr lang="en-CA" sz="1100" b="0" u="none" strike="noStrike">
                          <a:solidFill>
                            <a:srgbClr val="000000"/>
                          </a:solidFill>
                          <a:effectLst/>
                        </a:rPr>
                        <a:t>3. External links for reference/policy documents.</a:t>
                      </a:r>
                      <a:endParaRPr lang="en-CA" sz="11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445025049"/>
                  </a:ext>
                </a:extLst>
              </a:tr>
              <a:tr h="370840">
                <a:tc>
                  <a:txBody>
                    <a:bodyPr/>
                    <a:lstStyle/>
                    <a:p>
                      <a:pPr marL="108000" algn="l" fontAlgn="t"/>
                      <a:r>
                        <a:rPr lang="en-CA" sz="1400" b="1" u="none" strike="noStrike">
                          <a:solidFill>
                            <a:schemeClr val="tx1"/>
                          </a:solidFill>
                          <a:effectLst/>
                        </a:rPr>
                        <a:t>Ontario - CPIN, Canada</a:t>
                      </a:r>
                      <a:endParaRPr lang="en-CA" sz="1400" b="1" i="0" u="none" strike="noStrike">
                        <a:solidFill>
                          <a:schemeClr val="tx1"/>
                        </a:solidFill>
                        <a:effectLst/>
                        <a:latin typeface="Calibri" panose="020F0502020204030204" pitchFamily="34" charset="0"/>
                      </a:endParaRPr>
                    </a:p>
                  </a:txBody>
                  <a:tcPr marL="0" marR="0" marT="0" marB="0"/>
                </a:tc>
                <a:tc>
                  <a:txBody>
                    <a:bodyPr/>
                    <a:lstStyle/>
                    <a:p>
                      <a:pPr algn="l" fontAlgn="t"/>
                      <a:r>
                        <a:rPr lang="en-CA" sz="1100" b="0" u="none" strike="noStrike">
                          <a:solidFill>
                            <a:srgbClr val="000000"/>
                          </a:solidFill>
                          <a:effectLst/>
                        </a:rPr>
                        <a:t>1. In house (i.e. SharePoint, Office 360 etc..)</a:t>
                      </a:r>
                      <a:br>
                        <a:rPr lang="en-CA" sz="1100" b="0" u="none" strike="noStrike">
                          <a:solidFill>
                            <a:srgbClr val="000000"/>
                          </a:solidFill>
                          <a:effectLst/>
                        </a:rPr>
                      </a:br>
                      <a:r>
                        <a:rPr lang="en-CA" sz="1100" b="0" u="none" strike="noStrike">
                          <a:solidFill>
                            <a:srgbClr val="000000"/>
                          </a:solidFill>
                          <a:effectLst/>
                        </a:rPr>
                        <a:t>2. No Integration to Cúram. Uses OOTB Cúram Online help, CAD and Knowledge Center.</a:t>
                      </a:r>
                      <a:br>
                        <a:rPr lang="en-CA" sz="1100" b="0" u="none" strike="noStrike">
                          <a:solidFill>
                            <a:srgbClr val="000000"/>
                          </a:solidFill>
                          <a:effectLst/>
                        </a:rPr>
                      </a:br>
                      <a:r>
                        <a:rPr lang="en-CA" sz="1100" b="0" u="none" strike="noStrike">
                          <a:solidFill>
                            <a:srgbClr val="000000"/>
                          </a:solidFill>
                          <a:effectLst/>
                        </a:rPr>
                        <a:t>3. External links for reference/policy documents.</a:t>
                      </a:r>
                      <a:endParaRPr lang="en-CA" sz="11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4050757818"/>
                  </a:ext>
                </a:extLst>
              </a:tr>
              <a:tr h="370840">
                <a:tc>
                  <a:txBody>
                    <a:bodyPr/>
                    <a:lstStyle/>
                    <a:p>
                      <a:pPr marL="108000" algn="l" fontAlgn="t"/>
                      <a:r>
                        <a:rPr lang="en-CA" sz="1400" b="1" u="none" strike="noStrike">
                          <a:solidFill>
                            <a:schemeClr val="tx1"/>
                          </a:solidFill>
                          <a:effectLst/>
                        </a:rPr>
                        <a:t>Ontario - DSCIS, Canada</a:t>
                      </a:r>
                      <a:endParaRPr lang="en-CA" sz="1400" b="1" i="0" u="none" strike="noStrike">
                        <a:solidFill>
                          <a:schemeClr val="tx1"/>
                        </a:solidFill>
                        <a:effectLst/>
                        <a:latin typeface="Calibri" panose="020F0502020204030204" pitchFamily="34" charset="0"/>
                      </a:endParaRPr>
                    </a:p>
                  </a:txBody>
                  <a:tcPr marL="0" marR="0" marT="0" marB="0"/>
                </a:tc>
                <a:tc>
                  <a:txBody>
                    <a:bodyPr/>
                    <a:lstStyle/>
                    <a:p>
                      <a:pPr algn="l" fontAlgn="t"/>
                      <a:r>
                        <a:rPr lang="en-CA" sz="1100" b="0" u="none" strike="noStrike">
                          <a:solidFill>
                            <a:srgbClr val="000000"/>
                          </a:solidFill>
                          <a:effectLst/>
                        </a:rPr>
                        <a:t>1. In house (i.e. SharePoint, Office 360 etc..)</a:t>
                      </a:r>
                      <a:br>
                        <a:rPr lang="en-CA" sz="1100" b="0" u="none" strike="noStrike">
                          <a:solidFill>
                            <a:srgbClr val="000000"/>
                          </a:solidFill>
                          <a:effectLst/>
                        </a:rPr>
                      </a:br>
                      <a:r>
                        <a:rPr lang="en-CA" sz="1100" b="0" u="none" strike="noStrike">
                          <a:solidFill>
                            <a:srgbClr val="000000"/>
                          </a:solidFill>
                          <a:effectLst/>
                        </a:rPr>
                        <a:t>2. No Integration to Cúram. Uses OOTB Cúram Online help, CAD and Knowledge Center.</a:t>
                      </a:r>
                      <a:br>
                        <a:rPr lang="en-CA" sz="1100" b="0" u="none" strike="noStrike">
                          <a:solidFill>
                            <a:srgbClr val="000000"/>
                          </a:solidFill>
                          <a:effectLst/>
                        </a:rPr>
                      </a:br>
                      <a:r>
                        <a:rPr lang="en-CA" sz="1100" b="0" u="none" strike="noStrike">
                          <a:solidFill>
                            <a:srgbClr val="000000"/>
                          </a:solidFill>
                          <a:effectLst/>
                        </a:rPr>
                        <a:t>3. External links for reference/policy documents.</a:t>
                      </a:r>
                      <a:endParaRPr lang="en-CA" sz="11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1675843822"/>
                  </a:ext>
                </a:extLst>
              </a:tr>
              <a:tr h="370840">
                <a:tc>
                  <a:txBody>
                    <a:bodyPr/>
                    <a:lstStyle/>
                    <a:p>
                      <a:pPr marL="108000" algn="l" fontAlgn="t"/>
                      <a:r>
                        <a:rPr lang="en-CA" sz="1400" b="1" u="none" strike="noStrike">
                          <a:solidFill>
                            <a:schemeClr val="tx1"/>
                          </a:solidFill>
                          <a:effectLst/>
                        </a:rPr>
                        <a:t>Ontario - MTCU, Canada</a:t>
                      </a:r>
                      <a:endParaRPr lang="en-CA" sz="1400" b="1" i="0" u="none" strike="noStrike">
                        <a:solidFill>
                          <a:schemeClr val="tx1"/>
                        </a:solidFill>
                        <a:effectLst/>
                        <a:latin typeface="Calibri" panose="020F0502020204030204" pitchFamily="34" charset="0"/>
                      </a:endParaRPr>
                    </a:p>
                  </a:txBody>
                  <a:tcPr marL="0" marR="0" marT="0" marB="0"/>
                </a:tc>
                <a:tc>
                  <a:txBody>
                    <a:bodyPr/>
                    <a:lstStyle/>
                    <a:p>
                      <a:pPr algn="l" fontAlgn="t"/>
                      <a:r>
                        <a:rPr lang="en-CA" sz="1100" b="0" u="none" strike="noStrike">
                          <a:solidFill>
                            <a:srgbClr val="000000"/>
                          </a:solidFill>
                          <a:effectLst/>
                        </a:rPr>
                        <a:t>1. In house (i.e. SharePoint, Office 360 etc..)</a:t>
                      </a:r>
                      <a:br>
                        <a:rPr lang="en-CA" sz="1100" b="0" u="none" strike="noStrike">
                          <a:solidFill>
                            <a:srgbClr val="000000"/>
                          </a:solidFill>
                          <a:effectLst/>
                        </a:rPr>
                      </a:br>
                      <a:r>
                        <a:rPr lang="en-CA" sz="1100" b="0" u="none" strike="noStrike">
                          <a:solidFill>
                            <a:srgbClr val="000000"/>
                          </a:solidFill>
                          <a:effectLst/>
                        </a:rPr>
                        <a:t>2. No Integration to Cúram. Uses OOTB Cúram Online help, CAD and Knowledge Center.</a:t>
                      </a:r>
                      <a:br>
                        <a:rPr lang="en-CA" sz="1100" b="0" u="none" strike="noStrike">
                          <a:solidFill>
                            <a:srgbClr val="000000"/>
                          </a:solidFill>
                          <a:effectLst/>
                        </a:rPr>
                      </a:br>
                      <a:r>
                        <a:rPr lang="en-CA" sz="1100" b="0" u="none" strike="noStrike">
                          <a:solidFill>
                            <a:srgbClr val="000000"/>
                          </a:solidFill>
                          <a:effectLst/>
                        </a:rPr>
                        <a:t>3. External links for reference/policy documents.</a:t>
                      </a:r>
                      <a:endParaRPr lang="en-CA" sz="11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3118615759"/>
                  </a:ext>
                </a:extLst>
              </a:tr>
              <a:tr h="370840">
                <a:tc>
                  <a:txBody>
                    <a:bodyPr/>
                    <a:lstStyle/>
                    <a:p>
                      <a:pPr marL="108000" algn="l" fontAlgn="t"/>
                      <a:r>
                        <a:rPr lang="en-CA" sz="1400" b="1" u="none" strike="noStrike">
                          <a:solidFill>
                            <a:schemeClr val="tx1"/>
                          </a:solidFill>
                          <a:effectLst/>
                        </a:rPr>
                        <a:t>Alberta - ACYS (CICIO), Canada</a:t>
                      </a:r>
                      <a:endParaRPr lang="en-CA" sz="1400" b="1" i="0" u="none" strike="noStrike">
                        <a:solidFill>
                          <a:schemeClr val="tx1"/>
                        </a:solidFill>
                        <a:effectLst/>
                        <a:latin typeface="Calibri" panose="020F0502020204030204" pitchFamily="34" charset="0"/>
                      </a:endParaRPr>
                    </a:p>
                  </a:txBody>
                  <a:tcPr marL="0" marR="0" marT="0" marB="0"/>
                </a:tc>
                <a:tc>
                  <a:txBody>
                    <a:bodyPr/>
                    <a:lstStyle/>
                    <a:p>
                      <a:pPr algn="l" fontAlgn="t"/>
                      <a:r>
                        <a:rPr lang="en-CA" sz="1100" b="0" u="none" strike="noStrike">
                          <a:solidFill>
                            <a:srgbClr val="000000"/>
                          </a:solidFill>
                          <a:effectLst/>
                        </a:rPr>
                        <a:t>1. Cúram Online help, CAD and Knowledge Center.</a:t>
                      </a:r>
                      <a:br>
                        <a:rPr lang="en-CA" sz="1100" b="0" u="none" strike="noStrike">
                          <a:solidFill>
                            <a:srgbClr val="000000"/>
                          </a:solidFill>
                          <a:effectLst/>
                        </a:rPr>
                      </a:br>
                      <a:r>
                        <a:rPr lang="en-CA" sz="1100" b="0" u="none" strike="noStrike">
                          <a:solidFill>
                            <a:srgbClr val="000000"/>
                          </a:solidFill>
                          <a:effectLst/>
                        </a:rPr>
                        <a:t>2. External links for reference/policy documents.</a:t>
                      </a:r>
                      <a:br>
                        <a:rPr lang="en-CA" sz="1100" b="0" u="none" strike="noStrike">
                          <a:solidFill>
                            <a:srgbClr val="000000"/>
                          </a:solidFill>
                          <a:effectLst/>
                        </a:rPr>
                      </a:br>
                      <a:r>
                        <a:rPr lang="en-CA" sz="1100" b="0" u="none" strike="noStrike">
                          <a:solidFill>
                            <a:srgbClr val="000000"/>
                          </a:solidFill>
                          <a:effectLst/>
                        </a:rPr>
                        <a:t>3. No integration with Cúram.</a:t>
                      </a:r>
                      <a:endParaRPr lang="en-CA" sz="11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2618711815"/>
                  </a:ext>
                </a:extLst>
              </a:tr>
              <a:tr h="370840">
                <a:tc>
                  <a:txBody>
                    <a:bodyPr/>
                    <a:lstStyle/>
                    <a:p>
                      <a:pPr marL="108000" algn="l" fontAlgn="t"/>
                      <a:r>
                        <a:rPr lang="en-CA" sz="1400" b="1" i="0" u="none" strike="noStrike">
                          <a:solidFill>
                            <a:schemeClr val="tx1"/>
                          </a:solidFill>
                          <a:effectLst/>
                          <a:latin typeface="Calibri" panose="020F0502020204030204" pitchFamily="34" charset="0"/>
                        </a:rPr>
                        <a:t>BC - WCB, Canada</a:t>
                      </a:r>
                    </a:p>
                  </a:txBody>
                  <a:tcPr marL="0" marR="0" marT="0" marB="0"/>
                </a:tc>
                <a:tc>
                  <a:txBody>
                    <a:bodyPr/>
                    <a:lstStyle/>
                    <a:p>
                      <a:pPr algn="l" fontAlgn="t"/>
                      <a:r>
                        <a:rPr lang="en-CA" sz="1100" b="0" i="0" u="none" strike="noStrike">
                          <a:solidFill>
                            <a:srgbClr val="000000"/>
                          </a:solidFill>
                          <a:effectLst/>
                          <a:latin typeface="Calibri" panose="020F0502020204030204" pitchFamily="34" charset="0"/>
                        </a:rPr>
                        <a:t>1. Cúram Online help, CAD and Knowledge Center.</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2. External links for reference/policy documents.</a:t>
                      </a:r>
                    </a:p>
                  </a:txBody>
                  <a:tcPr marL="0" marR="0" marT="0" marB="0"/>
                </a:tc>
                <a:extLst>
                  <a:ext uri="{0D108BD9-81ED-4DB2-BD59-A6C34878D82A}">
                    <a16:rowId xmlns:a16="http://schemas.microsoft.com/office/drawing/2014/main" val="1823118010"/>
                  </a:ext>
                </a:extLst>
              </a:tr>
              <a:tr h="370840">
                <a:tc>
                  <a:txBody>
                    <a:bodyPr/>
                    <a:lstStyle/>
                    <a:p>
                      <a:pPr marL="108000" algn="l" fontAlgn="t"/>
                      <a:r>
                        <a:rPr lang="en-CA" sz="1400" b="1" i="0" u="none" strike="noStrike">
                          <a:solidFill>
                            <a:schemeClr val="tx1"/>
                          </a:solidFill>
                          <a:effectLst/>
                          <a:latin typeface="Calibri" panose="020F0502020204030204" pitchFamily="34" charset="0"/>
                        </a:rPr>
                        <a:t>Saskatchewan - MSS (LINKIN), Canada</a:t>
                      </a:r>
                    </a:p>
                  </a:txBody>
                  <a:tcPr marL="0" marR="0" marT="0" marB="0"/>
                </a:tc>
                <a:tc>
                  <a:txBody>
                    <a:bodyPr/>
                    <a:lstStyle/>
                    <a:p>
                      <a:pPr algn="l" fontAlgn="t"/>
                      <a:r>
                        <a:rPr lang="en-CA" sz="1100" b="0" i="0" u="none" strike="noStrike">
                          <a:solidFill>
                            <a:srgbClr val="000000"/>
                          </a:solidFill>
                          <a:effectLst/>
                          <a:latin typeface="Calibri" panose="020F0502020204030204" pitchFamily="34" charset="0"/>
                        </a:rPr>
                        <a:t>1. In house (i.e. SharePoint, Office 360 etc..)</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2. No Integration to Cúram, leverages  Cúram Online help, CAD and Knowledge Center.</a:t>
                      </a:r>
                    </a:p>
                  </a:txBody>
                  <a:tcPr marL="0" marR="0" marT="0" marB="0"/>
                </a:tc>
                <a:extLst>
                  <a:ext uri="{0D108BD9-81ED-4DB2-BD59-A6C34878D82A}">
                    <a16:rowId xmlns:a16="http://schemas.microsoft.com/office/drawing/2014/main" val="3645058204"/>
                  </a:ext>
                </a:extLst>
              </a:tr>
              <a:tr h="370840">
                <a:tc>
                  <a:txBody>
                    <a:bodyPr/>
                    <a:lstStyle/>
                    <a:p>
                      <a:pPr marL="108000" algn="l" fontAlgn="t"/>
                      <a:r>
                        <a:rPr lang="en-CA" sz="1400" b="1" i="0" u="none" strike="noStrike">
                          <a:solidFill>
                            <a:schemeClr val="tx1"/>
                          </a:solidFill>
                          <a:effectLst/>
                          <a:latin typeface="Calibri" panose="020F0502020204030204" pitchFamily="34" charset="0"/>
                        </a:rPr>
                        <a:t>North Carolina - FAST, USA</a:t>
                      </a:r>
                    </a:p>
                  </a:txBody>
                  <a:tcPr marL="0" marR="0" marT="0" marB="0"/>
                </a:tc>
                <a:tc>
                  <a:txBody>
                    <a:bodyPr/>
                    <a:lstStyle/>
                    <a:p>
                      <a:pPr algn="l" fontAlgn="t"/>
                      <a:r>
                        <a:rPr lang="en-CA" sz="1100" b="0" i="0" u="none" strike="noStrike">
                          <a:solidFill>
                            <a:srgbClr val="000000"/>
                          </a:solidFill>
                          <a:effectLst/>
                          <a:latin typeface="Calibri" panose="020F0502020204030204" pitchFamily="34" charset="0"/>
                        </a:rPr>
                        <a:t>1. Statewide DHHS site for central knowledge management (</a:t>
                      </a:r>
                      <a:r>
                        <a:rPr lang="en-CA" sz="1100" b="0" i="0" u="none" strike="noStrike" err="1">
                          <a:solidFill>
                            <a:srgbClr val="000000"/>
                          </a:solidFill>
                          <a:effectLst/>
                          <a:latin typeface="Calibri" panose="020F0502020204030204" pitchFamily="34" charset="0"/>
                        </a:rPr>
                        <a:t>Robohelp</a:t>
                      </a:r>
                      <a:r>
                        <a:rPr lang="en-CA" sz="1100" b="0" i="0" u="none" strike="noStrike">
                          <a:solidFill>
                            <a:srgbClr val="000000"/>
                          </a:solidFill>
                          <a:effectLst/>
                          <a:latin typeface="Calibri" panose="020F0502020204030204" pitchFamily="34" charset="0"/>
                        </a:rPr>
                        <a:t>).  </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2. Integrated with Cúram through online help icon. Leverages Cúram CAD, Knowledge Center.</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3. External links for reference/policy documents.</a:t>
                      </a:r>
                    </a:p>
                  </a:txBody>
                  <a:tcPr marL="0" marR="0" marT="0" marB="0"/>
                </a:tc>
                <a:extLst>
                  <a:ext uri="{0D108BD9-81ED-4DB2-BD59-A6C34878D82A}">
                    <a16:rowId xmlns:a16="http://schemas.microsoft.com/office/drawing/2014/main" val="790256349"/>
                  </a:ext>
                </a:extLst>
              </a:tr>
              <a:tr h="370840">
                <a:tc>
                  <a:txBody>
                    <a:bodyPr/>
                    <a:lstStyle/>
                    <a:p>
                      <a:pPr marL="108000" algn="l" fontAlgn="t"/>
                      <a:r>
                        <a:rPr lang="en-CA" sz="1400" b="1" i="0" u="none" strike="noStrike">
                          <a:solidFill>
                            <a:schemeClr val="tx1"/>
                          </a:solidFill>
                          <a:effectLst/>
                          <a:latin typeface="Calibri" panose="020F0502020204030204" pitchFamily="34" charset="0"/>
                        </a:rPr>
                        <a:t>Minnesota - METS, USA</a:t>
                      </a:r>
                    </a:p>
                  </a:txBody>
                  <a:tcPr marL="0" marR="0" marT="0" marB="0"/>
                </a:tc>
                <a:tc>
                  <a:txBody>
                    <a:bodyPr/>
                    <a:lstStyle/>
                    <a:p>
                      <a:pPr algn="l" fontAlgn="t"/>
                      <a:r>
                        <a:rPr lang="en-CA" sz="1100" b="0" i="0" u="none" strike="noStrike">
                          <a:solidFill>
                            <a:srgbClr val="000000"/>
                          </a:solidFill>
                          <a:effectLst/>
                          <a:latin typeface="Calibri" panose="020F0502020204030204" pitchFamily="34" charset="0"/>
                        </a:rPr>
                        <a:t>1. Third party and State's proprietary application for central Knowledge Management.</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2. No integration with Cúram. Leverages Online help, CAD and Knowledge Center.</a:t>
                      </a:r>
                    </a:p>
                  </a:txBody>
                  <a:tcPr marL="0" marR="0" marT="0" marB="0"/>
                </a:tc>
                <a:extLst>
                  <a:ext uri="{0D108BD9-81ED-4DB2-BD59-A6C34878D82A}">
                    <a16:rowId xmlns:a16="http://schemas.microsoft.com/office/drawing/2014/main" val="3817096127"/>
                  </a:ext>
                </a:extLst>
              </a:tr>
              <a:tr h="370840">
                <a:tc>
                  <a:txBody>
                    <a:bodyPr/>
                    <a:lstStyle/>
                    <a:p>
                      <a:pPr marL="108000" algn="l" fontAlgn="t"/>
                      <a:r>
                        <a:rPr lang="en-CA" sz="1400" b="1" i="0" u="none" strike="noStrike">
                          <a:solidFill>
                            <a:schemeClr val="tx1"/>
                          </a:solidFill>
                          <a:effectLst/>
                          <a:latin typeface="Calibri" panose="020F0502020204030204" pitchFamily="34" charset="0"/>
                        </a:rPr>
                        <a:t>Scotland, Technical Services Group</a:t>
                      </a:r>
                    </a:p>
                  </a:txBody>
                  <a:tcPr marL="0" marR="0" marT="0" marB="0">
                    <a:solidFill>
                      <a:schemeClr val="bg1"/>
                    </a:solidFill>
                  </a:tcPr>
                </a:tc>
                <a:tc>
                  <a:txBody>
                    <a:bodyPr/>
                    <a:lstStyle/>
                    <a:p>
                      <a:pPr algn="l" fontAlgn="t"/>
                      <a:r>
                        <a:rPr lang="en-CA" sz="1100" b="0" i="0" u="none" strike="noStrike">
                          <a:solidFill>
                            <a:srgbClr val="000000"/>
                          </a:solidFill>
                          <a:effectLst/>
                          <a:latin typeface="Calibri" panose="020F0502020204030204" pitchFamily="34" charset="0"/>
                        </a:rPr>
                        <a:t>1. In house (SharePoint, MS Word etc..)</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2. Some Knowledge content made available over internet.</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3. No integration with Cúram</a:t>
                      </a:r>
                      <a:br>
                        <a:rPr lang="en-CA" sz="1100" b="0" i="0" u="none" strike="noStrike">
                          <a:solidFill>
                            <a:srgbClr val="000000"/>
                          </a:solidFill>
                          <a:effectLst/>
                          <a:latin typeface="Calibri" panose="020F0502020204030204" pitchFamily="34" charset="0"/>
                        </a:rPr>
                      </a:br>
                      <a:r>
                        <a:rPr lang="en-CA" sz="1100" b="0" i="0" u="none" strike="noStrike">
                          <a:solidFill>
                            <a:srgbClr val="000000"/>
                          </a:solidFill>
                          <a:effectLst/>
                          <a:latin typeface="Calibri" panose="020F0502020204030204" pitchFamily="34" charset="0"/>
                        </a:rPr>
                        <a:t>4. Proposal to use AI chatbot kind of features.</a:t>
                      </a:r>
                    </a:p>
                  </a:txBody>
                  <a:tcPr marL="0" marR="0" marT="0" marB="0">
                    <a:solidFill>
                      <a:schemeClr val="bg1"/>
                    </a:solidFill>
                  </a:tcPr>
                </a:tc>
                <a:extLst>
                  <a:ext uri="{0D108BD9-81ED-4DB2-BD59-A6C34878D82A}">
                    <a16:rowId xmlns:a16="http://schemas.microsoft.com/office/drawing/2014/main" val="3484420677"/>
                  </a:ext>
                </a:extLst>
              </a:tr>
            </a:tbl>
          </a:graphicData>
        </a:graphic>
      </p:graphicFrame>
    </p:spTree>
    <p:extLst>
      <p:ext uri="{BB962C8B-B14F-4D97-AF65-F5344CB8AC3E}">
        <p14:creationId xmlns:p14="http://schemas.microsoft.com/office/powerpoint/2010/main" val="372900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1817786|-9193934|-8748374|-551354|-16777216|ESDC&quot;,&quot;Id&quot;:&quot;5dbb2e004133362b0493f901&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HJ0Xz317UGvCswcADhyFg"/>
</p:tagLst>
</file>

<file path=ppt/theme/theme1.xml><?xml version="1.0" encoding="utf-8"?>
<a:theme xmlns:a="http://schemas.openxmlformats.org/drawingml/2006/main" name="Palette de couleur 2 - EDSC-Service Canad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lank">
  <a:themeElements>
    <a:clrScheme name="Custom 1">
      <a:dk1>
        <a:srgbClr val="000000"/>
      </a:dk1>
      <a:lt1>
        <a:srgbClr val="FFFFFF"/>
      </a:lt1>
      <a:dk2>
        <a:srgbClr val="919191"/>
      </a:dk2>
      <a:lt2>
        <a:srgbClr val="666666"/>
      </a:lt2>
      <a:accent1>
        <a:srgbClr val="00A5B4"/>
      </a:accent1>
      <a:accent2>
        <a:srgbClr val="73CED8"/>
      </a:accent2>
      <a:accent3>
        <a:srgbClr val="A3D1CC"/>
      </a:accent3>
      <a:accent4>
        <a:srgbClr val="E63D54"/>
      </a:accent4>
      <a:accent5>
        <a:srgbClr val="F18486"/>
      </a:accent5>
      <a:accent6>
        <a:srgbClr val="F38770"/>
      </a:accent6>
      <a:hlink>
        <a:srgbClr val="66FF33"/>
      </a:hlink>
      <a:folHlink>
        <a:srgbClr val="B8CCE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sz="12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Master_Arial_2017 v1" id="{BFFC7005-D7BE-40E3-83B0-367A400EF32B}" vid="{9EDCCE36-7FD1-489E-AC77-A235F91A626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Email_x005f_x0020_Date xmlns="f76aaf80-9812-406c-9dd3-ccb851cf3a75" xsi:nil="true"/>
    <Email_x005f_x0020_Attachments xmlns="f76aaf80-9812-406c-9dd3-ccb851cf3a75" xsi:nil="true"/>
    <Email_x005f_x0020_From xmlns="f76aaf80-9812-406c-9dd3-ccb851cf3a75" xsi:nil="true"/>
    <Email_x005f_x0020_To xmlns="f76aaf80-9812-406c-9dd3-ccb851cf3a75" xsi:nil="true"/>
    <Email_x005f_x0020_Subject xmlns="f76aaf80-9812-406c-9dd3-ccb851cf3a75" xsi:nil="true"/>
    <Email_x005f_x0020_Conversation_x005f_x0020_Topic xmlns="f76aaf80-9812-406c-9dd3-ccb851cf3a75" xsi:nil="true"/>
    <Email_x005f_x0020_CC xmlns="f76aaf80-9812-406c-9dd3-ccb851cf3a75" xsi:nil="true"/>
    <MediaLengthInSeconds xmlns="bf8d9fdf-4125-4b9e-90cc-178121cbf199" xsi:nil="true"/>
    <_dlc_DocIdUrl xmlns="0f99ac47-5234-4717-87da-95168002162c">
      <Url>https://014gc.sharepoint.com/sites/AICoE/_layouts/15/DocIdRedir.aspx?ID=TWDX2CXSTY3E-1481338289-7055</Url>
      <Description>TWDX2CXSTY3E-1481338289-7055</Description>
    </_dlc_DocIdUrl>
    <SharedWithUsers xmlns="0f99ac47-5234-4717-87da-95168002162c">
      <UserInfo>
        <DisplayName>Prégent, Martin MP [NC]</DisplayName>
        <AccountId>118</AccountId>
        <AccountType/>
      </UserInfo>
      <UserInfo>
        <DisplayName>Balakrishnan, Sanjeev S [NC]</DisplayName>
        <AccountId>1227</AccountId>
        <AccountType/>
      </UserInfo>
      <UserInfo>
        <DisplayName>Brochu, Emmanuel E [NC]</DisplayName>
        <AccountId>1505</AccountId>
        <AccountType/>
      </UserInfo>
      <UserInfo>
        <DisplayName>Davidson, Michael [NC]</DisplayName>
        <AccountId>2241</AccountId>
        <AccountType/>
      </UserInfo>
      <UserInfo>
        <DisplayName>Hajjar, Rabih R [NC]</DisplayName>
        <AccountId>443</AccountId>
        <AccountType/>
      </UserInfo>
      <UserInfo>
        <DisplayName>Mowla, Farzana F [NC]</DisplayName>
        <AccountId>1332</AccountId>
        <AccountType/>
      </UserInfo>
    </SharedWithUsers>
    <_dlc_DocId xmlns="0f99ac47-5234-4717-87da-95168002162c">TWDX2CXSTY3E-1481338289-7055</_dlc_DocId>
    <_ip_UnifiedCompliancePolicyUIAction xmlns="http://schemas.microsoft.com/sharepoint/v3" xsi:nil="true"/>
    <_Flow_SignoffStatus xmlns="bf8d9fdf-4125-4b9e-90cc-178121cbf199" xsi:nil="true"/>
    <g3a39279023244e8b5c903eccdb480b8 xmlns="bf8d9fdf-4125-4b9e-90cc-178121cbf199">
      <Terms xmlns="http://schemas.microsoft.com/office/infopath/2007/PartnerControls"/>
    </g3a39279023244e8b5c903eccdb480b8>
    <Client xmlns="bf8d9fdf-4125-4b9e-90cc-178121cbf199" xsi:nil="true"/>
    <_ip_UnifiedCompliancePolicyProperties xmlns="http://schemas.microsoft.com/sharepoint/v3" xsi:nil="true"/>
    <ProjectCode xmlns="bf8d9fdf-4125-4b9e-90cc-178121cbf199">EXJD</ProjectCode>
    <pf52c7dd836243f59156539d84d65142 xmlns="bf8d9fdf-4125-4b9e-90cc-178121cbf199">
      <Terms xmlns="http://schemas.microsoft.com/office/infopath/2007/PartnerControls"/>
    </pf52c7dd836243f59156539d84d65142>
    <TaxCatchAll xmlns="f76aaf80-9812-406c-9dd3-ccb851cf3a75" xsi:nil="true"/>
    <Key_x0020_Document xmlns="bf8d9fdf-4125-4b9e-90cc-178121cbf199">false</Key_x0020_Document>
    <lcf76f155ced4ddcb4097134ff3c332f xmlns="bf8d9fdf-4125-4b9e-90cc-178121cbf199">
      <Terms xmlns="http://schemas.microsoft.com/office/infopath/2007/PartnerControls"/>
    </lcf76f155ced4ddcb4097134ff3c332f>
    <Identifier xmlns="bf8d9fdf-4125-4b9e-90cc-178121cbf199" xsi:nil="true"/>
    <f948ccc9f2a64ecc8f6d7c6a9aa0e77b xmlns="bf8d9fdf-4125-4b9e-90cc-178121cbf199">
      <Terms xmlns="http://schemas.microsoft.com/office/infopath/2007/PartnerControls"/>
    </f948ccc9f2a64ecc8f6d7c6a9aa0e77b>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818772A6732242AF909C7289977039" ma:contentTypeVersion="44" ma:contentTypeDescription="Create a new document." ma:contentTypeScope="" ma:versionID="ae3d08791f77efa47dbf016e9cab9815">
  <xsd:schema xmlns:xsd="http://www.w3.org/2001/XMLSchema" xmlns:xs="http://www.w3.org/2001/XMLSchema" xmlns:p="http://schemas.microsoft.com/office/2006/metadata/properties" xmlns:ns1="http://schemas.microsoft.com/sharepoint/v3" xmlns:ns2="bf8d9fdf-4125-4b9e-90cc-178121cbf199" xmlns:ns3="0f99ac47-5234-4717-87da-95168002162c" xmlns:ns4="f76aaf80-9812-406c-9dd3-ccb851cf3a75" targetNamespace="http://schemas.microsoft.com/office/2006/metadata/properties" ma:root="true" ma:fieldsID="47c0917e9b68ee5be015f8cd6d0d9249" ns1:_="" ns2:_="" ns3:_="" ns4:_="">
    <xsd:import namespace="http://schemas.microsoft.com/sharepoint/v3"/>
    <xsd:import namespace="bf8d9fdf-4125-4b9e-90cc-178121cbf199"/>
    <xsd:import namespace="0f99ac47-5234-4717-87da-95168002162c"/>
    <xsd:import namespace="f76aaf80-9812-406c-9dd3-ccb851cf3a7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Key_x0020_Document" minOccurs="0"/>
                <xsd:element ref="ns1:_ip_UnifiedCompliancePolicyProperties" minOccurs="0"/>
                <xsd:element ref="ns1:_ip_UnifiedCompliancePolicyUIAction" minOccurs="0"/>
                <xsd:element ref="ns3:SharedWithUsers" minOccurs="0"/>
                <xsd:element ref="ns3:SharedWithDetails" minOccurs="0"/>
                <xsd:element ref="ns2:MediaServiceDateTaken" minOccurs="0"/>
                <xsd:element ref="ns2:MediaLengthInSeconds" minOccurs="0"/>
                <xsd:element ref="ns2:lcf76f155ced4ddcb4097134ff3c332f" minOccurs="0"/>
                <xsd:element ref="ns4:TaxCatchAll" minOccurs="0"/>
                <xsd:element ref="ns4:Email_x005f_x0020_To" minOccurs="0"/>
                <xsd:element ref="ns4:Email_x005f_x0020_From" minOccurs="0"/>
                <xsd:element ref="ns4:Email_x005f_x0020_Subject" minOccurs="0"/>
                <xsd:element ref="ns4:Email_x005f_x0020_Conversation_x005f_x0020_Topic" minOccurs="0"/>
                <xsd:element ref="ns4:Email_x005f_x0020_CC" minOccurs="0"/>
                <xsd:element ref="ns4:Email_x005f_x0020_Date" minOccurs="0"/>
                <xsd:element ref="ns4:Email_x005f_x0020_Attachments" minOccurs="0"/>
                <xsd:element ref="ns3:_dlc_DocId" minOccurs="0"/>
                <xsd:element ref="ns3:_dlc_DocIdUrl" minOccurs="0"/>
                <xsd:element ref="ns3:_dlc_DocIdPersistId" minOccurs="0"/>
                <xsd:element ref="ns2:Identifier" minOccurs="0"/>
                <xsd:element ref="ns2:MediaServiceObjectDetectorVersions" minOccurs="0"/>
                <xsd:element ref="ns2:MediaServiceSearchProperties" minOccurs="0"/>
                <xsd:element ref="ns2:_Flow_SignoffStatus" minOccurs="0"/>
                <xsd:element ref="ns2:Client" minOccurs="0"/>
                <xsd:element ref="ns2:ProjectCode" minOccurs="0"/>
                <xsd:element ref="ns2:f948ccc9f2a64ecc8f6d7c6a9aa0e77b" minOccurs="0"/>
                <xsd:element ref="ns2:g3a39279023244e8b5c903eccdb480b8" minOccurs="0"/>
                <xsd:element ref="ns2:pf52c7dd836243f59156539d84d65142"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8d9fdf-4125-4b9e-90cc-178121cbf1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Key_x0020_Document" ma:index="16" nillable="true" ma:displayName="Key Document" ma:default="0" ma:indexed="true" ma:internalName="Key_x0020_Document">
      <xsd:simpleType>
        <xsd:restriction base="dms:Boolean"/>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3fa6f064-5af2-4239-ab23-685642d59544" ma:termSetId="09814cd3-568e-fe90-9814-8d621ff8fb84" ma:anchorId="fba54fb3-c3e1-fe81-a776-ca4b69148c4d" ma:open="true" ma:isKeyword="false">
      <xsd:complexType>
        <xsd:sequence>
          <xsd:element ref="pc:Terms" minOccurs="0" maxOccurs="1"/>
        </xsd:sequence>
      </xsd:complexType>
    </xsd:element>
    <xsd:element name="Identifier" ma:index="36" nillable="true" ma:displayName="Identifier" ma:description="used for amazon Kendra search prototype " ma:format="Dropdown" ma:internalName="Identifier">
      <xsd:simpleType>
        <xsd:restriction base="dms:Text">
          <xsd:maxLength value="255"/>
        </xsd:restriction>
      </xsd:simpleType>
    </xsd:element>
    <xsd:element name="MediaServiceObjectDetectorVersions" ma:index="37" nillable="true" ma:displayName="MediaServiceObjectDetectorVersions" ma:hidden="true" ma:indexed="true" ma:internalName="MediaServiceObjectDetectorVersions" ma:readOnly="true">
      <xsd:simpleType>
        <xsd:restriction base="dms:Text"/>
      </xsd:simpleType>
    </xsd:element>
    <xsd:element name="MediaServiceSearchProperties" ma:index="38" nillable="true" ma:displayName="MediaServiceSearchProperties" ma:hidden="true" ma:internalName="MediaServiceSearchProperties" ma:readOnly="true">
      <xsd:simpleType>
        <xsd:restriction base="dms:Note"/>
      </xsd:simpleType>
    </xsd:element>
    <xsd:element name="_Flow_SignoffStatus" ma:index="39" nillable="true" ma:displayName="Sign-off status" ma:internalName="Sign_x002d_off_x0020_status">
      <xsd:simpleType>
        <xsd:restriction base="dms:Text"/>
      </xsd:simpleType>
    </xsd:element>
    <xsd:element name="Client" ma:index="40" nillable="true" ma:displayName="Client" ma:description="project partner or lead collaborative department with the AI CoE" ma:format="Dropdown" ma:internalName="Client">
      <xsd:simpleType>
        <xsd:restriction base="dms:Text">
          <xsd:maxLength value="255"/>
        </xsd:restriction>
      </xsd:simpleType>
    </xsd:element>
    <xsd:element name="ProjectCode" ma:index="41" nillable="true" ma:displayName="Project Code" ma:default="EXJD" ma:description="internal project code for the AI CoE" ma:format="Dropdown" ma:internalName="ProjectCode">
      <xsd:simpleType>
        <xsd:restriction base="dms:Text">
          <xsd:maxLength value="255"/>
        </xsd:restriction>
      </xsd:simpleType>
    </xsd:element>
    <xsd:element name="f948ccc9f2a64ecc8f6d7c6a9aa0e77b" ma:index="43" nillable="true" ma:taxonomy="true" ma:internalName="f948ccc9f2a64ecc8f6d7c6a9aa0e77b" ma:taxonomyFieldName="Classification" ma:displayName="Classification" ma:default="" ma:fieldId="{f948ccc9-f2a6-4ecc-8f6d-7c6a9aa0e77b}" ma:sspId="3fa6f064-5af2-4239-ab23-685642d59544" ma:termSetId="6d177cc0-6e1b-456e-9cd6-ade2fe3dc42e" ma:anchorId="00000000-0000-0000-0000-000000000000" ma:open="true" ma:isKeyword="false">
      <xsd:complexType>
        <xsd:sequence>
          <xsd:element ref="pc:Terms" minOccurs="0" maxOccurs="1"/>
        </xsd:sequence>
      </xsd:complexType>
    </xsd:element>
    <xsd:element name="g3a39279023244e8b5c903eccdb480b8" ma:index="45" nillable="true" ma:taxonomy="true" ma:internalName="g3a39279023244e8b5c903eccdb480b8" ma:taxonomyFieldName="language" ma:displayName="language" ma:default="" ma:fieldId="{03a39279-0232-44e8-b5c9-03eccdb480b8}" ma:taxonomyMulti="true" ma:sspId="3fa6f064-5af2-4239-ab23-685642d59544" ma:termSetId="e70dba58-f37b-4c33-84f8-2b143c3f2bd6" ma:anchorId="00000000-0000-0000-0000-000000000000" ma:open="false" ma:isKeyword="false">
      <xsd:complexType>
        <xsd:sequence>
          <xsd:element ref="pc:Terms" minOccurs="0" maxOccurs="1"/>
        </xsd:sequence>
      </xsd:complexType>
    </xsd:element>
    <xsd:element name="pf52c7dd836243f59156539d84d65142" ma:index="47" nillable="true" ma:taxonomy="true" ma:internalName="pf52c7dd836243f59156539d84d65142" ma:taxonomyFieldName="Information_x0020_Resource" ma:displayName="Information Resource" ma:default="" ma:fieldId="{9f52c7dd-8362-43f5-9156-539d84d65142}" ma:sspId="3fa6f064-5af2-4239-ab23-685642d59544" ma:termSetId="0ca0bb0a-5e57-4c25-a1bd-a48a6083fb49"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f99ac47-5234-4717-87da-95168002162c"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_dlc_DocId" ma:index="33" nillable="true" ma:displayName="Document ID Value" ma:description="The value of the document ID assigned to this item." ma:indexed="true" ma:internalName="_dlc_DocId" ma:readOnly="true">
      <xsd:simpleType>
        <xsd:restriction base="dms:Text"/>
      </xsd:simpleType>
    </xsd:element>
    <xsd:element name="_dlc_DocIdUrl" ma:index="34"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5"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f76aaf80-9812-406c-9dd3-ccb851cf3a75"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81070d02-53eb-4caa-9998-1bb73898e0dd}" ma:internalName="TaxCatchAll" ma:showField="CatchAllData" ma:web="0f99ac47-5234-4717-87da-95168002162c">
      <xsd:complexType>
        <xsd:complexContent>
          <xsd:extension base="dms:MultiChoiceLookup">
            <xsd:sequence>
              <xsd:element name="Value" type="dms:Lookup" maxOccurs="unbounded" minOccurs="0" nillable="true"/>
            </xsd:sequence>
          </xsd:extension>
        </xsd:complexContent>
      </xsd:complexType>
    </xsd:element>
    <xsd:element name="Email_x005f_x0020_To" ma:index="26" nillable="true" ma:displayName="Email To" ma:description="Email To" ma:hidden="true" ma:internalName="Email_x0020_To" ma:readOnly="false">
      <xsd:simpleType>
        <xsd:restriction base="dms:Text">
          <xsd:maxLength value="255"/>
        </xsd:restriction>
      </xsd:simpleType>
    </xsd:element>
    <xsd:element name="Email_x005f_x0020_From" ma:index="27" nillable="true" ma:displayName="Email From" ma:description="Email From" ma:hidden="true" ma:internalName="Email_x0020_From" ma:readOnly="false">
      <xsd:simpleType>
        <xsd:restriction base="dms:Text">
          <xsd:maxLength value="255"/>
        </xsd:restriction>
      </xsd:simpleType>
    </xsd:element>
    <xsd:element name="Email_x005f_x0020_Subject" ma:index="28" nillable="true" ma:displayName="Email Subject" ma:description="Email Subject" ma:hidden="true" ma:internalName="Email_x0020_Subject" ma:readOnly="false">
      <xsd:simpleType>
        <xsd:restriction base="dms:Text">
          <xsd:maxLength value="255"/>
        </xsd:restriction>
      </xsd:simpleType>
    </xsd:element>
    <xsd:element name="Email_x005f_x0020_Conversation_x005f_x0020_Topic" ma:index="29" nillable="true" ma:displayName="Email Conversation Topic" ma:description="Email Conversation Topic" ma:hidden="true" ma:internalName="Email_x0020_Conversation_x0020_Topic" ma:readOnly="false">
      <xsd:simpleType>
        <xsd:restriction base="dms:Text">
          <xsd:maxLength value="255"/>
        </xsd:restriction>
      </xsd:simpleType>
    </xsd:element>
    <xsd:element name="Email_x005f_x0020_CC" ma:index="30" nillable="true" ma:displayName="Email CC" ma:description="Email CC" ma:hidden="true" ma:internalName="Email_x0020_CC" ma:readOnly="false">
      <xsd:simpleType>
        <xsd:restriction base="dms:Text">
          <xsd:maxLength value="255"/>
        </xsd:restriction>
      </xsd:simpleType>
    </xsd:element>
    <xsd:element name="Email_x005f_x0020_Date" ma:index="31" nillable="true" ma:displayName="Email Date" ma:description="Email Date" ma:format="DateOnly" ma:hidden="true" ma:internalName="Email_x0020_Date" ma:readOnly="false">
      <xsd:simpleType>
        <xsd:restriction base="dms:DateTime"/>
      </xsd:simpleType>
    </xsd:element>
    <xsd:element name="Email_x005f_x0020_Attachments" ma:index="32" nillable="true" ma:displayName="Email Attachments" ma:description="Email Attachments" ma:hidden="true" ma:internalName="Email_x0020_Attachments" ma:readOnly="fals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339C45-4D5D-4981-BFB1-0A41E9F01498}">
  <ds:schemaRefs>
    <ds:schemaRef ds:uri="3e41d59a-545d-4f0a-b80a-f859ee71212f"/>
    <ds:schemaRef ds:uri="aeb8e935-a900-45fb-8c93-8f8eb0bf36f7"/>
    <ds:schemaRef ds:uri="f76aaf80-9812-406c-9dd3-ccb851cf3a7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4"/>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3DA80E-2ACE-443C-A277-2665FA6F6A34}"/>
</file>

<file path=customXml/itemProps3.xml><?xml version="1.0" encoding="utf-8"?>
<ds:datastoreItem xmlns:ds="http://schemas.openxmlformats.org/officeDocument/2006/customXml" ds:itemID="{86A11EA2-79AA-4BB2-99C7-90067388193F}">
  <ds:schemaRefs>
    <ds:schemaRef ds:uri="http://schemas.microsoft.com/sharepoint/events"/>
  </ds:schemaRefs>
</ds:datastoreItem>
</file>

<file path=customXml/itemProps4.xml><?xml version="1.0" encoding="utf-8"?>
<ds:datastoreItem xmlns:ds="http://schemas.openxmlformats.org/officeDocument/2006/customXml" ds:itemID="{36AFE31D-8EE6-454E-99C1-BC880D8FCC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Palette de couleur 2 - EDSC-Service Canada</Template>
  <Application>Microsoft Office PowerPoint</Application>
  <PresentationFormat>Widescreen</PresentationFormat>
  <Slides>35</Slides>
  <Notes>27</Notes>
  <HiddenSlides>0</HiddenSlides>
  <ScaleCrop>false</ScaleCrop>
  <HeadingPairs>
    <vt:vector size="4" baseType="variant">
      <vt:variant>
        <vt:lpstr>Theme</vt:lpstr>
      </vt:variant>
      <vt:variant>
        <vt:i4>4</vt:i4>
      </vt:variant>
      <vt:variant>
        <vt:lpstr>Slide Titles</vt:lpstr>
      </vt:variant>
      <vt:variant>
        <vt:i4>35</vt:i4>
      </vt:variant>
    </vt:vector>
  </HeadingPairs>
  <TitlesOfParts>
    <vt:vector size="39" baseType="lpstr">
      <vt:lpstr>Palette de couleur 2 - EDSC-Service Canada</vt:lpstr>
      <vt:lpstr>Office Theme</vt:lpstr>
      <vt:lpstr>1_Office Theme</vt:lpstr>
      <vt:lpstr>Blank</vt:lpstr>
      <vt:lpstr>PowerPoint Presentation</vt:lpstr>
      <vt:lpstr>PowerPoint Presentation</vt:lpstr>
      <vt:lpstr>PowerPoint Presentation</vt:lpstr>
      <vt:lpstr>PowerPoint Presentation</vt:lpstr>
      <vt:lpstr>PowerPoint Presentation</vt:lpstr>
      <vt:lpstr>PowerPoint Presentation</vt:lpstr>
      <vt:lpstr>BDM KM Capability Architecture State: Baseline – Current Operating Environment (Multiple KM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 BDM AI-enabled Knowledge Management  – EA Alignment Scoring</vt:lpstr>
      <vt:lpstr>Annex: BDM AI-enabled Knowledge Management  – Feasibility Scoring</vt:lpstr>
      <vt:lpstr>Annex: BDM AI-enabled Knowledge Management   – Security Scoring</vt:lpstr>
      <vt:lpstr>Annex: BDM AI-enabled Knowledge Management  – Data Scoring</vt:lpstr>
      <vt:lpstr>APM Assessment Result - Knowledge Portal</vt:lpstr>
      <vt:lpstr>PowerPoint Presentation</vt:lpstr>
      <vt:lpstr>PowerPoint Presentation</vt:lpstr>
      <vt:lpstr>Business Context: Knowledge Management Lifecycle Stages</vt:lpstr>
      <vt:lpstr>Summary of current KM Tools​</vt:lpstr>
      <vt:lpstr>PWC Evaluation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GoC / GdC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BDM Knowledge Management Update - EARB Presentation</dc:title>
  <dc:creator>dipti.garg@hrsdc-rhdcc.gc.ca</dc:creator>
  <cp:revision>5</cp:revision>
  <cp:lastPrinted>2018-01-17T15:41:52Z</cp:lastPrinted>
  <dcterms:created xsi:type="dcterms:W3CDTF">2018-02-12T19:23:54Z</dcterms:created>
  <dcterms:modified xsi:type="dcterms:W3CDTF">2025-06-03T20:31:39Z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0x010100D5818772A6732242AF909C7289977039</vt:lpwstr>
  </property>
  <property fmtid="{D5CDD505-2E9C-101B-9397-08002B2CF9AE}" pid="3" name="_dlc_DocIdItemGuid">
    <vt:lpwstr>4675372f-3bf3-4f86-9cf8-bcbfa046d90b</vt:lpwstr>
  </property>
  <property fmtid="{D5CDD505-2E9C-101B-9397-08002B2CF9AE}" pid="4" name="Template Version Date">
    <vt:lpwstr>April 2019</vt:lpwstr>
  </property>
  <property fmtid="{D5CDD505-2E9C-101B-9397-08002B2CF9AE}" pid="5" name="WorkflowChangePath">
    <vt:lpwstr>ea1ef2f5-7a20-4ae9-8c8c-4ed1c45d8858,70;ea1ef2f5-7a20-4ae9-8c8c-4ed1c45d8858,70;ea1ef2f5-7a20-4ae9-8c8c-4ed1c45d8858,72;ea1ef2f5-7a20-4ae9-8c8c-4ed1c45d8858,72;ea1ef2f5-7a20-4ae9-8c8c-4ed1c45d8858,2;ea1ef2f5-7a20-4ae9-8c8c-4ed1c45d8858,2;ea1ef2f5-7a20-4ae</vt:lpwstr>
  </property>
  <property fmtid="{D5CDD505-2E9C-101B-9397-08002B2CF9AE}" pid="6" name="MediaServiceImageTags">
    <vt:lpwstr/>
  </property>
  <property fmtid="{D5CDD505-2E9C-101B-9397-08002B2CF9AE}" pid="7" name="Order">
    <vt:r8>68400</vt:r8>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bool>false</vt:bool>
  </property>
  <property fmtid="{D5CDD505-2E9C-101B-9397-08002B2CF9AE}" pid="14" name="TaxKeyword">
    <vt:lpwstr/>
  </property>
  <property fmtid="{D5CDD505-2E9C-101B-9397-08002B2CF9AE}" pid="15" name="BDMArchitectureTags">
    <vt:lpwstr/>
  </property>
  <property fmtid="{D5CDD505-2E9C-101B-9397-08002B2CF9AE}" pid="16" name="_dlc_DocId">
    <vt:lpwstr>BDMEA-421922499-3681</vt:lpwstr>
  </property>
  <property fmtid="{D5CDD505-2E9C-101B-9397-08002B2CF9AE}" pid="17" name="Approval Status">
    <vt:lpwstr>Draft</vt:lpwstr>
  </property>
  <property fmtid="{D5CDD505-2E9C-101B-9397-08002B2CF9AE}" pid="18" name="_dlc_DocIdUrl">
    <vt:lpwstr>https://014gc.sharepoint.com/sites/BDMArchitectureTouchpoint-StaffandConsultants/_layouts/15/DocIdRedir.aspx?ID=BDMEA-421922499-3681, BDMEA-421922499-3681</vt:lpwstr>
  </property>
  <property fmtid="{D5CDD505-2E9C-101B-9397-08002B2CF9AE}" pid="19" name="Internal Sharepoint">
    <vt:lpwstr>, </vt:lpwstr>
  </property>
  <property fmtid="{D5CDD505-2E9C-101B-9397-08002B2CF9AE}" pid="20" name="ToBeArchived">
    <vt:bool>false</vt:bool>
  </property>
  <property fmtid="{D5CDD505-2E9C-101B-9397-08002B2CF9AE}" pid="21" name="SharedWithUsers">
    <vt:lpwstr>118;#Prégent, Martin MP [NC];#1227;#Balakrishnan, Sanjeev S [NC];#1505;#Brochu, Emmanuel E [NC];#2241;#Davidson, Michael [NC];#443;#Hajjar, Rabih R [NC];#1332;#Mowla, Farzana F [NC]</vt:lpwstr>
  </property>
</Properties>
</file>